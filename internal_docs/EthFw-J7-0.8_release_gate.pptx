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9" r:id="rId5"/>
    <p:sldId id="344" r:id="rId6"/>
    <p:sldId id="362" r:id="rId7"/>
    <p:sldId id="357" r:id="rId8"/>
    <p:sldId id="348" r:id="rId9"/>
    <p:sldId id="359" r:id="rId10"/>
    <p:sldId id="360" r:id="rId11"/>
    <p:sldId id="354" r:id="rId12"/>
    <p:sldId id="355" r:id="rId13"/>
    <p:sldId id="356" r:id="rId14"/>
  </p:sldIdLst>
  <p:sldSz cx="14630400" cy="8229600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60943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2188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82829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43771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3047147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656579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4266005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875434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19D39E-A99A-4DA6-8406-51A0BBD01AE6}">
          <p14:sldIdLst>
            <p14:sldId id="319"/>
            <p14:sldId id="344"/>
            <p14:sldId id="362"/>
            <p14:sldId id="357"/>
            <p14:sldId id="348"/>
            <p14:sldId id="359"/>
            <p14:sldId id="360"/>
            <p14:sldId id="354"/>
            <p14:sldId id="355"/>
            <p14:sldId id="3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B2FC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08" autoAdjust="0"/>
    <p:restoredTop sz="97125" autoAdjust="0"/>
  </p:normalViewPr>
  <p:slideViewPr>
    <p:cSldViewPr showGuides="1">
      <p:cViewPr>
        <p:scale>
          <a:sx n="75" d="100"/>
          <a:sy n="75" d="100"/>
        </p:scale>
        <p:origin x="-230" y="-58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howGuides="1">
      <p:cViewPr varScale="1">
        <p:scale>
          <a:sx n="34" d="100"/>
          <a:sy n="34" d="100"/>
        </p:scale>
        <p:origin x="-3078" y="-108"/>
      </p:cViewPr>
      <p:guideLst>
        <p:guide orient="horz" pos="4652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738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5FBA2-ACEF-422F-9651-B520BAF316F3}" type="datetimeFigureOut">
              <a:rPr lang="en-US" smtClean="0"/>
              <a:t>4/4/2019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738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DAAEF-B2ED-41D8-B0E8-0D75372CC9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63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89DD6-75B7-44B9-A528-0AA53E4B7718}" type="datetimeFigureOut">
              <a:rPr lang="en-US" smtClean="0"/>
              <a:t>4/4/2019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4638" y="1108075"/>
            <a:ext cx="9845676" cy="5538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7015163"/>
            <a:ext cx="7435850" cy="66468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5F4FF-2111-4CAC-97B3-3346FD526A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5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3C3B5-9CFC-4B60-AD1F-942309290D4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43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TI Confidential - NDA Restrictions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81B56A-ABCD-470C-B125-DAEEBC5A91B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86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TI Confidential - NDA Restrictions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81B56A-ABCD-470C-B125-DAEEBC5A91B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86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TI Confidential - NDA Restrictions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0B82FA-22F1-4904-AF3B-CDF6D24956D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863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TI Confidential - NDA Restrictions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0B82FA-22F1-4904-AF3B-CDF6D24956D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863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4638" y="1108075"/>
            <a:ext cx="9845676" cy="5538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TI Confidential - NDA Restrictions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0B82FA-22F1-4904-AF3B-CDF6D24956D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77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lected_powerpoint_bg_1_grey1280x72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80" y="45"/>
            <a:ext cx="14630400" cy="82296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78" y="3200410"/>
            <a:ext cx="12801461" cy="914390"/>
          </a:xfrm>
        </p:spPr>
        <p:txBody>
          <a:bodyPr/>
          <a:lstStyle>
            <a:lvl1pPr>
              <a:defRPr sz="53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78" y="5029190"/>
            <a:ext cx="12801461" cy="1828781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1" name="Oval 10"/>
          <p:cNvSpPr>
            <a:spLocks noChangeAspect="1"/>
          </p:cNvSpPr>
          <p:nvPr userDrawn="1"/>
        </p:nvSpPr>
        <p:spPr>
          <a:xfrm>
            <a:off x="13533053" y="274363"/>
            <a:ext cx="822950" cy="8229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i="1" dirty="0" smtClean="0">
                <a:effectLst/>
              </a:rPr>
              <a:t>K3</a:t>
            </a:r>
            <a:endParaRPr lang="en-US" sz="2400" b="1" i="1" dirty="0">
              <a:effectLst/>
            </a:endParaRPr>
          </a:p>
        </p:txBody>
      </p: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718351" y="7626059"/>
            <a:ext cx="3378200" cy="295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marL="0" marR="0" indent="0" algn="l" defTabSz="121886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/>
              <a:t>TI </a:t>
            </a:r>
            <a:r>
              <a:rPr lang="en-US" sz="1100" dirty="0" smtClean="0"/>
              <a:t>Confidential – NDA</a:t>
            </a:r>
            <a:r>
              <a:rPr lang="en-US" sz="1100" baseline="0" dirty="0" smtClean="0"/>
              <a:t> Restrictions</a:t>
            </a:r>
            <a:endParaRPr lang="en-US" sz="11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-30323" y="7589475"/>
            <a:ext cx="14081605" cy="621792"/>
            <a:chOff x="-30325" y="7589475"/>
            <a:chExt cx="14081605" cy="621792"/>
          </a:xfrm>
        </p:grpSpPr>
        <p:sp>
          <p:nvSpPr>
            <p:cNvPr id="16" name="Rectangle 15"/>
            <p:cNvSpPr/>
            <p:nvPr userDrawn="1"/>
          </p:nvSpPr>
          <p:spPr>
            <a:xfrm>
              <a:off x="-30325" y="7589475"/>
              <a:ext cx="14081605" cy="621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394095" y="7748226"/>
              <a:ext cx="2492562" cy="309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Text Box 31"/>
          <p:cNvSpPr txBox="1">
            <a:spLocks noChangeArrowheads="1"/>
          </p:cNvSpPr>
          <p:nvPr userDrawn="1"/>
        </p:nvSpPr>
        <p:spPr bwMode="auto">
          <a:xfrm>
            <a:off x="718351" y="7751219"/>
            <a:ext cx="3378200" cy="295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marL="0" marR="0" indent="0" algn="l" defTabSz="121886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/>
              <a:t>TI </a:t>
            </a:r>
            <a:r>
              <a:rPr lang="en-US" sz="1100" dirty="0" smtClean="0"/>
              <a:t>Confidential – NDA</a:t>
            </a:r>
            <a:r>
              <a:rPr lang="en-US" sz="1100" baseline="0" dirty="0" smtClean="0"/>
              <a:t> Restrictions</a:t>
            </a:r>
            <a:endParaRPr lang="en-US" sz="1100" dirty="0"/>
          </a:p>
        </p:txBody>
      </p:sp>
      <p:sp>
        <p:nvSpPr>
          <p:cNvPr id="13" name="Rectangle 6"/>
          <p:cNvSpPr txBox="1">
            <a:spLocks noChangeArrowheads="1"/>
          </p:cNvSpPr>
          <p:nvPr userDrawn="1"/>
        </p:nvSpPr>
        <p:spPr bwMode="auto">
          <a:xfrm>
            <a:off x="5608320" y="7799027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43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886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2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771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147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6579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6005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5434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714" y="1280192"/>
            <a:ext cx="13494872" cy="6126413"/>
          </a:xfrm>
        </p:spPr>
        <p:txBody>
          <a:bodyPr/>
          <a:lstStyle>
            <a:lvl1pPr>
              <a:spcBef>
                <a:spcPts val="1067"/>
              </a:spcBef>
              <a:defRPr/>
            </a:lvl1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27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715" y="1280190"/>
            <a:ext cx="6675046" cy="6126413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1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6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7439" y="1280190"/>
            <a:ext cx="6583608" cy="6126413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1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6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27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27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0B41-3034-4777-B6DE-71856D9856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eadership-PPT-RedBlock-wHand-r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0" y="5817510"/>
            <a:ext cx="13533120" cy="888094"/>
          </a:xfrm>
          <a:ln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Box 31"/>
          <p:cNvSpPr txBox="1">
            <a:spLocks noChangeArrowheads="1"/>
          </p:cNvSpPr>
          <p:nvPr userDrawn="1"/>
        </p:nvSpPr>
        <p:spPr bwMode="auto">
          <a:xfrm>
            <a:off x="641299" y="7729822"/>
            <a:ext cx="4053840" cy="34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6286" tIns="73144" rIns="146286" bIns="73144">
            <a:spAutoFit/>
          </a:bodyPr>
          <a:lstStyle/>
          <a:p>
            <a:pPr marL="0" marR="0" indent="0" algn="l" defTabSz="146286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/>
              <a:t>TI </a:t>
            </a:r>
            <a:r>
              <a:rPr lang="en-US" sz="1300" dirty="0" smtClean="0"/>
              <a:t>Confidential – NDA Restrictions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7867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40" y="12421"/>
            <a:ext cx="13533120" cy="97726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58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7" y="7589520"/>
            <a:ext cx="140868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7056" y="7589520"/>
            <a:ext cx="13984224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48721" y="274404"/>
            <a:ext cx="12801461" cy="8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8714" y="1280192"/>
            <a:ext cx="13502566" cy="61264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-30323" y="7589475"/>
            <a:ext cx="14081605" cy="621792"/>
            <a:chOff x="-30325" y="7589475"/>
            <a:chExt cx="14081605" cy="621792"/>
          </a:xfrm>
        </p:grpSpPr>
        <p:sp>
          <p:nvSpPr>
            <p:cNvPr id="18" name="Rectangle 17"/>
            <p:cNvSpPr/>
            <p:nvPr userDrawn="1"/>
          </p:nvSpPr>
          <p:spPr>
            <a:xfrm>
              <a:off x="-30325" y="7589475"/>
              <a:ext cx="14081605" cy="621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1394095" y="7748226"/>
              <a:ext cx="2492562" cy="309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718351" y="7751219"/>
            <a:ext cx="3378200" cy="295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marL="0" marR="0" indent="0" algn="l" defTabSz="121886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/>
              <a:t>TI </a:t>
            </a:r>
            <a:r>
              <a:rPr lang="en-US" sz="1100" dirty="0" smtClean="0"/>
              <a:t>Confidential – NDA</a:t>
            </a:r>
            <a:r>
              <a:rPr lang="en-US" sz="1100" baseline="0" dirty="0" smtClean="0"/>
              <a:t> Restrictions</a:t>
            </a:r>
            <a:endParaRPr lang="en-US" sz="1100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27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Oval 1"/>
          <p:cNvSpPr>
            <a:spLocks noChangeAspect="1"/>
          </p:cNvSpPr>
          <p:nvPr/>
        </p:nvSpPr>
        <p:spPr>
          <a:xfrm>
            <a:off x="13533053" y="274363"/>
            <a:ext cx="822950" cy="8229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i="1" dirty="0" smtClean="0">
                <a:effectLst/>
              </a:rPr>
              <a:t>K3</a:t>
            </a:r>
            <a:endParaRPr lang="en-US" sz="2400" b="1" i="1" dirty="0"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1" r:id="rId3"/>
    <p:sldLayoutId id="2147483713" r:id="rId4"/>
    <p:sldLayoutId id="2147483714" r:id="rId5"/>
    <p:sldLayoutId id="2147483720" r:id="rId6"/>
    <p:sldLayoutId id="2147483721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5pPr>
      <a:lvl6pPr marL="609432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6pPr>
      <a:lvl7pPr marL="1218864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7pPr>
      <a:lvl8pPr marL="18282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8pPr>
      <a:lvl9pPr marL="243771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9pPr>
    </p:titleStyle>
    <p:bodyStyle>
      <a:lvl1pPr marL="302598" indent="-302598" algn="l" rtl="0" eaLnBrk="1" fontAlgn="base" hangingPunct="1">
        <a:spcBef>
          <a:spcPts val="1067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66021" indent="-311066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1138448" indent="-220077" algn="l" rtl="0" eaLnBrk="1" fontAlgn="base" hangingPunct="1">
        <a:spcBef>
          <a:spcPct val="15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601869" indent="-31106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984874" indent="-230661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94306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3203738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813168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4422598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32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6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293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1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14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579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05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43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itg.ti.com/display/ESSubsystem/Ethernet+Switch+Firmware+Tracking" TargetMode="External"/><Relationship Id="rId2" Type="http://schemas.openxmlformats.org/officeDocument/2006/relationships/hyperlink" Target="https://confluence.itg.ti.com/display/ESSubsystem/2019-04-02+EthFw+CCB+Meeting+Notes+-+VLAB+Switching+Tes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jira.itg.ti.com/issues/?filter=3763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lileo.itg.ti.com/cgi-bin/docRev/documentDownload.cgi?LevelId=11&amp;ItemId=52917&amp;KwId=5047&amp;PhaseId=1044&amp;FileName=ethfw_testreport.xlsx" TargetMode="External"/><Relationship Id="rId2" Type="http://schemas.openxmlformats.org/officeDocument/2006/relationships/hyperlink" Target="https://galileo.itg.ti.com/cgi-bin/docRev/documentDownload.cgi?LevelId=11&amp;ItemId=52917&amp;KwId=109217&amp;PhaseId=1044&amp;FileName=ethfw_traceability.xlsx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lileo.itg.ti.com/cgi-bin/docRev/documentDownload.cgi?LevelId=11&amp;ItemId=52917&amp;KwId=5087&amp;PhaseId=1043&amp;FileName=ethfw_0.8_code_review.doc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alileo.itg.ti.com/cgi-bin/docRev/documentDownload.cgi?LevelId=11&amp;ItemId=52917&amp;KwId=5090&amp;PhaseId=1043&amp;FileName=ethfw_testplan.xls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lileo.itg.ti.com/cgi-bin/docRev/documentDownload.cgi?LevelId=11&amp;ItemId=52917&amp;KwId=5047&amp;PhaseId=1044&amp;FileName=ethfw_testreport.xls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alileo.itg.ti.com/cgi-bin/docRev/documentDownload.cgi?LevelId=11&amp;ItemId=52917&amp;KwId=109217&amp;PhaseId=1044&amp;FileName=ethfw_traceability.xlsx" TargetMode="External"/><Relationship Id="rId5" Type="http://schemas.openxmlformats.org/officeDocument/2006/relationships/hyperlink" Target="https://galileo.itg.ti.com/cgi-bin/docRev/documentDownload.cgi?LevelId=11&amp;ItemId=52917&amp;KwId=5153&amp;PhaseId=1044&amp;FileName=ethfw_manifest.html" TargetMode="External"/><Relationship Id="rId4" Type="http://schemas.openxmlformats.org/officeDocument/2006/relationships/hyperlink" Target="https://galileo.itg.ti.com/cgi-bin/docRev/documentDownload.cgi?LevelId=11&amp;ItemId=52917&amp;KwId=5048&amp;PhaseId=1044&amp;FileName=ethfw_cust_docs.zi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itg.ti.com/issues/?jql=(project+%3D+LCPD+AND+issuetype+%3D+Requirement+AND+Platform+in+(dra8xx-evm,+dra8xx-vlab)+AND+status+in+(Approved,+IMPLEMENTED)+AND+fixVersion+in+(j7presil-4.19.v1,+2018.V4.19-j7presil,+2018.V4.18-j7presil,+2018.V4.17-j7presil,+2018.V4.16-j7presil,+2018.V4.15-j7presil)+OR+project+%3D+%22Processor+SDK+Linux+Automotive%22+AND+issuetype+%3D+Requirement+AND+Platform+in+(dra8xx-evm,+dra8xx-vlab)+AND+fixVersion+in+(PSDKLA_J7_00_02_00_00,+PSDKLA_J7_00_03_00_00,+PSDKLA_J7_00_05_00_00))+AND+status+%3D+IMPLEMENTE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itg.ti.com/browse/ETHFW-18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bu.itg.ti.com/SRAS/UserForms/SRAS_Record.aspx?Action=Modify&amp;DB=SRAS&amp;ID=SRAS00006191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2362200"/>
            <a:ext cx="12877800" cy="2375998"/>
          </a:xfrm>
        </p:spPr>
        <p:txBody>
          <a:bodyPr/>
          <a:lstStyle/>
          <a:p>
            <a:pPr lvl="0"/>
            <a:r>
              <a:rPr lang="en-US" sz="4800" dirty="0" smtClean="0"/>
              <a:t>EthFw – v0.8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smtClean="0"/>
              <a:t>Release Gate PPT</a:t>
            </a:r>
            <a:br>
              <a:rPr lang="en-US" sz="4800" dirty="0" smtClean="0"/>
            </a:b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2800" b="0" dirty="0" smtClean="0">
                <a:solidFill>
                  <a:schemeClr val="tx1"/>
                </a:solidFill>
              </a:rPr>
              <a:t>02April 2019</a:t>
            </a:r>
            <a:endParaRPr lang="en-US" sz="4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83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Release Overview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838200"/>
            <a:ext cx="128777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SW Process Used: QRAS AP00216 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rev.A</a:t>
            </a:r>
            <a:r>
              <a:rPr lang="en-US" sz="2000" b="1" dirty="0" smtClean="0"/>
              <a:t>)</a:t>
            </a:r>
          </a:p>
          <a:p>
            <a:pPr marL="285750" indent="-285750">
              <a:buFont typeface="Arial" charset="0"/>
              <a:buChar char="•"/>
            </a:pPr>
            <a:r>
              <a:rPr lang="en-US" b="1" dirty="0" smtClean="0"/>
              <a:t>Platforms </a:t>
            </a:r>
            <a:r>
              <a:rPr lang="en-US" b="1" dirty="0"/>
              <a:t>supported: VLAB simulator </a:t>
            </a:r>
            <a:r>
              <a:rPr lang="en-US" sz="1400" dirty="0"/>
              <a:t>(VLAB </a:t>
            </a:r>
            <a:r>
              <a:rPr lang="en-US" sz="1400" dirty="0" smtClean="0"/>
              <a:t>2.4.6, VLAB-Toolbox keystone-0.14.5-rc1, </a:t>
            </a:r>
            <a:r>
              <a:rPr lang="en-US" sz="1400" b="1" u="sng" dirty="0" smtClean="0"/>
              <a:t>J7 ES configuration</a:t>
            </a:r>
            <a:r>
              <a:rPr lang="en-US" sz="1400" dirty="0" smtClean="0"/>
              <a:t>)</a:t>
            </a:r>
            <a:endParaRPr lang="en-US" sz="1400" dirty="0"/>
          </a:p>
          <a:p>
            <a:pPr marL="285750" indent="-285750">
              <a:buFont typeface="Arial" charset="0"/>
              <a:buChar char="•"/>
            </a:pPr>
            <a:r>
              <a:rPr lang="en-US" b="1" dirty="0" smtClean="0"/>
              <a:t>Key Features</a:t>
            </a:r>
          </a:p>
          <a:p>
            <a:pPr marL="895182" lvl="1" indent="-285750">
              <a:buFont typeface="Arial" charset="0"/>
              <a:buChar char="•"/>
            </a:pPr>
            <a:r>
              <a:rPr lang="en-US" dirty="0"/>
              <a:t>L2 </a:t>
            </a:r>
            <a:r>
              <a:rPr lang="en-US" dirty="0" smtClean="0"/>
              <a:t>Switching demo</a:t>
            </a:r>
          </a:p>
          <a:p>
            <a:pPr marL="895182" lvl="1" indent="-285750">
              <a:buFont typeface="Arial" charset="0"/>
              <a:buChar char="•"/>
            </a:pPr>
            <a:r>
              <a:rPr lang="en-US" dirty="0" smtClean="0"/>
              <a:t>NDK </a:t>
            </a:r>
            <a:r>
              <a:rPr lang="en-US" dirty="0"/>
              <a:t>integration</a:t>
            </a:r>
          </a:p>
          <a:p>
            <a:pPr marL="895182" lvl="1" indent="-285750">
              <a:buFont typeface="Arial" charset="0"/>
              <a:buChar char="•"/>
            </a:pPr>
            <a:r>
              <a:rPr lang="en-US" dirty="0"/>
              <a:t>UART-based </a:t>
            </a:r>
            <a:r>
              <a:rPr lang="en-US" dirty="0" smtClean="0"/>
              <a:t>logging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157032"/>
            <a:ext cx="9029700" cy="3951479"/>
          </a:xfrm>
          <a:prstGeom prst="rect">
            <a:avLst/>
          </a:prstGeom>
        </p:spPr>
      </p:pic>
      <p:cxnSp>
        <p:nvCxnSpPr>
          <p:cNvPr id="58" name="Straight Connector 57"/>
          <p:cNvCxnSpPr/>
          <p:nvPr/>
        </p:nvCxnSpPr>
        <p:spPr>
          <a:xfrm>
            <a:off x="3067051" y="3299901"/>
            <a:ext cx="2000250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067301" y="3299901"/>
            <a:ext cx="0" cy="714375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3067051" y="3299901"/>
            <a:ext cx="0" cy="381694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3067051" y="7116841"/>
            <a:ext cx="8429625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5067301" y="4014276"/>
            <a:ext cx="1190625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6257926" y="4014276"/>
            <a:ext cx="0" cy="1203304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6257926" y="5204901"/>
            <a:ext cx="5238750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1496676" y="5204901"/>
            <a:ext cx="0" cy="191194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0" y="7239000"/>
            <a:ext cx="5301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EthFw Stack 0.8 (Block is scope of 0.8 release)</a:t>
            </a:r>
          </a:p>
        </p:txBody>
      </p:sp>
    </p:spTree>
    <p:extLst>
      <p:ext uri="{BB962C8B-B14F-4D97-AF65-F5344CB8AC3E}">
        <p14:creationId xmlns:p14="http://schemas.microsoft.com/office/powerpoint/2010/main" val="123490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Summary</a:t>
            </a:r>
            <a:endParaRPr lang="en-US" dirty="0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549275" y="221576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531951"/>
              </p:ext>
            </p:extLst>
          </p:nvPr>
        </p:nvGraphicFramePr>
        <p:xfrm>
          <a:off x="1231900" y="2819400"/>
          <a:ext cx="8400036" cy="1247735"/>
        </p:xfrm>
        <a:graphic>
          <a:graphicData uri="http://schemas.openxmlformats.org/drawingml/2006/table">
            <a:tbl>
              <a:tblPr/>
              <a:tblGrid>
                <a:gridCol w="1371600"/>
                <a:gridCol w="1428412"/>
                <a:gridCol w="1162388"/>
                <a:gridCol w="1447800"/>
                <a:gridCol w="1828800"/>
                <a:gridCol w="1161036"/>
              </a:tblGrid>
              <a:tr h="40826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dirty="0">
                          <a:effectLst/>
                        </a:rPr>
                        <a:t>Date/Venue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34032" marB="34032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dirty="0">
                          <a:effectLst/>
                        </a:rPr>
                        <a:t>Record Numbers if applicable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34032" marB="34032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dirty="0">
                          <a:effectLst/>
                        </a:rPr>
                        <a:t>Change</a:t>
                      </a:r>
                      <a:endParaRPr lang="en-US" sz="1200" dirty="0">
                        <a:effectLst/>
                      </a:endParaRPr>
                    </a:p>
                  </a:txBody>
                  <a:tcPr marL="48618" marR="48618" marT="34032" marB="34032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>
                          <a:effectLst/>
                        </a:rPr>
                        <a:t>Feature Description</a:t>
                      </a:r>
                      <a:endParaRPr lang="en-US" sz="1200">
                        <a:effectLst/>
                      </a:endParaRPr>
                    </a:p>
                  </a:txBody>
                  <a:tcPr marL="48618" marR="48618" marT="34032" marB="34032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>
                          <a:effectLst/>
                        </a:rPr>
                        <a:t>Reason</a:t>
                      </a:r>
                      <a:endParaRPr lang="en-US" sz="1200">
                        <a:effectLst/>
                      </a:endParaRPr>
                    </a:p>
                  </a:txBody>
                  <a:tcPr marL="48618" marR="48618" marT="34032" marB="34032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>
                          <a:effectLst/>
                        </a:rPr>
                        <a:t>Comments and Approval</a:t>
                      </a:r>
                      <a:endParaRPr lang="en-US" sz="1200">
                        <a:effectLst/>
                      </a:endParaRPr>
                    </a:p>
                  </a:txBody>
                  <a:tcPr marL="48618" marR="48618" marT="34032" marB="34032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911">
                <a:tc>
                  <a:txBody>
                    <a:bodyPr/>
                    <a:lstStyle/>
                    <a:p>
                      <a:pPr marL="0" algn="ctr" defTabSz="1218864" rtl="0" eaLnBrk="1" fontAlgn="t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4/2/2019 </a:t>
                      </a:r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EthFw CCB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26670" marB="26670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8864" rtl="0" eaLnBrk="1" fontAlgn="t" latinLnBrk="0" hangingPunct="1"/>
                      <a:r>
                        <a:rPr lang="de-DE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ETHFW-181 </a:t>
                      </a:r>
                      <a:endParaRPr lang="de-DE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26670" marB="26670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8864" rtl="0" eaLnBrk="1" fontAlgn="t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Added to 0.8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26670" marB="26670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8864" rtl="0" eaLnBrk="1" fontAlgn="t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Switching</a:t>
                      </a:r>
                      <a:r>
                        <a:rPr lang="en-US" sz="12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across ports on VLAB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26670" marB="26670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8864" rtl="0" eaLnBrk="1" fontAlgn="t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Needed to add new requirement for VLAB testing as existing cover EVM only.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26670" marB="26670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8864" rtl="0" eaLnBrk="1" fontAlgn="t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APPROVED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26670" marB="26670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3100388" y="1279525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46188" y="5867400"/>
            <a:ext cx="9348849" cy="369332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Scope </a:t>
            </a:r>
            <a:r>
              <a:rPr lang="en-US" dirty="0"/>
              <a:t>change </a:t>
            </a:r>
            <a:r>
              <a:rPr lang="en-US" dirty="0" smtClean="0"/>
              <a:t>tracker: </a:t>
            </a:r>
            <a:r>
              <a:rPr lang="en-US" dirty="0" smtClean="0">
                <a:hlinkClick r:id="rId3"/>
              </a:rPr>
              <a:t>Link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231900" y="762000"/>
            <a:ext cx="21146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Requirements Summary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1233488" y="2228464"/>
            <a:ext cx="3340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Scope Change – Review and Alignment</a:t>
            </a:r>
            <a:endParaRPr lang="en-US" sz="1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547188"/>
              </p:ext>
            </p:extLst>
          </p:nvPr>
        </p:nvGraphicFramePr>
        <p:xfrm>
          <a:off x="1244600" y="1279525"/>
          <a:ext cx="4343400" cy="46101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987941"/>
                <a:gridCol w="1520190"/>
                <a:gridCol w="835269"/>
              </a:tblGrid>
              <a:tr h="205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Component</a:t>
                      </a:r>
                      <a:endParaRPr lang="en-US" sz="1400" b="1" i="0" u="none" strike="noStrike" dirty="0">
                        <a:solidFill>
                          <a:srgbClr val="172B4D"/>
                        </a:solidFill>
                        <a:effectLst/>
                        <a:latin typeface="Segoe UI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smtClean="0">
                          <a:effectLst/>
                        </a:rPr>
                        <a:t>Implemented</a:t>
                      </a:r>
                      <a:endParaRPr lang="en-US" sz="1400" b="1" i="0" u="none" strike="noStrike" dirty="0">
                        <a:solidFill>
                          <a:srgbClr val="00875A"/>
                        </a:solidFill>
                        <a:effectLst/>
                        <a:latin typeface="Segoe UI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T:</a:t>
                      </a:r>
                      <a:endParaRPr lang="en-US" sz="1400" b="1" i="0" u="none" strike="noStrike" dirty="0">
                        <a:solidFill>
                          <a:srgbClr val="172B4D"/>
                        </a:solidFill>
                        <a:effectLst/>
                        <a:latin typeface="Segoe UI"/>
                      </a:endParaRPr>
                    </a:p>
                  </a:txBody>
                  <a:tcPr marL="3810" marR="3810" marT="3810" marB="0" anchor="b"/>
                </a:tc>
              </a:tr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smtClean="0">
                          <a:effectLst/>
                        </a:rPr>
                        <a:t>EthFw</a:t>
                      </a:r>
                      <a:endParaRPr lang="en-US" sz="1400" b="0" i="0" u="none" strike="noStrike" dirty="0">
                        <a:solidFill>
                          <a:srgbClr val="172B4D"/>
                        </a:solidFill>
                        <a:effectLst/>
                        <a:latin typeface="Segoe UI"/>
                      </a:endParaRPr>
                    </a:p>
                  </a:txBody>
                  <a:tcPr marL="182880" marR="3810" marT="38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u="sng" strike="noStrike" dirty="0" smtClean="0">
                          <a:effectLst/>
                          <a:hlinkClick r:id="rId4"/>
                        </a:rPr>
                        <a:t>9</a:t>
                      </a:r>
                      <a:endParaRPr lang="en-US" sz="1400" b="0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3810" marR="3810" marT="15240" marB="1524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sng" strike="noStrike" dirty="0" smtClean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4"/>
                        </a:rPr>
                        <a:t>9</a:t>
                      </a:r>
                      <a:endParaRPr lang="en-US" sz="1400" b="0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3810" marR="3810" marT="381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31900" y="4495800"/>
            <a:ext cx="783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 requirements are Unit and Regression.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Performance requirement for this release.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66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Summary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27216"/>
              </p:ext>
            </p:extLst>
          </p:nvPr>
        </p:nvGraphicFramePr>
        <p:xfrm>
          <a:off x="914400" y="838200"/>
          <a:ext cx="6248400" cy="1143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357"/>
                <a:gridCol w="4507043"/>
              </a:tblGrid>
              <a:tr h="38191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Component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Test report</a:t>
                      </a:r>
                      <a:endParaRPr lang="en-US" sz="1200" dirty="0"/>
                    </a:p>
                  </a:txBody>
                  <a:tcPr/>
                </a:tc>
              </a:tr>
              <a:tr h="761083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EthFw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Traceability: </a:t>
                      </a:r>
                      <a:r>
                        <a:rPr lang="en-US" sz="1200" dirty="0" smtClean="0">
                          <a:hlinkClick r:id="rId2"/>
                        </a:rPr>
                        <a:t>Link</a:t>
                      </a:r>
                      <a:endParaRPr lang="en-US" sz="1200" dirty="0" smtClean="0"/>
                    </a:p>
                    <a:p>
                      <a:r>
                        <a:rPr lang="en-US" sz="1200" dirty="0" smtClean="0"/>
                        <a:t>Report: </a:t>
                      </a:r>
                      <a:r>
                        <a:rPr lang="en-US" sz="1200" dirty="0" smtClean="0">
                          <a:hlinkClick r:id="rId3"/>
                        </a:rPr>
                        <a:t>Link</a:t>
                      </a:r>
                      <a:endParaRPr lang="en-US" sz="1200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871180"/>
              </p:ext>
            </p:extLst>
          </p:nvPr>
        </p:nvGraphicFramePr>
        <p:xfrm>
          <a:off x="914400" y="2971800"/>
          <a:ext cx="10210802" cy="129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193"/>
                <a:gridCol w="1051193"/>
                <a:gridCol w="1051193"/>
                <a:gridCol w="1051193"/>
                <a:gridCol w="1166165"/>
                <a:gridCol w="1138447"/>
                <a:gridCol w="963940"/>
                <a:gridCol w="1313990"/>
                <a:gridCol w="1423488"/>
              </a:tblGrid>
              <a:tr h="6377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 dirty="0">
                          <a:effectLst/>
                        </a:rPr>
                        <a:t>Platform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>
                          <a:effectLst/>
                        </a:rPr>
                        <a:t>Met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>
                          <a:effectLst/>
                        </a:rPr>
                        <a:t>Partially Met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>
                          <a:effectLst/>
                        </a:rPr>
                        <a:t>Not Met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 dirty="0">
                          <a:effectLst/>
                        </a:rPr>
                        <a:t>Not Validated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</a:p>
                    <a:p>
                      <a:pPr algn="ctr" fontAlgn="t"/>
                      <a:r>
                        <a:rPr lang="en-US" sz="105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testable</a:t>
                      </a:r>
                      <a:endParaRPr lang="en-US" sz="105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 dirty="0">
                          <a:effectLst/>
                        </a:rPr>
                        <a:t>Test Gap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>
                          <a:effectLst/>
                        </a:rPr>
                        <a:t>Not Applicable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u="none" strike="noStrike" dirty="0">
                          <a:effectLst/>
                        </a:rPr>
                        <a:t>Total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576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 smtClean="0">
                          <a:effectLst/>
                        </a:rPr>
                        <a:t>J721E-vlab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 smtClean="0">
                          <a:effectLst/>
                        </a:rPr>
                        <a:t>9(100%)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 smtClean="0">
                          <a:effectLst/>
                        </a:rPr>
                        <a:t>0 (0%)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 smtClean="0">
                          <a:effectLst/>
                        </a:rPr>
                        <a:t>0 (0%)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 smtClean="0">
                          <a:effectLst/>
                        </a:rPr>
                        <a:t>0 (0%)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 smtClean="0">
                          <a:effectLst/>
                        </a:rPr>
                        <a:t>0 (0%)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0 (0%)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0 (0%)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 smtClean="0">
                          <a:effectLst/>
                        </a:rPr>
                        <a:t>9(100</a:t>
                      </a:r>
                      <a:r>
                        <a:rPr lang="en-US" sz="1100" u="none" strike="noStrike" dirty="0">
                          <a:effectLst/>
                        </a:rPr>
                        <a:t>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2000" y="2362200"/>
            <a:ext cx="2895600" cy="2286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chemeClr val="tx1"/>
                </a:solidFill>
              </a:rPr>
              <a:t>Requirement Metrics</a:t>
            </a:r>
            <a:endParaRPr 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46594"/>
              </p:ext>
            </p:extLst>
          </p:nvPr>
        </p:nvGraphicFramePr>
        <p:xfrm>
          <a:off x="914400" y="5181600"/>
          <a:ext cx="6095999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3489600"/>
                <a:gridCol w="1463399"/>
              </a:tblGrid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Requirement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Defect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4608328"/>
            <a:ext cx="2895600" cy="2286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chemeClr val="tx1"/>
                </a:solidFill>
              </a:rPr>
              <a:t>Requirement Not/Partially Met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53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Defect Summary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447800"/>
            <a:ext cx="11658600" cy="67710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u="sng" dirty="0" smtClean="0"/>
              <a:t>Defects Fixed in this release</a:t>
            </a:r>
            <a:endParaRPr lang="en-US" u="sng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95670" y="3832983"/>
            <a:ext cx="11658600" cy="67710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u="sng" dirty="0" smtClean="0"/>
              <a:t>Known Issues </a:t>
            </a:r>
            <a:endParaRPr lang="en-US" u="sng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NA</a:t>
            </a:r>
          </a:p>
        </p:txBody>
      </p:sp>
    </p:spTree>
    <p:extLst>
      <p:ext uri="{BB962C8B-B14F-4D97-AF65-F5344CB8AC3E}">
        <p14:creationId xmlns:p14="http://schemas.microsoft.com/office/powerpoint/2010/main" val="190481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Release Gate Deliverables : Create Phase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45142"/>
              </p:ext>
            </p:extLst>
          </p:nvPr>
        </p:nvGraphicFramePr>
        <p:xfrm>
          <a:off x="685800" y="1219200"/>
          <a:ext cx="11125200" cy="5029202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432520"/>
                <a:gridCol w="4060161"/>
                <a:gridCol w="4632519"/>
              </a:tblGrid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Deliverable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Status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Comments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Risk Management plan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US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Covered in SDK PPT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Create Review checklist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US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marR="0" indent="0" algn="l" defTabSz="121886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Covered in SDK PPT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113600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Design Document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US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This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initial release includes only the sample demos in application space.</a:t>
                      </a: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Code Review Results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Updated. </a:t>
                      </a:r>
                      <a:r>
                        <a:rPr lang="en-US" sz="1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Galileo </a:t>
                      </a:r>
                      <a:r>
                        <a:rPr lang="en-US" sz="1800" u="none" strike="noStrike" dirty="0" smtClean="0">
                          <a:solidFill>
                            <a:schemeClr val="tx1"/>
                          </a:solidFill>
                          <a:effectLst/>
                          <a:hlinkClick r:id="rId3"/>
                        </a:rPr>
                        <a:t>Link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effectLst/>
                        </a:rPr>
                        <a:t>Done as a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 part of merge on </a:t>
                      </a:r>
                      <a:r>
                        <a:rPr lang="en-US" sz="1800" u="none" strike="noStrike" dirty="0" err="1" smtClean="0">
                          <a:effectLst/>
                        </a:rPr>
                        <a:t>Bitbucket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Test Plan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Completed</a:t>
                      </a:r>
                      <a:r>
                        <a:rPr lang="en-US" sz="1800" u="none" strike="noStrike" dirty="0" smtClean="0">
                          <a:effectLst/>
                        </a:rPr>
                        <a:t>.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Galileo </a:t>
                      </a:r>
                      <a:r>
                        <a:rPr lang="en-US" sz="1800" u="none" strike="noStrike" baseline="0" dirty="0" smtClean="0">
                          <a:effectLst/>
                          <a:hlinkClick r:id="rId4"/>
                        </a:rPr>
                        <a:t>Link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105317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Static Code Analysis Report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NA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MISRA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not part of 0.8 release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857999"/>
            <a:ext cx="1112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BitBucket</a:t>
            </a:r>
            <a:r>
              <a:rPr lang="en-US" dirty="0" smtClean="0"/>
              <a:t> </a:t>
            </a:r>
            <a:r>
              <a:rPr lang="en-US" dirty="0" smtClean="0"/>
              <a:t>repo – use </a:t>
            </a:r>
            <a:r>
              <a:rPr lang="en-US" dirty="0" err="1" smtClean="0">
                <a:solidFill>
                  <a:srgbClr val="000000"/>
                </a:solidFill>
              </a:rPr>
              <a:t>git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tag -</a:t>
            </a:r>
            <a:r>
              <a:rPr lang="en-US" dirty="0" smtClean="0">
                <a:solidFill>
                  <a:srgbClr val="000000"/>
                </a:solidFill>
              </a:rPr>
              <a:t>ETHFW_0.8_DOCS_REVIEW_APPROVED for 0.8 docs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3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Release Gate Deliverables : Validate Phase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741428"/>
              </p:ext>
            </p:extLst>
          </p:nvPr>
        </p:nvGraphicFramePr>
        <p:xfrm>
          <a:off x="685800" y="1219200"/>
          <a:ext cx="11125200" cy="5472774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432520"/>
                <a:gridCol w="4060161"/>
                <a:gridCol w="4632519"/>
              </a:tblGrid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Deliverable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Status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Comments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Risk Management plan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marR="0" indent="0" algn="l" defTabSz="121886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Covered in SDK PPT</a:t>
                      </a: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effectLst/>
                        </a:rPr>
                        <a:t>Validate phase </a:t>
                      </a:r>
                      <a:r>
                        <a:rPr lang="en-US" sz="1800" u="none" strike="noStrike" dirty="0">
                          <a:effectLst/>
                        </a:rPr>
                        <a:t>Review checklist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marR="0" indent="0" algn="l" defTabSz="121886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Covered in SDK PPT</a:t>
                      </a:r>
                    </a:p>
                  </a:txBody>
                  <a:tcPr marL="3810" marR="3810" marT="3810" marB="0" anchor="b"/>
                </a:tc>
              </a:tr>
              <a:tr h="88678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effectLst/>
                        </a:rPr>
                        <a:t>Software Test Report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Completed</a:t>
                      </a:r>
                      <a:r>
                        <a:rPr lang="en-US" sz="1800" u="none" strike="noStrike" dirty="0" smtClean="0">
                          <a:effectLst/>
                        </a:rPr>
                        <a:t>.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Galileo </a:t>
                      </a:r>
                      <a:r>
                        <a:rPr lang="en-US" sz="1800" dirty="0" smtClean="0"/>
                        <a:t>: </a:t>
                      </a:r>
                      <a:r>
                        <a:rPr lang="en-US" sz="1800" dirty="0" smtClean="0">
                          <a:hlinkClick r:id="rId3"/>
                        </a:rPr>
                        <a:t>Link</a:t>
                      </a:r>
                      <a:endParaRPr lang="en-US" sz="1800" dirty="0" smtClean="0"/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Customer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Documents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Completed. </a:t>
                      </a:r>
                      <a:r>
                        <a:rPr lang="en-US" sz="1800" u="none" strike="noStrike" dirty="0" smtClean="0">
                          <a:solidFill>
                            <a:schemeClr val="tx1"/>
                          </a:solidFill>
                          <a:effectLst/>
                          <a:hlinkClick r:id="rId4"/>
                        </a:rPr>
                        <a:t>Link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56800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effectLst/>
                        </a:rPr>
                        <a:t>Software Manifest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Completed</a:t>
                      </a:r>
                      <a:r>
                        <a:rPr lang="en-US" sz="1800" u="none" strike="noStrike" dirty="0" smtClean="0">
                          <a:effectLst/>
                        </a:rPr>
                        <a:t>.</a:t>
                      </a:r>
                      <a:r>
                        <a:rPr lang="en-US" sz="1800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1800" u="none" strike="noStrike" baseline="0" dirty="0" smtClean="0">
                          <a:effectLst/>
                          <a:hlinkClick r:id="rId5"/>
                        </a:rPr>
                        <a:t>Link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692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Static Code Analysis Report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NA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marR="0" indent="0" algn="l" defTabSz="121886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Static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analysis not part of 0.8 release</a:t>
                      </a:r>
                      <a:endParaRPr lang="en-US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  <a:tr h="105317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Bi-directional traceability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Completed. </a:t>
                      </a:r>
                      <a:r>
                        <a:rPr lang="en-US" sz="1800" dirty="0" smtClean="0"/>
                        <a:t>Traceability: </a:t>
                      </a:r>
                      <a:r>
                        <a:rPr lang="en-US" sz="1800" dirty="0" smtClean="0">
                          <a:hlinkClick r:id="rId6"/>
                        </a:rPr>
                        <a:t>Link</a:t>
                      </a:r>
                      <a:endParaRPr lang="en-US" sz="1800" dirty="0" smtClean="0"/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810" marR="3810" marT="3810" marB="0" anchor="b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857999"/>
            <a:ext cx="1112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BitBucket</a:t>
            </a:r>
            <a:r>
              <a:rPr lang="en-US" dirty="0" smtClean="0"/>
              <a:t> </a:t>
            </a:r>
            <a:r>
              <a:rPr lang="en-US" dirty="0" smtClean="0"/>
              <a:t>repo – use </a:t>
            </a:r>
            <a:r>
              <a:rPr lang="en-US" dirty="0" err="1" smtClean="0">
                <a:solidFill>
                  <a:srgbClr val="000000"/>
                </a:solidFill>
              </a:rPr>
              <a:t>git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tag -</a:t>
            </a:r>
            <a:r>
              <a:rPr lang="en-US" dirty="0" smtClean="0">
                <a:solidFill>
                  <a:srgbClr val="000000"/>
                </a:solidFill>
              </a:rPr>
              <a:t>ETHFW_0.8_DOCS_REVIEW_APPROVED for 0.8 docs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64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900" dirty="0" smtClean="0"/>
              <a:t>Quality </a:t>
            </a:r>
            <a:r>
              <a:rPr lang="en-US" sz="3900" dirty="0"/>
              <a:t>Status</a:t>
            </a:r>
          </a:p>
        </p:txBody>
      </p:sp>
      <p:sp>
        <p:nvSpPr>
          <p:cNvPr id="107522" name="Content Placeholder 5"/>
          <p:cNvSpPr>
            <a:spLocks noGrp="1"/>
          </p:cNvSpPr>
          <p:nvPr>
            <p:ph idx="1"/>
          </p:nvPr>
        </p:nvSpPr>
        <p:spPr>
          <a:xfrm>
            <a:off x="487706" y="1110343"/>
            <a:ext cx="13548360" cy="6479185"/>
          </a:xfrm>
        </p:spPr>
        <p:txBody>
          <a:bodyPr/>
          <a:lstStyle/>
          <a:p>
            <a:pPr eaLnBrk="1" hangingPunct="1"/>
            <a:r>
              <a:rPr lang="en-US" sz="2500" b="1" dirty="0"/>
              <a:t>Current Status</a:t>
            </a:r>
          </a:p>
          <a:p>
            <a:pPr lvl="1" eaLnBrk="1" hangingPunct="1"/>
            <a:r>
              <a:rPr lang="en-US" sz="2200" dirty="0" smtClean="0"/>
              <a:t>KW </a:t>
            </a:r>
            <a:r>
              <a:rPr lang="en-US" sz="2200" dirty="0"/>
              <a:t>warnings: </a:t>
            </a:r>
            <a:r>
              <a:rPr lang="en-US" sz="2200" dirty="0" smtClean="0"/>
              <a:t>NA </a:t>
            </a:r>
          </a:p>
          <a:p>
            <a:pPr lvl="1" eaLnBrk="1" hangingPunct="1"/>
            <a:r>
              <a:rPr lang="en-US" sz="2200" dirty="0" err="1" smtClean="0"/>
              <a:t>Foqus</a:t>
            </a:r>
            <a:r>
              <a:rPr lang="en-US" sz="2200" dirty="0" smtClean="0"/>
              <a:t> Update : </a:t>
            </a:r>
            <a:r>
              <a:rPr lang="en-US" sz="2200" dirty="0" smtClean="0">
                <a:solidFill>
                  <a:srgbClr val="00B050"/>
                </a:solidFill>
              </a:rPr>
              <a:t>Completed</a:t>
            </a:r>
            <a:endParaRPr lang="en-US" sz="2200" dirty="0">
              <a:solidFill>
                <a:srgbClr val="00B050"/>
              </a:solidFill>
            </a:endParaRPr>
          </a:p>
          <a:p>
            <a:pPr lvl="1" eaLnBrk="1" hangingPunct="1"/>
            <a:r>
              <a:rPr lang="en-US" sz="2200" dirty="0"/>
              <a:t>MISRA-C </a:t>
            </a:r>
            <a:r>
              <a:rPr lang="en-US" sz="2200" dirty="0" smtClean="0"/>
              <a:t>issues: NA</a:t>
            </a:r>
            <a:endParaRPr lang="en-US" sz="2200" dirty="0"/>
          </a:p>
          <a:p>
            <a:pPr lvl="1" eaLnBrk="1" hangingPunct="1"/>
            <a:r>
              <a:rPr lang="en-US" sz="2200" dirty="0"/>
              <a:t>All </a:t>
            </a:r>
            <a:r>
              <a:rPr lang="en-US" sz="2200" dirty="0" smtClean="0"/>
              <a:t>requirements (JIRA): Re-scoped requirements </a:t>
            </a:r>
            <a:r>
              <a:rPr lang="en-US" sz="2200" dirty="0" smtClean="0">
                <a:solidFill>
                  <a:srgbClr val="00B050"/>
                </a:solidFill>
              </a:rPr>
              <a:t>Completed &amp; moved to </a:t>
            </a:r>
            <a:r>
              <a:rPr lang="en-US" sz="2200" dirty="0">
                <a:solidFill>
                  <a:srgbClr val="00B050"/>
                </a:solidFill>
              </a:rPr>
              <a:t>implemented </a:t>
            </a:r>
            <a:r>
              <a:rPr lang="en-US" sz="2200" dirty="0" smtClean="0">
                <a:solidFill>
                  <a:srgbClr val="00B050"/>
                </a:solidFill>
              </a:rPr>
              <a:t>state(</a:t>
            </a:r>
            <a:r>
              <a:rPr lang="en-US" sz="2200" dirty="0" smtClean="0">
                <a:solidFill>
                  <a:srgbClr val="00B050"/>
                </a:solidFill>
                <a:hlinkClick r:id="rId3"/>
              </a:rPr>
              <a:t>link</a:t>
            </a:r>
            <a:r>
              <a:rPr lang="en-US" sz="2200" dirty="0" smtClean="0">
                <a:solidFill>
                  <a:srgbClr val="00B050"/>
                </a:solidFill>
              </a:rPr>
              <a:t>)</a:t>
            </a:r>
            <a:endParaRPr lang="en-US" sz="2200" dirty="0">
              <a:solidFill>
                <a:srgbClr val="00B050"/>
              </a:solidFill>
            </a:endParaRPr>
          </a:p>
          <a:p>
            <a:pPr lvl="1" eaLnBrk="1" hangingPunct="1"/>
            <a:r>
              <a:rPr lang="en-US" sz="2200" dirty="0"/>
              <a:t>All defects/bugs in closed </a:t>
            </a:r>
            <a:r>
              <a:rPr lang="en-US" sz="2200" dirty="0" smtClean="0"/>
              <a:t>state (JIRA): </a:t>
            </a:r>
            <a:r>
              <a:rPr lang="en-US" sz="2200" dirty="0" smtClean="0"/>
              <a:t>No defects</a:t>
            </a:r>
            <a:endParaRPr lang="en-US" sz="2200" dirty="0">
              <a:solidFill>
                <a:srgbClr val="00B050"/>
              </a:solidFill>
            </a:endParaRPr>
          </a:p>
          <a:p>
            <a:pPr lvl="1" eaLnBrk="1" hangingPunct="1"/>
            <a:r>
              <a:rPr lang="en-US" sz="2200" dirty="0" smtClean="0"/>
              <a:t>SDF (JIRA): </a:t>
            </a:r>
            <a:r>
              <a:rPr lang="en-US" sz="2200" dirty="0" smtClean="0"/>
              <a:t>ETHFW-194</a:t>
            </a:r>
            <a:endParaRPr lang="en-US" sz="2200" dirty="0"/>
          </a:p>
          <a:p>
            <a:pPr lvl="1" eaLnBrk="1" hangingPunct="1"/>
            <a:r>
              <a:rPr lang="en-US" sz="2200" dirty="0"/>
              <a:t>JIRA defect status</a:t>
            </a:r>
          </a:p>
          <a:p>
            <a:pPr lvl="2" eaLnBrk="1" hangingPunct="1"/>
            <a:r>
              <a:rPr lang="en-US" sz="1600" dirty="0"/>
              <a:t>Critical – 0</a:t>
            </a:r>
          </a:p>
          <a:p>
            <a:pPr lvl="3" eaLnBrk="1" hangingPunct="1"/>
            <a:r>
              <a:rPr lang="en-US" sz="1600" dirty="0" smtClean="0"/>
              <a:t>Internal	:0</a:t>
            </a:r>
          </a:p>
          <a:p>
            <a:pPr lvl="3" eaLnBrk="1" hangingPunct="1"/>
            <a:r>
              <a:rPr lang="en-US" sz="1600" dirty="0" smtClean="0"/>
              <a:t>Customer	:0</a:t>
            </a:r>
          </a:p>
          <a:p>
            <a:pPr lvl="2" eaLnBrk="1" hangingPunct="1"/>
            <a:r>
              <a:rPr lang="en-US" sz="1600" dirty="0" smtClean="0"/>
              <a:t>Major </a:t>
            </a:r>
            <a:r>
              <a:rPr lang="en-US" sz="1600" dirty="0"/>
              <a:t>- 0</a:t>
            </a:r>
          </a:p>
          <a:p>
            <a:pPr lvl="3" eaLnBrk="1" hangingPunct="1"/>
            <a:r>
              <a:rPr lang="en-US" sz="1600" dirty="0"/>
              <a:t>Internal	</a:t>
            </a:r>
            <a:r>
              <a:rPr lang="en-US" sz="1600" dirty="0" smtClean="0"/>
              <a:t>:0</a:t>
            </a:r>
          </a:p>
          <a:p>
            <a:pPr lvl="3" eaLnBrk="1" hangingPunct="1"/>
            <a:r>
              <a:rPr lang="en-US" sz="1600" dirty="0" smtClean="0"/>
              <a:t>Customer	:0</a:t>
            </a:r>
          </a:p>
          <a:p>
            <a:pPr lvl="2" eaLnBrk="1" hangingPunct="1"/>
            <a:r>
              <a:rPr lang="en-US" sz="1600" dirty="0" smtClean="0"/>
              <a:t>Minor </a:t>
            </a:r>
            <a:r>
              <a:rPr lang="en-US" sz="1600" dirty="0"/>
              <a:t>- </a:t>
            </a:r>
            <a:r>
              <a:rPr lang="en-US" sz="1600" dirty="0" smtClean="0"/>
              <a:t> 0</a:t>
            </a:r>
            <a:endParaRPr lang="en-US" sz="1600" dirty="0"/>
          </a:p>
          <a:p>
            <a:pPr lvl="3" eaLnBrk="1" hangingPunct="1"/>
            <a:r>
              <a:rPr lang="en-US" sz="1600" dirty="0"/>
              <a:t>Internal	</a:t>
            </a:r>
            <a:r>
              <a:rPr lang="en-US" sz="1600" dirty="0" smtClean="0"/>
              <a:t>:0</a:t>
            </a:r>
            <a:endParaRPr lang="en-US" sz="1600" dirty="0"/>
          </a:p>
          <a:p>
            <a:pPr lvl="3" eaLnBrk="1" hangingPunct="1"/>
            <a:r>
              <a:rPr lang="en-US" sz="1600" dirty="0"/>
              <a:t>Customer	</a:t>
            </a:r>
            <a:r>
              <a:rPr lang="en-US" sz="1600" dirty="0" smtClean="0"/>
              <a:t>:0</a:t>
            </a:r>
            <a:endParaRPr lang="en-US" sz="1600" dirty="0"/>
          </a:p>
          <a:p>
            <a:pPr lvl="1"/>
            <a:r>
              <a:rPr lang="en-US" sz="2200" dirty="0"/>
              <a:t>System Test: </a:t>
            </a:r>
            <a:r>
              <a:rPr lang="en-US" sz="2200" dirty="0" smtClean="0"/>
              <a:t>completed: (</a:t>
            </a:r>
            <a:r>
              <a:rPr lang="en-US" sz="2200" dirty="0" smtClean="0">
                <a:solidFill>
                  <a:srgbClr val="00B050"/>
                </a:solidFill>
              </a:rPr>
              <a:t>all 9 requirements fully met</a:t>
            </a:r>
            <a:r>
              <a:rPr lang="en-US" sz="2200" dirty="0" smtClean="0"/>
              <a:t>)</a:t>
            </a:r>
            <a:endParaRPr lang="en-US" sz="2200" dirty="0">
              <a:solidFill>
                <a:schemeClr val="tx2"/>
              </a:solidFill>
            </a:endParaRPr>
          </a:p>
          <a:p>
            <a:pPr lvl="2" eaLnBrk="1" hangingPunct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2779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itle 4"/>
          <p:cNvSpPr>
            <a:spLocks noGrp="1"/>
          </p:cNvSpPr>
          <p:nvPr>
            <p:ph type="title"/>
          </p:nvPr>
        </p:nvSpPr>
        <p:spPr>
          <a:xfrm>
            <a:off x="533400" y="-25400"/>
            <a:ext cx="12801461" cy="822917"/>
          </a:xfrm>
        </p:spPr>
        <p:txBody>
          <a:bodyPr/>
          <a:lstStyle/>
          <a:p>
            <a:pPr eaLnBrk="1" hangingPunct="1"/>
            <a:r>
              <a:rPr lang="en-US" sz="3900" dirty="0" smtClean="0"/>
              <a:t>Release Readiness</a:t>
            </a:r>
            <a:endParaRPr lang="en-US" sz="3900" dirty="0"/>
          </a:p>
        </p:txBody>
      </p:sp>
      <p:sp>
        <p:nvSpPr>
          <p:cNvPr id="107522" name="Content Placeholder 5"/>
          <p:cNvSpPr>
            <a:spLocks noGrp="1"/>
          </p:cNvSpPr>
          <p:nvPr>
            <p:ph idx="1"/>
          </p:nvPr>
        </p:nvSpPr>
        <p:spPr>
          <a:xfrm>
            <a:off x="381000" y="685800"/>
            <a:ext cx="13548360" cy="6934200"/>
          </a:xfrm>
        </p:spPr>
        <p:txBody>
          <a:bodyPr/>
          <a:lstStyle/>
          <a:p>
            <a:pPr eaLnBrk="1" hangingPunct="1"/>
            <a:r>
              <a:rPr lang="en-US" sz="2500" b="1" dirty="0"/>
              <a:t>Current Status</a:t>
            </a:r>
          </a:p>
          <a:p>
            <a:pPr lvl="1"/>
            <a:r>
              <a:rPr lang="en-US" sz="2200" dirty="0"/>
              <a:t>Code freeze : </a:t>
            </a:r>
            <a:r>
              <a:rPr lang="en-US" sz="2200" dirty="0" smtClean="0">
                <a:solidFill>
                  <a:srgbClr val="00B050"/>
                </a:solidFill>
              </a:rPr>
              <a:t>Completed</a:t>
            </a:r>
          </a:p>
          <a:p>
            <a:pPr lvl="1"/>
            <a:r>
              <a:rPr lang="en-US" sz="2200" dirty="0"/>
              <a:t>RC package creation and System Test cycle </a:t>
            </a:r>
            <a:r>
              <a:rPr lang="en-US" sz="2200" dirty="0" smtClean="0">
                <a:solidFill>
                  <a:srgbClr val="00B050"/>
                </a:solidFill>
              </a:rPr>
              <a:t>– Completed </a:t>
            </a:r>
            <a:endParaRPr lang="en-US" sz="2200" dirty="0">
              <a:solidFill>
                <a:srgbClr val="00B050"/>
              </a:solidFill>
            </a:endParaRPr>
          </a:p>
          <a:p>
            <a:pPr lvl="1"/>
            <a:r>
              <a:rPr lang="en-US" sz="2200" dirty="0" smtClean="0"/>
              <a:t>CM Record - </a:t>
            </a:r>
            <a:r>
              <a:rPr lang="en-US" sz="2400" dirty="0" smtClean="0">
                <a:hlinkClick r:id="rId3"/>
              </a:rPr>
              <a:t>ETHFW-186</a:t>
            </a:r>
            <a:endParaRPr lang="en-US" sz="2200" dirty="0" smtClean="0"/>
          </a:p>
          <a:p>
            <a:pPr lvl="1" eaLnBrk="1" hangingPunct="1"/>
            <a:r>
              <a:rPr lang="en-US" sz="2200" dirty="0" smtClean="0"/>
              <a:t>Documentation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API Guide, Developer </a:t>
            </a:r>
            <a:r>
              <a:rPr lang="en-US" sz="2200" dirty="0" smtClean="0"/>
              <a:t>Guides - NA</a:t>
            </a:r>
          </a:p>
          <a:p>
            <a:pPr lvl="2"/>
            <a:r>
              <a:rPr lang="en-US" sz="2200" dirty="0" smtClean="0"/>
              <a:t>User </a:t>
            </a:r>
            <a:r>
              <a:rPr lang="en-US" sz="2200" dirty="0"/>
              <a:t>Guides, Test Report – </a:t>
            </a:r>
            <a:r>
              <a:rPr lang="en-US" sz="2200" dirty="0">
                <a:solidFill>
                  <a:srgbClr val="00B050"/>
                </a:solidFill>
              </a:rPr>
              <a:t>Completed</a:t>
            </a:r>
            <a:endParaRPr lang="en-US" sz="2200" dirty="0">
              <a:solidFill>
                <a:srgbClr val="FF0000"/>
              </a:solidFill>
            </a:endParaRPr>
          </a:p>
          <a:p>
            <a:pPr lvl="2" eaLnBrk="1" hangingPunct="1"/>
            <a:r>
              <a:rPr lang="en-US" sz="2200" dirty="0"/>
              <a:t>Release Notes </a:t>
            </a:r>
            <a:r>
              <a:rPr lang="en-US" sz="2200" dirty="0">
                <a:solidFill>
                  <a:srgbClr val="00B050"/>
                </a:solidFill>
              </a:rPr>
              <a:t>– Completed</a:t>
            </a:r>
          </a:p>
          <a:p>
            <a:pPr lvl="2"/>
            <a:r>
              <a:rPr lang="en-US" sz="2200" dirty="0" smtClean="0"/>
              <a:t>Training </a:t>
            </a:r>
            <a:r>
              <a:rPr lang="en-US" sz="2200" dirty="0"/>
              <a:t>Materials, Feature List – </a:t>
            </a:r>
            <a:r>
              <a:rPr lang="en-US" sz="2200" dirty="0" smtClean="0"/>
              <a:t>NA</a:t>
            </a:r>
            <a:endParaRPr lang="en-US" sz="2200" dirty="0"/>
          </a:p>
          <a:p>
            <a:pPr lvl="2" eaLnBrk="1" hangingPunct="1"/>
            <a:r>
              <a:rPr lang="en-US" sz="2200" dirty="0"/>
              <a:t>Data Sheets </a:t>
            </a:r>
            <a:r>
              <a:rPr lang="en-US" sz="2200" dirty="0">
                <a:solidFill>
                  <a:srgbClr val="00B050"/>
                </a:solidFill>
              </a:rPr>
              <a:t>– </a:t>
            </a:r>
            <a:r>
              <a:rPr lang="en-US" sz="2200" dirty="0"/>
              <a:t>NA</a:t>
            </a:r>
          </a:p>
          <a:p>
            <a:pPr lvl="1"/>
            <a:r>
              <a:rPr lang="en-US" sz="2200" dirty="0" smtClean="0"/>
              <a:t>SRAS/OSRB Review:</a:t>
            </a:r>
            <a:r>
              <a:rPr lang="en-US" sz="2400" dirty="0" smtClean="0"/>
              <a:t> </a:t>
            </a:r>
            <a:r>
              <a:rPr lang="en-US" sz="2400" u="sng" dirty="0" smtClean="0">
                <a:hlinkClick r:id="rId4"/>
              </a:rPr>
              <a:t>SRAS00006191</a:t>
            </a:r>
            <a:r>
              <a:rPr lang="en-US" sz="2200" dirty="0" smtClean="0">
                <a:solidFill>
                  <a:srgbClr val="00B050"/>
                </a:solidFill>
              </a:rPr>
              <a:t>Completed</a:t>
            </a:r>
            <a:endParaRPr lang="en-US" sz="2200" dirty="0">
              <a:solidFill>
                <a:srgbClr val="00B050"/>
              </a:solidFill>
            </a:endParaRPr>
          </a:p>
          <a:p>
            <a:pPr lvl="1"/>
            <a:r>
              <a:rPr lang="en-US" sz="2200" dirty="0" smtClean="0"/>
              <a:t>Click-wrap </a:t>
            </a:r>
            <a:r>
              <a:rPr lang="en-US" sz="2200" dirty="0"/>
              <a:t>License: NA</a:t>
            </a:r>
            <a:endParaRPr lang="en-US" sz="2200" dirty="0">
              <a:solidFill>
                <a:srgbClr val="00B050"/>
              </a:solidFill>
            </a:endParaRPr>
          </a:p>
          <a:p>
            <a:pPr lvl="1"/>
            <a:r>
              <a:rPr lang="en-US" sz="2200" dirty="0"/>
              <a:t>Export control clearance: NA</a:t>
            </a:r>
            <a:endParaRPr lang="en-US" sz="2200" dirty="0">
              <a:solidFill>
                <a:srgbClr val="00B050"/>
              </a:solidFill>
            </a:endParaRPr>
          </a:p>
          <a:p>
            <a:pPr lvl="1"/>
            <a:r>
              <a:rPr lang="en-US" sz="2200" dirty="0"/>
              <a:t>Final installer creation and BFT: </a:t>
            </a:r>
            <a:r>
              <a:rPr lang="en-US" sz="2200" dirty="0" smtClean="0">
                <a:solidFill>
                  <a:srgbClr val="00B050"/>
                </a:solidFill>
              </a:rPr>
              <a:t>Completed</a:t>
            </a:r>
            <a:endParaRPr lang="en-US" sz="2200" dirty="0">
              <a:solidFill>
                <a:srgbClr val="00B050"/>
              </a:solidFill>
            </a:endParaRPr>
          </a:p>
          <a:p>
            <a:pPr lvl="1"/>
            <a:r>
              <a:rPr lang="en-US" sz="2200" dirty="0"/>
              <a:t>Release web page update/upload to </a:t>
            </a:r>
            <a:r>
              <a:rPr lang="en-US" sz="2200" dirty="0" err="1" smtClean="0"/>
              <a:t>mysecure</a:t>
            </a:r>
            <a:r>
              <a:rPr lang="en-US" sz="2200" dirty="0" smtClean="0"/>
              <a:t> ti.com: </a:t>
            </a:r>
            <a:r>
              <a:rPr lang="en-US" sz="2200" dirty="0"/>
              <a:t>NA</a:t>
            </a:r>
            <a:endParaRPr lang="en-US" sz="2200" dirty="0">
              <a:solidFill>
                <a:srgbClr val="FF0000"/>
              </a:solidFill>
            </a:endParaRPr>
          </a:p>
          <a:p>
            <a:pPr lvl="1"/>
            <a:r>
              <a:rPr lang="en-US" sz="2200" dirty="0"/>
              <a:t>Release email</a:t>
            </a:r>
            <a:r>
              <a:rPr lang="en-US" sz="2200" dirty="0" smtClean="0"/>
              <a:t>: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/>
              <a:t>5</a:t>
            </a:r>
            <a:r>
              <a:rPr lang="en-US" sz="2200" dirty="0" smtClean="0"/>
              <a:t>-Apr-2019, after the release review meeting</a:t>
            </a:r>
          </a:p>
          <a:p>
            <a:pPr lvl="1"/>
            <a:r>
              <a:rPr lang="en-US" sz="2200" dirty="0" smtClean="0"/>
              <a:t>Release schedule : EthFw </a:t>
            </a:r>
            <a:r>
              <a:rPr lang="en-US" sz="2500" dirty="0" smtClean="0"/>
              <a:t>00.08.00.00 </a:t>
            </a:r>
            <a:r>
              <a:rPr lang="en-US" sz="2500" dirty="0"/>
              <a:t>on </a:t>
            </a:r>
            <a:r>
              <a:rPr lang="en-US" sz="2500" dirty="0" smtClean="0"/>
              <a:t>5</a:t>
            </a:r>
            <a:r>
              <a:rPr lang="en-US" sz="2500" baseline="30000" dirty="0" smtClean="0"/>
              <a:t>th</a:t>
            </a:r>
            <a:r>
              <a:rPr lang="en-US" sz="2500" dirty="0" smtClean="0"/>
              <a:t> April</a:t>
            </a:r>
            <a:r>
              <a:rPr lang="en-US" sz="2500" b="1" dirty="0" smtClean="0"/>
              <a:t> </a:t>
            </a:r>
            <a:r>
              <a:rPr lang="en-US" sz="2500" dirty="0" smtClean="0"/>
              <a:t>2019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40563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4"/>
          <p:cNvSpPr>
            <a:spLocks noGrp="1"/>
          </p:cNvSpPr>
          <p:nvPr>
            <p:ph type="title"/>
          </p:nvPr>
        </p:nvSpPr>
        <p:spPr>
          <a:xfrm>
            <a:off x="533400" y="152400"/>
            <a:ext cx="13533120" cy="1188720"/>
          </a:xfrm>
        </p:spPr>
        <p:txBody>
          <a:bodyPr/>
          <a:lstStyle/>
          <a:p>
            <a:pPr eaLnBrk="1" hangingPunct="1"/>
            <a:r>
              <a:rPr lang="en-US" sz="3900" dirty="0"/>
              <a:t>Release Approval</a:t>
            </a:r>
          </a:p>
        </p:txBody>
      </p:sp>
      <p:sp>
        <p:nvSpPr>
          <p:cNvPr id="108546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4983480" y="7799089"/>
            <a:ext cx="4632960" cy="247650"/>
          </a:xfrm>
          <a:prstGeom prst="rect">
            <a:avLst/>
          </a:prstGeom>
          <a:noFill/>
        </p:spPr>
        <p:txBody>
          <a:bodyPr lIns="127830" tIns="63921" rIns="127830" bIns="63921"/>
          <a:lstStyle/>
          <a:p>
            <a:r>
              <a:rPr lang="en-US" sz="1100" dirty="0" smtClean="0">
                <a:latin typeface="Arial" charset="0"/>
              </a:rPr>
              <a:t>TI Confidential - NDA Restrictions</a:t>
            </a:r>
          </a:p>
        </p:txBody>
      </p:sp>
      <p:sp>
        <p:nvSpPr>
          <p:cNvPr id="108547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0627360" y="7246638"/>
            <a:ext cx="3413760" cy="247650"/>
          </a:xfrm>
          <a:prstGeom prst="rect">
            <a:avLst/>
          </a:prstGeom>
          <a:noFill/>
        </p:spPr>
        <p:txBody>
          <a:bodyPr lIns="127830" tIns="63921" rIns="127830" bIns="63921"/>
          <a:lstStyle/>
          <a:p>
            <a:fld id="{05848B49-C114-4FDC-88CF-192221AF3F86}" type="slidenum">
              <a:rPr lang="en-US" smtClean="0">
                <a:latin typeface="Arial" charset="0"/>
              </a:rPr>
              <a:pPr/>
              <a:t>10</a:t>
            </a:fld>
            <a:endParaRPr lang="en-US" dirty="0" smtClean="0">
              <a:latin typeface="Arial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083424"/>
              </p:ext>
            </p:extLst>
          </p:nvPr>
        </p:nvGraphicFramePr>
        <p:xfrm>
          <a:off x="696686" y="1698172"/>
          <a:ext cx="13045440" cy="4850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8480"/>
                <a:gridCol w="4348480"/>
                <a:gridCol w="4348480"/>
              </a:tblGrid>
              <a:tr h="423237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Function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Designate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Approval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</a:tr>
              <a:tr h="802467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SW Development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Gagan/Yashwant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46304" marR="146304" marT="54864" marB="54864"/>
                </a:tc>
              </a:tr>
              <a:tr h="804516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Software</a:t>
                      </a:r>
                      <a:r>
                        <a:rPr lang="en-US" sz="2100" baseline="0" dirty="0" smtClean="0"/>
                        <a:t> Test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Sivaraj/Badri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pPr marL="0" marR="0" indent="0" algn="l" defTabSz="12783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100" dirty="0"/>
                    </a:p>
                  </a:txBody>
                  <a:tcPr marL="146304" marR="146304" marT="54864" marB="54864"/>
                </a:tc>
              </a:tr>
              <a:tr h="804516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Quality</a:t>
                      </a:r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pPr marL="0" marR="0" indent="0" algn="l" defTabSz="1277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/>
                        <a:t>Vimala/Mohan</a:t>
                      </a:r>
                    </a:p>
                    <a:p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pPr marL="0" marR="0" indent="0" algn="l" defTabSz="12783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100" b="0" dirty="0"/>
                    </a:p>
                  </a:txBody>
                  <a:tcPr marL="146304" marR="146304" marT="54864" marB="54864"/>
                </a:tc>
              </a:tr>
              <a:tr h="1050254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Business Unit/Product management</a:t>
                      </a:r>
                    </a:p>
                    <a:p>
                      <a:endParaRPr lang="en-US" sz="2100" dirty="0"/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Dave Maples</a:t>
                      </a:r>
                      <a:endParaRPr lang="en-US" sz="2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pPr marL="0" marR="0" indent="0" algn="l" defTabSz="12783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100" dirty="0"/>
                    </a:p>
                  </a:txBody>
                  <a:tcPr marL="146304" marR="146304" marT="54864" marB="54864"/>
                </a:tc>
              </a:tr>
              <a:tr h="939249">
                <a:tc>
                  <a:txBody>
                    <a:bodyPr/>
                    <a:lstStyle/>
                    <a:p>
                      <a:r>
                        <a:rPr lang="en-US" sz="2100" dirty="0" smtClean="0"/>
                        <a:t>Product Development management</a:t>
                      </a:r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Manoj/Jayant</a:t>
                      </a:r>
                      <a:endParaRPr lang="en-US" sz="2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" marR="146304" marT="54864" marB="54864"/>
                </a:tc>
                <a:tc>
                  <a:txBody>
                    <a:bodyPr/>
                    <a:lstStyle/>
                    <a:p>
                      <a:pPr marL="0" marR="0" indent="0" algn="l" defTabSz="12783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100" dirty="0"/>
                    </a:p>
                  </a:txBody>
                  <a:tcPr marL="146304" marR="146304" marT="54864" marB="54864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19400" y="7086600"/>
            <a:ext cx="582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 Conditionally Approved Subject to action being closed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2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3W1_Software_Arch_Update_26JAN2016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/>
      </a:spPr>
      <a:bodyPr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C2C5087828AF41B968F244EB933EA3" ma:contentTypeVersion="0" ma:contentTypeDescription="Create a new document." ma:contentTypeScope="" ma:versionID="8b2859b6a20cb57a034e8cff73999e3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0E3177-E33F-47A6-8177-8D6A6EE64E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00B052F-9983-494C-826D-2DE88754D0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574015-3DD2-43C4-822F-E1C56902295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6767</TotalTime>
  <Words>576</Words>
  <Application>Microsoft Office PowerPoint</Application>
  <PresentationFormat>Custom</PresentationFormat>
  <Paragraphs>178</Paragraphs>
  <Slides>10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K3W1_Software_Arch_Update_26JAN2016</vt:lpstr>
      <vt:lpstr>EthFw – v0.8  Release Gate PPT   02April 2019</vt:lpstr>
      <vt:lpstr>Release Overview</vt:lpstr>
      <vt:lpstr>Requirement Summary</vt:lpstr>
      <vt:lpstr>Test Summary</vt:lpstr>
      <vt:lpstr>Defect Summary</vt:lpstr>
      <vt:lpstr>Release Gate Deliverables : Create Phase</vt:lpstr>
      <vt:lpstr>Release Gate Deliverables : Validate Phase</vt:lpstr>
      <vt:lpstr>Quality Status</vt:lpstr>
      <vt:lpstr>Release Readiness</vt:lpstr>
      <vt:lpstr>Release Approval</vt:lpstr>
    </vt:vector>
  </TitlesOfParts>
  <Company>Texas Instruments Incorporated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J7 Simulator Quality</dc:title>
  <dc:creator>Jonathan Bergsagel</dc:creator>
  <cp:keywords>Keystone 3</cp:keywords>
  <cp:lastModifiedBy>TI</cp:lastModifiedBy>
  <cp:revision>471</cp:revision>
  <dcterms:created xsi:type="dcterms:W3CDTF">2016-01-26T13:18:08Z</dcterms:created>
  <dcterms:modified xsi:type="dcterms:W3CDTF">2019-04-04T14:13:39Z</dcterms:modified>
  <cp:category>K3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0x01010025C2C5087828AF41B968F244EB933EA3</vt:lpwstr>
  </property>
</Properties>
</file>