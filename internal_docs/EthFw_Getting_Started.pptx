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  <p:sldMasterId id="2147483694" r:id="rId5"/>
  </p:sldMasterIdLst>
  <p:notesMasterIdLst>
    <p:notesMasterId r:id="rId47"/>
  </p:notesMasterIdLst>
  <p:handoutMasterIdLst>
    <p:handoutMasterId r:id="rId48"/>
  </p:handoutMasterIdLst>
  <p:sldIdLst>
    <p:sldId id="371" r:id="rId6"/>
    <p:sldId id="521" r:id="rId7"/>
    <p:sldId id="545" r:id="rId8"/>
    <p:sldId id="532" r:id="rId9"/>
    <p:sldId id="533" r:id="rId10"/>
    <p:sldId id="534" r:id="rId11"/>
    <p:sldId id="537" r:id="rId12"/>
    <p:sldId id="511" r:id="rId13"/>
    <p:sldId id="539" r:id="rId14"/>
    <p:sldId id="538" r:id="rId15"/>
    <p:sldId id="564" r:id="rId16"/>
    <p:sldId id="574" r:id="rId17"/>
    <p:sldId id="551" r:id="rId18"/>
    <p:sldId id="540" r:id="rId19"/>
    <p:sldId id="546" r:id="rId20"/>
    <p:sldId id="507" r:id="rId21"/>
    <p:sldId id="508" r:id="rId22"/>
    <p:sldId id="552" r:id="rId23"/>
    <p:sldId id="556" r:id="rId24"/>
    <p:sldId id="557" r:id="rId25"/>
    <p:sldId id="565" r:id="rId26"/>
    <p:sldId id="544" r:id="rId27"/>
    <p:sldId id="520" r:id="rId28"/>
    <p:sldId id="519" r:id="rId29"/>
    <p:sldId id="547" r:id="rId30"/>
    <p:sldId id="550" r:id="rId31"/>
    <p:sldId id="573" r:id="rId32"/>
    <p:sldId id="572" r:id="rId33"/>
    <p:sldId id="504" r:id="rId34"/>
    <p:sldId id="560" r:id="rId35"/>
    <p:sldId id="558" r:id="rId36"/>
    <p:sldId id="561" r:id="rId37"/>
    <p:sldId id="566" r:id="rId38"/>
    <p:sldId id="575" r:id="rId39"/>
    <p:sldId id="567" r:id="rId40"/>
    <p:sldId id="568" r:id="rId41"/>
    <p:sldId id="576" r:id="rId42"/>
    <p:sldId id="569" r:id="rId43"/>
    <p:sldId id="570" r:id="rId44"/>
    <p:sldId id="571" r:id="rId45"/>
    <p:sldId id="559" r:id="rId46"/>
  </p:sldIdLst>
  <p:sldSz cx="9144000" cy="5143500" type="screen16x9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EAEAEA"/>
    <a:srgbClr val="000000"/>
    <a:srgbClr val="117788"/>
    <a:srgbClr val="CCFFCC"/>
    <a:srgbClr val="FFFFCC"/>
    <a:srgbClr val="32B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1905" autoAdjust="0"/>
    <p:restoredTop sz="94671" autoAdjust="0"/>
  </p:normalViewPr>
  <p:slideViewPr>
    <p:cSldViewPr snapToGrid="0" snapToObjects="1">
      <p:cViewPr>
        <p:scale>
          <a:sx n="66" d="100"/>
          <a:sy n="66" d="100"/>
        </p:scale>
        <p:origin x="-732" y="-51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2DE44-B9BC-E047-8F18-45C4361AFDBB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7A328-340C-3A47-AF24-01B7C5594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005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B67E5-EE15-7C4E-AED1-553834E5D0E0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80698-7B0F-5D4A-9858-0F3A96D1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561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C5F4FF-2111-4CAC-97B3-3346FD526A1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64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26"/>
            <a:ext cx="8458200" cy="1102519"/>
          </a:xfrm>
        </p:spPr>
        <p:txBody>
          <a:bodyPr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6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9"/>
            <a:ext cx="2133600" cy="1547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AE7985EE-CC81-4AD9-9FD5-46D7FDA8E03F}" type="slidenum">
              <a:rPr lang="en-US" smtClean="0">
                <a:solidFill>
                  <a:srgbClr val="000000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3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26"/>
            <a:ext cx="8458200" cy="1102519"/>
          </a:xfrm>
        </p:spPr>
        <p:txBody>
          <a:bodyPr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330003"/>
            <a:ext cx="8458200" cy="628545"/>
          </a:xfrm>
          <a:ln/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-34800" y="4652282"/>
            <a:ext cx="8874108" cy="354258"/>
            <a:chOff x="-34800" y="4652282"/>
            <a:chExt cx="8874108" cy="354258"/>
          </a:xfrm>
        </p:grpSpPr>
        <p:sp>
          <p:nvSpPr>
            <p:cNvPr id="9" name="Rectangle 8"/>
            <p:cNvSpPr/>
            <p:nvPr userDrawn="1"/>
          </p:nvSpPr>
          <p:spPr>
            <a:xfrm>
              <a:off x="-1" y="4652282"/>
              <a:ext cx="8836528" cy="344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5" tIns="45718" rIns="91435" bIns="45718"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ti_logo_powerpoint_1_line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7143651" y="4742198"/>
              <a:ext cx="1567826" cy="193747"/>
            </a:xfrm>
            <a:prstGeom prst="rect">
              <a:avLst/>
            </a:prstGeom>
          </p:spPr>
        </p:pic>
        <p:grpSp>
          <p:nvGrpSpPr>
            <p:cNvPr id="11" name="Group 10"/>
            <p:cNvGrpSpPr/>
            <p:nvPr userDrawn="1"/>
          </p:nvGrpSpPr>
          <p:grpSpPr>
            <a:xfrm>
              <a:off x="-34800" y="4654430"/>
              <a:ext cx="8874108" cy="352110"/>
              <a:chOff x="-7620" y="6323077"/>
              <a:chExt cx="8814816" cy="466344"/>
            </a:xfrm>
          </p:grpSpPr>
          <p:cxnSp>
            <p:nvCxnSpPr>
              <p:cNvPr id="12" name="Straight Connector 11"/>
              <p:cNvCxnSpPr/>
              <p:nvPr userDrawn="1"/>
            </p:nvCxnSpPr>
            <p:spPr>
              <a:xfrm>
                <a:off x="-7620" y="6789420"/>
                <a:ext cx="8814816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 userDrawn="1"/>
            </p:nvCxnSpPr>
            <p:spPr>
              <a:xfrm>
                <a:off x="-7620" y="6324600"/>
                <a:ext cx="8814816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 userDrawn="1"/>
            </p:nvCxnSpPr>
            <p:spPr>
              <a:xfrm rot="16200000">
                <a:off x="8571262" y="6556249"/>
                <a:ext cx="466344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 Box 31"/>
          <p:cNvSpPr txBox="1">
            <a:spLocks noChangeArrowheads="1"/>
          </p:cNvSpPr>
          <p:nvPr userDrawn="1"/>
        </p:nvSpPr>
        <p:spPr bwMode="auto">
          <a:xfrm>
            <a:off x="457200" y="4451208"/>
            <a:ext cx="2533650" cy="21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5" tIns="45718" rIns="91435" bIns="45718">
            <a:spAutoFit/>
          </a:bodyPr>
          <a:lstStyle/>
          <a:p>
            <a:pPr marL="0" marR="0" indent="0" algn="l" defTabSz="91435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/>
                <a:cs typeface="Arial"/>
              </a:rPr>
              <a:t>TI </a:t>
            </a:r>
            <a:r>
              <a:rPr lang="en-US" sz="800" dirty="0" smtClean="0">
                <a:latin typeface="Arial"/>
                <a:cs typeface="Arial"/>
              </a:rPr>
              <a:t>Confidential – NDA Restrictions</a:t>
            </a:r>
            <a:endParaRPr lang="en-US"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0622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26"/>
            <a:ext cx="8458200" cy="1102519"/>
          </a:xfrm>
        </p:spPr>
        <p:txBody>
          <a:bodyPr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6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-34800" y="4652282"/>
            <a:ext cx="8874108" cy="354258"/>
            <a:chOff x="-34800" y="4652282"/>
            <a:chExt cx="8874108" cy="354258"/>
          </a:xfrm>
        </p:grpSpPr>
        <p:sp>
          <p:nvSpPr>
            <p:cNvPr id="9" name="Rectangle 8"/>
            <p:cNvSpPr/>
            <p:nvPr userDrawn="1"/>
          </p:nvSpPr>
          <p:spPr>
            <a:xfrm>
              <a:off x="-1" y="4652282"/>
              <a:ext cx="8836528" cy="344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5" tIns="45718" rIns="91435" bIns="45718"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7143651" y="4742198"/>
              <a:ext cx="1567826" cy="193747"/>
            </a:xfrm>
            <a:prstGeom prst="rect">
              <a:avLst/>
            </a:prstGeom>
          </p:spPr>
        </p:pic>
        <p:grpSp>
          <p:nvGrpSpPr>
            <p:cNvPr id="11" name="Group 10"/>
            <p:cNvGrpSpPr/>
            <p:nvPr userDrawn="1"/>
          </p:nvGrpSpPr>
          <p:grpSpPr>
            <a:xfrm>
              <a:off x="-34800" y="4654430"/>
              <a:ext cx="8874108" cy="352110"/>
              <a:chOff x="-7620" y="6323077"/>
              <a:chExt cx="8814816" cy="466344"/>
            </a:xfrm>
          </p:grpSpPr>
          <p:cxnSp>
            <p:nvCxnSpPr>
              <p:cNvPr id="12" name="Straight Connector 11"/>
              <p:cNvCxnSpPr/>
              <p:nvPr userDrawn="1"/>
            </p:nvCxnSpPr>
            <p:spPr>
              <a:xfrm>
                <a:off x="-7620" y="6789420"/>
                <a:ext cx="8814816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 userDrawn="1"/>
            </p:nvCxnSpPr>
            <p:spPr>
              <a:xfrm>
                <a:off x="-7620" y="6324600"/>
                <a:ext cx="8814816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 userDrawn="1"/>
            </p:nvCxnSpPr>
            <p:spPr>
              <a:xfrm rot="16200000">
                <a:off x="8571262" y="6556249"/>
                <a:ext cx="466344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 Box 31"/>
          <p:cNvSpPr txBox="1">
            <a:spLocks noChangeArrowheads="1"/>
          </p:cNvSpPr>
          <p:nvPr userDrawn="1"/>
        </p:nvSpPr>
        <p:spPr bwMode="auto">
          <a:xfrm>
            <a:off x="457200" y="4451208"/>
            <a:ext cx="2533650" cy="21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5" tIns="45718" rIns="91435" bIns="45718">
            <a:spAutoFit/>
          </a:bodyPr>
          <a:lstStyle/>
          <a:p>
            <a:pPr marL="0" marR="0" indent="0" algn="l" defTabSz="91435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/>
                <a:cs typeface="Arial"/>
              </a:rPr>
              <a:t>TI </a:t>
            </a:r>
            <a:r>
              <a:rPr lang="en-US" sz="800" dirty="0" smtClean="0">
                <a:latin typeface="Arial"/>
                <a:cs typeface="Arial"/>
              </a:rPr>
              <a:t>Confidential – NDA Restrictions</a:t>
            </a:r>
            <a:endParaRPr lang="en-US"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469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2"/>
            <a:ext cx="8467725" cy="3709449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37474"/>
            <a:ext cx="2133600" cy="15478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128E319A-B9F6-4FB7-9BDD-0D517CA1CB71}" type="slidenum">
              <a:rPr lang="en-US" smtClean="0">
                <a:solidFill>
                  <a:srgbClr val="000000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3758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38925" y="4537474"/>
            <a:ext cx="2133600" cy="1547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D7140732-6B15-4CAF-B543-928C6AC0DB07}" type="slidenum">
              <a:rPr lang="en-US" smtClean="0">
                <a:solidFill>
                  <a:srgbClr val="000000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380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8" y="889398"/>
            <a:ext cx="4157663" cy="35194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37474"/>
            <a:ext cx="2133600" cy="15478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FC2AE31A-61E9-4E19-AF45-4FD09FAE3580}" type="slidenum">
              <a:rPr lang="en-US" smtClean="0">
                <a:solidFill>
                  <a:srgbClr val="000000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34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37474"/>
            <a:ext cx="2133600" cy="15478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3395B813-1BD9-4237-82E7-7716EB0C6990}" type="slidenum">
              <a:rPr lang="en-US" smtClean="0">
                <a:solidFill>
                  <a:srgbClr val="000000"/>
                </a:solidFill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974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76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03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72" y="189511"/>
            <a:ext cx="8457406" cy="524868"/>
          </a:xfrm>
        </p:spPr>
        <p:txBody>
          <a:bodyPr/>
          <a:lstStyle>
            <a:lvl1pPr>
              <a:defRPr sz="23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7F61966-B7AD-412A-A09F-990B7F8AAE6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33375" y="762000"/>
            <a:ext cx="8467328" cy="3905250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4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 training slides BG3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274" y="0"/>
            <a:ext cx="9162274" cy="4413956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3211" y="284561"/>
            <a:ext cx="8458200" cy="1102519"/>
          </a:xfrm>
          <a:noFill/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1" y="3515070"/>
            <a:ext cx="8458200" cy="898886"/>
          </a:xfrm>
          <a:ln/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58584" y="483717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2" descr="C:\Users\sarah.dunn2\AppData\Local\Microsoft\Windows\Temporary Internet Files\Content.Outlook\A2YVRHIL\BannerOption1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1647289"/>
            <a:ext cx="91440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92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 training slides BG3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62274" cy="4413956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2"/>
            <a:ext cx="8458200" cy="1102519"/>
          </a:xfrm>
          <a:noFill/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81" y="4837510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7612" tIns="23805" rIns="47612" bIns="23805" numCol="1" anchor="ctr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9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4706938"/>
            <a:ext cx="8826500" cy="388620"/>
            <a:chOff x="0" y="6321425"/>
            <a:chExt cx="10591800" cy="46634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18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334014" y="4813962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 defTabSz="76179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</a:rPr>
              <a:t>TI </a:t>
            </a:r>
            <a:r>
              <a:rPr lang="en-US" sz="700" dirty="0" smtClean="0">
                <a:solidFill>
                  <a:srgbClr val="000000"/>
                </a:solidFill>
              </a:rPr>
              <a:t>Confidential – NDA Restrictions</a:t>
            </a:r>
            <a:endParaRPr lang="en-US" sz="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225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I training slides BG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53769" cy="51435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2"/>
            <a:ext cx="8458200" cy="1102519"/>
          </a:xfrm>
          <a:noFill/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9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58584" y="483717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096A3-1C74-4210-9B46-F757C8F29A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 userDrawn="1"/>
        </p:nvSpPr>
        <p:spPr bwMode="auto">
          <a:xfrm>
            <a:off x="342901" y="4814642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 defTabSz="76179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dirty="0" smtClean="0">
                <a:solidFill>
                  <a:srgbClr val="000000"/>
                </a:solidFill>
              </a:rPr>
              <a:t>TI Confidential – NDA Restrictions</a:t>
            </a:r>
            <a:endParaRPr lang="en-US" sz="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842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elected_powerpoint_bg_1_1280x72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2"/>
            <a:ext cx="8458200" cy="1102519"/>
          </a:xfrm>
          <a:noFill/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9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4706938"/>
            <a:ext cx="8826500" cy="388620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Rectangle 24"/>
          <p:cNvSpPr txBox="1">
            <a:spLocks noChangeArrowheads="1"/>
          </p:cNvSpPr>
          <p:nvPr userDrawn="1"/>
        </p:nvSpPr>
        <p:spPr bwMode="auto">
          <a:xfrm>
            <a:off x="6958584" y="4837177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8089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76179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14268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5235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1904467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285362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666253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047146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A18096A3-1C74-4210-9B46-F757C8F29AA0}" type="slidenum">
              <a:rPr lang="en-US" smtClean="0">
                <a:solidFill>
                  <a:srgbClr val="000000"/>
                </a:solidFill>
              </a:rPr>
              <a:pPr defTabSz="91440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342901" y="4814642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 defTabSz="76179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dirty="0" smtClean="0">
                <a:solidFill>
                  <a:srgbClr val="000000"/>
                </a:solidFill>
              </a:rPr>
              <a:t>TI Confidential – NDA Restrictions</a:t>
            </a:r>
            <a:endParaRPr lang="en-US" sz="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94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9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724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58584" y="483717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096A3-1C74-4210-9B46-F757C8F29A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</p:spPr>
        <p:txBody>
          <a:bodyPr anchor="t"/>
          <a:lstStyle>
            <a:lvl1pPr algn="l">
              <a:defRPr sz="2000" b="0" cap="all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700"/>
            </a:lvl1pPr>
            <a:lvl2pPr marL="380895" indent="0">
              <a:buNone/>
              <a:defRPr sz="1500"/>
            </a:lvl2pPr>
            <a:lvl3pPr marL="761790" indent="0">
              <a:buNone/>
              <a:defRPr sz="1300"/>
            </a:lvl3pPr>
            <a:lvl4pPr marL="1142683" indent="0">
              <a:buNone/>
              <a:defRPr sz="1200"/>
            </a:lvl4pPr>
            <a:lvl5pPr marL="1523573" indent="0">
              <a:buNone/>
              <a:defRPr sz="1200"/>
            </a:lvl5pPr>
            <a:lvl6pPr marL="1904467" indent="0">
              <a:buNone/>
              <a:defRPr sz="1200"/>
            </a:lvl6pPr>
            <a:lvl7pPr marL="2285362" indent="0">
              <a:buNone/>
              <a:defRPr sz="1200"/>
            </a:lvl7pPr>
            <a:lvl8pPr marL="2666253" indent="0">
              <a:buNone/>
              <a:defRPr sz="1200"/>
            </a:lvl8pPr>
            <a:lvl9pPr marL="3047146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696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6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49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9728"/>
            <a:ext cx="8595360" cy="34747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9977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17959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69977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17959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81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33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0B41-3034-4777-B6DE-71856D98569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99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</p:spPr>
        <p:txBody>
          <a:bodyPr anchor="ctr"/>
          <a:lstStyle>
            <a:lvl1pPr algn="l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40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3"/>
          </a:xfrm>
        </p:spPr>
        <p:txBody>
          <a:bodyPr anchor="ctr"/>
          <a:lstStyle>
            <a:lvl1pPr algn="l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2700"/>
            </a:lvl1pPr>
            <a:lvl2pPr marL="380895" indent="0">
              <a:buNone/>
              <a:defRPr sz="2300"/>
            </a:lvl2pPr>
            <a:lvl3pPr marL="761790" indent="0">
              <a:buNone/>
              <a:defRPr sz="2000"/>
            </a:lvl3pPr>
            <a:lvl4pPr marL="1142683" indent="0">
              <a:buNone/>
              <a:defRPr sz="1700"/>
            </a:lvl4pPr>
            <a:lvl5pPr marL="1523573" indent="0">
              <a:buNone/>
              <a:defRPr sz="1700"/>
            </a:lvl5pPr>
            <a:lvl6pPr marL="1904467" indent="0">
              <a:buNone/>
              <a:defRPr sz="1700"/>
            </a:lvl6pPr>
            <a:lvl7pPr marL="2285362" indent="0">
              <a:buNone/>
              <a:defRPr sz="1700"/>
            </a:lvl7pPr>
            <a:lvl8pPr marL="2666253" indent="0">
              <a:buNone/>
              <a:defRPr sz="1700"/>
            </a:lvl8pPr>
            <a:lvl9pPr marL="3047146" indent="0">
              <a:buNone/>
              <a:defRPr sz="17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Aft>
                <a:spcPct val="0"/>
              </a:spcAft>
              <a:buNone/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5F34B-1C25-4090-A4A7-9CEE84F430B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E2BCE-81FD-49AD-8F3F-8C803C0A891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1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4" y="107157"/>
            <a:ext cx="2141537" cy="430172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07157"/>
            <a:ext cx="6275388" cy="4301728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3E699-3BC5-4E82-A48B-54CC42B0E66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264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33376" y="786352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5849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05979"/>
            <a:ext cx="6877050" cy="4214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86314"/>
            <a:ext cx="2133600" cy="2547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ASTC</a:t>
            </a:r>
            <a:endParaRPr lang="en-US" altLang="zh-CN" sz="1438">
              <a:solidFill>
                <a:srgbClr val="000000"/>
              </a:solidFill>
              <a:latin typeface="Tahoma" panose="020B0604030504040204" pitchFamily="34" charset="0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86314"/>
            <a:ext cx="2895600" cy="2547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Commercial Proprietary Information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Distributed under NDA Only</a:t>
            </a:r>
            <a:endParaRPr lang="en-US" altLang="zh-CN" sz="1438">
              <a:solidFill>
                <a:srgbClr val="000000"/>
              </a:solidFill>
              <a:latin typeface="Tahoma" panose="020B0604030504040204" pitchFamily="34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86314"/>
            <a:ext cx="2133600" cy="2547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B28D2E1-23B2-46D1-B087-6B0894B2508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 sz="1625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541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05979"/>
            <a:ext cx="6877050" cy="4214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86314"/>
            <a:ext cx="2133600" cy="2547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ASTC</a:t>
            </a:r>
            <a:endParaRPr lang="en-US" altLang="zh-CN" sz="1438">
              <a:solidFill>
                <a:srgbClr val="000000"/>
              </a:solidFill>
              <a:latin typeface="Tahoma" panose="020B0604030504040204" pitchFamily="34" charset="0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86314"/>
            <a:ext cx="2895600" cy="2547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Commercial Proprietary Information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Distributed under NDA Only</a:t>
            </a:r>
            <a:endParaRPr lang="en-US" altLang="zh-CN" sz="1438">
              <a:solidFill>
                <a:srgbClr val="000000"/>
              </a:solidFill>
              <a:latin typeface="Tahoma" panose="020B0604030504040204" pitchFamily="34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86314"/>
            <a:ext cx="2133600" cy="2547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B28D2E1-23B2-46D1-B087-6B0894B2508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 sz="1625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85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3" y="4743450"/>
            <a:ext cx="88042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41278" y="4743450"/>
            <a:ext cx="87407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56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34800" y="4652282"/>
            <a:ext cx="8874108" cy="354258"/>
            <a:chOff x="-34800" y="4652282"/>
            <a:chExt cx="8874108" cy="354258"/>
          </a:xfrm>
        </p:grpSpPr>
        <p:sp>
          <p:nvSpPr>
            <p:cNvPr id="12" name="Rectangle 11"/>
            <p:cNvSpPr/>
            <p:nvPr userDrawn="1"/>
          </p:nvSpPr>
          <p:spPr>
            <a:xfrm>
              <a:off x="-1" y="4652282"/>
              <a:ext cx="8836528" cy="3441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5" tIns="45718" rIns="91435" bIns="45718"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ti_logo_powerpoint_1_line.png"/>
            <p:cNvPicPr>
              <a:picLocks noChangeAspect="1"/>
            </p:cNvPicPr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7143651" y="4742198"/>
              <a:ext cx="1567826" cy="193747"/>
            </a:xfrm>
            <a:prstGeom prst="rect">
              <a:avLst/>
            </a:prstGeom>
          </p:spPr>
        </p:pic>
        <p:grpSp>
          <p:nvGrpSpPr>
            <p:cNvPr id="17" name="Group 16"/>
            <p:cNvGrpSpPr/>
            <p:nvPr userDrawn="1"/>
          </p:nvGrpSpPr>
          <p:grpSpPr>
            <a:xfrm>
              <a:off x="-34800" y="4654430"/>
              <a:ext cx="8874108" cy="352110"/>
              <a:chOff x="-7620" y="6323077"/>
              <a:chExt cx="8814816" cy="466344"/>
            </a:xfrm>
          </p:grpSpPr>
          <p:cxnSp>
            <p:nvCxnSpPr>
              <p:cNvPr id="18" name="Straight Connector 17"/>
              <p:cNvCxnSpPr/>
              <p:nvPr userDrawn="1"/>
            </p:nvCxnSpPr>
            <p:spPr>
              <a:xfrm>
                <a:off x="-7620" y="6789420"/>
                <a:ext cx="8814816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 userDrawn="1"/>
            </p:nvCxnSpPr>
            <p:spPr>
              <a:xfrm>
                <a:off x="-7620" y="6324600"/>
                <a:ext cx="8814816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 userDrawn="1"/>
            </p:nvCxnSpPr>
            <p:spPr>
              <a:xfrm rot="16200000">
                <a:off x="8571262" y="6556249"/>
                <a:ext cx="466344" cy="0"/>
              </a:xfrm>
              <a:prstGeom prst="line">
                <a:avLst/>
              </a:prstGeom>
              <a:ln w="3175" cmpd="sng">
                <a:solidFill>
                  <a:srgbClr val="000000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9710" y="479999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0892281B-189C-DD44-8CCD-1176BC153E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Box 31"/>
          <p:cNvSpPr txBox="1">
            <a:spLocks noChangeArrowheads="1"/>
          </p:cNvSpPr>
          <p:nvPr userDrawn="1"/>
        </p:nvSpPr>
        <p:spPr bwMode="auto">
          <a:xfrm>
            <a:off x="457200" y="4451208"/>
            <a:ext cx="2533650" cy="215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5" tIns="45718" rIns="91435" bIns="45718">
            <a:spAutoFit/>
          </a:bodyPr>
          <a:lstStyle/>
          <a:p>
            <a:pPr marL="0" marR="0" indent="0" algn="l" defTabSz="91435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/>
                <a:cs typeface="Arial"/>
              </a:rPr>
              <a:t>TI </a:t>
            </a:r>
            <a:r>
              <a:rPr lang="en-US" sz="800" dirty="0" smtClean="0">
                <a:latin typeface="Arial"/>
                <a:cs typeface="Arial"/>
              </a:rPr>
              <a:t>Confidential – NDA Restrictions</a:t>
            </a:r>
            <a:endParaRPr lang="en-US"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089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712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342900" algn="l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rgbClr val="FF0000"/>
          </a:solidFill>
          <a:latin typeface="Arial" charset="0"/>
        </a:defRPr>
      </a:lvl6pPr>
      <a:lvl7pPr marL="685800" algn="l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rgbClr val="FF0000"/>
          </a:solidFill>
          <a:latin typeface="Arial" charset="0"/>
        </a:defRPr>
      </a:lvl7pPr>
      <a:lvl8pPr marL="1028700" algn="l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rgbClr val="FF0000"/>
          </a:solidFill>
          <a:latin typeface="Arial" charset="0"/>
        </a:defRPr>
      </a:lvl8pPr>
      <a:lvl9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400" b="1">
          <a:solidFill>
            <a:srgbClr val="FF0000"/>
          </a:solidFill>
          <a:latin typeface="Arial" charset="0"/>
        </a:defRPr>
      </a:lvl9pPr>
    </p:titleStyle>
    <p:bodyStyle>
      <a:lvl1pPr marL="170260" indent="-170260" algn="l" rtl="0" eaLnBrk="0" fontAlgn="base" hangingPunct="0">
        <a:spcBef>
          <a:spcPts val="600"/>
        </a:spcBef>
        <a:spcAft>
          <a:spcPct val="0"/>
        </a:spcAft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431006" indent="-175022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640556" indent="-123825" algn="l" rtl="0" eaLnBrk="0" fontAlgn="base" hangingPunct="0">
        <a:spcBef>
          <a:spcPct val="15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901304" indent="-175022" algn="l" rtl="0" eaLnBrk="0" fontAlgn="base" hangingPunct="0">
        <a:spcBef>
          <a:spcPct val="5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1116806" indent="-129779" algn="l" rtl="0" eaLnBrk="0" fontAlgn="base" hangingPunct="0">
        <a:spcBef>
          <a:spcPct val="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1459706" indent="-129779" algn="l" rtl="0" fontAlgn="base">
        <a:spcBef>
          <a:spcPct val="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1802606" indent="-129779" algn="l" rtl="0" fontAlgn="base">
        <a:spcBef>
          <a:spcPct val="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2145506" indent="-129779" algn="l" rtl="0" fontAlgn="base">
        <a:spcBef>
          <a:spcPct val="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2488406" indent="-129779" algn="l" rtl="0" fontAlgn="base">
        <a:spcBef>
          <a:spcPct val="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" y="4743450"/>
            <a:ext cx="88042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88" rIns="76179" bIns="38088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910" y="4743450"/>
            <a:ext cx="874014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88" rIns="76179" bIns="38088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6" y="107163"/>
            <a:ext cx="8594725" cy="347472"/>
          </a:xfrm>
          <a:prstGeom prst="rect">
            <a:avLst/>
          </a:prstGeom>
          <a:blipFill>
            <a:blip r:embed="rId19"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014" y="645228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7612" tIns="23805" rIns="47612" bIns="23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81" y="4837510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7612" tIns="23805" rIns="47612" bIns="23805" numCol="1" anchor="ctr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B6C70261-DCF8-4A97-9502-E8EEF2364CDE}" type="slidenum">
              <a:rPr lang="en-US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0" y="4706938"/>
            <a:ext cx="8826500" cy="388620"/>
            <a:chOff x="0" y="6321425"/>
            <a:chExt cx="10591800" cy="466344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334014" y="4813962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 defTabSz="76179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700" dirty="0">
                <a:solidFill>
                  <a:srgbClr val="000000"/>
                </a:solidFill>
              </a:rPr>
              <a:t>TI </a:t>
            </a:r>
            <a:r>
              <a:rPr lang="en-US" sz="700" dirty="0" smtClean="0">
                <a:solidFill>
                  <a:srgbClr val="000000"/>
                </a:solidFill>
              </a:rPr>
              <a:t>Confidential – NDA Restrictions</a:t>
            </a:r>
            <a:endParaRPr lang="en-US" sz="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02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1800" b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0" fontAlgn="base" hangingPunct="0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0" fontAlgn="base" hangingPunct="0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0" fontAlgn="base" hangingPunct="0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0" fontAlgn="base" hangingPunct="0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0" dirty="0"/>
              <a:t/>
            </a:r>
            <a:br>
              <a:rPr lang="en-GB" b="0" dirty="0"/>
            </a:br>
            <a:r>
              <a:rPr lang="en-GB" b="0" dirty="0" smtClean="0"/>
              <a:t>Jacinto</a:t>
            </a:r>
            <a:r>
              <a:rPr lang="en-GB" b="0" dirty="0"/>
              <a:t>™ </a:t>
            </a:r>
            <a:r>
              <a:rPr lang="en-GB" b="0" dirty="0" smtClean="0"/>
              <a:t>Automotive Processor 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Jacinto 7 Ethernet Switch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19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892454" y="590397"/>
            <a:ext cx="73371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Ethernet Switch IP Features 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Deep Dive – Software Architecture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CPSW LLD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Ethernet Firmware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 smtClean="0"/>
              <a:t>EthFw</a:t>
            </a:r>
            <a:r>
              <a:rPr lang="en-US" sz="1400" dirty="0" smtClean="0"/>
              <a:t> Demos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Jacinto </a:t>
            </a:r>
            <a:r>
              <a:rPr lang="en-US" sz="1400" dirty="0" smtClean="0"/>
              <a:t>7 EVM – CPSW support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/>
              <a:t>Deep Dive – </a:t>
            </a:r>
            <a:r>
              <a:rPr lang="en-US" sz="1400" dirty="0" err="1" smtClean="0"/>
              <a:t>EthFw</a:t>
            </a:r>
            <a:endParaRPr lang="en-US" sz="1400" dirty="0" smtClean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/>
              <a:t>Folder Structure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/>
              <a:t>Docs organization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/>
              <a:t>Sample Examples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CPSW and PHY </a:t>
            </a:r>
            <a:r>
              <a:rPr lang="en-US" sz="1200" dirty="0" smtClean="0"/>
              <a:t>integration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smtClean="0"/>
              <a:t>Switch configuration &amp; Debugging</a:t>
            </a: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42565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Ethernet </a:t>
            </a:r>
            <a:r>
              <a:rPr lang="en-US" sz="3200" dirty="0" err="1" smtClean="0"/>
              <a:t>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IP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4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CPSW Functional Block Diagram</a:t>
            </a:r>
            <a:endParaRPr lang="en-GB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560386"/>
              </p:ext>
            </p:extLst>
          </p:nvPr>
        </p:nvGraphicFramePr>
        <p:xfrm>
          <a:off x="811998" y="604520"/>
          <a:ext cx="7068788" cy="3835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" name="Document" r:id="rId3" imgW="5918026" imgH="3866317" progId="Word.Document.12">
                  <p:embed/>
                </p:oleObj>
              </mc:Choice>
              <mc:Fallback>
                <p:oleObj name="Document" r:id="rId3" imgW="5918026" imgH="3866317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998" y="604520"/>
                        <a:ext cx="7068788" cy="3835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Callout 3"/>
          <p:cNvSpPr/>
          <p:nvPr/>
        </p:nvSpPr>
        <p:spPr>
          <a:xfrm>
            <a:off x="60960" y="2521459"/>
            <a:ext cx="1426729" cy="907940"/>
          </a:xfrm>
          <a:prstGeom prst="wedgeEllipseCallout">
            <a:avLst>
              <a:gd name="adj1" fmla="val 66225"/>
              <a:gd name="adj2" fmla="val 344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smtClean="0"/>
              <a:t>Host Port</a:t>
            </a:r>
            <a:r>
              <a:rPr lang="en-US" sz="1050" dirty="0" smtClean="0"/>
              <a:t> – </a:t>
            </a:r>
            <a:r>
              <a:rPr lang="en-US" sz="900" dirty="0" smtClean="0"/>
              <a:t>Classify and Routing to compute </a:t>
            </a:r>
            <a:r>
              <a:rPr lang="en-US" sz="900" dirty="0"/>
              <a:t>cores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7379672" y="2574948"/>
            <a:ext cx="1630216" cy="649836"/>
          </a:xfrm>
          <a:prstGeom prst="wedgeEllipseCallout">
            <a:avLst>
              <a:gd name="adj1" fmla="val -38210"/>
              <a:gd name="adj2" fmla="val -837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External </a:t>
            </a:r>
            <a:r>
              <a:rPr lang="en-US" sz="1050" b="1" dirty="0" smtClean="0"/>
              <a:t>MAC / Ethernet</a:t>
            </a:r>
            <a:r>
              <a:rPr lang="en-US" sz="1050" dirty="0" smtClean="0"/>
              <a:t> Ports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2235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1775" y="107156"/>
            <a:ext cx="8458200" cy="434861"/>
          </a:xfrm>
        </p:spPr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Feature Overview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214871" y="820971"/>
            <a:ext cx="3509785" cy="3519488"/>
          </a:xfrm>
        </p:spPr>
        <p:txBody>
          <a:bodyPr/>
          <a:lstStyle/>
          <a:p>
            <a:pPr marL="0" indent="0" algn="just" fontAlgn="t">
              <a:lnSpc>
                <a:spcPct val="120000"/>
              </a:lnSpc>
              <a:buNone/>
            </a:pPr>
            <a:r>
              <a:rPr lang="en-US" sz="1600" b="1" dirty="0" smtClean="0"/>
              <a:t>Top Level Features</a:t>
            </a:r>
          </a:p>
          <a:p>
            <a:pPr marL="171450" indent="-171450" algn="just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smtClean="0"/>
              <a:t>9 Ports – </a:t>
            </a:r>
            <a:r>
              <a:rPr lang="en-US" sz="1200" dirty="0"/>
              <a:t>8 MAC Ports, 1 Host Port</a:t>
            </a:r>
          </a:p>
          <a:p>
            <a:pPr marL="171450" indent="-171450" algn="just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Support for RMII, RGMII, SGMII, </a:t>
            </a:r>
            <a:r>
              <a:rPr lang="en-US" sz="1200" dirty="0" smtClean="0"/>
              <a:t>QSGMII</a:t>
            </a:r>
            <a:endParaRPr lang="en-US" sz="1200" dirty="0"/>
          </a:p>
          <a:p>
            <a:pPr marL="171450" indent="-171450" algn="just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Packet Classification (64 classifiers) &amp; filtering using L2/VLAN/L3 </a:t>
            </a:r>
          </a:p>
          <a:p>
            <a:pPr marL="171450" lvl="1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InterVLAN</a:t>
            </a:r>
            <a:r>
              <a:rPr lang="en-US" sz="1200" dirty="0"/>
              <a:t> </a:t>
            </a:r>
            <a:r>
              <a:rPr lang="en-US" sz="1200" dirty="0" smtClean="0"/>
              <a:t>routing support</a:t>
            </a:r>
            <a:endParaRPr lang="en-US" sz="1200" dirty="0"/>
          </a:p>
          <a:p>
            <a:pPr marL="171450" lvl="1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UDP/TCP Checksum offload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Multicast/broadcast rate limiter</a:t>
            </a:r>
          </a:p>
          <a:p>
            <a:pPr marL="171450" lvl="1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Reset isolation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Port Mirroring, Port </a:t>
            </a:r>
            <a:r>
              <a:rPr lang="en-US" sz="1200" dirty="0" err="1" smtClean="0"/>
              <a:t>Trunking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grpSp>
        <p:nvGrpSpPr>
          <p:cNvPr id="3" name="Group 2"/>
          <p:cNvGrpSpPr/>
          <p:nvPr/>
        </p:nvGrpSpPr>
        <p:grpSpPr>
          <a:xfrm>
            <a:off x="3920487" y="657744"/>
            <a:ext cx="5238049" cy="3851245"/>
            <a:chOff x="3495266" y="573529"/>
            <a:chExt cx="6292246" cy="6273027"/>
          </a:xfrm>
        </p:grpSpPr>
        <p:grpSp>
          <p:nvGrpSpPr>
            <p:cNvPr id="4" name="Group 3"/>
            <p:cNvGrpSpPr/>
            <p:nvPr/>
          </p:nvGrpSpPr>
          <p:grpSpPr>
            <a:xfrm>
              <a:off x="3495266" y="573529"/>
              <a:ext cx="6292246" cy="6264392"/>
              <a:chOff x="3495266" y="573529"/>
              <a:chExt cx="6292246" cy="6264392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8306321" y="5414919"/>
                <a:ext cx="661506" cy="142298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8337389" y="2267936"/>
                <a:ext cx="658224" cy="1405611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noFill/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3495266" y="573529"/>
                <a:ext cx="5642518" cy="6264392"/>
                <a:chOff x="220338" y="447272"/>
                <a:chExt cx="5642518" cy="6264392"/>
              </a:xfrm>
            </p:grpSpPr>
            <p:sp>
              <p:nvSpPr>
                <p:cNvPr id="76" name="Rectangle 75"/>
                <p:cNvSpPr/>
                <p:nvPr/>
              </p:nvSpPr>
              <p:spPr>
                <a:xfrm>
                  <a:off x="653194" y="447272"/>
                  <a:ext cx="809734" cy="6264391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b="1" dirty="0" smtClean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050" b="1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000" b="1" dirty="0" smtClean="0">
                      <a:solidFill>
                        <a:schemeClr val="tx1"/>
                      </a:solidFill>
                    </a:rPr>
                    <a:t>Switch</a:t>
                  </a:r>
                  <a:endParaRPr lang="en-US" sz="1000" b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381681" y="3686692"/>
                  <a:ext cx="27151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TextBox 77"/>
                <p:cNvSpPr txBox="1"/>
                <p:nvPr/>
              </p:nvSpPr>
              <p:spPr>
                <a:xfrm>
                  <a:off x="220338" y="3405201"/>
                  <a:ext cx="543025" cy="3140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CPU</a:t>
                  </a: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914399" y="1012982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Port1</a:t>
                  </a: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896037" y="2014196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Port2</a:t>
                  </a:r>
                </a:p>
              </p:txBody>
            </p:sp>
            <p:sp>
              <p:nvSpPr>
                <p:cNvPr id="81" name="TextBox 80"/>
                <p:cNvSpPr txBox="1"/>
                <p:nvPr/>
              </p:nvSpPr>
              <p:spPr>
                <a:xfrm>
                  <a:off x="924035" y="2608184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Port3</a:t>
                  </a:r>
                </a:p>
              </p:txBody>
            </p:sp>
            <p:sp>
              <p:nvSpPr>
                <p:cNvPr id="82" name="TextBox 81"/>
                <p:cNvSpPr txBox="1"/>
                <p:nvPr/>
              </p:nvSpPr>
              <p:spPr>
                <a:xfrm>
                  <a:off x="888450" y="3172804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Port4</a:t>
                  </a:r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900848" y="4148950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Port5</a:t>
                  </a: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882486" y="5150164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Port6</a:t>
                  </a:r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910484" y="5744155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Port7</a:t>
                  </a: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874899" y="6308772"/>
                  <a:ext cx="553120" cy="3140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00" dirty="0"/>
                    <a:t>Port8</a:t>
                  </a:r>
                </a:p>
              </p:txBody>
            </p:sp>
            <p:grpSp>
              <p:nvGrpSpPr>
                <p:cNvPr id="87" name="Group 86"/>
                <p:cNvGrpSpPr/>
                <p:nvPr/>
              </p:nvGrpSpPr>
              <p:grpSpPr>
                <a:xfrm>
                  <a:off x="1463604" y="447272"/>
                  <a:ext cx="4348871" cy="3108387"/>
                  <a:chOff x="1650893" y="458289"/>
                  <a:chExt cx="4348871" cy="3108387"/>
                </a:xfrm>
              </p:grpSpPr>
              <p:sp>
                <p:nvSpPr>
                  <p:cNvPr id="131" name="Rectangle 130"/>
                  <p:cNvSpPr/>
                  <p:nvPr/>
                </p:nvSpPr>
                <p:spPr>
                  <a:xfrm>
                    <a:off x="1768527" y="458289"/>
                    <a:ext cx="3481223" cy="3108387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noFill/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cxnSp>
                <p:nvCxnSpPr>
                  <p:cNvPr id="132" name="Straight Connector 131"/>
                  <p:cNvCxnSpPr/>
                  <p:nvPr/>
                </p:nvCxnSpPr>
                <p:spPr>
                  <a:xfrm>
                    <a:off x="2698650" y="970447"/>
                    <a:ext cx="0" cy="4572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/>
                  <p:cNvCxnSpPr/>
                  <p:nvPr/>
                </p:nvCxnSpPr>
                <p:spPr>
                  <a:xfrm>
                    <a:off x="2851050" y="741847"/>
                    <a:ext cx="0" cy="8455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/>
                  <p:cNvCxnSpPr/>
                  <p:nvPr/>
                </p:nvCxnSpPr>
                <p:spPr>
                  <a:xfrm flipH="1">
                    <a:off x="2698650" y="741847"/>
                    <a:ext cx="15240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/>
                  <p:cNvCxnSpPr/>
                  <p:nvPr/>
                </p:nvCxnSpPr>
                <p:spPr>
                  <a:xfrm flipH="1" flipV="1">
                    <a:off x="2698650" y="1427647"/>
                    <a:ext cx="152400" cy="1597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5204973" y="860357"/>
                    <a:ext cx="0" cy="81073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/>
                  <p:cNvCxnSpPr/>
                  <p:nvPr/>
                </p:nvCxnSpPr>
                <p:spPr>
                  <a:xfrm>
                    <a:off x="5056247" y="603137"/>
                    <a:ext cx="1" cy="1334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/>
                  <p:cNvCxnSpPr/>
                  <p:nvPr/>
                </p:nvCxnSpPr>
                <p:spPr>
                  <a:xfrm flipH="1">
                    <a:off x="5056248" y="1666411"/>
                    <a:ext cx="148725" cy="27076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/>
                  <p:cNvCxnSpPr/>
                  <p:nvPr/>
                </p:nvCxnSpPr>
                <p:spPr>
                  <a:xfrm>
                    <a:off x="5056247" y="603137"/>
                    <a:ext cx="148726" cy="27268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" name="Rectangle 139"/>
                  <p:cNvSpPr/>
                  <p:nvPr/>
                </p:nvSpPr>
                <p:spPr>
                  <a:xfrm>
                    <a:off x="1894421" y="937396"/>
                    <a:ext cx="627961" cy="49025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P1</a:t>
                    </a:r>
                    <a:r>
                      <a:rPr lang="en-US" sz="1200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sz="700" dirty="0">
                        <a:solidFill>
                          <a:schemeClr val="tx1"/>
                        </a:solidFill>
                      </a:rPr>
                      <a:t>FIFO</a:t>
                    </a:r>
                  </a:p>
                </p:txBody>
              </p:sp>
              <p:cxnSp>
                <p:nvCxnSpPr>
                  <p:cNvPr id="141" name="Straight Connector 140"/>
                  <p:cNvCxnSpPr/>
                  <p:nvPr/>
                </p:nvCxnSpPr>
                <p:spPr>
                  <a:xfrm>
                    <a:off x="2527888" y="1152454"/>
                    <a:ext cx="170762" cy="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/>
                  <p:cNvCxnSpPr/>
                  <p:nvPr/>
                </p:nvCxnSpPr>
                <p:spPr>
                  <a:xfrm>
                    <a:off x="2851050" y="1485257"/>
                    <a:ext cx="170759" cy="275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3" name="Rectangle 142"/>
                  <p:cNvSpPr/>
                  <p:nvPr/>
                </p:nvSpPr>
                <p:spPr>
                  <a:xfrm>
                    <a:off x="3027317" y="1270199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1/2.5G MAC1</a:t>
                    </a:r>
                  </a:p>
                </p:txBody>
              </p:sp>
              <p:cxnSp>
                <p:nvCxnSpPr>
                  <p:cNvPr id="144" name="Straight Connector 143"/>
                  <p:cNvCxnSpPr/>
                  <p:nvPr/>
                </p:nvCxnSpPr>
                <p:spPr>
                  <a:xfrm>
                    <a:off x="3805838" y="1320234"/>
                    <a:ext cx="0" cy="4572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/>
                  <p:cNvCxnSpPr/>
                  <p:nvPr/>
                </p:nvCxnSpPr>
                <p:spPr>
                  <a:xfrm>
                    <a:off x="3958238" y="1091634"/>
                    <a:ext cx="0" cy="8455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 flipH="1">
                    <a:off x="3805838" y="1091634"/>
                    <a:ext cx="15240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Straight Connector 146"/>
                  <p:cNvCxnSpPr/>
                  <p:nvPr/>
                </p:nvCxnSpPr>
                <p:spPr>
                  <a:xfrm flipH="1" flipV="1">
                    <a:off x="3805838" y="1777434"/>
                    <a:ext cx="152400" cy="1597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/>
                  <p:cNvCxnSpPr/>
                  <p:nvPr/>
                </p:nvCxnSpPr>
                <p:spPr>
                  <a:xfrm>
                    <a:off x="3661702" y="1485257"/>
                    <a:ext cx="144136" cy="137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/>
                  <p:cNvCxnSpPr/>
                  <p:nvPr/>
                </p:nvCxnSpPr>
                <p:spPr>
                  <a:xfrm>
                    <a:off x="3958238" y="1265724"/>
                    <a:ext cx="131281" cy="447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0" name="Rectangle 149"/>
                  <p:cNvSpPr/>
                  <p:nvPr/>
                </p:nvSpPr>
                <p:spPr>
                  <a:xfrm>
                    <a:off x="4092280" y="1101502"/>
                    <a:ext cx="809733" cy="32614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SGMII</a:t>
                    </a:r>
                  </a:p>
                </p:txBody>
              </p:sp>
              <p:sp>
                <p:nvSpPr>
                  <p:cNvPr id="151" name="Rectangle 150"/>
                  <p:cNvSpPr/>
                  <p:nvPr/>
                </p:nvSpPr>
                <p:spPr>
                  <a:xfrm>
                    <a:off x="4092279" y="1591294"/>
                    <a:ext cx="809734" cy="193506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dirty="0">
                        <a:solidFill>
                          <a:schemeClr val="tx1"/>
                        </a:solidFill>
                      </a:rPr>
                      <a:t>QSGMII</a:t>
                    </a:r>
                  </a:p>
                </p:txBody>
              </p: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3958238" y="1768025"/>
                    <a:ext cx="1377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/>
                  <p:cNvCxnSpPr/>
                  <p:nvPr/>
                </p:nvCxnSpPr>
                <p:spPr>
                  <a:xfrm>
                    <a:off x="4902012" y="1283281"/>
                    <a:ext cx="154236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Connector 153"/>
                  <p:cNvCxnSpPr/>
                  <p:nvPr/>
                </p:nvCxnSpPr>
                <p:spPr>
                  <a:xfrm flipV="1">
                    <a:off x="4909356" y="1777434"/>
                    <a:ext cx="146892" cy="3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5" name="Rectangle 154"/>
                  <p:cNvSpPr/>
                  <p:nvPr/>
                </p:nvSpPr>
                <p:spPr>
                  <a:xfrm>
                    <a:off x="1894420" y="193763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P2 FIFO</a:t>
                    </a:r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3005284" y="193763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1G MAC2</a:t>
                    </a:r>
                  </a:p>
                </p:txBody>
              </p:sp>
              <p:cxnSp>
                <p:nvCxnSpPr>
                  <p:cNvPr id="157" name="Straight Connector 156"/>
                  <p:cNvCxnSpPr/>
                  <p:nvPr/>
                </p:nvCxnSpPr>
                <p:spPr>
                  <a:xfrm>
                    <a:off x="2522381" y="2152696"/>
                    <a:ext cx="4829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1882489" y="251372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P3 FIFO</a:t>
                    </a:r>
                  </a:p>
                </p:txBody>
              </p:sp>
              <p:sp>
                <p:nvSpPr>
                  <p:cNvPr id="159" name="Rectangle 158"/>
                  <p:cNvSpPr/>
                  <p:nvPr/>
                </p:nvSpPr>
                <p:spPr>
                  <a:xfrm>
                    <a:off x="2993353" y="251372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1G MAC3</a:t>
                    </a:r>
                  </a:p>
                </p:txBody>
              </p:sp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2510450" y="2728786"/>
                    <a:ext cx="4829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1" name="Rectangle 160"/>
                  <p:cNvSpPr/>
                  <p:nvPr/>
                </p:nvSpPr>
                <p:spPr>
                  <a:xfrm>
                    <a:off x="1894420" y="3096244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P4 FIFO</a:t>
                    </a:r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>
                  <a:xfrm>
                    <a:off x="3005284" y="3096244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1G MAC4</a:t>
                    </a:r>
                  </a:p>
                </p:txBody>
              </p:sp>
              <p:cxnSp>
                <p:nvCxnSpPr>
                  <p:cNvPr id="163" name="Straight Connector 162"/>
                  <p:cNvCxnSpPr/>
                  <p:nvPr/>
                </p:nvCxnSpPr>
                <p:spPr>
                  <a:xfrm>
                    <a:off x="2522381" y="3311303"/>
                    <a:ext cx="4829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/>
                  <p:cNvCxnSpPr/>
                  <p:nvPr/>
                </p:nvCxnSpPr>
                <p:spPr>
                  <a:xfrm>
                    <a:off x="5197629" y="1283281"/>
                    <a:ext cx="64540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5" name="TextBox 164"/>
                  <p:cNvSpPr txBox="1"/>
                  <p:nvPr/>
                </p:nvSpPr>
                <p:spPr>
                  <a:xfrm>
                    <a:off x="5204974" y="732250"/>
                    <a:ext cx="794790" cy="6015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dirty="0"/>
                      <a:t>SERDES </a:t>
                    </a:r>
                  </a:p>
                  <a:p>
                    <a:r>
                      <a:rPr lang="en-US" sz="900" dirty="0"/>
                      <a:t>Lane1</a:t>
                    </a:r>
                  </a:p>
                </p:txBody>
              </p:sp>
              <p:cxnSp>
                <p:nvCxnSpPr>
                  <p:cNvPr id="166" name="Straight Connector 165"/>
                  <p:cNvCxnSpPr/>
                  <p:nvPr/>
                </p:nvCxnSpPr>
                <p:spPr>
                  <a:xfrm flipV="1">
                    <a:off x="1650893" y="1159249"/>
                    <a:ext cx="231596" cy="537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/>
                  <p:cNvCxnSpPr/>
                  <p:nvPr/>
                </p:nvCxnSpPr>
                <p:spPr>
                  <a:xfrm>
                    <a:off x="1650893" y="2160681"/>
                    <a:ext cx="23526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1664444" y="2746685"/>
                    <a:ext cx="20335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/>
                  <p:cNvCxnSpPr/>
                  <p:nvPr/>
                </p:nvCxnSpPr>
                <p:spPr>
                  <a:xfrm>
                    <a:off x="1650893" y="3320295"/>
                    <a:ext cx="23526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0" name="TextBox 169"/>
                  <p:cNvSpPr txBox="1"/>
                  <p:nvPr/>
                </p:nvSpPr>
                <p:spPr>
                  <a:xfrm>
                    <a:off x="1779663" y="480321"/>
                    <a:ext cx="1346362" cy="3623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dirty="0"/>
                      <a:t>4-port Group1</a:t>
                    </a:r>
                  </a:p>
                </p:txBody>
              </p:sp>
            </p:grpSp>
            <p:grpSp>
              <p:nvGrpSpPr>
                <p:cNvPr id="88" name="Group 87"/>
                <p:cNvGrpSpPr/>
                <p:nvPr/>
              </p:nvGrpSpPr>
              <p:grpSpPr>
                <a:xfrm>
                  <a:off x="1469172" y="3603277"/>
                  <a:ext cx="4393684" cy="3108387"/>
                  <a:chOff x="1650893" y="458289"/>
                  <a:chExt cx="4393684" cy="3108387"/>
                </a:xfrm>
              </p:grpSpPr>
              <p:sp>
                <p:nvSpPr>
                  <p:cNvPr id="89" name="Rectangle 88"/>
                  <p:cNvSpPr/>
                  <p:nvPr/>
                </p:nvSpPr>
                <p:spPr>
                  <a:xfrm>
                    <a:off x="1768527" y="458289"/>
                    <a:ext cx="3481223" cy="3108387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noFill/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cxnSp>
                <p:nvCxnSpPr>
                  <p:cNvPr id="90" name="Straight Connector 89"/>
                  <p:cNvCxnSpPr/>
                  <p:nvPr/>
                </p:nvCxnSpPr>
                <p:spPr>
                  <a:xfrm>
                    <a:off x="2698650" y="970447"/>
                    <a:ext cx="0" cy="4572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/>
                  <p:cNvCxnSpPr/>
                  <p:nvPr/>
                </p:nvCxnSpPr>
                <p:spPr>
                  <a:xfrm>
                    <a:off x="2851050" y="741847"/>
                    <a:ext cx="0" cy="8455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/>
                  <p:cNvCxnSpPr/>
                  <p:nvPr/>
                </p:nvCxnSpPr>
                <p:spPr>
                  <a:xfrm flipH="1">
                    <a:off x="2698650" y="741847"/>
                    <a:ext cx="15240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/>
                  <p:cNvCxnSpPr/>
                  <p:nvPr/>
                </p:nvCxnSpPr>
                <p:spPr>
                  <a:xfrm flipH="1" flipV="1">
                    <a:off x="2698650" y="1427647"/>
                    <a:ext cx="152400" cy="1597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/>
                  <p:cNvCxnSpPr/>
                  <p:nvPr/>
                </p:nvCxnSpPr>
                <p:spPr>
                  <a:xfrm>
                    <a:off x="5204973" y="860357"/>
                    <a:ext cx="0" cy="81073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/>
                  <p:cNvCxnSpPr/>
                  <p:nvPr/>
                </p:nvCxnSpPr>
                <p:spPr>
                  <a:xfrm>
                    <a:off x="5056247" y="603137"/>
                    <a:ext cx="1" cy="133404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/>
                  <p:cNvCxnSpPr/>
                  <p:nvPr/>
                </p:nvCxnSpPr>
                <p:spPr>
                  <a:xfrm flipH="1">
                    <a:off x="5056248" y="1666411"/>
                    <a:ext cx="148725" cy="27076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/>
                  <p:cNvCxnSpPr/>
                  <p:nvPr/>
                </p:nvCxnSpPr>
                <p:spPr>
                  <a:xfrm>
                    <a:off x="5056247" y="603137"/>
                    <a:ext cx="148726" cy="27268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" name="Rectangle 97"/>
                  <p:cNvSpPr/>
                  <p:nvPr/>
                </p:nvSpPr>
                <p:spPr>
                  <a:xfrm>
                    <a:off x="1894421" y="937396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P5 FIFO</a:t>
                    </a:r>
                  </a:p>
                </p:txBody>
              </p:sp>
              <p:cxnSp>
                <p:nvCxnSpPr>
                  <p:cNvPr id="99" name="Straight Connector 98"/>
                  <p:cNvCxnSpPr/>
                  <p:nvPr/>
                </p:nvCxnSpPr>
                <p:spPr>
                  <a:xfrm>
                    <a:off x="2527888" y="1152454"/>
                    <a:ext cx="170762" cy="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/>
                  <p:cNvCxnSpPr/>
                  <p:nvPr/>
                </p:nvCxnSpPr>
                <p:spPr>
                  <a:xfrm>
                    <a:off x="2851050" y="1485257"/>
                    <a:ext cx="170759" cy="275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1" name="Rectangle 100"/>
                  <p:cNvSpPr/>
                  <p:nvPr/>
                </p:nvSpPr>
                <p:spPr>
                  <a:xfrm>
                    <a:off x="3027317" y="1270199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1/2.5G MAC5</a:t>
                    </a:r>
                  </a:p>
                </p:txBody>
              </p:sp>
              <p:cxnSp>
                <p:nvCxnSpPr>
                  <p:cNvPr id="102" name="Straight Connector 101"/>
                  <p:cNvCxnSpPr/>
                  <p:nvPr/>
                </p:nvCxnSpPr>
                <p:spPr>
                  <a:xfrm>
                    <a:off x="3805838" y="1320234"/>
                    <a:ext cx="0" cy="4572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/>
                  <p:cNvCxnSpPr/>
                  <p:nvPr/>
                </p:nvCxnSpPr>
                <p:spPr>
                  <a:xfrm>
                    <a:off x="3958238" y="1091634"/>
                    <a:ext cx="0" cy="8455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/>
                  <p:cNvCxnSpPr/>
                  <p:nvPr/>
                </p:nvCxnSpPr>
                <p:spPr>
                  <a:xfrm flipH="1">
                    <a:off x="3805838" y="1091634"/>
                    <a:ext cx="152400" cy="2286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/>
                  <p:cNvCxnSpPr/>
                  <p:nvPr/>
                </p:nvCxnSpPr>
                <p:spPr>
                  <a:xfrm flipH="1" flipV="1">
                    <a:off x="3805838" y="1777434"/>
                    <a:ext cx="152400" cy="15974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/>
                  <p:cNvCxnSpPr/>
                  <p:nvPr/>
                </p:nvCxnSpPr>
                <p:spPr>
                  <a:xfrm>
                    <a:off x="3661702" y="1485257"/>
                    <a:ext cx="144136" cy="137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/>
                  <p:cNvCxnSpPr/>
                  <p:nvPr/>
                </p:nvCxnSpPr>
                <p:spPr>
                  <a:xfrm>
                    <a:off x="3958238" y="1265724"/>
                    <a:ext cx="131281" cy="447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8" name="Rectangle 107"/>
                  <p:cNvSpPr/>
                  <p:nvPr/>
                </p:nvSpPr>
                <p:spPr>
                  <a:xfrm>
                    <a:off x="4092279" y="1591294"/>
                    <a:ext cx="809734" cy="193506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dirty="0">
                        <a:solidFill>
                          <a:schemeClr val="tx1"/>
                        </a:solidFill>
                      </a:rPr>
                      <a:t>QSGMII</a:t>
                    </a:r>
                  </a:p>
                </p:txBody>
              </p:sp>
              <p:cxnSp>
                <p:nvCxnSpPr>
                  <p:cNvPr id="109" name="Straight Connector 108"/>
                  <p:cNvCxnSpPr/>
                  <p:nvPr/>
                </p:nvCxnSpPr>
                <p:spPr>
                  <a:xfrm>
                    <a:off x="3958238" y="1768025"/>
                    <a:ext cx="1377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/>
                  <p:cNvCxnSpPr/>
                  <p:nvPr/>
                </p:nvCxnSpPr>
                <p:spPr>
                  <a:xfrm>
                    <a:off x="4902012" y="1283281"/>
                    <a:ext cx="154236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/>
                  <p:cNvCxnSpPr/>
                  <p:nvPr/>
                </p:nvCxnSpPr>
                <p:spPr>
                  <a:xfrm flipV="1">
                    <a:off x="4909356" y="1777434"/>
                    <a:ext cx="146892" cy="3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2" name="Rectangle 111"/>
                  <p:cNvSpPr/>
                  <p:nvPr/>
                </p:nvSpPr>
                <p:spPr>
                  <a:xfrm>
                    <a:off x="1894420" y="193763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P6 FIFO</a:t>
                    </a:r>
                  </a:p>
                </p:txBody>
              </p:sp>
              <p:sp>
                <p:nvSpPr>
                  <p:cNvPr id="113" name="Rectangle 112"/>
                  <p:cNvSpPr/>
                  <p:nvPr/>
                </p:nvSpPr>
                <p:spPr>
                  <a:xfrm>
                    <a:off x="3005284" y="193763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1G MAC6</a:t>
                    </a:r>
                  </a:p>
                </p:txBody>
              </p:sp>
              <p:cxnSp>
                <p:nvCxnSpPr>
                  <p:cNvPr id="114" name="Straight Connector 113"/>
                  <p:cNvCxnSpPr/>
                  <p:nvPr/>
                </p:nvCxnSpPr>
                <p:spPr>
                  <a:xfrm>
                    <a:off x="2522381" y="2152696"/>
                    <a:ext cx="4829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/>
                  <p:cNvCxnSpPr/>
                  <p:nvPr/>
                </p:nvCxnSpPr>
                <p:spPr>
                  <a:xfrm>
                    <a:off x="3635072" y="2250475"/>
                    <a:ext cx="215690" cy="63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" name="Rectangle 115"/>
                  <p:cNvSpPr/>
                  <p:nvPr/>
                </p:nvSpPr>
                <p:spPr>
                  <a:xfrm>
                    <a:off x="1882489" y="251372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P7 FIFO</a:t>
                    </a:r>
                  </a:p>
                </p:txBody>
              </p:sp>
              <p:sp>
                <p:nvSpPr>
                  <p:cNvPr id="117" name="Rectangle 116"/>
                  <p:cNvSpPr/>
                  <p:nvPr/>
                </p:nvSpPr>
                <p:spPr>
                  <a:xfrm>
                    <a:off x="2993353" y="2513727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1G MAC7</a:t>
                    </a:r>
                  </a:p>
                </p:txBody>
              </p:sp>
              <p:cxnSp>
                <p:nvCxnSpPr>
                  <p:cNvPr id="118" name="Straight Connector 117"/>
                  <p:cNvCxnSpPr/>
                  <p:nvPr/>
                </p:nvCxnSpPr>
                <p:spPr>
                  <a:xfrm>
                    <a:off x="2510450" y="2728786"/>
                    <a:ext cx="4829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>
                    <a:off x="3615746" y="2809169"/>
                    <a:ext cx="235016" cy="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Rectangle 119"/>
                  <p:cNvSpPr/>
                  <p:nvPr/>
                </p:nvSpPr>
                <p:spPr>
                  <a:xfrm>
                    <a:off x="1894420" y="3096244"/>
                    <a:ext cx="627961" cy="43011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P8 FIFO</a:t>
                    </a:r>
                  </a:p>
                </p:txBody>
              </p:sp>
              <p:sp>
                <p:nvSpPr>
                  <p:cNvPr id="121" name="Rectangle 120"/>
                  <p:cNvSpPr/>
                  <p:nvPr/>
                </p:nvSpPr>
                <p:spPr>
                  <a:xfrm>
                    <a:off x="3005284" y="3133568"/>
                    <a:ext cx="627961" cy="355469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700" dirty="0">
                        <a:solidFill>
                          <a:schemeClr val="tx1"/>
                        </a:solidFill>
                      </a:rPr>
                      <a:t>1G MAC8</a:t>
                    </a:r>
                  </a:p>
                </p:txBody>
              </p:sp>
              <p:cxnSp>
                <p:nvCxnSpPr>
                  <p:cNvPr id="122" name="Straight Connector 121"/>
                  <p:cNvCxnSpPr/>
                  <p:nvPr/>
                </p:nvCxnSpPr>
                <p:spPr>
                  <a:xfrm>
                    <a:off x="2522381" y="3311303"/>
                    <a:ext cx="48290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/>
                  <p:cNvCxnSpPr/>
                  <p:nvPr/>
                </p:nvCxnSpPr>
                <p:spPr>
                  <a:xfrm flipV="1">
                    <a:off x="3641606" y="3320295"/>
                    <a:ext cx="220336" cy="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/>
                  <p:cNvCxnSpPr/>
                  <p:nvPr/>
                </p:nvCxnSpPr>
                <p:spPr>
                  <a:xfrm>
                    <a:off x="5197629" y="1283281"/>
                    <a:ext cx="64540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5204974" y="712391"/>
                    <a:ext cx="839603" cy="5797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dirty="0"/>
                      <a:t>SERDES </a:t>
                    </a:r>
                  </a:p>
                  <a:p>
                    <a:r>
                      <a:rPr lang="en-US" sz="900" dirty="0"/>
                      <a:t>Lane2</a:t>
                    </a:r>
                  </a:p>
                </p:txBody>
              </p:sp>
              <p:cxnSp>
                <p:nvCxnSpPr>
                  <p:cNvPr id="126" name="Straight Connector 125"/>
                  <p:cNvCxnSpPr/>
                  <p:nvPr/>
                </p:nvCxnSpPr>
                <p:spPr>
                  <a:xfrm flipV="1">
                    <a:off x="1650893" y="1159249"/>
                    <a:ext cx="231596" cy="537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/>
                  <p:cNvCxnSpPr/>
                  <p:nvPr/>
                </p:nvCxnSpPr>
                <p:spPr>
                  <a:xfrm>
                    <a:off x="1650893" y="2160681"/>
                    <a:ext cx="23526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/>
                  <p:cNvCxnSpPr/>
                  <p:nvPr/>
                </p:nvCxnSpPr>
                <p:spPr>
                  <a:xfrm>
                    <a:off x="1664444" y="2746685"/>
                    <a:ext cx="203355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/>
                  <p:cNvCxnSpPr/>
                  <p:nvPr/>
                </p:nvCxnSpPr>
                <p:spPr>
                  <a:xfrm>
                    <a:off x="1650893" y="3320295"/>
                    <a:ext cx="23526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1779663" y="480321"/>
                    <a:ext cx="1346362" cy="3623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dirty="0"/>
                      <a:t>4-port Group2</a:t>
                    </a:r>
                  </a:p>
                </p:txBody>
              </p:sp>
            </p:grpSp>
          </p:grpSp>
          <p:cxnSp>
            <p:nvCxnSpPr>
              <p:cNvPr id="30" name="Straight Connector 29"/>
              <p:cNvCxnSpPr/>
              <p:nvPr/>
            </p:nvCxnSpPr>
            <p:spPr>
              <a:xfrm>
                <a:off x="7045877" y="5649401"/>
                <a:ext cx="10784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>
              <a:xfrm>
                <a:off x="6950963" y="5243419"/>
                <a:ext cx="90434" cy="531505"/>
                <a:chOff x="7051445" y="4515279"/>
                <a:chExt cx="152400" cy="845544"/>
              </a:xfrm>
            </p:grpSpPr>
            <p:cxnSp>
              <p:nvCxnSpPr>
                <p:cNvPr id="72" name="Straight Connector 71"/>
                <p:cNvCxnSpPr/>
                <p:nvPr/>
              </p:nvCxnSpPr>
              <p:spPr>
                <a:xfrm>
                  <a:off x="7051445" y="4743879"/>
                  <a:ext cx="0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>
                  <a:off x="7203845" y="4515279"/>
                  <a:ext cx="0" cy="8455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flipH="1">
                  <a:off x="7051445" y="4515279"/>
                  <a:ext cx="152400" cy="228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 flipH="1" flipV="1">
                  <a:off x="7051445" y="5201079"/>
                  <a:ext cx="152400" cy="1597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>
              <a:xfrm>
                <a:off x="7045877" y="5431926"/>
                <a:ext cx="1478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7048059" y="6178027"/>
                <a:ext cx="10784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/>
              <p:cNvGrpSpPr/>
              <p:nvPr/>
            </p:nvGrpSpPr>
            <p:grpSpPr>
              <a:xfrm>
                <a:off x="6953145" y="5772045"/>
                <a:ext cx="90434" cy="531505"/>
                <a:chOff x="7051445" y="4515279"/>
                <a:chExt cx="152400" cy="845544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>
                  <a:off x="7051445" y="4743879"/>
                  <a:ext cx="0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7203845" y="4515279"/>
                  <a:ext cx="0" cy="8455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 flipH="1">
                  <a:off x="7051445" y="4515279"/>
                  <a:ext cx="152400" cy="228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 flipH="1" flipV="1">
                  <a:off x="7051445" y="5201079"/>
                  <a:ext cx="152400" cy="1597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/>
              <p:cNvCxnSpPr/>
              <p:nvPr/>
            </p:nvCxnSpPr>
            <p:spPr>
              <a:xfrm>
                <a:off x="7048059" y="5960552"/>
                <a:ext cx="1478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7048059" y="6697581"/>
                <a:ext cx="10784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Group 36"/>
              <p:cNvGrpSpPr/>
              <p:nvPr/>
            </p:nvGrpSpPr>
            <p:grpSpPr>
              <a:xfrm>
                <a:off x="6953145" y="6291599"/>
                <a:ext cx="90434" cy="531505"/>
                <a:chOff x="7051445" y="4515279"/>
                <a:chExt cx="152400" cy="845544"/>
              </a:xfrm>
            </p:grpSpPr>
            <p:cxnSp>
              <p:nvCxnSpPr>
                <p:cNvPr id="64" name="Straight Connector 63"/>
                <p:cNvCxnSpPr/>
                <p:nvPr/>
              </p:nvCxnSpPr>
              <p:spPr>
                <a:xfrm>
                  <a:off x="7051445" y="4743879"/>
                  <a:ext cx="0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7203845" y="4515279"/>
                  <a:ext cx="0" cy="8455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 flipH="1">
                  <a:off x="7051445" y="4515279"/>
                  <a:ext cx="152400" cy="228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 flipH="1" flipV="1">
                  <a:off x="7051445" y="5201079"/>
                  <a:ext cx="152400" cy="1597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8" name="Straight Connector 37"/>
              <p:cNvCxnSpPr/>
              <p:nvPr/>
            </p:nvCxnSpPr>
            <p:spPr>
              <a:xfrm>
                <a:off x="7048059" y="6480106"/>
                <a:ext cx="1478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7047708" y="2508918"/>
                <a:ext cx="10784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Group 39"/>
              <p:cNvGrpSpPr/>
              <p:nvPr/>
            </p:nvGrpSpPr>
            <p:grpSpPr>
              <a:xfrm>
                <a:off x="6952794" y="2102936"/>
                <a:ext cx="90434" cy="531505"/>
                <a:chOff x="7051445" y="4515279"/>
                <a:chExt cx="152400" cy="845544"/>
              </a:xfrm>
            </p:grpSpPr>
            <p:cxnSp>
              <p:nvCxnSpPr>
                <p:cNvPr id="60" name="Straight Connector 59"/>
                <p:cNvCxnSpPr/>
                <p:nvPr/>
              </p:nvCxnSpPr>
              <p:spPr>
                <a:xfrm>
                  <a:off x="7051445" y="4743879"/>
                  <a:ext cx="0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7203845" y="4515279"/>
                  <a:ext cx="0" cy="8455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 flipH="1">
                  <a:off x="7051445" y="4515279"/>
                  <a:ext cx="152400" cy="228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 flipH="1" flipV="1">
                  <a:off x="7051445" y="5201079"/>
                  <a:ext cx="152400" cy="1597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Straight Connector 40"/>
              <p:cNvCxnSpPr/>
              <p:nvPr/>
            </p:nvCxnSpPr>
            <p:spPr>
              <a:xfrm>
                <a:off x="7047708" y="2291443"/>
                <a:ext cx="1478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7049890" y="3037544"/>
                <a:ext cx="10784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/>
              <p:cNvGrpSpPr/>
              <p:nvPr/>
            </p:nvGrpSpPr>
            <p:grpSpPr>
              <a:xfrm>
                <a:off x="6954976" y="2631562"/>
                <a:ext cx="90434" cy="531505"/>
                <a:chOff x="7051445" y="4515279"/>
                <a:chExt cx="152400" cy="845544"/>
              </a:xfrm>
            </p:grpSpPr>
            <p:cxnSp>
              <p:nvCxnSpPr>
                <p:cNvPr id="56" name="Straight Connector 55"/>
                <p:cNvCxnSpPr/>
                <p:nvPr/>
              </p:nvCxnSpPr>
              <p:spPr>
                <a:xfrm>
                  <a:off x="7051445" y="4743879"/>
                  <a:ext cx="0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7203845" y="4515279"/>
                  <a:ext cx="0" cy="8455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 flipH="1">
                  <a:off x="7051445" y="4515279"/>
                  <a:ext cx="152400" cy="228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 flipH="1" flipV="1">
                  <a:off x="7051445" y="5201079"/>
                  <a:ext cx="152400" cy="1597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Connector 43"/>
              <p:cNvCxnSpPr/>
              <p:nvPr/>
            </p:nvCxnSpPr>
            <p:spPr>
              <a:xfrm>
                <a:off x="7049890" y="2820069"/>
                <a:ext cx="1478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7049890" y="3557098"/>
                <a:ext cx="10784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>
              <a:xfrm>
                <a:off x="6954976" y="3151116"/>
                <a:ext cx="90434" cy="531505"/>
                <a:chOff x="7051445" y="4515279"/>
                <a:chExt cx="152400" cy="845544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>
                  <a:off x="7051445" y="4743879"/>
                  <a:ext cx="0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7203845" y="4515279"/>
                  <a:ext cx="0" cy="8455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>
                  <a:off x="7051445" y="4515279"/>
                  <a:ext cx="152400" cy="2286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 flipH="1" flipV="1">
                  <a:off x="7051445" y="5201079"/>
                  <a:ext cx="152400" cy="1597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>
              <a:xfrm>
                <a:off x="7049890" y="3339623"/>
                <a:ext cx="1478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6730633" y="2356080"/>
                <a:ext cx="215690" cy="63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6711307" y="2914774"/>
                <a:ext cx="235016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6737167" y="3425900"/>
                <a:ext cx="220336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9005238" y="2543653"/>
                <a:ext cx="782274" cy="821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Sharing w/ other SERDES / pins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7119512" y="1379815"/>
              <a:ext cx="2668000" cy="5466741"/>
              <a:chOff x="7119512" y="1379815"/>
              <a:chExt cx="2668000" cy="5466741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8128296" y="3294812"/>
                <a:ext cx="785407" cy="343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SGMII/ RGMII/RMII</a:t>
                </a: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8908121" y="3466667"/>
                <a:ext cx="87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 8"/>
              <p:cNvSpPr/>
              <p:nvPr/>
            </p:nvSpPr>
            <p:spPr>
              <a:xfrm>
                <a:off x="8128296" y="2831038"/>
                <a:ext cx="785407" cy="343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SGMII/ RGMII/RMII</a:t>
                </a:r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8924081" y="3002894"/>
                <a:ext cx="87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ectangle 10"/>
              <p:cNvSpPr/>
              <p:nvPr/>
            </p:nvSpPr>
            <p:spPr>
              <a:xfrm>
                <a:off x="8128296" y="2359699"/>
                <a:ext cx="785407" cy="343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SGMII/ RGMII/RMII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8924081" y="2531554"/>
                <a:ext cx="87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 12"/>
              <p:cNvSpPr/>
              <p:nvPr/>
            </p:nvSpPr>
            <p:spPr>
              <a:xfrm>
                <a:off x="8116776" y="6447005"/>
                <a:ext cx="785407" cy="343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SGMII/ RGMII/RMII</a:t>
                </a:r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8890592" y="6618861"/>
                <a:ext cx="87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/>
              <p:cNvSpPr/>
              <p:nvPr/>
            </p:nvSpPr>
            <p:spPr>
              <a:xfrm>
                <a:off x="8116776" y="5983233"/>
                <a:ext cx="785407" cy="343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SGMII/ RGMII/RMII</a:t>
                </a:r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8906552" y="6155088"/>
                <a:ext cx="87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8116776" y="5511894"/>
                <a:ext cx="785407" cy="343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SGMII/ RGMII/RMII</a:t>
                </a: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8906552" y="5683748"/>
                <a:ext cx="874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8982862" y="5706017"/>
                <a:ext cx="804650" cy="821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/>
                  <a:t>Sharing w/ other SERDES / pins</a:t>
                </a:r>
              </a:p>
            </p:txBody>
          </p:sp>
          <p:sp>
            <p:nvSpPr>
              <p:cNvPr id="20" name="Right Brace 19"/>
              <p:cNvSpPr/>
              <p:nvPr/>
            </p:nvSpPr>
            <p:spPr>
              <a:xfrm>
                <a:off x="8948577" y="5387116"/>
                <a:ext cx="138827" cy="1459440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" name="Right Brace 20"/>
              <p:cNvSpPr/>
              <p:nvPr/>
            </p:nvSpPr>
            <p:spPr>
              <a:xfrm>
                <a:off x="8967062" y="2231472"/>
                <a:ext cx="138827" cy="1459440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7177158" y="4378371"/>
                <a:ext cx="809733" cy="3261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SGMII</a:t>
                </a:r>
              </a:p>
            </p:txBody>
          </p:sp>
          <p:cxnSp>
            <p:nvCxnSpPr>
              <p:cNvPr id="23" name="Elbow Connector 22"/>
              <p:cNvCxnSpPr/>
              <p:nvPr/>
            </p:nvCxnSpPr>
            <p:spPr>
              <a:xfrm>
                <a:off x="7123793" y="1379815"/>
                <a:ext cx="1397206" cy="242944"/>
              </a:xfrm>
              <a:prstGeom prst="bentConnector3">
                <a:avLst>
                  <a:gd name="adj1" fmla="val -289"/>
                </a:avLst>
              </a:prstGeom>
              <a:ln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8458169" y="1521425"/>
                <a:ext cx="839604" cy="434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RGMII/RMII (</a:t>
                </a:r>
                <a:r>
                  <a:rPr lang="en-US" sz="600" dirty="0" err="1"/>
                  <a:t>pinmux</a:t>
                </a:r>
                <a:r>
                  <a:rPr lang="en-US" sz="600" dirty="0"/>
                  <a:t>)</a:t>
                </a:r>
              </a:p>
            </p:txBody>
          </p:sp>
          <p:cxnSp>
            <p:nvCxnSpPr>
              <p:cNvPr id="25" name="Elbow Connector 24"/>
              <p:cNvCxnSpPr/>
              <p:nvPr/>
            </p:nvCxnSpPr>
            <p:spPr>
              <a:xfrm>
                <a:off x="7119512" y="4541403"/>
                <a:ext cx="1397206" cy="242944"/>
              </a:xfrm>
              <a:prstGeom prst="bentConnector3">
                <a:avLst>
                  <a:gd name="adj1" fmla="val -289"/>
                </a:avLst>
              </a:prstGeom>
              <a:ln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8453888" y="4683012"/>
                <a:ext cx="839604" cy="434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 dirty="0"/>
                  <a:t>RGMII/RMII (</a:t>
                </a:r>
                <a:r>
                  <a:rPr lang="en-US" sz="600" dirty="0" err="1"/>
                  <a:t>pinmux</a:t>
                </a:r>
                <a:r>
                  <a:rPr lang="en-US" sz="600" dirty="0"/>
                  <a:t>)</a:t>
                </a:r>
              </a:p>
            </p:txBody>
          </p:sp>
        </p:grpSp>
      </p:grpSp>
      <p:sp>
        <p:nvSpPr>
          <p:cNvPr id="172" name="Rectangle 171"/>
          <p:cNvSpPr/>
          <p:nvPr/>
        </p:nvSpPr>
        <p:spPr>
          <a:xfrm>
            <a:off x="5645601" y="411212"/>
            <a:ext cx="197682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/>
              <a:t>CPSW (Ethernet Switch) IP</a:t>
            </a:r>
          </a:p>
        </p:txBody>
      </p:sp>
    </p:spTree>
    <p:extLst>
      <p:ext uri="{BB962C8B-B14F-4D97-AF65-F5344CB8AC3E}">
        <p14:creationId xmlns:p14="http://schemas.microsoft.com/office/powerpoint/2010/main" val="97232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Auto Use-cases entitlement 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813216" y="1236810"/>
            <a:ext cx="3796883" cy="233910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ctr"/>
            <a:r>
              <a:rPr lang="en-US" b="1" dirty="0" smtClean="0"/>
              <a:t>Security</a:t>
            </a:r>
            <a:endParaRPr lang="en-US" sz="1200" dirty="0" smtClean="0"/>
          </a:p>
          <a:p>
            <a:pPr marL="1714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smtClean="0"/>
              <a:t>L2/L3 </a:t>
            </a:r>
            <a:r>
              <a:rPr lang="en-US" sz="1200" dirty="0"/>
              <a:t>address whitelisting, L2 address blacklisting</a:t>
            </a:r>
          </a:p>
          <a:p>
            <a:pPr marL="1714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Advanced classification and Policing based on L2/L3 headers using Port number, Priority, ONU, DA, SA, VLAN inner/outer, </a:t>
            </a:r>
            <a:r>
              <a:rPr lang="en-US" sz="1200" dirty="0" err="1" smtClean="0"/>
              <a:t>EtherType</a:t>
            </a:r>
            <a:r>
              <a:rPr lang="en-US" sz="1200" dirty="0"/>
              <a:t>, IPSA and </a:t>
            </a:r>
            <a:r>
              <a:rPr lang="en-US" sz="1200" dirty="0" smtClean="0"/>
              <a:t>IPDA</a:t>
            </a:r>
          </a:p>
          <a:p>
            <a:pPr marL="171450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Policing for rate limiting matched flows – three color marking on policed rates with drop controls</a:t>
            </a:r>
          </a:p>
          <a:p>
            <a:pPr marL="171450" indent="-171450" defTabSz="896004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 smtClean="0">
                <a:solidFill>
                  <a:schemeClr val="dk1"/>
                </a:solidFill>
              </a:rPr>
              <a:t>Deep </a:t>
            </a:r>
            <a:r>
              <a:rPr lang="en-US" sz="1200" dirty="0">
                <a:solidFill>
                  <a:schemeClr val="dk1"/>
                </a:solidFill>
              </a:rPr>
              <a:t>packet inspection via integrated compute </a:t>
            </a:r>
            <a:r>
              <a:rPr lang="en-US" sz="1200" dirty="0" smtClean="0">
                <a:solidFill>
                  <a:schemeClr val="dk1"/>
                </a:solidFill>
              </a:rPr>
              <a:t>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1347" y="2544861"/>
            <a:ext cx="3492843" cy="166199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 algn="just" defTabSz="896004">
              <a:spcBef>
                <a:spcPts val="600"/>
              </a:spcBef>
              <a:buFont typeface="Arial" panose="020B0604020202020204" pitchFamily="34" charset="0"/>
              <a:buChar char="•"/>
              <a:defRPr sz="1200"/>
            </a:lvl1pPr>
            <a:lvl2pPr marL="0" lvl="1" algn="ctr">
              <a:defRPr b="1"/>
            </a:lvl2pPr>
          </a:lstStyle>
          <a:p>
            <a:pPr lvl="1"/>
            <a:r>
              <a:rPr lang="en-US" dirty="0"/>
              <a:t>AVB/TSN Features</a:t>
            </a:r>
          </a:p>
          <a:p>
            <a:pPr algn="l"/>
            <a:r>
              <a:rPr lang="en-US" dirty="0"/>
              <a:t>IEEE802.1Qav – Egress AVB rate shaping</a:t>
            </a:r>
          </a:p>
          <a:p>
            <a:pPr algn="l"/>
            <a:r>
              <a:rPr lang="en-US" dirty="0"/>
              <a:t>IEEE802.1Qbb and IEEE802.3x Flow </a:t>
            </a:r>
            <a:r>
              <a:rPr lang="en-US" dirty="0" smtClean="0"/>
              <a:t>control</a:t>
            </a:r>
            <a:endParaRPr lang="en-US" dirty="0"/>
          </a:p>
          <a:p>
            <a:pPr algn="l"/>
            <a:r>
              <a:rPr lang="en-US" dirty="0"/>
              <a:t>TSN </a:t>
            </a:r>
            <a:r>
              <a:rPr lang="en-US" dirty="0" smtClean="0"/>
              <a:t>Features</a:t>
            </a:r>
          </a:p>
          <a:p>
            <a:pPr marL="548640" lvl="3" indent="-182880">
              <a:buFont typeface="Arial" panose="020B0604020202020204" pitchFamily="34" charset="0"/>
              <a:buChar char="•"/>
            </a:pPr>
            <a:r>
              <a:rPr lang="en-US" sz="1100" dirty="0" smtClean="0"/>
              <a:t>IEEE802.1Qbv/1Qaz time base scheduling</a:t>
            </a:r>
          </a:p>
          <a:p>
            <a:pPr marL="548640" lvl="3" indent="-182880">
              <a:buFont typeface="Arial" panose="020B0604020202020204" pitchFamily="34" charset="0"/>
              <a:buChar char="•"/>
            </a:pPr>
            <a:r>
              <a:rPr lang="en-US" sz="1100" dirty="0"/>
              <a:t>IEEE802.3br/IEEE802.1Qbu Frame Preemption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1348" y="1131725"/>
            <a:ext cx="3492843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171450" indent="-171450" algn="just" defTabSz="896004">
              <a:spcBef>
                <a:spcPts val="600"/>
              </a:spcBef>
              <a:buFont typeface="Arial" panose="020B0604020202020204" pitchFamily="34" charset="0"/>
              <a:buChar char="•"/>
              <a:defRPr sz="1200"/>
            </a:lvl1pPr>
            <a:lvl2pPr marL="0" lvl="1" algn="ctr">
              <a:defRPr b="1"/>
            </a:lvl2pPr>
          </a:lstStyle>
          <a:p>
            <a:pPr lvl="1"/>
            <a:r>
              <a:rPr lang="en-US" dirty="0"/>
              <a:t>Safety Features</a:t>
            </a:r>
          </a:p>
          <a:p>
            <a:pPr algn="l"/>
            <a:r>
              <a:rPr lang="en-US" dirty="0"/>
              <a:t>SECDED ECC protection of table entries</a:t>
            </a:r>
          </a:p>
          <a:p>
            <a:pPr algn="l"/>
            <a:r>
              <a:rPr lang="en-US" dirty="0"/>
              <a:t>Ram error detection and correction (ECC) with full end to end packet protection (CRC)</a:t>
            </a:r>
          </a:p>
        </p:txBody>
      </p:sp>
    </p:spTree>
    <p:extLst>
      <p:ext uri="{BB962C8B-B14F-4D97-AF65-F5344CB8AC3E}">
        <p14:creationId xmlns:p14="http://schemas.microsoft.com/office/powerpoint/2010/main" val="154483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Feature Summary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6034596" y="2031818"/>
            <a:ext cx="2691304" cy="839091"/>
          </a:xfrm>
          <a:prstGeom prst="rect">
            <a:avLst/>
          </a:prstGeom>
          <a:solidFill>
            <a:srgbClr val="CCFFCC"/>
          </a:solidFill>
          <a:ln>
            <a:solidFill>
              <a:srgbClr val="66FF66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57150" tIns="28575" rIns="57150" bIns="28575" rtlCol="0" anchor="t"/>
          <a:lstStyle/>
          <a:p>
            <a:pPr algn="ctr">
              <a:spcAft>
                <a:spcPts val="600"/>
              </a:spcAft>
            </a:pPr>
            <a:r>
              <a:rPr lang="en-US" sz="1100" b="1" dirty="0">
                <a:solidFill>
                  <a:schemeClr val="tx1"/>
                </a:solidFill>
              </a:rPr>
              <a:t>Forwarding Between Ports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VLAN-aware </a:t>
            </a:r>
            <a:r>
              <a:rPr lang="en-US" sz="900" dirty="0">
                <a:solidFill>
                  <a:schemeClr val="tx1"/>
                </a:solidFill>
              </a:rPr>
              <a:t>l</a:t>
            </a:r>
            <a:r>
              <a:rPr lang="en-US" sz="900" dirty="0" smtClean="0">
                <a:solidFill>
                  <a:schemeClr val="tx1"/>
                </a:solidFill>
              </a:rPr>
              <a:t>ine rate L2 switching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Per-flow</a:t>
            </a:r>
            <a:r>
              <a:rPr lang="en-US" sz="900" dirty="0" smtClean="0">
                <a:solidFill>
                  <a:schemeClr val="tx1"/>
                </a:solidFill>
              </a:rPr>
              <a:t> ingress port rate limiting, filtering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Per-port</a:t>
            </a:r>
            <a:r>
              <a:rPr lang="en-US" sz="900" dirty="0" smtClean="0">
                <a:solidFill>
                  <a:schemeClr val="tx1"/>
                </a:solidFill>
              </a:rPr>
              <a:t> broadcast, multicast rate limit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8101" y="753689"/>
            <a:ext cx="2624687" cy="1582905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t"/>
          <a:lstStyle/>
          <a:p>
            <a:pPr algn="ctr">
              <a:spcAft>
                <a:spcPts val="600"/>
              </a:spcAft>
            </a:pPr>
            <a:r>
              <a:rPr lang="en-US" sz="1100" b="1" dirty="0" smtClean="0">
                <a:solidFill>
                  <a:schemeClr val="tx1"/>
                </a:solidFill>
              </a:rPr>
              <a:t>Key Building Blocks</a:t>
            </a:r>
            <a:endParaRPr lang="en-US" sz="900" dirty="0" smtClean="0">
              <a:solidFill>
                <a:schemeClr val="tx1"/>
              </a:solidFill>
            </a:endParaRP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ALE with 1k entries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Classifier module for L2/L3 header inspection (96 HW classifier rules)</a:t>
            </a:r>
          </a:p>
          <a:p>
            <a:pPr marL="559489" lvl="1" indent="-178594"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chemeClr val="tx1"/>
                </a:solidFill>
              </a:rPr>
              <a:t>Ingress port: Rate-limit, filter</a:t>
            </a:r>
          </a:p>
          <a:p>
            <a:pPr marL="559489" lvl="1" indent="-178594">
              <a:buFont typeface="Arial" panose="020B0604020202020204" pitchFamily="34" charset="0"/>
              <a:buChar char="•"/>
            </a:pPr>
            <a:r>
              <a:rPr lang="en-US" sz="800" dirty="0" err="1" smtClean="0">
                <a:solidFill>
                  <a:schemeClr val="tx1"/>
                </a:solidFill>
              </a:rPr>
              <a:t>FlowID</a:t>
            </a:r>
            <a:r>
              <a:rPr lang="en-US" sz="800" dirty="0" smtClean="0">
                <a:solidFill>
                  <a:schemeClr val="tx1"/>
                </a:solidFill>
              </a:rPr>
              <a:t> assignment for Host traffic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AVB, TSN features support</a:t>
            </a:r>
          </a:p>
          <a:p>
            <a:pPr marL="559489" lvl="1" indent="-178594"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chemeClr val="tx1"/>
                </a:solidFill>
              </a:rPr>
              <a:t>Traffic shaper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L2/L3 HW Checksum offload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Inter-VLAN routing in HW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8101" y="2468364"/>
            <a:ext cx="2624687" cy="80936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57150" tIns="28575" rIns="57150" bIns="28575" rtlCol="0" anchor="t"/>
          <a:lstStyle/>
          <a:p>
            <a:pPr algn="ctr">
              <a:spcAft>
                <a:spcPts val="600"/>
              </a:spcAft>
            </a:pPr>
            <a:r>
              <a:rPr lang="en-US" sz="1050" b="1" dirty="0" smtClean="0">
                <a:solidFill>
                  <a:schemeClr val="tx1"/>
                </a:solidFill>
              </a:rPr>
              <a:t>Traffic to Host DMA port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Classifier</a:t>
            </a:r>
            <a:r>
              <a:rPr lang="en-US" sz="900" dirty="0" smtClean="0">
                <a:solidFill>
                  <a:schemeClr val="tx1"/>
                </a:solidFill>
              </a:rPr>
              <a:t> for header inspection 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err="1" smtClean="0">
                <a:solidFill>
                  <a:schemeClr val="tx1"/>
                </a:solidFill>
              </a:rPr>
              <a:t>FlowID</a:t>
            </a:r>
            <a:r>
              <a:rPr lang="en-US" sz="900" dirty="0" smtClean="0">
                <a:solidFill>
                  <a:schemeClr val="tx1"/>
                </a:solidFill>
              </a:rPr>
              <a:t> for packet steering and multiple queue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4596" y="753689"/>
            <a:ext cx="2691304" cy="111571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57150" tIns="28575" rIns="57150" bIns="28575" rtlCol="0" anchor="t"/>
          <a:lstStyle/>
          <a:p>
            <a:pPr algn="ctr">
              <a:spcAft>
                <a:spcPts val="600"/>
              </a:spcAft>
            </a:pPr>
            <a:r>
              <a:rPr lang="en-US" sz="1100" b="1" dirty="0">
                <a:solidFill>
                  <a:schemeClr val="tx1"/>
                </a:solidFill>
              </a:rPr>
              <a:t>Transmit from Host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Classifier </a:t>
            </a:r>
            <a:r>
              <a:rPr lang="en-US" sz="900" dirty="0" smtClean="0">
                <a:solidFill>
                  <a:schemeClr val="tx1"/>
                </a:solidFill>
              </a:rPr>
              <a:t>support for rate-limit per flow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TSN support</a:t>
            </a:r>
            <a:r>
              <a:rPr lang="en-US" sz="900" dirty="0" smtClean="0">
                <a:solidFill>
                  <a:schemeClr val="tx1"/>
                </a:solidFill>
              </a:rPr>
              <a:t>: Time aware scheduling, pre-emption, Traffic Shaping with 8 HW Priority queue/port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Per-port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 smtClean="0">
                <a:solidFill>
                  <a:schemeClr val="tx1"/>
                </a:solidFill>
              </a:rPr>
              <a:t>priority regeneration support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4595" y="3033320"/>
            <a:ext cx="2691305" cy="132938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57150" tIns="28575" rIns="57150" bIns="28575" rtlCol="0" anchor="t"/>
          <a:lstStyle/>
          <a:p>
            <a:pPr algn="ctr">
              <a:spcAft>
                <a:spcPts val="600"/>
              </a:spcAft>
            </a:pPr>
            <a:r>
              <a:rPr lang="en-US" sz="1100" b="1" dirty="0">
                <a:solidFill>
                  <a:schemeClr val="tx1"/>
                </a:solidFill>
              </a:rPr>
              <a:t>Firewall, Filter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L2-based filter (OUI deny, MAC authentication)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Classifier based L2/L3 filtering</a:t>
            </a:r>
          </a:p>
          <a:p>
            <a:pPr marL="559489" lvl="1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No match drop</a:t>
            </a:r>
          </a:p>
          <a:p>
            <a:pPr marL="559489" lvl="1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MAC multicast range, IP CIDR mask filtering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dirty="0" smtClean="0">
                <a:solidFill>
                  <a:schemeClr val="tx1"/>
                </a:solidFill>
              </a:rPr>
              <a:t>HW filter for untagged, IPV4, dual tag, IP fragment, L3 Next Header check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18101" y="3411147"/>
            <a:ext cx="2624687" cy="95155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57150" tIns="28575" rIns="57150" bIns="28575" rtlCol="0" anchor="t"/>
          <a:lstStyle/>
          <a:p>
            <a:pPr algn="ctr">
              <a:spcAft>
                <a:spcPts val="600"/>
              </a:spcAft>
            </a:pPr>
            <a:r>
              <a:rPr lang="en-US" sz="1050" b="1" dirty="0">
                <a:solidFill>
                  <a:schemeClr val="tx1"/>
                </a:solidFill>
              </a:rPr>
              <a:t>Traffic to Host Inter-VLAN </a:t>
            </a:r>
            <a:r>
              <a:rPr lang="en-US" sz="1050" b="1" dirty="0" smtClean="0">
                <a:solidFill>
                  <a:schemeClr val="tx1"/>
                </a:solidFill>
              </a:rPr>
              <a:t>routing</a:t>
            </a:r>
            <a:endParaRPr lang="en-US" sz="1100" b="1" dirty="0">
              <a:solidFill>
                <a:schemeClr val="tx1"/>
              </a:solidFill>
            </a:endParaRP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ALE match</a:t>
            </a:r>
            <a:r>
              <a:rPr lang="en-US" sz="900" dirty="0" smtClean="0">
                <a:solidFill>
                  <a:schemeClr val="tx1"/>
                </a:solidFill>
              </a:rPr>
              <a:t>: traffic match to host port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Classifier</a:t>
            </a:r>
            <a:r>
              <a:rPr lang="en-US" sz="900" dirty="0" smtClean="0">
                <a:solidFill>
                  <a:schemeClr val="tx1"/>
                </a:solidFill>
              </a:rPr>
              <a:t>: Flow matching for HW offload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900" b="1" dirty="0" smtClean="0">
                <a:solidFill>
                  <a:schemeClr val="tx1"/>
                </a:solidFill>
              </a:rPr>
              <a:t>HW offload </a:t>
            </a:r>
            <a:r>
              <a:rPr lang="en-US" sz="900" dirty="0" smtClean="0">
                <a:solidFill>
                  <a:schemeClr val="tx1"/>
                </a:solidFill>
              </a:rPr>
              <a:t>for matched flow : packet header modification in HW</a:t>
            </a:r>
          </a:p>
        </p:txBody>
      </p:sp>
      <p:grpSp>
        <p:nvGrpSpPr>
          <p:cNvPr id="116" name="Group 115"/>
          <p:cNvGrpSpPr/>
          <p:nvPr/>
        </p:nvGrpSpPr>
        <p:grpSpPr>
          <a:xfrm>
            <a:off x="3406253" y="913460"/>
            <a:ext cx="2212258" cy="2801329"/>
            <a:chOff x="3406253" y="913460"/>
            <a:chExt cx="2212258" cy="2801329"/>
          </a:xfrm>
        </p:grpSpPr>
        <p:sp>
          <p:nvSpPr>
            <p:cNvPr id="9" name="Rounded Rectangle 8"/>
            <p:cNvSpPr/>
            <p:nvPr/>
          </p:nvSpPr>
          <p:spPr>
            <a:xfrm rot="5400000">
              <a:off x="3412023" y="1122345"/>
              <a:ext cx="2200718" cy="2212258"/>
            </a:xfrm>
            <a:prstGeom prst="roundRect">
              <a:avLst>
                <a:gd name="adj" fmla="val 4784"/>
              </a:avLst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50" kern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68426" y="2782824"/>
              <a:ext cx="1952220" cy="227073"/>
            </a:xfrm>
            <a:prstGeom prst="rect">
              <a:avLst/>
            </a:prstGeom>
            <a:solidFill>
              <a:srgbClr val="DE0000"/>
            </a:solidFill>
            <a:ln w="25400" cap="flat" cmpd="sng" algn="ctr">
              <a:solidFill>
                <a:srgbClr val="DE0000">
                  <a:shade val="50000"/>
                </a:srgbClr>
              </a:solidFill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50" kern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3988212" y="2829847"/>
              <a:ext cx="864993" cy="132708"/>
              <a:chOff x="3379831" y="5943600"/>
              <a:chExt cx="1107381" cy="385233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3379831" y="5943600"/>
                <a:ext cx="1107381" cy="381000"/>
                <a:chOff x="3311977" y="5943600"/>
                <a:chExt cx="1175235" cy="381000"/>
              </a:xfrm>
            </p:grpSpPr>
            <p:cxnSp>
              <p:nvCxnSpPr>
                <p:cNvPr id="55" name="Straight Connector 54"/>
                <p:cNvCxnSpPr/>
                <p:nvPr/>
              </p:nvCxnSpPr>
              <p:spPr>
                <a:xfrm>
                  <a:off x="3772481" y="5943600"/>
                  <a:ext cx="247168" cy="38100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3311977" y="5943600"/>
                  <a:ext cx="477162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4010050" y="6324600"/>
                  <a:ext cx="477162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</p:grpSp>
          <p:grpSp>
            <p:nvGrpSpPr>
              <p:cNvPr id="51" name="Group 50"/>
              <p:cNvGrpSpPr/>
              <p:nvPr/>
            </p:nvGrpSpPr>
            <p:grpSpPr>
              <a:xfrm rot="10800000" flipH="1">
                <a:off x="3379831" y="5947833"/>
                <a:ext cx="1107381" cy="381000"/>
                <a:chOff x="3311977" y="5943600"/>
                <a:chExt cx="1175235" cy="381000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>
                  <a:off x="3772481" y="5943600"/>
                  <a:ext cx="247168" cy="38100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3311977" y="5943600"/>
                  <a:ext cx="477162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4010050" y="6324600"/>
                  <a:ext cx="477162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75" name="Group 74"/>
            <p:cNvGrpSpPr/>
            <p:nvPr/>
          </p:nvGrpSpPr>
          <p:grpSpPr>
            <a:xfrm>
              <a:off x="3709823" y="3015884"/>
              <a:ext cx="215811" cy="590028"/>
              <a:chOff x="3481746" y="2578088"/>
              <a:chExt cx="215811" cy="590028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3481746" y="2744960"/>
                <a:ext cx="215811" cy="142823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H="1" flipV="1">
                <a:off x="3589651" y="2578088"/>
                <a:ext cx="1" cy="158959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28" name="Straight Arrow Connector 27"/>
              <p:cNvCxnSpPr>
                <a:cxnSpLocks/>
              </p:cNvCxnSpPr>
              <p:nvPr/>
            </p:nvCxnSpPr>
            <p:spPr>
              <a:xfrm>
                <a:off x="3589650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76" name="Group 75"/>
            <p:cNvGrpSpPr/>
            <p:nvPr/>
          </p:nvGrpSpPr>
          <p:grpSpPr>
            <a:xfrm>
              <a:off x="3925635" y="3008933"/>
              <a:ext cx="215811" cy="596979"/>
              <a:chOff x="3697560" y="2571137"/>
              <a:chExt cx="215811" cy="596979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3697560" y="2744960"/>
                <a:ext cx="215811" cy="142823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0" name="Straight Arrow Connector 19"/>
              <p:cNvCxnSpPr/>
              <p:nvPr/>
            </p:nvCxnSpPr>
            <p:spPr>
              <a:xfrm flipH="1" flipV="1">
                <a:off x="3805464" y="2571137"/>
                <a:ext cx="2" cy="17286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29" name="Straight Arrow Connector 28"/>
              <p:cNvCxnSpPr>
                <a:cxnSpLocks/>
              </p:cNvCxnSpPr>
              <p:nvPr/>
            </p:nvCxnSpPr>
            <p:spPr>
              <a:xfrm>
                <a:off x="3805464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86" name="Group 85"/>
            <p:cNvGrpSpPr/>
            <p:nvPr/>
          </p:nvGrpSpPr>
          <p:grpSpPr>
            <a:xfrm>
              <a:off x="4141447" y="3012788"/>
              <a:ext cx="215811" cy="593124"/>
              <a:chOff x="3913372" y="2574992"/>
              <a:chExt cx="215811" cy="593124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3913372" y="2744960"/>
                <a:ext cx="215811" cy="142823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V="1">
                <a:off x="4021277" y="2574992"/>
                <a:ext cx="0" cy="165151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30" name="Straight Arrow Connector 29"/>
              <p:cNvCxnSpPr>
                <a:cxnSpLocks/>
              </p:cNvCxnSpPr>
              <p:nvPr/>
            </p:nvCxnSpPr>
            <p:spPr>
              <a:xfrm>
                <a:off x="4021276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77" name="Group 76"/>
            <p:cNvGrpSpPr/>
            <p:nvPr/>
          </p:nvGrpSpPr>
          <p:grpSpPr>
            <a:xfrm>
              <a:off x="4357259" y="3012787"/>
              <a:ext cx="215811" cy="593125"/>
              <a:chOff x="4129183" y="2574991"/>
              <a:chExt cx="215811" cy="593125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4129183" y="2744960"/>
                <a:ext cx="215811" cy="142823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 flipH="1" flipV="1">
                <a:off x="4237087" y="2574991"/>
                <a:ext cx="2" cy="165153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31" name="Straight Arrow Connector 30"/>
              <p:cNvCxnSpPr>
                <a:cxnSpLocks/>
              </p:cNvCxnSpPr>
              <p:nvPr/>
            </p:nvCxnSpPr>
            <p:spPr>
              <a:xfrm>
                <a:off x="4237087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78" name="Group 77"/>
            <p:cNvGrpSpPr/>
            <p:nvPr/>
          </p:nvGrpSpPr>
          <p:grpSpPr>
            <a:xfrm>
              <a:off x="4573071" y="3012788"/>
              <a:ext cx="215811" cy="593124"/>
              <a:chOff x="4344994" y="2574992"/>
              <a:chExt cx="215811" cy="593124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4344994" y="2744960"/>
                <a:ext cx="215811" cy="142823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 flipV="1">
                <a:off x="4452899" y="2574992"/>
                <a:ext cx="0" cy="165151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32" name="Straight Arrow Connector 31"/>
              <p:cNvCxnSpPr>
                <a:cxnSpLocks/>
              </p:cNvCxnSpPr>
              <p:nvPr/>
            </p:nvCxnSpPr>
            <p:spPr>
              <a:xfrm>
                <a:off x="4452898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79" name="Group 78"/>
            <p:cNvGrpSpPr/>
            <p:nvPr/>
          </p:nvGrpSpPr>
          <p:grpSpPr>
            <a:xfrm>
              <a:off x="4788883" y="3012788"/>
              <a:ext cx="215811" cy="593124"/>
              <a:chOff x="4560807" y="2574992"/>
              <a:chExt cx="215811" cy="593124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560807" y="2744960"/>
                <a:ext cx="215811" cy="142823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 flipV="1">
                <a:off x="4668712" y="2574992"/>
                <a:ext cx="0" cy="165151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33" name="Straight Arrow Connector 32"/>
              <p:cNvCxnSpPr>
                <a:cxnSpLocks/>
              </p:cNvCxnSpPr>
              <p:nvPr/>
            </p:nvCxnSpPr>
            <p:spPr>
              <a:xfrm>
                <a:off x="4668711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80" name="Group 79"/>
            <p:cNvGrpSpPr/>
            <p:nvPr/>
          </p:nvGrpSpPr>
          <p:grpSpPr>
            <a:xfrm>
              <a:off x="5004695" y="3012788"/>
              <a:ext cx="215811" cy="593124"/>
              <a:chOff x="4776619" y="2574992"/>
              <a:chExt cx="215811" cy="593124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4776619" y="2744960"/>
                <a:ext cx="215811" cy="142823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 flipV="1">
                <a:off x="4884524" y="2574992"/>
                <a:ext cx="0" cy="165151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34" name="Straight Arrow Connector 33"/>
              <p:cNvCxnSpPr>
                <a:cxnSpLocks/>
              </p:cNvCxnSpPr>
              <p:nvPr/>
            </p:nvCxnSpPr>
            <p:spPr>
              <a:xfrm>
                <a:off x="4884523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81" name="Group 80"/>
            <p:cNvGrpSpPr/>
            <p:nvPr/>
          </p:nvGrpSpPr>
          <p:grpSpPr>
            <a:xfrm>
              <a:off x="5220507" y="3012788"/>
              <a:ext cx="215811" cy="593124"/>
              <a:chOff x="4992430" y="2574992"/>
              <a:chExt cx="215811" cy="593124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4992430" y="2743998"/>
                <a:ext cx="215811" cy="143786"/>
              </a:xfrm>
              <a:prstGeom prst="rect">
                <a:avLst/>
              </a:prstGeom>
              <a:solidFill>
                <a:srgbClr val="DE0000">
                  <a:lumMod val="40000"/>
                  <a:lumOff val="60000"/>
                </a:srgbClr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lIns="91440" tIns="45720" rIns="91440" bIns="45720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50" kern="0">
                  <a:solidFill>
                    <a:srgbClr val="FFFFFF"/>
                  </a:solidFill>
                  <a:latin typeface="Arial"/>
                </a:endParaRPr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 flipV="1">
                <a:off x="5100335" y="2574992"/>
                <a:ext cx="0" cy="165151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DE0000">
                    <a:shade val="95000"/>
                    <a:satMod val="105000"/>
                  </a:srgbClr>
                </a:solidFill>
                <a:prstDash val="solid"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35" name="Straight Arrow Connector 34"/>
              <p:cNvCxnSpPr>
                <a:cxnSpLocks/>
              </p:cNvCxnSpPr>
              <p:nvPr/>
            </p:nvCxnSpPr>
            <p:spPr>
              <a:xfrm>
                <a:off x="5100334" y="2893796"/>
                <a:ext cx="2" cy="27432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sp>
          <p:nvSpPr>
            <p:cNvPr id="36" name="Rectangle 35"/>
            <p:cNvSpPr/>
            <p:nvPr/>
          </p:nvSpPr>
          <p:spPr>
            <a:xfrm>
              <a:off x="3633363" y="2017670"/>
              <a:ext cx="798226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6304" tIns="73152" rIns="146304" bIns="73152"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Classifier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587151" y="1638027"/>
              <a:ext cx="677440" cy="166345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6304" tIns="73152" rIns="146304" bIns="73152" rtlCol="0" anchor="ctr"/>
            <a:lstStyle/>
            <a:p>
              <a:pPr algn="ctr"/>
              <a:r>
                <a:rPr lang="en-US" sz="700">
                  <a:solidFill>
                    <a:srgbClr val="000000"/>
                  </a:solidFill>
                </a:rPr>
                <a:t>Flow </a:t>
              </a:r>
              <a:r>
                <a:rPr lang="en-US" sz="700" smtClean="0">
                  <a:solidFill>
                    <a:srgbClr val="000000"/>
                  </a:solidFill>
                </a:rPr>
                <a:t>ID</a:t>
              </a:r>
              <a:endParaRPr lang="en-US" sz="700" dirty="0">
                <a:solidFill>
                  <a:srgbClr val="000000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497494" y="1294309"/>
              <a:ext cx="2023153" cy="1663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6304" tIns="73152" rIns="146304" bIns="73152" rtlCol="0" anchor="ctr"/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DMA Logic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59208" y="913460"/>
              <a:ext cx="1706348" cy="270843"/>
            </a:xfrm>
            <a:prstGeom prst="rect">
              <a:avLst/>
            </a:prstGeom>
            <a:noFill/>
          </p:spPr>
          <p:txBody>
            <a:bodyPr wrap="square" lIns="146304" tIns="73152" rIns="146304" bIns="73152" rtlCol="0">
              <a:spAutoFit/>
            </a:bodyPr>
            <a:lstStyle/>
            <a:p>
              <a:pPr algn="ctr"/>
              <a:r>
                <a:rPr lang="en-US" sz="800" b="1" dirty="0" smtClean="0"/>
                <a:t>Ethernet Switch Subsystem</a:t>
              </a:r>
              <a:endParaRPr lang="en-US" sz="800" b="1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648214" y="2021806"/>
              <a:ext cx="525924" cy="1828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6304" tIns="73152" rIns="146304" bIns="73152"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ALE</a:t>
              </a:r>
            </a:p>
          </p:txBody>
        </p:sp>
        <p:sp>
          <p:nvSpPr>
            <p:cNvPr id="41" name="Left-Right Arrow 40"/>
            <p:cNvSpPr/>
            <p:nvPr/>
          </p:nvSpPr>
          <p:spPr>
            <a:xfrm>
              <a:off x="4449677" y="2052649"/>
              <a:ext cx="181920" cy="99201"/>
            </a:xfrm>
            <a:prstGeom prst="leftRight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2" name="Up Arrow 41"/>
            <p:cNvSpPr/>
            <p:nvPr/>
          </p:nvSpPr>
          <p:spPr>
            <a:xfrm>
              <a:off x="3882978" y="1804372"/>
              <a:ext cx="91440" cy="177373"/>
            </a:xfrm>
            <a:prstGeom prst="up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3" name="Up Arrow 42"/>
            <p:cNvSpPr/>
            <p:nvPr/>
          </p:nvSpPr>
          <p:spPr>
            <a:xfrm>
              <a:off x="3876356" y="1460654"/>
              <a:ext cx="91440" cy="177373"/>
            </a:xfrm>
            <a:prstGeom prst="up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497494" y="1985541"/>
              <a:ext cx="1830918" cy="253148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Down Arrow 44"/>
            <p:cNvSpPr/>
            <p:nvPr/>
          </p:nvSpPr>
          <p:spPr>
            <a:xfrm>
              <a:off x="4865456" y="1460654"/>
              <a:ext cx="91440" cy="521091"/>
            </a:xfrm>
            <a:prstGeom prst="down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381649" y="2373601"/>
              <a:ext cx="1059054" cy="22485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6304" tIns="73152" rIns="146304" bIns="73152" rtlCol="0" anchor="ctr"/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</a:rPr>
                <a:t>Traffic Shaper</a:t>
              </a:r>
            </a:p>
          </p:txBody>
        </p:sp>
        <p:sp>
          <p:nvSpPr>
            <p:cNvPr id="47" name="Down Arrow 46"/>
            <p:cNvSpPr/>
            <p:nvPr/>
          </p:nvSpPr>
          <p:spPr>
            <a:xfrm>
              <a:off x="4865456" y="2238689"/>
              <a:ext cx="91440" cy="134911"/>
            </a:xfrm>
            <a:prstGeom prst="down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8" name="Down Arrow 47"/>
            <p:cNvSpPr/>
            <p:nvPr/>
          </p:nvSpPr>
          <p:spPr>
            <a:xfrm>
              <a:off x="4865456" y="2598453"/>
              <a:ext cx="91440" cy="164892"/>
            </a:xfrm>
            <a:prstGeom prst="down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9" name="Up Arrow 48"/>
            <p:cNvSpPr/>
            <p:nvPr/>
          </p:nvSpPr>
          <p:spPr>
            <a:xfrm>
              <a:off x="3882978" y="2238689"/>
              <a:ext cx="91440" cy="522763"/>
            </a:xfrm>
            <a:prstGeom prst="upArrow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>
            <a:xfrm flipH="1" flipV="1">
              <a:off x="4055088" y="2254070"/>
              <a:ext cx="5291" cy="607774"/>
            </a:xfrm>
            <a:prstGeom prst="line">
              <a:avLst/>
            </a:prstGeom>
            <a:ln>
              <a:solidFill>
                <a:srgbClr val="117788">
                  <a:alpha val="69804"/>
                </a:srgbClr>
              </a:solidFill>
              <a:headEnd type="arrow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4042388" y="2254071"/>
              <a:ext cx="760229" cy="0"/>
            </a:xfrm>
            <a:prstGeom prst="line">
              <a:avLst/>
            </a:prstGeom>
            <a:ln>
              <a:solidFill>
                <a:srgbClr val="117788">
                  <a:alpha val="69804"/>
                </a:srgbClr>
              </a:solidFill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4794689" y="2264071"/>
              <a:ext cx="1652" cy="612053"/>
            </a:xfrm>
            <a:prstGeom prst="straightConnector1">
              <a:avLst/>
            </a:prstGeom>
            <a:ln>
              <a:solidFill>
                <a:srgbClr val="117788">
                  <a:alpha val="69804"/>
                </a:srgbClr>
              </a:solidFill>
              <a:tailEnd type="arrow"/>
            </a:ln>
            <a:effectLst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4677639" y="2942871"/>
              <a:ext cx="0" cy="771918"/>
            </a:xfrm>
            <a:prstGeom prst="line">
              <a:avLst/>
            </a:prstGeom>
            <a:ln w="38100">
              <a:solidFill>
                <a:srgbClr val="0070C0">
                  <a:alpha val="70000"/>
                </a:srgbClr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4658589" y="2943191"/>
              <a:ext cx="684413" cy="0"/>
            </a:xfrm>
            <a:prstGeom prst="line">
              <a:avLst/>
            </a:prstGeom>
            <a:ln w="38100">
              <a:solidFill>
                <a:srgbClr val="0070C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5328412" y="2942871"/>
              <a:ext cx="0" cy="744143"/>
            </a:xfrm>
            <a:prstGeom prst="straightConnector1">
              <a:avLst/>
            </a:prstGeom>
            <a:ln w="38100">
              <a:solidFill>
                <a:srgbClr val="0070C0">
                  <a:alpha val="70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Straight Connector 59"/>
          <p:cNvCxnSpPr/>
          <p:nvPr/>
        </p:nvCxnSpPr>
        <p:spPr>
          <a:xfrm flipV="1">
            <a:off x="4981796" y="1311549"/>
            <a:ext cx="1077700" cy="40965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6" idx="3"/>
            <a:endCxn id="36" idx="1"/>
          </p:cNvCxnSpPr>
          <p:nvPr/>
        </p:nvCxnSpPr>
        <p:spPr>
          <a:xfrm flipV="1">
            <a:off x="3042788" y="2109110"/>
            <a:ext cx="590575" cy="76393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3" idx="1"/>
          </p:cNvCxnSpPr>
          <p:nvPr/>
        </p:nvCxnSpPr>
        <p:spPr>
          <a:xfrm flipV="1">
            <a:off x="5256166" y="2451364"/>
            <a:ext cx="778430" cy="49150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endCxn id="66" idx="3"/>
          </p:cNvCxnSpPr>
          <p:nvPr/>
        </p:nvCxnSpPr>
        <p:spPr>
          <a:xfrm flipH="1">
            <a:off x="3042788" y="2486027"/>
            <a:ext cx="1012300" cy="140089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34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</a:t>
            </a:r>
            <a:r>
              <a:rPr lang="en-US" dirty="0" smtClean="0"/>
              <a:t>–Software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Data Flow</a:t>
            </a:r>
            <a:endParaRPr lang="en-GB" dirty="0"/>
          </a:p>
        </p:txBody>
      </p:sp>
      <p:cxnSp>
        <p:nvCxnSpPr>
          <p:cNvPr id="6" name="Straight Arrow Connector 5"/>
          <p:cNvCxnSpPr>
            <a:stCxn id="12" idx="2"/>
          </p:cNvCxnSpPr>
          <p:nvPr/>
        </p:nvCxnSpPr>
        <p:spPr>
          <a:xfrm flipH="1">
            <a:off x="2518987" y="1824755"/>
            <a:ext cx="518191" cy="1143000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96436" y="2973180"/>
            <a:ext cx="952500" cy="333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900" dirty="0" err="1" smtClean="0"/>
              <a:t>CPSWx</a:t>
            </a:r>
            <a:r>
              <a:rPr lang="en-US" sz="900" dirty="0" smtClean="0"/>
              <a:t> (Switch HW)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1696436" y="2306430"/>
            <a:ext cx="952500" cy="3333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ETHFW (R5F)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8" idx="2"/>
            <a:endCxn id="7" idx="0"/>
          </p:cNvCxnSpPr>
          <p:nvPr/>
        </p:nvCxnSpPr>
        <p:spPr>
          <a:xfrm>
            <a:off x="2172686" y="2639805"/>
            <a:ext cx="0" cy="333375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27691" y="1496805"/>
            <a:ext cx="952500" cy="3333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Linux </a:t>
            </a:r>
          </a:p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(A72-x)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89490" y="1491380"/>
            <a:ext cx="1095375" cy="3333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TI-RTOS</a:t>
            </a:r>
          </a:p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(MCU-x R5F-x)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63055" y="1475071"/>
            <a:ext cx="1143000" cy="3333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900" dirty="0" err="1" smtClean="0">
                <a:solidFill>
                  <a:schemeClr val="tx1"/>
                </a:solidFill>
              </a:rPr>
              <a:t>AutoSAR</a:t>
            </a:r>
            <a:endParaRPr lang="en-US" sz="900" dirty="0" smtClean="0">
              <a:solidFill>
                <a:schemeClr val="tx1"/>
              </a:solidFill>
            </a:endParaRPr>
          </a:p>
          <a:p>
            <a:pPr algn="ctr"/>
            <a:r>
              <a:rPr lang="en-US" sz="900" dirty="0" smtClean="0">
                <a:solidFill>
                  <a:schemeClr val="tx1"/>
                </a:solidFill>
              </a:rPr>
              <a:t>(MCU0 R5F-x)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3" idx="2"/>
          </p:cNvCxnSpPr>
          <p:nvPr/>
        </p:nvCxnSpPr>
        <p:spPr>
          <a:xfrm flipH="1">
            <a:off x="2638051" y="1808446"/>
            <a:ext cx="1896504" cy="1164734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2"/>
          </p:cNvCxnSpPr>
          <p:nvPr/>
        </p:nvCxnSpPr>
        <p:spPr>
          <a:xfrm>
            <a:off x="1403941" y="1830180"/>
            <a:ext cx="281609" cy="1143000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795827" y="3306555"/>
            <a:ext cx="0" cy="333375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986327" y="3306555"/>
            <a:ext cx="0" cy="333375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442785" y="3306555"/>
            <a:ext cx="0" cy="333375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193392" y="3325191"/>
            <a:ext cx="0" cy="333375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2841" y="1860280"/>
            <a:ext cx="3667134" cy="981038"/>
          </a:xfrm>
          <a:prstGeom prst="rect">
            <a:avLst/>
          </a:prstGeom>
          <a:solidFill>
            <a:srgbClr val="FFFFFF"/>
          </a:solidFill>
        </p:spPr>
        <p:txBody>
          <a:bodyPr wrap="square" lIns="57150" tIns="28575" rIns="57150" bIns="28575" rtlCol="0">
            <a:spAutoFit/>
          </a:bodyPr>
          <a:lstStyle/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1000" dirty="0" smtClean="0"/>
              <a:t>Multiple CPUs on the </a:t>
            </a:r>
            <a:r>
              <a:rPr lang="en-US" sz="1000" dirty="0" err="1" smtClean="0"/>
              <a:t>SoC</a:t>
            </a:r>
            <a:r>
              <a:rPr lang="en-US" sz="1000" dirty="0" smtClean="0"/>
              <a:t> can perform network IO simultaneously using the switch once the switch is configured via the FW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1000" dirty="0" smtClean="0"/>
              <a:t>Subsequent </a:t>
            </a:r>
            <a:r>
              <a:rPr lang="en-US" sz="1000" dirty="0"/>
              <a:t>packet IO can happen directly between the CPU specific network stack and switch HW via </a:t>
            </a:r>
            <a:r>
              <a:rPr lang="en-US" sz="1000" dirty="0" smtClean="0"/>
              <a:t>UDMA</a:t>
            </a:r>
          </a:p>
          <a:p>
            <a:pPr marL="178594" indent="-178594">
              <a:buFont typeface="Arial" panose="020B0604020202020204" pitchFamily="34" charset="0"/>
              <a:buChar char="•"/>
            </a:pPr>
            <a:r>
              <a:rPr lang="en-US" sz="1000" dirty="0" smtClean="0"/>
              <a:t>Switch configuration</a:t>
            </a:r>
            <a:endParaRPr lang="en-US" sz="1000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406262" y="3116055"/>
            <a:ext cx="426554" cy="0"/>
          </a:xfrm>
          <a:prstGeom prst="straightConnector1">
            <a:avLst/>
          </a:prstGeom>
          <a:ln w="158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32816" y="2973180"/>
            <a:ext cx="897682" cy="196208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900" dirty="0" smtClean="0"/>
              <a:t>Data/Packet </a:t>
            </a:r>
            <a:r>
              <a:rPr lang="en-US" sz="900" dirty="0" smtClean="0"/>
              <a:t>IO</a:t>
            </a:r>
            <a:endParaRPr lang="en-US" sz="9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406262" y="3337614"/>
            <a:ext cx="426554" cy="0"/>
          </a:xfrm>
          <a:prstGeom prst="straightConnector1">
            <a:avLst/>
          </a:prstGeom>
          <a:ln w="15875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32821" y="3211305"/>
            <a:ext cx="448841" cy="196208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900" dirty="0" err="1" smtClean="0"/>
              <a:t>Config</a:t>
            </a:r>
            <a:endParaRPr lang="en-US" sz="900" dirty="0"/>
          </a:p>
        </p:txBody>
      </p:sp>
      <p:cxnSp>
        <p:nvCxnSpPr>
          <p:cNvPr id="25" name="Straight Arrow Connector 24"/>
          <p:cNvCxnSpPr>
            <a:endCxn id="13" idx="2"/>
          </p:cNvCxnSpPr>
          <p:nvPr/>
        </p:nvCxnSpPr>
        <p:spPr>
          <a:xfrm flipV="1">
            <a:off x="2638050" y="1808446"/>
            <a:ext cx="1896505" cy="593234"/>
          </a:xfrm>
          <a:prstGeom prst="straightConnector1">
            <a:avLst/>
          </a:prstGeom>
          <a:ln w="15875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0"/>
            <a:endCxn id="12" idx="2"/>
          </p:cNvCxnSpPr>
          <p:nvPr/>
        </p:nvCxnSpPr>
        <p:spPr>
          <a:xfrm flipV="1">
            <a:off x="2172686" y="1824755"/>
            <a:ext cx="864492" cy="481675"/>
          </a:xfrm>
          <a:prstGeom prst="straightConnector1">
            <a:avLst/>
          </a:prstGeom>
          <a:ln w="15875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1544749" y="1830180"/>
            <a:ext cx="335445" cy="476250"/>
          </a:xfrm>
          <a:prstGeom prst="straightConnector1">
            <a:avLst/>
          </a:prstGeom>
          <a:ln w="15875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2014579" y="2612346"/>
            <a:ext cx="10353" cy="360834"/>
          </a:xfrm>
          <a:prstGeom prst="straightConnector1">
            <a:avLst/>
          </a:prstGeom>
          <a:ln w="15875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80062" y="1163430"/>
            <a:ext cx="3218856" cy="196208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r>
              <a:rPr lang="en-US" sz="900" dirty="0" smtClean="0"/>
              <a:t>Ethernet Firmware Supporting Multiple Clients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9566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Data Flow Detailed</a:t>
            </a:r>
            <a:endParaRPr lang="en-GB" dirty="0"/>
          </a:p>
        </p:txBody>
      </p:sp>
      <p:grpSp>
        <p:nvGrpSpPr>
          <p:cNvPr id="3" name="Group 2"/>
          <p:cNvGrpSpPr/>
          <p:nvPr/>
        </p:nvGrpSpPr>
        <p:grpSpPr>
          <a:xfrm>
            <a:off x="138356" y="3919960"/>
            <a:ext cx="1122621" cy="153888"/>
            <a:chOff x="296852" y="4505996"/>
            <a:chExt cx="1122621" cy="153888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296852" y="4582940"/>
              <a:ext cx="332941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629794" y="4505996"/>
              <a:ext cx="789679" cy="153888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Direct Control Path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52897" y="4062627"/>
            <a:ext cx="1031937" cy="153888"/>
            <a:chOff x="311393" y="4632579"/>
            <a:chExt cx="1031937" cy="153888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311393" y="4709523"/>
              <a:ext cx="332941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dash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29793" y="4632579"/>
              <a:ext cx="713537" cy="153888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IPC Control Path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30037" y="4205293"/>
            <a:ext cx="1041773" cy="153888"/>
            <a:chOff x="288533" y="4791329"/>
            <a:chExt cx="1041773" cy="153888"/>
          </a:xfrm>
        </p:grpSpPr>
        <p:cxnSp>
          <p:nvCxnSpPr>
            <p:cNvPr id="11" name="Straight Arrow Connector 10"/>
            <p:cNvCxnSpPr>
              <a:endCxn id="12" idx="1"/>
            </p:cNvCxnSpPr>
            <p:nvPr/>
          </p:nvCxnSpPr>
          <p:spPr>
            <a:xfrm>
              <a:off x="288533" y="4868273"/>
              <a:ext cx="341260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29793" y="4791329"/>
              <a:ext cx="700513" cy="153888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Direct Data Path</a:t>
              </a:r>
            </a:p>
          </p:txBody>
        </p:sp>
      </p:grpSp>
      <p:sp>
        <p:nvSpPr>
          <p:cNvPr id="99" name="Rectangle 98"/>
          <p:cNvSpPr/>
          <p:nvPr/>
        </p:nvSpPr>
        <p:spPr>
          <a:xfrm>
            <a:off x="4626249" y="3837940"/>
            <a:ext cx="214252" cy="114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4381363" y="4375184"/>
            <a:ext cx="10441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pPr algn="ctr"/>
            <a:r>
              <a:rPr lang="en-US" dirty="0"/>
              <a:t>MAC Ports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33637" y="3740233"/>
            <a:ext cx="687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Host Port</a:t>
            </a:r>
            <a:endParaRPr lang="en-US" sz="900" dirty="0"/>
          </a:p>
        </p:txBody>
      </p:sp>
      <p:cxnSp>
        <p:nvCxnSpPr>
          <p:cNvPr id="121" name="Elbow Connector 120"/>
          <p:cNvCxnSpPr/>
          <p:nvPr/>
        </p:nvCxnSpPr>
        <p:spPr>
          <a:xfrm rot="5400000">
            <a:off x="2587585" y="2583997"/>
            <a:ext cx="1761019" cy="98001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784808" y="3219700"/>
            <a:ext cx="12898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 smtClean="0">
                <a:solidFill>
                  <a:srgbClr val="FF0000"/>
                </a:solidFill>
              </a:rPr>
              <a:t>Configures Registers</a:t>
            </a:r>
          </a:p>
          <a:p>
            <a:pPr algn="ctr"/>
            <a:r>
              <a:rPr lang="en-US" sz="700" dirty="0" smtClean="0">
                <a:solidFill>
                  <a:srgbClr val="FF0000"/>
                </a:solidFill>
              </a:rPr>
              <a:t>(</a:t>
            </a:r>
            <a:r>
              <a:rPr lang="en-US" sz="700" dirty="0">
                <a:solidFill>
                  <a:srgbClr val="FF0000"/>
                </a:solidFill>
              </a:rPr>
              <a:t>o</a:t>
            </a:r>
            <a:r>
              <a:rPr lang="en-US" sz="700" dirty="0" smtClean="0">
                <a:solidFill>
                  <a:srgbClr val="FF0000"/>
                </a:solidFill>
              </a:rPr>
              <a:t>pen ALE, MAC ports, MDIO, Stats, </a:t>
            </a:r>
            <a:r>
              <a:rPr lang="en-US" sz="700" dirty="0" err="1" smtClean="0">
                <a:solidFill>
                  <a:srgbClr val="FF0000"/>
                </a:solidFill>
              </a:rPr>
              <a:t>etc</a:t>
            </a:r>
            <a:r>
              <a:rPr lang="en-US" sz="700" dirty="0" smtClean="0">
                <a:solidFill>
                  <a:srgbClr val="FF0000"/>
                </a:solidFill>
              </a:rPr>
              <a:t>) </a:t>
            </a:r>
            <a:endParaRPr lang="en-US" sz="700" dirty="0">
              <a:solidFill>
                <a:srgbClr val="FF0000"/>
              </a:solidFill>
            </a:endParaRPr>
          </a:p>
        </p:txBody>
      </p:sp>
      <p:cxnSp>
        <p:nvCxnSpPr>
          <p:cNvPr id="124" name="Straight Arrow Connector 123"/>
          <p:cNvCxnSpPr>
            <a:endCxn id="137" idx="0"/>
          </p:cNvCxnSpPr>
          <p:nvPr/>
        </p:nvCxnSpPr>
        <p:spPr>
          <a:xfrm flipH="1">
            <a:off x="4742030" y="2193492"/>
            <a:ext cx="12699" cy="937682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Group 211"/>
          <p:cNvGrpSpPr/>
          <p:nvPr/>
        </p:nvGrpSpPr>
        <p:grpSpPr>
          <a:xfrm>
            <a:off x="114979" y="753019"/>
            <a:ext cx="2166037" cy="1049318"/>
            <a:chOff x="114979" y="753019"/>
            <a:chExt cx="2166037" cy="1049318"/>
          </a:xfrm>
        </p:grpSpPr>
        <p:sp>
          <p:nvSpPr>
            <p:cNvPr id="160" name="Rectangle 159"/>
            <p:cNvSpPr/>
            <p:nvPr/>
          </p:nvSpPr>
          <p:spPr>
            <a:xfrm>
              <a:off x="114979" y="753019"/>
              <a:ext cx="2166037" cy="104931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800" b="1" dirty="0"/>
                <a:t>A72</a:t>
              </a:r>
            </a:p>
            <a:p>
              <a:pPr algn="ctr"/>
              <a:r>
                <a:rPr lang="en-US" sz="800" dirty="0"/>
                <a:t>(Remote Core)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565532" y="1097337"/>
              <a:ext cx="1554480" cy="1828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Apps</a:t>
              </a: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565532" y="1318273"/>
              <a:ext cx="1554480" cy="182880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Network Stack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565532" y="1539210"/>
              <a:ext cx="1554480" cy="182880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CPSW Driver</a:t>
              </a: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72263" y="1318273"/>
              <a:ext cx="351535" cy="403837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 smtClean="0">
                  <a:solidFill>
                    <a:schemeClr val="tx1"/>
                  </a:solidFill>
                </a:rPr>
                <a:t>OS</a:t>
              </a:r>
              <a:endParaRPr lang="en-US" sz="6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9" name="Straight Arrow Connector 128"/>
          <p:cNvCxnSpPr>
            <a:stCxn id="160" idx="3"/>
            <a:endCxn id="184" idx="1"/>
          </p:cNvCxnSpPr>
          <p:nvPr/>
        </p:nvCxnSpPr>
        <p:spPr>
          <a:xfrm>
            <a:off x="2281016" y="1277678"/>
            <a:ext cx="1001762" cy="391155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168" idx="1"/>
            <a:endCxn id="184" idx="3"/>
          </p:cNvCxnSpPr>
          <p:nvPr/>
        </p:nvCxnSpPr>
        <p:spPr>
          <a:xfrm flipH="1">
            <a:off x="5448815" y="1323661"/>
            <a:ext cx="1433460" cy="345172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 rot="1292283">
            <a:off x="2331903" y="1301995"/>
            <a:ext cx="967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Attach Core</a:t>
            </a:r>
          </a:p>
        </p:txBody>
      </p:sp>
      <p:sp>
        <p:nvSpPr>
          <p:cNvPr id="132" name="TextBox 131"/>
          <p:cNvSpPr txBox="1"/>
          <p:nvPr/>
        </p:nvSpPr>
        <p:spPr>
          <a:xfrm rot="20800748">
            <a:off x="5671458" y="1328825"/>
            <a:ext cx="9677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Attach Core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flipH="1" flipV="1">
            <a:off x="2296126" y="1488494"/>
            <a:ext cx="986652" cy="405054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flipV="1">
            <a:off x="5480051" y="1507853"/>
            <a:ext cx="1397116" cy="350672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 rot="1329853">
            <a:off x="2235031" y="1666777"/>
            <a:ext cx="11396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00">
                <a:solidFill>
                  <a:srgbClr val="FF0000"/>
                </a:solidFill>
              </a:defRPr>
            </a:lvl1pPr>
          </a:lstStyle>
          <a:p>
            <a:r>
              <a:rPr lang="en-US" dirty="0" err="1"/>
              <a:t>Alloc</a:t>
            </a:r>
            <a:r>
              <a:rPr lang="en-US" dirty="0"/>
              <a:t> Resources</a:t>
            </a:r>
          </a:p>
        </p:txBody>
      </p:sp>
      <p:sp>
        <p:nvSpPr>
          <p:cNvPr id="136" name="TextBox 135"/>
          <p:cNvSpPr txBox="1"/>
          <p:nvPr/>
        </p:nvSpPr>
        <p:spPr>
          <a:xfrm rot="20741278">
            <a:off x="5666678" y="1661393"/>
            <a:ext cx="1030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 smtClean="0">
                <a:solidFill>
                  <a:srgbClr val="FF0000"/>
                </a:solidFill>
              </a:rPr>
              <a:t>Alloc</a:t>
            </a:r>
            <a:r>
              <a:rPr lang="en-US" sz="800" dirty="0" smtClean="0">
                <a:solidFill>
                  <a:srgbClr val="FF0000"/>
                </a:solidFill>
              </a:rPr>
              <a:t> Resources</a:t>
            </a:r>
          </a:p>
        </p:txBody>
      </p:sp>
      <p:grpSp>
        <p:nvGrpSpPr>
          <p:cNvPr id="224" name="Group 223"/>
          <p:cNvGrpSpPr/>
          <p:nvPr/>
        </p:nvGrpSpPr>
        <p:grpSpPr>
          <a:xfrm>
            <a:off x="3826175" y="3100240"/>
            <a:ext cx="1831710" cy="656495"/>
            <a:chOff x="3826175" y="3184060"/>
            <a:chExt cx="1831710" cy="656495"/>
          </a:xfrm>
        </p:grpSpPr>
        <p:sp>
          <p:nvSpPr>
            <p:cNvPr id="118" name="Can 117"/>
            <p:cNvSpPr/>
            <p:nvPr/>
          </p:nvSpPr>
          <p:spPr>
            <a:xfrm>
              <a:off x="4163051" y="3374066"/>
              <a:ext cx="281444" cy="418108"/>
            </a:xfrm>
            <a:prstGeom prst="ca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4785433" y="3392032"/>
              <a:ext cx="667258" cy="400420"/>
              <a:chOff x="4678080" y="2742570"/>
              <a:chExt cx="1183628" cy="904623"/>
            </a:xfrm>
            <a:solidFill>
              <a:schemeClr val="accent2"/>
            </a:solidFill>
          </p:grpSpPr>
          <p:sp>
            <p:nvSpPr>
              <p:cNvPr id="174" name="Down Arrow 173"/>
              <p:cNvSpPr/>
              <p:nvPr/>
            </p:nvSpPr>
            <p:spPr>
              <a:xfrm>
                <a:off x="4678080" y="2743200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Down Arrow 174"/>
              <p:cNvSpPr/>
              <p:nvPr/>
            </p:nvSpPr>
            <p:spPr>
              <a:xfrm>
                <a:off x="4830479" y="2743199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Down Arrow 175"/>
              <p:cNvSpPr/>
              <p:nvPr/>
            </p:nvSpPr>
            <p:spPr>
              <a:xfrm>
                <a:off x="4959269" y="2743200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Down Arrow 176"/>
              <p:cNvSpPr/>
              <p:nvPr/>
            </p:nvSpPr>
            <p:spPr>
              <a:xfrm>
                <a:off x="5105665" y="2742851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Down Arrow 177"/>
              <p:cNvSpPr/>
              <p:nvPr/>
            </p:nvSpPr>
            <p:spPr>
              <a:xfrm>
                <a:off x="5272763" y="2742850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Down Arrow 178"/>
              <p:cNvSpPr/>
              <p:nvPr/>
            </p:nvSpPr>
            <p:spPr>
              <a:xfrm>
                <a:off x="5431497" y="2742849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Down Arrow 179"/>
              <p:cNvSpPr/>
              <p:nvPr/>
            </p:nvSpPr>
            <p:spPr>
              <a:xfrm>
                <a:off x="5588844" y="2742571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Down Arrow 180"/>
              <p:cNvSpPr/>
              <p:nvPr/>
            </p:nvSpPr>
            <p:spPr>
              <a:xfrm>
                <a:off x="5751615" y="2742570"/>
                <a:ext cx="110093" cy="903993"/>
              </a:xfrm>
              <a:prstGeom prst="downArrow">
                <a:avLst/>
              </a:prstGeom>
              <a:grp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5" name="TextBox 124"/>
            <p:cNvSpPr txBox="1"/>
            <p:nvPr/>
          </p:nvSpPr>
          <p:spPr>
            <a:xfrm>
              <a:off x="3989480" y="3184060"/>
              <a:ext cx="62563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900">
                  <a:solidFill>
                    <a:srgbClr val="0070C0"/>
                  </a:solidFill>
                </a:defRPr>
              </a:lvl1pPr>
            </a:lstStyle>
            <a:p>
              <a:r>
                <a:rPr lang="en-US" dirty="0"/>
                <a:t>Rx </a:t>
              </a:r>
              <a:r>
                <a:rPr lang="en-US" dirty="0" err="1"/>
                <a:t>Ch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4785192" y="3184060"/>
              <a:ext cx="69571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 smtClean="0">
                  <a:solidFill>
                    <a:srgbClr val="0070C0"/>
                  </a:solidFill>
                </a:rPr>
                <a:t>Tx</a:t>
              </a:r>
              <a:r>
                <a:rPr lang="en-US" sz="900" dirty="0" smtClean="0">
                  <a:solidFill>
                    <a:srgbClr val="0070C0"/>
                  </a:solidFill>
                </a:rPr>
                <a:t> </a:t>
              </a:r>
              <a:r>
                <a:rPr lang="en-US" sz="900" dirty="0" err="1" smtClean="0">
                  <a:solidFill>
                    <a:srgbClr val="0070C0"/>
                  </a:solidFill>
                </a:rPr>
                <a:t>Ch</a:t>
              </a:r>
              <a:endParaRPr lang="en-US" sz="900" dirty="0">
                <a:solidFill>
                  <a:srgbClr val="0070C0"/>
                </a:solidFill>
              </a:endParaRP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3826175" y="3214994"/>
              <a:ext cx="1831710" cy="625561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5612620" y="3319441"/>
            <a:ext cx="10487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DMA Resources</a:t>
            </a:r>
            <a:endParaRPr lang="en-US" sz="800" dirty="0"/>
          </a:p>
        </p:txBody>
      </p:sp>
      <p:sp>
        <p:nvSpPr>
          <p:cNvPr id="156" name="TextBox 155"/>
          <p:cNvSpPr txBox="1"/>
          <p:nvPr/>
        </p:nvSpPr>
        <p:spPr>
          <a:xfrm>
            <a:off x="7862936" y="2932370"/>
            <a:ext cx="1067026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 err="1" smtClean="0">
                <a:solidFill>
                  <a:schemeClr val="tx1"/>
                </a:solidFill>
              </a:rPr>
              <a:t>Alloc</a:t>
            </a:r>
            <a:r>
              <a:rPr lang="en-US" sz="800" b="1" dirty="0" smtClean="0">
                <a:solidFill>
                  <a:schemeClr val="tx1"/>
                </a:solidFill>
              </a:rPr>
              <a:t> Resources:</a:t>
            </a:r>
            <a:endParaRPr lang="en-US" sz="8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chemeClr val="tx1"/>
                </a:solidFill>
              </a:rPr>
              <a:t>Rx Flow </a:t>
            </a:r>
            <a:r>
              <a:rPr lang="en-US" sz="800" dirty="0" err="1" smtClean="0">
                <a:solidFill>
                  <a:schemeClr val="tx1"/>
                </a:solidFill>
              </a:rPr>
              <a:t>Num</a:t>
            </a:r>
            <a:endParaRPr lang="en-US" sz="800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 smtClean="0">
                <a:solidFill>
                  <a:schemeClr val="tx1"/>
                </a:solidFill>
              </a:rPr>
              <a:t>Tx</a:t>
            </a:r>
            <a:r>
              <a:rPr lang="en-US" sz="800" dirty="0" smtClean="0">
                <a:solidFill>
                  <a:schemeClr val="tx1"/>
                </a:solidFill>
              </a:rPr>
              <a:t> </a:t>
            </a:r>
            <a:r>
              <a:rPr lang="en-US" sz="800" dirty="0" err="1" smtClean="0">
                <a:solidFill>
                  <a:schemeClr val="tx1"/>
                </a:solidFill>
              </a:rPr>
              <a:t>Ch</a:t>
            </a:r>
            <a:r>
              <a:rPr lang="en-US" sz="800" dirty="0" smtClean="0">
                <a:solidFill>
                  <a:schemeClr val="tx1"/>
                </a:solidFill>
              </a:rPr>
              <a:t> </a:t>
            </a:r>
            <a:r>
              <a:rPr lang="en-US" sz="800" dirty="0" err="1" smtClean="0">
                <a:solidFill>
                  <a:schemeClr val="tx1"/>
                </a:solidFill>
              </a:rPr>
              <a:t>Num</a:t>
            </a:r>
            <a:endParaRPr lang="en-US" sz="800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chemeClr val="tx1"/>
                </a:solidFill>
              </a:rPr>
              <a:t>MAC Address</a:t>
            </a:r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153" name="Straight Connector 152"/>
          <p:cNvCxnSpPr>
            <a:stCxn id="160" idx="2"/>
          </p:cNvCxnSpPr>
          <p:nvPr/>
        </p:nvCxnSpPr>
        <p:spPr>
          <a:xfrm flipH="1">
            <a:off x="1197997" y="1802337"/>
            <a:ext cx="1" cy="67684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1206207" y="2479183"/>
            <a:ext cx="338684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137" idx="0"/>
          </p:cNvCxnSpPr>
          <p:nvPr/>
        </p:nvCxnSpPr>
        <p:spPr>
          <a:xfrm>
            <a:off x="4593051" y="2479183"/>
            <a:ext cx="0" cy="65199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5734540" y="2479183"/>
            <a:ext cx="1693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>
                <a:solidFill>
                  <a:srgbClr val="0070C0"/>
                </a:solidFill>
              </a:rPr>
              <a:t>Submit and retrieve packet calls</a:t>
            </a:r>
            <a:endParaRPr lang="en-US" sz="800" dirty="0">
              <a:solidFill>
                <a:srgbClr val="0070C0"/>
              </a:solidFill>
            </a:endParaRPr>
          </a:p>
        </p:txBody>
      </p:sp>
      <p:cxnSp>
        <p:nvCxnSpPr>
          <p:cNvPr id="150" name="Straight Arrow Connector 149"/>
          <p:cNvCxnSpPr>
            <a:endCxn id="160" idx="2"/>
          </p:cNvCxnSpPr>
          <p:nvPr/>
        </p:nvCxnSpPr>
        <p:spPr>
          <a:xfrm flipV="1">
            <a:off x="1197997" y="1802337"/>
            <a:ext cx="1" cy="67684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>
            <a:off x="4903444" y="2491589"/>
            <a:ext cx="3070059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4905984" y="2489049"/>
            <a:ext cx="0" cy="64212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Group 210"/>
          <p:cNvGrpSpPr/>
          <p:nvPr/>
        </p:nvGrpSpPr>
        <p:grpSpPr>
          <a:xfrm>
            <a:off x="3282778" y="1144174"/>
            <a:ext cx="2166037" cy="1049318"/>
            <a:chOff x="3282778" y="1144174"/>
            <a:chExt cx="2166037" cy="1049318"/>
          </a:xfrm>
        </p:grpSpPr>
        <p:sp>
          <p:nvSpPr>
            <p:cNvPr id="184" name="Rectangle 183"/>
            <p:cNvSpPr/>
            <p:nvPr/>
          </p:nvSpPr>
          <p:spPr>
            <a:xfrm>
              <a:off x="3282778" y="1144174"/>
              <a:ext cx="2166037" cy="1049318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800" b="1" dirty="0"/>
                <a:t>Switch </a:t>
              </a:r>
              <a:r>
                <a:rPr lang="en-US" sz="800" b="1" dirty="0" smtClean="0"/>
                <a:t>R5</a:t>
              </a:r>
            </a:p>
            <a:p>
              <a:pPr algn="ctr"/>
              <a:r>
                <a:rPr lang="en-US" sz="800" dirty="0" smtClean="0"/>
                <a:t>(Master Core)</a:t>
              </a:r>
              <a:endParaRPr lang="en-US" sz="800" dirty="0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3355302" y="1683365"/>
              <a:ext cx="351535" cy="420366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RM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3781248" y="1481194"/>
              <a:ext cx="1554480" cy="1828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Apps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3781248" y="1702130"/>
              <a:ext cx="1554480" cy="182880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Network Stack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3781248" y="1923067"/>
              <a:ext cx="1554480" cy="182880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CPSW Driver</a:t>
              </a:r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6882275" y="799002"/>
            <a:ext cx="2166037" cy="1049318"/>
            <a:chOff x="6882275" y="799002"/>
            <a:chExt cx="2166037" cy="1049318"/>
          </a:xfrm>
        </p:grpSpPr>
        <p:sp>
          <p:nvSpPr>
            <p:cNvPr id="168" name="Rectangle 167"/>
            <p:cNvSpPr/>
            <p:nvPr/>
          </p:nvSpPr>
          <p:spPr>
            <a:xfrm>
              <a:off x="6882275" y="799002"/>
              <a:ext cx="2166037" cy="104931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800" b="1" dirty="0"/>
                <a:t>MCU R5</a:t>
              </a:r>
            </a:p>
            <a:p>
              <a:pPr algn="ctr"/>
              <a:r>
                <a:rPr lang="en-US" sz="800" dirty="0"/>
                <a:t>(Remote Core)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6958609" y="1377365"/>
              <a:ext cx="351535" cy="406619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OS</a:t>
              </a:r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7375482" y="1156430"/>
              <a:ext cx="1554480" cy="18288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Apps</a:t>
              </a:r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7375482" y="1377366"/>
              <a:ext cx="1554480" cy="182880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Network Stack</a:t>
              </a:r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7375482" y="1598303"/>
              <a:ext cx="1554480" cy="182880"/>
            </a:xfrm>
            <a:prstGeom prst="rect">
              <a:avLst/>
            </a:prstGeom>
            <a:solidFill>
              <a:srgbClr val="BCFCC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</a:rPr>
                <a:t>CPSW Driver</a:t>
              </a:r>
            </a:p>
          </p:txBody>
        </p:sp>
      </p:grpSp>
      <p:grpSp>
        <p:nvGrpSpPr>
          <p:cNvPr id="204" name="Group 203"/>
          <p:cNvGrpSpPr/>
          <p:nvPr/>
        </p:nvGrpSpPr>
        <p:grpSpPr>
          <a:xfrm>
            <a:off x="2563504" y="3954510"/>
            <a:ext cx="4679881" cy="423236"/>
            <a:chOff x="2563504" y="3954510"/>
            <a:chExt cx="4679881" cy="423236"/>
          </a:xfrm>
        </p:grpSpPr>
        <p:sp>
          <p:nvSpPr>
            <p:cNvPr id="100" name="Rectangle 99"/>
            <p:cNvSpPr/>
            <p:nvPr/>
          </p:nvSpPr>
          <p:spPr>
            <a:xfrm>
              <a:off x="2563504" y="3954510"/>
              <a:ext cx="4679881" cy="342746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7150" tIns="28575" rIns="57150" bIns="28575" rtlCol="0" anchor="ctr"/>
            <a:lstStyle/>
            <a:p>
              <a:pPr algn="r"/>
              <a:r>
                <a:rPr lang="en-US" sz="1000" dirty="0" smtClean="0">
                  <a:solidFill>
                    <a:schemeClr val="tx1"/>
                  </a:solidFill>
                </a:rPr>
                <a:t>CPSW 9G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203" name="Group 202"/>
            <p:cNvGrpSpPr/>
            <p:nvPr/>
          </p:nvGrpSpPr>
          <p:grpSpPr>
            <a:xfrm>
              <a:off x="3137591" y="4023392"/>
              <a:ext cx="3190637" cy="221552"/>
              <a:chOff x="3137591" y="4023392"/>
              <a:chExt cx="3190637" cy="221552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3137591" y="4023392"/>
                <a:ext cx="3190637" cy="221552"/>
              </a:xfrm>
              <a:prstGeom prst="rect">
                <a:avLst/>
              </a:prstGeom>
              <a:solidFill>
                <a:srgbClr val="DE0000"/>
              </a:solidFill>
              <a:ln w="25400" cap="flat" cmpd="sng" algn="ctr">
                <a:solidFill>
                  <a:srgbClr val="DE0000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r" defTabSz="357188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FFFFFF"/>
                  </a:solidFill>
                  <a:latin typeface="Arial"/>
                  <a:cs typeface="+mn-cs"/>
                </a:endParaRPr>
              </a:p>
            </p:txBody>
          </p:sp>
          <p:grpSp>
            <p:nvGrpSpPr>
              <p:cNvPr id="202" name="Group 201"/>
              <p:cNvGrpSpPr/>
              <p:nvPr/>
            </p:nvGrpSpPr>
            <p:grpSpPr>
              <a:xfrm>
                <a:off x="4190277" y="4074861"/>
                <a:ext cx="1085265" cy="129481"/>
                <a:chOff x="3474398" y="4074861"/>
                <a:chExt cx="2545713" cy="129481"/>
              </a:xfrm>
            </p:grpSpPr>
            <p:cxnSp>
              <p:nvCxnSpPr>
                <p:cNvPr id="104" name="Straight Connector 103"/>
                <p:cNvCxnSpPr/>
                <p:nvPr/>
              </p:nvCxnSpPr>
              <p:spPr>
                <a:xfrm>
                  <a:off x="4471910" y="4074861"/>
                  <a:ext cx="535399" cy="128059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>
                <a:xfrm>
                  <a:off x="3474398" y="4074861"/>
                  <a:ext cx="1033596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4986515" y="4202919"/>
                  <a:ext cx="1033596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>
                <a:xfrm rot="10800000" flipH="1">
                  <a:off x="4471910" y="4076283"/>
                  <a:ext cx="535399" cy="128059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>
                <a:xfrm rot="10800000" flipH="1">
                  <a:off x="3474398" y="4204342"/>
                  <a:ext cx="1033596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109" name="Straight Connector 108"/>
                <p:cNvCxnSpPr/>
                <p:nvPr/>
              </p:nvCxnSpPr>
              <p:spPr>
                <a:xfrm>
                  <a:off x="4963888" y="4083709"/>
                  <a:ext cx="1033596" cy="0"/>
                </a:xfrm>
                <a:prstGeom prst="line">
                  <a:avLst/>
                </a:prstGeom>
                <a:noFill/>
                <a:ln w="47625" cap="flat" cmpd="sng" algn="ctr">
                  <a:solidFill>
                    <a:srgbClr val="117788">
                      <a:lumMod val="40000"/>
                      <a:lumOff val="60000"/>
                    </a:srgbClr>
                  </a:solidFill>
                  <a:prstDash val="solid"/>
                </a:ln>
                <a:effectLst/>
              </p:spPr>
            </p:cxnSp>
          </p:grpSp>
        </p:grpSp>
        <p:sp>
          <p:nvSpPr>
            <p:cNvPr id="101" name="Rectangle 100"/>
            <p:cNvSpPr/>
            <p:nvPr/>
          </p:nvSpPr>
          <p:spPr>
            <a:xfrm>
              <a:off x="3146773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565125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983477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401829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820181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5238533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5656885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075238" y="4301832"/>
              <a:ext cx="214263" cy="75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</p:grpSp>
      <p:sp>
        <p:nvSpPr>
          <p:cNvPr id="214" name="TextBox 213"/>
          <p:cNvSpPr txBox="1"/>
          <p:nvPr/>
        </p:nvSpPr>
        <p:spPr>
          <a:xfrm>
            <a:off x="1206207" y="2479183"/>
            <a:ext cx="1693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>
                <a:solidFill>
                  <a:srgbClr val="0070C0"/>
                </a:solidFill>
              </a:rPr>
              <a:t>Submit and retrieve packet calls</a:t>
            </a:r>
            <a:endParaRPr lang="en-US" sz="800" dirty="0">
              <a:solidFill>
                <a:srgbClr val="0070C0"/>
              </a:solidFill>
            </a:endParaRPr>
          </a:p>
        </p:txBody>
      </p:sp>
      <p:cxnSp>
        <p:nvCxnSpPr>
          <p:cNvPr id="215" name="Straight Arrow Connector 214"/>
          <p:cNvCxnSpPr/>
          <p:nvPr/>
        </p:nvCxnSpPr>
        <p:spPr>
          <a:xfrm flipH="1" flipV="1">
            <a:off x="7970401" y="1848320"/>
            <a:ext cx="1" cy="643269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67724" y="600492"/>
            <a:ext cx="14312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A72 Virtual Net Dev (SDK1.0)</a:t>
            </a:r>
            <a:endParaRPr lang="en-US" sz="600" b="1" dirty="0"/>
          </a:p>
        </p:txBody>
      </p:sp>
      <p:sp>
        <p:nvSpPr>
          <p:cNvPr id="95" name="TextBox 94"/>
          <p:cNvSpPr txBox="1"/>
          <p:nvPr/>
        </p:nvSpPr>
        <p:spPr>
          <a:xfrm>
            <a:off x="4943950" y="959508"/>
            <a:ext cx="4466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err="1" smtClean="0"/>
              <a:t>EthFw</a:t>
            </a:r>
            <a:endParaRPr lang="en-US" sz="600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7438738" y="625614"/>
            <a:ext cx="160957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AUTOSAR CPSW CDD (POST SDK1.0)</a:t>
            </a:r>
            <a:endParaRPr lang="en-US" sz="600" b="1" dirty="0"/>
          </a:p>
        </p:txBody>
      </p:sp>
    </p:spTree>
    <p:extLst>
      <p:ext uri="{BB962C8B-B14F-4D97-AF65-F5344CB8AC3E}">
        <p14:creationId xmlns:p14="http://schemas.microsoft.com/office/powerpoint/2010/main" val="244229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238"/>
          <p:cNvSpPr/>
          <p:nvPr/>
        </p:nvSpPr>
        <p:spPr>
          <a:xfrm>
            <a:off x="0" y="4401312"/>
            <a:ext cx="5968577" cy="742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240368" y="548506"/>
            <a:ext cx="3627926" cy="2567966"/>
          </a:xfrm>
          <a:prstGeom prst="rect">
            <a:avLst/>
          </a:prstGeom>
          <a:solidFill>
            <a:schemeClr val="bg2">
              <a:alpha val="31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 dirty="0" smtClean="0">
                <a:solidFill>
                  <a:schemeClr val="tx1"/>
                </a:solidFill>
              </a:rPr>
              <a:t>MCU R5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4554397" y="2125177"/>
            <a:ext cx="3632374" cy="1599521"/>
          </a:xfrm>
          <a:prstGeom prst="rect">
            <a:avLst/>
          </a:prstGeom>
          <a:solidFill>
            <a:schemeClr val="bg2">
              <a:alpha val="31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6" name="Rectangle 125"/>
          <p:cNvSpPr/>
          <p:nvPr/>
        </p:nvSpPr>
        <p:spPr>
          <a:xfrm>
            <a:off x="4129008" y="162687"/>
            <a:ext cx="3108350" cy="1783537"/>
          </a:xfrm>
          <a:prstGeom prst="rect">
            <a:avLst/>
          </a:prstGeom>
          <a:solidFill>
            <a:schemeClr val="bg2">
              <a:alpha val="31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t"/>
          <a:lstStyle/>
          <a:p>
            <a:pPr algn="r"/>
            <a:r>
              <a:rPr lang="en-US" sz="1100" b="1" dirty="0" smtClean="0">
                <a:solidFill>
                  <a:schemeClr val="tx1"/>
                </a:solidFill>
              </a:rPr>
              <a:t>A72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254615" y="320870"/>
            <a:ext cx="2225031" cy="413725"/>
          </a:xfrm>
          <a:prstGeom prst="rect">
            <a:avLst/>
          </a:prstGeom>
          <a:solidFill>
            <a:srgbClr val="F3FABE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4448405" y="548506"/>
            <a:ext cx="377156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iproute2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65190" y="548506"/>
            <a:ext cx="297531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brctl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5202350" y="548506"/>
            <a:ext cx="343485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ethtool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585464" y="548506"/>
            <a:ext cx="343485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vconfig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968577" y="548506"/>
            <a:ext cx="229349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tc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750658" y="357553"/>
            <a:ext cx="377156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rgbClr val="C00000"/>
                </a:solidFill>
              </a:rPr>
              <a:t>mstpd</a:t>
            </a:r>
            <a:endParaRPr lang="en-US" sz="600" dirty="0">
              <a:solidFill>
                <a:srgbClr val="C00000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178868" y="357553"/>
            <a:ext cx="377156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rgbClr val="C00000"/>
                </a:solidFill>
              </a:rPr>
              <a:t>lldpd</a:t>
            </a:r>
            <a:endParaRPr lang="en-US" sz="600" dirty="0">
              <a:solidFill>
                <a:srgbClr val="C00000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322448" y="357553"/>
            <a:ext cx="377156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rgbClr val="C00000"/>
                </a:solidFill>
              </a:rPr>
              <a:t>snmpd</a:t>
            </a:r>
            <a:endParaRPr lang="en-US" sz="600" dirty="0">
              <a:solidFill>
                <a:srgbClr val="C0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607077" y="357553"/>
            <a:ext cx="377156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rgbClr val="C00000"/>
                </a:solidFill>
              </a:rPr>
              <a:t>lacp</a:t>
            </a:r>
            <a:endParaRPr lang="en-US" sz="600" dirty="0">
              <a:solidFill>
                <a:srgbClr val="C00000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6035286" y="357553"/>
            <a:ext cx="377156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 err="1">
                <a:solidFill>
                  <a:srgbClr val="C00000"/>
                </a:solidFill>
              </a:rPr>
              <a:t>mvrp</a:t>
            </a:r>
            <a:endParaRPr lang="en-US" sz="600" dirty="0">
              <a:solidFill>
                <a:srgbClr val="C00000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4304385" y="840459"/>
            <a:ext cx="565313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Bonds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15113" y="840459"/>
            <a:ext cx="565313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Bridges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525842" y="840459"/>
            <a:ext cx="565313" cy="147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VXLAN</a:t>
            </a:r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4177538" y="797925"/>
            <a:ext cx="3006303" cy="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699734" y="528078"/>
            <a:ext cx="484107" cy="519373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dirty="0" smtClean="0"/>
              <a:t>User</a:t>
            </a:r>
          </a:p>
          <a:p>
            <a:pPr>
              <a:lnSpc>
                <a:spcPct val="150000"/>
              </a:lnSpc>
            </a:pPr>
            <a:r>
              <a:rPr lang="en-US" sz="1000" dirty="0" smtClean="0"/>
              <a:t>Kernel</a:t>
            </a:r>
            <a:endParaRPr lang="en-US" sz="1000" dirty="0"/>
          </a:p>
        </p:txBody>
      </p:sp>
      <p:sp>
        <p:nvSpPr>
          <p:cNvPr id="108" name="Rectangle 107"/>
          <p:cNvSpPr/>
          <p:nvPr/>
        </p:nvSpPr>
        <p:spPr>
          <a:xfrm>
            <a:off x="4296678" y="1048955"/>
            <a:ext cx="1498818" cy="133707"/>
          </a:xfrm>
          <a:prstGeom prst="rect">
            <a:avLst/>
          </a:prstGeom>
          <a:solidFill>
            <a:srgbClr val="BCFCC1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RT </a:t>
            </a:r>
            <a:r>
              <a:rPr lang="en-US" sz="600" dirty="0" err="1">
                <a:solidFill>
                  <a:schemeClr val="tx1"/>
                </a:solidFill>
              </a:rPr>
              <a:t>Netlink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839896" y="1048955"/>
            <a:ext cx="639750" cy="133707"/>
          </a:xfrm>
          <a:prstGeom prst="rect">
            <a:avLst/>
          </a:prstGeom>
          <a:solidFill>
            <a:srgbClr val="BCFCC1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ethtool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ioctl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4279177" y="1258062"/>
            <a:ext cx="1498818" cy="618349"/>
          </a:xfrm>
          <a:prstGeom prst="rect">
            <a:avLst/>
          </a:prstGeom>
          <a:solidFill>
            <a:srgbClr val="BCFCC1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switchdev</a:t>
            </a:r>
            <a:r>
              <a:rPr lang="en-US" sz="6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44668" y="1307064"/>
            <a:ext cx="356265" cy="98285"/>
          </a:xfrm>
          <a:prstGeom prst="rect">
            <a:avLst/>
          </a:prstGeom>
          <a:solidFill>
            <a:schemeClr val="accent5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swp0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344668" y="1450031"/>
            <a:ext cx="347551" cy="94587"/>
          </a:xfrm>
          <a:prstGeom prst="rect">
            <a:avLst/>
          </a:prstGeom>
          <a:solidFill>
            <a:schemeClr val="accent5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swp1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44668" y="1728570"/>
            <a:ext cx="347551" cy="98452"/>
          </a:xfrm>
          <a:prstGeom prst="rect">
            <a:avLst/>
          </a:prstGeom>
          <a:solidFill>
            <a:schemeClr val="accent5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swp7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38279" y="1258062"/>
            <a:ext cx="641367" cy="621740"/>
          </a:xfrm>
          <a:prstGeom prst="rect">
            <a:avLst/>
          </a:prstGeom>
          <a:solidFill>
            <a:srgbClr val="BCFCC1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 err="1">
                <a:solidFill>
                  <a:schemeClr val="tx1"/>
                </a:solidFill>
              </a:rPr>
              <a:t>cpsw</a:t>
            </a:r>
            <a:r>
              <a:rPr lang="en-US" sz="6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349985" y="1589300"/>
            <a:ext cx="347551" cy="94587"/>
          </a:xfrm>
          <a:prstGeom prst="rect">
            <a:avLst/>
          </a:prstGeom>
          <a:solidFill>
            <a:schemeClr val="accent5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swp1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E06908-4681-417E-BEAF-08504F35DD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820793" y="3893271"/>
            <a:ext cx="3365978" cy="31754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b"/>
          <a:lstStyle/>
          <a:p>
            <a:pPr algn="ctr"/>
            <a:r>
              <a:rPr lang="en-US" sz="800" dirty="0" smtClean="0">
                <a:solidFill>
                  <a:schemeClr val="tx1"/>
                </a:solidFill>
              </a:rPr>
              <a:t>CPSW_9G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28576" y="3901414"/>
            <a:ext cx="3539718" cy="31754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r"/>
            <a:r>
              <a:rPr lang="en-US" sz="900" dirty="0" smtClean="0">
                <a:solidFill>
                  <a:schemeClr val="tx1"/>
                </a:solidFill>
              </a:rPr>
              <a:t>CPSW_2G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3856" y="4218927"/>
            <a:ext cx="263989" cy="9525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5194095" y="4215892"/>
            <a:ext cx="2619375" cy="98285"/>
            <a:chOff x="5182870" y="4381500"/>
            <a:chExt cx="2619375" cy="98285"/>
          </a:xfrm>
        </p:grpSpPr>
        <p:sp>
          <p:nvSpPr>
            <p:cNvPr id="82" name="Rectangle 81"/>
            <p:cNvSpPr/>
            <p:nvPr/>
          </p:nvSpPr>
          <p:spPr>
            <a:xfrm>
              <a:off x="6192322" y="4381500"/>
              <a:ext cx="263989" cy="98285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528806" y="4384535"/>
              <a:ext cx="263989" cy="92215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865290" y="4384535"/>
              <a:ext cx="263989" cy="92215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201774" y="4381500"/>
              <a:ext cx="263989" cy="98285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7538256" y="4381500"/>
              <a:ext cx="263989" cy="95250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5182870" y="4384535"/>
              <a:ext cx="263989" cy="95250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519354" y="4384535"/>
              <a:ext cx="263989" cy="95250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855838" y="4381500"/>
              <a:ext cx="263989" cy="98285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ectangle 89"/>
          <p:cNvSpPr/>
          <p:nvPr/>
        </p:nvSpPr>
        <p:spPr>
          <a:xfrm>
            <a:off x="2049204" y="3904803"/>
            <a:ext cx="156065" cy="98285"/>
          </a:xfrm>
          <a:prstGeom prst="rect">
            <a:avLst/>
          </a:prstGeom>
          <a:solidFill>
            <a:schemeClr val="accent5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295510" y="3894199"/>
            <a:ext cx="438433" cy="127206"/>
          </a:xfrm>
          <a:prstGeom prst="rect">
            <a:avLst/>
          </a:prstGeom>
          <a:solidFill>
            <a:schemeClr val="accent5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 flipH="1">
            <a:off x="3963543" y="162687"/>
            <a:ext cx="47625" cy="4418434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1574797" y="4365897"/>
            <a:ext cx="1072409" cy="242374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1200" b="1" dirty="0" smtClean="0"/>
              <a:t>MCU Domain</a:t>
            </a:r>
            <a:endParaRPr lang="en-US" sz="1200" b="1" dirty="0"/>
          </a:p>
        </p:txBody>
      </p:sp>
      <p:sp>
        <p:nvSpPr>
          <p:cNvPr id="118" name="TextBox 117"/>
          <p:cNvSpPr txBox="1"/>
          <p:nvPr/>
        </p:nvSpPr>
        <p:spPr>
          <a:xfrm>
            <a:off x="5937812" y="4365897"/>
            <a:ext cx="1074012" cy="242374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1200" b="1" dirty="0" smtClean="0"/>
              <a:t>Main Domain</a:t>
            </a:r>
            <a:endParaRPr lang="en-US" sz="1200" b="1" dirty="0"/>
          </a:p>
        </p:txBody>
      </p:sp>
      <p:sp>
        <p:nvSpPr>
          <p:cNvPr id="128" name="Rectangle 127"/>
          <p:cNvSpPr/>
          <p:nvPr/>
        </p:nvSpPr>
        <p:spPr>
          <a:xfrm>
            <a:off x="398549" y="3971780"/>
            <a:ext cx="994693" cy="16659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CPSW 2G Register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942021" y="3980531"/>
            <a:ext cx="1212511" cy="16659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CPSW 9G Register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>
            <a:off x="820293" y="2918721"/>
            <a:ext cx="0" cy="1061810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 flipH="1">
            <a:off x="5949745" y="3604532"/>
            <a:ext cx="1" cy="375999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endCxn id="91" idx="0"/>
          </p:cNvCxnSpPr>
          <p:nvPr/>
        </p:nvCxnSpPr>
        <p:spPr>
          <a:xfrm>
            <a:off x="6512433" y="3680378"/>
            <a:ext cx="2293" cy="213821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7692416" y="120777"/>
            <a:ext cx="1169332" cy="1061884"/>
          </a:xfrm>
          <a:prstGeom prst="rect">
            <a:avLst/>
          </a:prstGeom>
          <a:solidFill>
            <a:schemeClr val="bg2">
              <a:alpha val="31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t"/>
          <a:lstStyle/>
          <a:p>
            <a:pPr algn="ctr"/>
            <a:r>
              <a:rPr lang="en-US" sz="800" b="1" dirty="0">
                <a:solidFill>
                  <a:schemeClr val="tx1"/>
                </a:solidFill>
              </a:rPr>
              <a:t>C7x/Other R5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67179" y="572263"/>
            <a:ext cx="180223" cy="531050"/>
          </a:xfrm>
          <a:prstGeom prst="rect">
            <a:avLst/>
          </a:prstGeom>
          <a:solidFill>
            <a:srgbClr val="BCFCC1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OS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982260" y="330396"/>
            <a:ext cx="797007" cy="1371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Apps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982259" y="507017"/>
            <a:ext cx="798988" cy="133707"/>
          </a:xfrm>
          <a:prstGeom prst="rect">
            <a:avLst/>
          </a:prstGeom>
          <a:solidFill>
            <a:srgbClr val="BCFCC1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NDK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982260" y="680186"/>
            <a:ext cx="798987" cy="1829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EMAC_LLD</a:t>
            </a:r>
          </a:p>
        </p:txBody>
      </p:sp>
      <p:grpSp>
        <p:nvGrpSpPr>
          <p:cNvPr id="228" name="Group 227"/>
          <p:cNvGrpSpPr/>
          <p:nvPr/>
        </p:nvGrpSpPr>
        <p:grpSpPr>
          <a:xfrm>
            <a:off x="6483318" y="1561275"/>
            <a:ext cx="2074450" cy="2375181"/>
            <a:chOff x="6282150" y="1731963"/>
            <a:chExt cx="2074450" cy="2375181"/>
          </a:xfrm>
        </p:grpSpPr>
        <p:cxnSp>
          <p:nvCxnSpPr>
            <p:cNvPr id="216" name="Straight Arrow Connector 215"/>
            <p:cNvCxnSpPr/>
            <p:nvPr/>
          </p:nvCxnSpPr>
          <p:spPr>
            <a:xfrm>
              <a:off x="6282150" y="1731963"/>
              <a:ext cx="2074450" cy="0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/>
            <p:cNvCxnSpPr/>
            <p:nvPr/>
          </p:nvCxnSpPr>
          <p:spPr>
            <a:xfrm>
              <a:off x="8356600" y="1731963"/>
              <a:ext cx="0" cy="2375181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/>
            <p:nvPr/>
          </p:nvCxnSpPr>
          <p:spPr>
            <a:xfrm>
              <a:off x="6540493" y="4107144"/>
              <a:ext cx="1816107" cy="0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31"/>
          <p:cNvGrpSpPr/>
          <p:nvPr/>
        </p:nvGrpSpPr>
        <p:grpSpPr>
          <a:xfrm>
            <a:off x="6741661" y="1182662"/>
            <a:ext cx="1984383" cy="2838743"/>
            <a:chOff x="6540493" y="1353350"/>
            <a:chExt cx="1984383" cy="2838743"/>
          </a:xfrm>
        </p:grpSpPr>
        <p:cxnSp>
          <p:nvCxnSpPr>
            <p:cNvPr id="230" name="Straight Arrow Connector 229"/>
            <p:cNvCxnSpPr/>
            <p:nvPr/>
          </p:nvCxnSpPr>
          <p:spPr>
            <a:xfrm>
              <a:off x="8514715" y="1353350"/>
              <a:ext cx="0" cy="2838743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/>
            <p:cNvCxnSpPr/>
            <p:nvPr/>
          </p:nvCxnSpPr>
          <p:spPr>
            <a:xfrm>
              <a:off x="6540493" y="4192093"/>
              <a:ext cx="1984383" cy="0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289627" y="2914214"/>
            <a:ext cx="3130689" cy="980805"/>
            <a:chOff x="3088459" y="3084902"/>
            <a:chExt cx="3130689" cy="980805"/>
          </a:xfrm>
        </p:grpSpPr>
        <p:cxnSp>
          <p:nvCxnSpPr>
            <p:cNvPr id="235" name="Straight Arrow Connector 234"/>
            <p:cNvCxnSpPr/>
            <p:nvPr/>
          </p:nvCxnSpPr>
          <p:spPr>
            <a:xfrm>
              <a:off x="3088459" y="3084902"/>
              <a:ext cx="0" cy="838017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 flipH="1" flipV="1">
              <a:off x="3088461" y="3922919"/>
              <a:ext cx="3130687" cy="21738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/>
            <p:nvPr/>
          </p:nvCxnSpPr>
          <p:spPr>
            <a:xfrm flipV="1">
              <a:off x="6206554" y="3944657"/>
              <a:ext cx="0" cy="121050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9" name="Group 258"/>
          <p:cNvGrpSpPr/>
          <p:nvPr/>
        </p:nvGrpSpPr>
        <p:grpSpPr>
          <a:xfrm>
            <a:off x="1245267" y="2918721"/>
            <a:ext cx="881970" cy="977585"/>
            <a:chOff x="1670556" y="4943054"/>
            <a:chExt cx="1523016" cy="1564136"/>
          </a:xfrm>
        </p:grpSpPr>
        <p:cxnSp>
          <p:nvCxnSpPr>
            <p:cNvPr id="134" name="Straight Arrow Connector 133"/>
            <p:cNvCxnSpPr/>
            <p:nvPr/>
          </p:nvCxnSpPr>
          <p:spPr>
            <a:xfrm flipH="1">
              <a:off x="3187280" y="5982349"/>
              <a:ext cx="6292" cy="524841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/>
            <p:cNvCxnSpPr/>
            <p:nvPr/>
          </p:nvCxnSpPr>
          <p:spPr>
            <a:xfrm>
              <a:off x="1670556" y="5969437"/>
              <a:ext cx="1519870" cy="12912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 flipV="1">
              <a:off x="1670556" y="4943054"/>
              <a:ext cx="6292" cy="1032839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Group 241"/>
          <p:cNvGrpSpPr/>
          <p:nvPr/>
        </p:nvGrpSpPr>
        <p:grpSpPr>
          <a:xfrm>
            <a:off x="296852" y="4628588"/>
            <a:ext cx="1122621" cy="153888"/>
            <a:chOff x="296852" y="4505996"/>
            <a:chExt cx="1122621" cy="153888"/>
          </a:xfrm>
        </p:grpSpPr>
        <p:cxnSp>
          <p:nvCxnSpPr>
            <p:cNvPr id="195" name="Straight Arrow Connector 194"/>
            <p:cNvCxnSpPr/>
            <p:nvPr/>
          </p:nvCxnSpPr>
          <p:spPr>
            <a:xfrm>
              <a:off x="296852" y="4582940"/>
              <a:ext cx="332941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261"/>
            <p:cNvSpPr txBox="1"/>
            <p:nvPr/>
          </p:nvSpPr>
          <p:spPr>
            <a:xfrm>
              <a:off x="629794" y="4505996"/>
              <a:ext cx="789679" cy="153888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Direct Control Path</a:t>
              </a:r>
            </a:p>
          </p:txBody>
        </p:sp>
      </p:grpSp>
      <p:grpSp>
        <p:nvGrpSpPr>
          <p:cNvPr id="241" name="Group 240"/>
          <p:cNvGrpSpPr/>
          <p:nvPr/>
        </p:nvGrpSpPr>
        <p:grpSpPr>
          <a:xfrm>
            <a:off x="311393" y="4771255"/>
            <a:ext cx="1031937" cy="153888"/>
            <a:chOff x="311393" y="4632579"/>
            <a:chExt cx="1031937" cy="153888"/>
          </a:xfrm>
        </p:grpSpPr>
        <p:cxnSp>
          <p:nvCxnSpPr>
            <p:cNvPr id="198" name="Straight Arrow Connector 197"/>
            <p:cNvCxnSpPr/>
            <p:nvPr/>
          </p:nvCxnSpPr>
          <p:spPr>
            <a:xfrm>
              <a:off x="311393" y="4709523"/>
              <a:ext cx="332941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dash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TextBox 262"/>
            <p:cNvSpPr txBox="1"/>
            <p:nvPr/>
          </p:nvSpPr>
          <p:spPr>
            <a:xfrm>
              <a:off x="629793" y="4632579"/>
              <a:ext cx="713537" cy="153888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IPC Control Path</a:t>
              </a:r>
            </a:p>
          </p:txBody>
        </p:sp>
      </p:grpSp>
      <p:grpSp>
        <p:nvGrpSpPr>
          <p:cNvPr id="240" name="Group 239"/>
          <p:cNvGrpSpPr/>
          <p:nvPr/>
        </p:nvGrpSpPr>
        <p:grpSpPr>
          <a:xfrm>
            <a:off x="288533" y="4913921"/>
            <a:ext cx="1041773" cy="153888"/>
            <a:chOff x="288533" y="4791329"/>
            <a:chExt cx="1041773" cy="153888"/>
          </a:xfrm>
        </p:grpSpPr>
        <p:cxnSp>
          <p:nvCxnSpPr>
            <p:cNvPr id="201" name="Straight Arrow Connector 200"/>
            <p:cNvCxnSpPr>
              <a:endCxn id="264" idx="1"/>
            </p:cNvCxnSpPr>
            <p:nvPr/>
          </p:nvCxnSpPr>
          <p:spPr>
            <a:xfrm>
              <a:off x="288533" y="4868273"/>
              <a:ext cx="341260" cy="0"/>
            </a:xfrm>
            <a:prstGeom prst="straightConnector1">
              <a:avLst/>
            </a:prstGeom>
            <a:ln w="19050">
              <a:solidFill>
                <a:schemeClr val="tx2">
                  <a:lumMod val="40000"/>
                  <a:lumOff val="6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629793" y="4791329"/>
              <a:ext cx="700513" cy="153888"/>
            </a:xfrm>
            <a:prstGeom prst="rect">
              <a:avLst/>
            </a:prstGeom>
            <a:noFill/>
          </p:spPr>
          <p:txBody>
            <a:bodyPr wrap="none" lIns="57150" tIns="28575" rIns="57150" bIns="28575" rtlCol="0">
              <a:spAutoFit/>
            </a:bodyPr>
            <a:lstStyle/>
            <a:p>
              <a:r>
                <a:rPr lang="en-US" sz="600" dirty="0"/>
                <a:t>Direct Data Path</a:t>
              </a:r>
            </a:p>
          </p:txBody>
        </p:sp>
      </p:grpSp>
      <p:sp>
        <p:nvSpPr>
          <p:cNvPr id="135" name="Rectangle 134"/>
          <p:cNvSpPr/>
          <p:nvPr/>
        </p:nvSpPr>
        <p:spPr>
          <a:xfrm>
            <a:off x="4296919" y="2006312"/>
            <a:ext cx="206919" cy="2252125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8249794" y="1972437"/>
            <a:ext cx="206919" cy="2287518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2418758" y="1544306"/>
            <a:ext cx="1001180" cy="496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HTTP</a:t>
            </a:r>
          </a:p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344669" y="1544307"/>
            <a:ext cx="1074089" cy="3407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PDUR</a:t>
            </a:r>
          </a:p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80038" y="2429537"/>
            <a:ext cx="3540631" cy="33479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Ethernet </a:t>
            </a:r>
            <a:r>
              <a:rPr lang="en-US" sz="600" dirty="0" smtClean="0">
                <a:solidFill>
                  <a:schemeClr val="tx1"/>
                </a:solidFill>
              </a:rPr>
              <a:t>Interface</a:t>
            </a:r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0038" y="2761369"/>
            <a:ext cx="1034184" cy="1554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Ethernet Driver 2G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14222" y="2761369"/>
            <a:ext cx="1062055" cy="155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Ethernet Transceiver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14924" y="2606423"/>
            <a:ext cx="2505745" cy="1554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Ethernet  Switch Driver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038" y="2166991"/>
            <a:ext cx="544233" cy="26254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Ethernet State Machine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4365" y="2044773"/>
            <a:ext cx="2445573" cy="38476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TCP/IP</a:t>
            </a:r>
          </a:p>
          <a:p>
            <a:pPr algn="ctr"/>
            <a:r>
              <a:rPr lang="en-US" sz="500" dirty="0">
                <a:solidFill>
                  <a:schemeClr val="tx1"/>
                </a:solidFill>
              </a:rPr>
              <a:t>IPv4,ARP,ICMPv4</a:t>
            </a:r>
          </a:p>
          <a:p>
            <a:pPr algn="ctr"/>
            <a:r>
              <a:rPr lang="en-US" sz="500" dirty="0">
                <a:solidFill>
                  <a:schemeClr val="tx1"/>
                </a:solidFill>
              </a:rPr>
              <a:t>IPv6,NDP,ICMPv6</a:t>
            </a:r>
          </a:p>
          <a:p>
            <a:pPr algn="ctr"/>
            <a:r>
              <a:rPr lang="en-US" sz="500" dirty="0" smtClean="0">
                <a:solidFill>
                  <a:schemeClr val="tx1"/>
                </a:solidFill>
              </a:rPr>
              <a:t>UDP,TCP,DHCPv4,DHCPv6</a:t>
            </a:r>
            <a:endParaRPr lang="en-US" sz="5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419939" y="1101541"/>
            <a:ext cx="200366" cy="13279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b="1" dirty="0">
                <a:solidFill>
                  <a:schemeClr val="tx1"/>
                </a:solidFill>
              </a:rPr>
              <a:t>AVTP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20304" y="1763114"/>
            <a:ext cx="200365" cy="6664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b="1" dirty="0">
                <a:solidFill>
                  <a:schemeClr val="tx1"/>
                </a:solidFill>
              </a:rPr>
              <a:t>PTP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20303" y="1101541"/>
            <a:ext cx="200365" cy="6615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b="1" dirty="0">
                <a:solidFill>
                  <a:schemeClr val="tx1"/>
                </a:solidFill>
              </a:rPr>
              <a:t>BMCA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0038" y="1355566"/>
            <a:ext cx="544233" cy="8114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COMM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6911" y="1877714"/>
            <a:ext cx="1371847" cy="1649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SOAD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4271" y="1355566"/>
            <a:ext cx="150094" cy="107397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CDD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4365" y="1355567"/>
            <a:ext cx="72547" cy="687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CDD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51988" y="1879802"/>
            <a:ext cx="467950" cy="163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TLS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5863" y="1720057"/>
            <a:ext cx="198807" cy="167511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98554" y="1879802"/>
            <a:ext cx="453434" cy="1649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DNS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44670" y="1720056"/>
            <a:ext cx="271213" cy="16497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 smtClean="0">
                <a:solidFill>
                  <a:schemeClr val="tx1"/>
                </a:solidFill>
              </a:rPr>
              <a:t>UDPNM</a:t>
            </a:r>
            <a:endParaRPr lang="en-US" sz="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613133" y="1720056"/>
            <a:ext cx="232115" cy="1649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 err="1">
                <a:solidFill>
                  <a:schemeClr val="tx1"/>
                </a:solidFill>
              </a:rPr>
              <a:t>DoIP</a:t>
            </a:r>
            <a:endParaRPr lang="en-US" sz="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845248" y="1720057"/>
            <a:ext cx="228915" cy="1649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>
                <a:solidFill>
                  <a:schemeClr val="tx1"/>
                </a:solidFill>
              </a:rPr>
              <a:t>ETHXCP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4165" y="1720056"/>
            <a:ext cx="344593" cy="1649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dirty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5863" y="1355566"/>
            <a:ext cx="198807" cy="36449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tIns="0" rIns="0" bIns="0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BSWM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0038" y="1103313"/>
            <a:ext cx="3139900" cy="2522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24454" y="1355566"/>
            <a:ext cx="570167" cy="18874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COM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6911" y="1355566"/>
            <a:ext cx="98951" cy="53200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CDD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94621" y="1355566"/>
            <a:ext cx="1125317" cy="1887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Customer Function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XML,JSON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43765" y="1355566"/>
            <a:ext cx="379784" cy="188741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SOME/IP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0039" y="849287"/>
            <a:ext cx="3540630" cy="2522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376276" y="2761369"/>
            <a:ext cx="1444394" cy="1554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Ethernet Driver 9G</a:t>
            </a:r>
          </a:p>
        </p:txBody>
      </p:sp>
      <p:sp>
        <p:nvSpPr>
          <p:cNvPr id="5" name="Oval 4"/>
          <p:cNvSpPr/>
          <p:nvPr/>
        </p:nvSpPr>
        <p:spPr>
          <a:xfrm>
            <a:off x="2104504" y="2562534"/>
            <a:ext cx="926583" cy="235148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4221775" y="294132"/>
            <a:ext cx="2361143" cy="254266"/>
          </a:xfrm>
          <a:prstGeom prst="ellipse">
            <a:avLst/>
          </a:prstGeom>
          <a:noFill/>
          <a:ln w="15875">
            <a:solidFill>
              <a:srgbClr val="B30DA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>
            <a:off x="4227586" y="1227245"/>
            <a:ext cx="1567911" cy="673023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7982260" y="902549"/>
            <a:ext cx="797007" cy="19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Remote Configuration Client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874980" y="1645838"/>
            <a:ext cx="581177" cy="19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Remote Configuration Client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662520" y="1663618"/>
            <a:ext cx="608898" cy="19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Remote Configuration Client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922242" y="3022407"/>
            <a:ext cx="276918" cy="130561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00" b="1" dirty="0">
                <a:solidFill>
                  <a:schemeClr val="bg1"/>
                </a:solidFill>
              </a:rPr>
              <a:t>EAPOL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670547" y="2343573"/>
            <a:ext cx="3421191" cy="399822"/>
          </a:xfrm>
          <a:prstGeom prst="rect">
            <a:avLst/>
          </a:prstGeom>
          <a:solidFill>
            <a:srgbClr val="F3FABE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4915344" y="2448955"/>
            <a:ext cx="1435296" cy="214103"/>
          </a:xfrm>
          <a:prstGeom prst="rect">
            <a:avLst/>
          </a:prstGeom>
          <a:solidFill>
            <a:srgbClr val="00B05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Remote Configuration Server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70547" y="2815846"/>
            <a:ext cx="3421190" cy="853312"/>
          </a:xfrm>
          <a:prstGeom prst="rect">
            <a:avLst/>
          </a:prstGeom>
          <a:noFill/>
          <a:ln w="63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5228686" y="2841373"/>
            <a:ext cx="1993536" cy="160500"/>
          </a:xfrm>
          <a:prstGeom prst="rect">
            <a:avLst/>
          </a:prstGeom>
          <a:solidFill>
            <a:srgbClr val="00B05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Firmware Application API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774898" y="3022407"/>
            <a:ext cx="396057" cy="582124"/>
          </a:xfrm>
          <a:prstGeom prst="rect">
            <a:avLst/>
          </a:prstGeom>
          <a:solidFill>
            <a:srgbClr val="C3B4AD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TI-RTOS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522539" y="3022407"/>
            <a:ext cx="380228" cy="128016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IP Router</a:t>
            </a:r>
            <a:endParaRPr lang="en-US" sz="500" b="1" dirty="0">
              <a:solidFill>
                <a:schemeClr val="bg1"/>
              </a:solidFill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5226249" y="3171191"/>
            <a:ext cx="975118" cy="157683"/>
          </a:xfrm>
          <a:prstGeom prst="rect">
            <a:avLst/>
          </a:prstGeom>
          <a:solidFill>
            <a:srgbClr val="C3B4AD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NDK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226249" y="3360476"/>
            <a:ext cx="1995973" cy="2440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CPSW_LLD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259351" y="2841374"/>
            <a:ext cx="684431" cy="763158"/>
          </a:xfrm>
          <a:prstGeom prst="rect">
            <a:avLst/>
          </a:prstGeom>
          <a:solidFill>
            <a:srgbClr val="C3B4AD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>
                <a:solidFill>
                  <a:schemeClr val="tx1"/>
                </a:solidFill>
              </a:rPr>
              <a:t>Other Drivers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872956" y="2125177"/>
            <a:ext cx="104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Main R5 (switch)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808976" y="3418652"/>
            <a:ext cx="413245" cy="1858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 smtClean="0">
                <a:solidFill>
                  <a:schemeClr val="tx1"/>
                </a:solidFill>
              </a:rPr>
              <a:t>ALE</a:t>
            </a:r>
          </a:p>
          <a:p>
            <a:pPr algn="ctr"/>
            <a:r>
              <a:rPr lang="en-US" sz="400" dirty="0" smtClean="0">
                <a:solidFill>
                  <a:schemeClr val="tx1"/>
                </a:solidFill>
              </a:rPr>
              <a:t>LLD</a:t>
            </a:r>
            <a:endParaRPr lang="en-US" sz="400" dirty="0">
              <a:solidFill>
                <a:schemeClr val="tx1"/>
              </a:solidFill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226146" y="3418652"/>
            <a:ext cx="507807" cy="1858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 smtClean="0">
                <a:solidFill>
                  <a:schemeClr val="tx1"/>
                </a:solidFill>
              </a:rPr>
              <a:t>ENETPHY</a:t>
            </a:r>
          </a:p>
          <a:p>
            <a:pPr algn="ctr"/>
            <a:r>
              <a:rPr lang="en-US" sz="400" dirty="0" smtClean="0">
                <a:solidFill>
                  <a:schemeClr val="tx1"/>
                </a:solidFill>
              </a:rPr>
              <a:t>LLD</a:t>
            </a:r>
            <a:endParaRPr lang="en-US" sz="300" dirty="0">
              <a:solidFill>
                <a:schemeClr val="tx1"/>
              </a:solidFill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6229976" y="3077677"/>
            <a:ext cx="332769" cy="251197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b="1" dirty="0">
                <a:solidFill>
                  <a:schemeClr val="bg1"/>
                </a:solidFill>
              </a:rPr>
              <a:t>802.1AS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590269" y="3077677"/>
            <a:ext cx="302784" cy="251197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AVB</a:t>
            </a:r>
          </a:p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SRP</a:t>
            </a:r>
            <a:endParaRPr lang="en-US" sz="500" b="1" dirty="0">
              <a:solidFill>
                <a:schemeClr val="bg1"/>
              </a:solidFill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6919438" y="3075096"/>
            <a:ext cx="302784" cy="251197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b="1" dirty="0">
                <a:solidFill>
                  <a:schemeClr val="bg1"/>
                </a:solidFill>
              </a:rPr>
              <a:t>NM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226146" y="3022407"/>
            <a:ext cx="276918" cy="130561"/>
          </a:xfrm>
          <a:prstGeom prst="rect">
            <a:avLst/>
          </a:prstGeom>
          <a:solidFill>
            <a:srgbClr val="00B05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b="1" dirty="0" smtClean="0">
                <a:solidFill>
                  <a:schemeClr val="accent4"/>
                </a:solidFill>
              </a:rPr>
              <a:t>Apps</a:t>
            </a:r>
            <a:endParaRPr lang="en-US" sz="500" b="1" dirty="0">
              <a:solidFill>
                <a:schemeClr val="accent4"/>
              </a:solidFill>
            </a:endParaRPr>
          </a:p>
        </p:txBody>
      </p:sp>
      <p:cxnSp>
        <p:nvCxnSpPr>
          <p:cNvPr id="154" name="Straight Arrow Connector 153"/>
          <p:cNvCxnSpPr>
            <a:stCxn id="142" idx="4"/>
            <a:endCxn id="165" idx="0"/>
          </p:cNvCxnSpPr>
          <p:nvPr/>
        </p:nvCxnSpPr>
        <p:spPr>
          <a:xfrm>
            <a:off x="5011542" y="1900268"/>
            <a:ext cx="621450" cy="548687"/>
          </a:xfrm>
          <a:prstGeom prst="straightConnector1">
            <a:avLst/>
          </a:prstGeom>
          <a:ln w="19050">
            <a:solidFill>
              <a:srgbClr val="00B0F0"/>
            </a:solidFill>
            <a:prstDash val="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>
            <a:endCxn id="165" idx="3"/>
          </p:cNvCxnSpPr>
          <p:nvPr/>
        </p:nvCxnSpPr>
        <p:spPr>
          <a:xfrm flipH="1">
            <a:off x="6350640" y="1197102"/>
            <a:ext cx="1721988" cy="1358905"/>
          </a:xfrm>
          <a:prstGeom prst="straightConnector1">
            <a:avLst/>
          </a:prstGeom>
          <a:ln w="19050">
            <a:solidFill>
              <a:srgbClr val="00B0F0"/>
            </a:solidFill>
            <a:prstDash val="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19" idx="3"/>
            <a:endCxn id="165" idx="1"/>
          </p:cNvCxnSpPr>
          <p:nvPr/>
        </p:nvCxnSpPr>
        <p:spPr>
          <a:xfrm flipV="1">
            <a:off x="3820670" y="2556007"/>
            <a:ext cx="1094674" cy="283086"/>
          </a:xfrm>
          <a:prstGeom prst="straightConnector1">
            <a:avLst/>
          </a:prstGeom>
          <a:ln w="19050">
            <a:solidFill>
              <a:srgbClr val="00B0F0"/>
            </a:solidFill>
            <a:prstDash val="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>
            <a:stCxn id="148" idx="2"/>
            <a:endCxn id="165" idx="0"/>
          </p:cNvCxnSpPr>
          <p:nvPr/>
        </p:nvCxnSpPr>
        <p:spPr>
          <a:xfrm flipH="1">
            <a:off x="5632992" y="1844830"/>
            <a:ext cx="532577" cy="604125"/>
          </a:xfrm>
          <a:prstGeom prst="straightConnector1">
            <a:avLst/>
          </a:prstGeom>
          <a:ln w="19050">
            <a:solidFill>
              <a:srgbClr val="00B0F0"/>
            </a:solidFill>
            <a:prstDash val="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2757817" y="4947942"/>
            <a:ext cx="218228" cy="147586"/>
          </a:xfrm>
          <a:prstGeom prst="rect">
            <a:avLst/>
          </a:prstGeom>
          <a:solidFill>
            <a:srgbClr val="00B05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2976045" y="4944791"/>
            <a:ext cx="1035123" cy="153888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r>
              <a:rPr lang="en-US" sz="600" dirty="0"/>
              <a:t>Ethernet Firmware (AUTO)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851499" y="4944791"/>
            <a:ext cx="776655" cy="153888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600" dirty="0"/>
              <a:t>Demo app (AUTO)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634055" y="4957345"/>
            <a:ext cx="218228" cy="1287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1631692" y="4770832"/>
            <a:ext cx="215088" cy="14478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851499" y="4766278"/>
            <a:ext cx="857808" cy="153888"/>
          </a:xfrm>
          <a:prstGeom prst="rect">
            <a:avLst/>
          </a:prstGeom>
          <a:noFill/>
        </p:spPr>
        <p:txBody>
          <a:bodyPr wrap="none" lIns="57150" tIns="28575" rIns="57150" bIns="28575" rtlCol="0">
            <a:spAutoFit/>
          </a:bodyPr>
          <a:lstStyle/>
          <a:p>
            <a:r>
              <a:rPr lang="en-US" sz="600" dirty="0"/>
              <a:t>Kernel driver (LCPD)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759387" y="4768819"/>
            <a:ext cx="215089" cy="148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2984288" y="4766278"/>
            <a:ext cx="993282" cy="153888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r>
              <a:rPr lang="en-US" sz="600" dirty="0"/>
              <a:t>PDK CPSW LLD (AUTO)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081129" y="4769429"/>
            <a:ext cx="218228" cy="147586"/>
          </a:xfrm>
          <a:prstGeom prst="rect">
            <a:avLst/>
          </a:prstGeom>
          <a:ln/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57150" tIns="28575" rIns="57150" bIns="28575"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4304385" y="4766278"/>
            <a:ext cx="968704" cy="153888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r>
              <a:rPr lang="en-US" sz="600" dirty="0"/>
              <a:t>Switch resident protocols</a:t>
            </a:r>
          </a:p>
        </p:txBody>
      </p:sp>
      <p:sp>
        <p:nvSpPr>
          <p:cNvPr id="152" name="Title 4"/>
          <p:cNvSpPr>
            <a:spLocks noGrp="1"/>
          </p:cNvSpPr>
          <p:nvPr>
            <p:ph type="title"/>
          </p:nvPr>
        </p:nvSpPr>
        <p:spPr>
          <a:xfrm>
            <a:off x="-38532" y="44611"/>
            <a:ext cx="4167540" cy="312942"/>
          </a:xfrm>
        </p:spPr>
        <p:txBody>
          <a:bodyPr/>
          <a:lstStyle/>
          <a:p>
            <a:r>
              <a:rPr lang="en-US" sz="1800" dirty="0" smtClean="0"/>
              <a:t>Ethernet Switch – </a:t>
            </a:r>
            <a:r>
              <a:rPr lang="en-US" sz="1400" dirty="0" smtClean="0"/>
              <a:t>Ref</a:t>
            </a:r>
            <a:r>
              <a:rPr lang="en-US" sz="1800" dirty="0" smtClean="0"/>
              <a:t>. </a:t>
            </a:r>
            <a:r>
              <a:rPr lang="en-US" sz="1400" dirty="0" smtClean="0"/>
              <a:t>AUTO Use-case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7874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Software Stack</a:t>
            </a:r>
            <a:endParaRPr lang="en-GB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4" y="717946"/>
            <a:ext cx="4301661" cy="313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1765836" y="3909358"/>
            <a:ext cx="1545616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smtClean="0"/>
              <a:t>EthFw </a:t>
            </a:r>
            <a:r>
              <a:rPr lang="en-US" sz="1050" dirty="0"/>
              <a:t>Software Stack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58740" y="990600"/>
            <a:ext cx="333756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/>
              <a:t>EthFw</a:t>
            </a:r>
            <a:r>
              <a:rPr lang="en-US" sz="1400" b="1" dirty="0" smtClean="0"/>
              <a:t> Submodules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CPSW </a:t>
            </a:r>
            <a:r>
              <a:rPr lang="en-US" sz="1400" b="1" dirty="0" smtClean="0"/>
              <a:t>LLD </a:t>
            </a:r>
            <a:r>
              <a:rPr lang="en-US" sz="1400" dirty="0" smtClean="0"/>
              <a:t>– driver layer for CPSW9G 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CPSW Remote Configuration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CPSW Remote Configuration RTOS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Switch Resource Manager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Switch Resident Protocols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TCP/IP NDK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Switch Configuration App</a:t>
            </a:r>
          </a:p>
        </p:txBody>
      </p:sp>
    </p:spTree>
    <p:extLst>
      <p:ext uri="{BB962C8B-B14F-4D97-AF65-F5344CB8AC3E}">
        <p14:creationId xmlns:p14="http://schemas.microsoft.com/office/powerpoint/2010/main" val="95877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Software Releases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EthFw 1.0: IS / IS NOT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669419" y="1048944"/>
            <a:ext cx="2475861" cy="3210162"/>
          </a:xfr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en-US" sz="900" dirty="0"/>
              <a:t>Basic Switching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VLAN</a:t>
            </a:r>
          </a:p>
          <a:p>
            <a:pPr>
              <a:spcBef>
                <a:spcPts val="300"/>
              </a:spcBef>
            </a:pPr>
            <a:r>
              <a:rPr lang="en-US" sz="900" dirty="0" smtClean="0"/>
              <a:t>RGMII</a:t>
            </a:r>
            <a:endParaRPr lang="en-US" sz="900" dirty="0"/>
          </a:p>
          <a:p>
            <a:pPr>
              <a:spcBef>
                <a:spcPts val="300"/>
              </a:spcBef>
            </a:pPr>
            <a:r>
              <a:rPr lang="en-US" sz="900" dirty="0"/>
              <a:t>1G/100M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Host Port Packet </a:t>
            </a:r>
            <a:r>
              <a:rPr lang="en-US" sz="900" dirty="0" err="1"/>
              <a:t>Tx</a:t>
            </a:r>
            <a:r>
              <a:rPr lang="en-US" sz="900" dirty="0"/>
              <a:t>/Rx</a:t>
            </a:r>
          </a:p>
          <a:p>
            <a:pPr>
              <a:spcBef>
                <a:spcPts val="300"/>
              </a:spcBef>
            </a:pPr>
            <a:r>
              <a:rPr lang="en-US" sz="900" dirty="0" smtClean="0"/>
              <a:t>Switch </a:t>
            </a:r>
            <a:r>
              <a:rPr lang="en-US" sz="900" dirty="0"/>
              <a:t>R5 as packet source/sink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IPC based switch configuration from other cores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Linux virtual </a:t>
            </a:r>
            <a:r>
              <a:rPr lang="en-US" sz="900" dirty="0" err="1"/>
              <a:t>netdev</a:t>
            </a:r>
            <a:r>
              <a:rPr lang="en-US" sz="900" dirty="0"/>
              <a:t> driver integration </a:t>
            </a:r>
            <a:endParaRPr lang="en-US" sz="900" dirty="0" smtClean="0"/>
          </a:p>
          <a:p>
            <a:pPr lvl="1">
              <a:spcBef>
                <a:spcPts val="300"/>
              </a:spcBef>
            </a:pPr>
            <a:r>
              <a:rPr lang="en-US" sz="900" dirty="0" smtClean="0"/>
              <a:t>A72 </a:t>
            </a:r>
            <a:r>
              <a:rPr lang="en-US" sz="900" dirty="0"/>
              <a:t>data </a:t>
            </a:r>
            <a:r>
              <a:rPr lang="en-US" sz="900" dirty="0" smtClean="0"/>
              <a:t>path</a:t>
            </a:r>
            <a:endParaRPr lang="en-US" sz="900" dirty="0"/>
          </a:p>
          <a:p>
            <a:pPr>
              <a:spcBef>
                <a:spcPts val="300"/>
              </a:spcBef>
            </a:pPr>
            <a:r>
              <a:rPr lang="en-US" sz="900" dirty="0"/>
              <a:t>TCP/IP stack (NDK)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Multicast switching</a:t>
            </a:r>
          </a:p>
          <a:p>
            <a:pPr>
              <a:spcBef>
                <a:spcPts val="300"/>
              </a:spcBef>
            </a:pPr>
            <a:r>
              <a:rPr lang="en-US" sz="900" dirty="0" err="1"/>
              <a:t>InterVLAN</a:t>
            </a:r>
            <a:r>
              <a:rPr lang="en-US" sz="900" dirty="0"/>
              <a:t> routing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Network Security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Classifier/Policer</a:t>
            </a:r>
          </a:p>
          <a:p>
            <a:pPr>
              <a:spcBef>
                <a:spcPts val="300"/>
              </a:spcBef>
            </a:pPr>
            <a:r>
              <a:rPr lang="en-US" sz="900" dirty="0" err="1"/>
              <a:t>QoS</a:t>
            </a:r>
            <a:r>
              <a:rPr lang="en-US" sz="900" dirty="0"/>
              <a:t>/Packet Priority regeneration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Traffic Shaping</a:t>
            </a:r>
          </a:p>
          <a:p>
            <a:pPr>
              <a:spcBef>
                <a:spcPts val="300"/>
              </a:spcBef>
            </a:pPr>
            <a:endParaRPr lang="en-US" sz="900" dirty="0"/>
          </a:p>
        </p:txBody>
      </p:sp>
      <p:graphicFrame>
        <p:nvGraphicFramePr>
          <p:cNvPr id="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6464090"/>
              </p:ext>
            </p:extLst>
          </p:nvPr>
        </p:nvGraphicFramePr>
        <p:xfrm>
          <a:off x="4356739" y="3244558"/>
          <a:ext cx="3326757" cy="1188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8919"/>
                <a:gridCol w="1108919"/>
                <a:gridCol w="1108919"/>
              </a:tblGrid>
              <a:tr h="26026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OS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CPSW 2G</a:t>
                      </a:r>
                    </a:p>
                    <a:p>
                      <a:pPr algn="ctr"/>
                      <a:r>
                        <a:rPr lang="en-US" sz="800" dirty="0" smtClean="0"/>
                        <a:t>(Direct driver)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CPSW 9G</a:t>
                      </a:r>
                    </a:p>
                    <a:p>
                      <a:pPr algn="ctr"/>
                      <a:r>
                        <a:rPr lang="en-US" sz="800" dirty="0" smtClean="0"/>
                        <a:t>(Virtual driver)</a:t>
                      </a:r>
                      <a:endParaRPr lang="en-US" sz="800" dirty="0"/>
                    </a:p>
                  </a:txBody>
                  <a:tcPr/>
                </a:tc>
              </a:tr>
              <a:tr h="165622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TI RTOS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SDK 1.0</a:t>
                      </a:r>
                      <a:endParaRPr lang="en-US" sz="800" dirty="0"/>
                    </a:p>
                  </a:txBody>
                  <a:tcPr/>
                </a:tc>
              </a:tr>
              <a:tr h="165622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Linux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SDK 1.0</a:t>
                      </a:r>
                      <a:endParaRPr lang="en-US" sz="800" dirty="0"/>
                    </a:p>
                  </a:txBody>
                  <a:tcPr/>
                </a:tc>
              </a:tr>
              <a:tr h="165622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AUTOSAR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Y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Post SDK 1.0</a:t>
                      </a:r>
                      <a:endParaRPr lang="en-US" sz="800" dirty="0"/>
                    </a:p>
                  </a:txBody>
                  <a:tcPr/>
                </a:tc>
              </a:tr>
              <a:tr h="165622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QNX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SDK 1.0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Post SDK 1.0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1"/>
          <p:cNvSpPr>
            <a:spLocks noGrp="1"/>
          </p:cNvSpPr>
          <p:nvPr>
            <p:ph sz="half" idx="1"/>
          </p:nvPr>
        </p:nvSpPr>
        <p:spPr>
          <a:xfrm>
            <a:off x="4366899" y="1048942"/>
            <a:ext cx="2478024" cy="2021443"/>
          </a:xfr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en-US" sz="900" dirty="0" err="1" smtClean="0"/>
              <a:t>Timesync</a:t>
            </a:r>
            <a:r>
              <a:rPr lang="en-US" sz="900" dirty="0" smtClean="0"/>
              <a:t> </a:t>
            </a:r>
            <a:r>
              <a:rPr lang="en-US" sz="900" dirty="0"/>
              <a:t>(802.1ASrev)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Time aware scheduling (802.1Qbv) - EST</a:t>
            </a:r>
          </a:p>
          <a:p>
            <a:pPr>
              <a:spcBef>
                <a:spcPts val="300"/>
              </a:spcBef>
            </a:pPr>
            <a:r>
              <a:rPr lang="en-US" sz="900" dirty="0" smtClean="0"/>
              <a:t>SGMII</a:t>
            </a:r>
          </a:p>
          <a:p>
            <a:pPr>
              <a:spcBef>
                <a:spcPts val="300"/>
              </a:spcBef>
            </a:pPr>
            <a:r>
              <a:rPr lang="en-US" sz="900" dirty="0" smtClean="0"/>
              <a:t>RMII</a:t>
            </a:r>
            <a:endParaRPr lang="en-US" sz="900" dirty="0"/>
          </a:p>
          <a:p>
            <a:pPr>
              <a:spcBef>
                <a:spcPts val="300"/>
              </a:spcBef>
            </a:pPr>
            <a:r>
              <a:rPr lang="en-US" sz="900" dirty="0"/>
              <a:t>QSGMII and 2.5 </a:t>
            </a:r>
            <a:r>
              <a:rPr lang="en-US" sz="900" dirty="0" err="1"/>
              <a:t>Gbps</a:t>
            </a:r>
            <a:r>
              <a:rPr lang="en-US" sz="900" dirty="0"/>
              <a:t> support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Port Mirroring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Port </a:t>
            </a:r>
            <a:r>
              <a:rPr lang="en-US" sz="900" dirty="0" err="1"/>
              <a:t>Trunking</a:t>
            </a:r>
            <a:endParaRPr lang="en-US" sz="900" dirty="0"/>
          </a:p>
          <a:p>
            <a:pPr>
              <a:spcBef>
                <a:spcPts val="300"/>
              </a:spcBef>
            </a:pPr>
            <a:r>
              <a:rPr lang="en-US" sz="900" dirty="0"/>
              <a:t>IET (Interspersing express traffic)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ENET PHY </a:t>
            </a:r>
            <a:r>
              <a:rPr lang="en-US" sz="900" dirty="0" smtClean="0"/>
              <a:t>– </a:t>
            </a:r>
            <a:r>
              <a:rPr lang="en-US" sz="900" dirty="0"/>
              <a:t>power </a:t>
            </a:r>
            <a:r>
              <a:rPr lang="en-US" sz="900" dirty="0" err="1" smtClean="0"/>
              <a:t>mgt</a:t>
            </a:r>
            <a:endParaRPr lang="en-US" sz="900" dirty="0"/>
          </a:p>
          <a:p>
            <a:pPr>
              <a:spcBef>
                <a:spcPts val="300"/>
              </a:spcBef>
            </a:pPr>
            <a:r>
              <a:rPr lang="en-US" sz="900" dirty="0"/>
              <a:t>Switch compliance testing</a:t>
            </a:r>
          </a:p>
          <a:p>
            <a:pPr>
              <a:spcBef>
                <a:spcPts val="300"/>
              </a:spcBef>
            </a:pPr>
            <a:r>
              <a:rPr lang="en-US" sz="900" dirty="0"/>
              <a:t>Time sensitive networking</a:t>
            </a:r>
          </a:p>
          <a:p>
            <a:pPr marL="0" indent="0">
              <a:spcBef>
                <a:spcPts val="300"/>
              </a:spcBef>
              <a:buNone/>
            </a:pPr>
            <a:endParaRPr lang="en-US" sz="900" dirty="0"/>
          </a:p>
        </p:txBody>
      </p:sp>
      <p:sp>
        <p:nvSpPr>
          <p:cNvPr id="14" name="TextBox 13"/>
          <p:cNvSpPr txBox="1"/>
          <p:nvPr/>
        </p:nvSpPr>
        <p:spPr>
          <a:xfrm>
            <a:off x="1669419" y="758304"/>
            <a:ext cx="2475861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50" dirty="0" smtClean="0"/>
              <a:t>SDK 1.0</a:t>
            </a:r>
            <a:endParaRPr lang="en-US" sz="1150" dirty="0"/>
          </a:p>
        </p:txBody>
      </p:sp>
      <p:sp>
        <p:nvSpPr>
          <p:cNvPr id="16" name="TextBox 15"/>
          <p:cNvSpPr txBox="1"/>
          <p:nvPr/>
        </p:nvSpPr>
        <p:spPr>
          <a:xfrm>
            <a:off x="4366899" y="758303"/>
            <a:ext cx="2478024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50" dirty="0" smtClean="0"/>
              <a:t>Post SDK 1.0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25243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Jacinto 7 EVM: CPSW Support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3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Jacinto 7 EVM Baseboard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33379" y="889398"/>
            <a:ext cx="3164202" cy="1998582"/>
          </a:xfrm>
        </p:spPr>
        <p:txBody>
          <a:bodyPr/>
          <a:lstStyle/>
          <a:p>
            <a:r>
              <a:rPr lang="en-US" sz="1400" b="1" dirty="0"/>
              <a:t>MCU_ENET</a:t>
            </a:r>
          </a:p>
          <a:p>
            <a:pPr lvl="1"/>
            <a:r>
              <a:rPr lang="en-US" sz="1400" dirty="0"/>
              <a:t>DP83867 RGMII PHY</a:t>
            </a:r>
          </a:p>
          <a:p>
            <a:pPr lvl="1"/>
            <a:r>
              <a:rPr lang="en-US" sz="1400" dirty="0"/>
              <a:t>1 </a:t>
            </a:r>
            <a:r>
              <a:rPr lang="en-US" sz="1400" dirty="0" err="1"/>
              <a:t>Gbps</a:t>
            </a:r>
            <a:endParaRPr lang="en-US" sz="1400" dirty="0"/>
          </a:p>
          <a:p>
            <a:pPr lvl="1"/>
            <a:r>
              <a:rPr lang="en-US" sz="1400" dirty="0"/>
              <a:t>CPSW 2G MDIO bus</a:t>
            </a:r>
          </a:p>
          <a:p>
            <a:r>
              <a:rPr lang="en-US" sz="1400" b="1" dirty="0" smtClean="0"/>
              <a:t>ENET_EXP DB</a:t>
            </a:r>
          </a:p>
          <a:p>
            <a:pPr lvl="1"/>
            <a:r>
              <a:rPr lang="en-US" sz="1100" dirty="0" smtClean="0"/>
              <a:t>1 </a:t>
            </a:r>
            <a:r>
              <a:rPr lang="en-US" sz="1100" dirty="0"/>
              <a:t>x QSGMII Expansion </a:t>
            </a:r>
            <a:r>
              <a:rPr lang="en-US" sz="1100" dirty="0" smtClean="0"/>
              <a:t>Daughter Board</a:t>
            </a:r>
          </a:p>
          <a:p>
            <a:pPr lvl="1"/>
            <a:r>
              <a:rPr lang="en-US" sz="1100" dirty="0" smtClean="0"/>
              <a:t>Not supported as SDK1.0</a:t>
            </a:r>
            <a:endParaRPr lang="en-US" sz="11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05" y="624287"/>
            <a:ext cx="4538334" cy="3784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49272" y="1336248"/>
            <a:ext cx="635000" cy="4154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700" b="1" dirty="0" smtClean="0"/>
              <a:t>ENET EXP BOARD</a:t>
            </a:r>
          </a:p>
          <a:p>
            <a:r>
              <a:rPr lang="en-US" sz="700" b="1" dirty="0" smtClean="0"/>
              <a:t>(QSGMII)</a:t>
            </a:r>
            <a:endParaRPr lang="en-US" sz="800" b="1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5073650" y="3556000"/>
            <a:ext cx="711200" cy="307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700" b="1" dirty="0" smtClean="0"/>
              <a:t>MCU_ENET</a:t>
            </a:r>
          </a:p>
          <a:p>
            <a:r>
              <a:rPr lang="en-US" sz="700" b="1" dirty="0" smtClean="0"/>
              <a:t>(RGMII)</a:t>
            </a:r>
            <a:endParaRPr lang="en-US" sz="800" b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333379" y="3261360"/>
            <a:ext cx="3164202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1100" dirty="0" smtClean="0"/>
              <a:t>With SDK1.0 only CPSW2G supported on Baseboard, GESI DB is needed for CPSW9G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17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GESI Board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44067" y="736045"/>
            <a:ext cx="2076860" cy="1151779"/>
          </a:xfrm>
        </p:spPr>
        <p:txBody>
          <a:bodyPr/>
          <a:lstStyle/>
          <a:p>
            <a:r>
              <a:rPr lang="en-US" sz="1400" dirty="0" smtClean="0"/>
              <a:t>1 x RMII PHY</a:t>
            </a:r>
            <a:r>
              <a:rPr lang="en-US" sz="1600" dirty="0" smtClean="0"/>
              <a:t> </a:t>
            </a:r>
            <a:r>
              <a:rPr lang="en-US" sz="1100" dirty="0" smtClean="0"/>
              <a:t>(Post SDK1.0)</a:t>
            </a:r>
            <a:endParaRPr lang="en-US" sz="1600" dirty="0" smtClean="0"/>
          </a:p>
          <a:p>
            <a:pPr lvl="1"/>
            <a:r>
              <a:rPr lang="en-US" sz="1200" dirty="0" smtClean="0"/>
              <a:t>DP83822</a:t>
            </a:r>
          </a:p>
          <a:p>
            <a:pPr lvl="1"/>
            <a:r>
              <a:rPr lang="en-US" sz="1200" dirty="0" smtClean="0"/>
              <a:t>100 Mbps</a:t>
            </a:r>
          </a:p>
          <a:p>
            <a:pPr lvl="1"/>
            <a:r>
              <a:rPr lang="en-US" sz="1200" dirty="0" smtClean="0"/>
              <a:t>CPSW 9G MDIO bus</a:t>
            </a:r>
          </a:p>
        </p:txBody>
      </p:sp>
      <p:pic>
        <p:nvPicPr>
          <p:cNvPr id="1026" name="Picture 2" descr="C:\Users\a0272583\Documents\cpsw\GESI_RJ45_SideView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"/>
          <a:stretch/>
        </p:blipFill>
        <p:spPr bwMode="auto">
          <a:xfrm>
            <a:off x="4775784" y="1039802"/>
            <a:ext cx="4051668" cy="303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34" y="2087880"/>
            <a:ext cx="2886843" cy="228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238884" y="736046"/>
            <a:ext cx="2054771" cy="995695"/>
          </a:xfrm>
        </p:spPr>
        <p:txBody>
          <a:bodyPr/>
          <a:lstStyle/>
          <a:p>
            <a:r>
              <a:rPr lang="en-US" sz="1600" dirty="0" smtClean="0"/>
              <a:t>4 x RGMII PHYs</a:t>
            </a:r>
          </a:p>
          <a:p>
            <a:pPr lvl="1"/>
            <a:r>
              <a:rPr lang="en-US" sz="1200" dirty="0" smtClean="0"/>
              <a:t>DP83867</a:t>
            </a:r>
          </a:p>
          <a:p>
            <a:pPr lvl="1"/>
            <a:r>
              <a:rPr lang="en-US" sz="1200" dirty="0" smtClean="0"/>
              <a:t>1 </a:t>
            </a:r>
            <a:r>
              <a:rPr lang="en-US" sz="1200" dirty="0" err="1" smtClean="0"/>
              <a:t>Gbps</a:t>
            </a:r>
            <a:endParaRPr lang="en-US" sz="1200" dirty="0" smtClean="0"/>
          </a:p>
          <a:p>
            <a:pPr lvl="1"/>
            <a:r>
              <a:rPr lang="en-US" sz="1200" dirty="0" smtClean="0"/>
              <a:t>CPSW 9G MDIO bus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130540" y="1887825"/>
            <a:ext cx="754380" cy="200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700" b="1" dirty="0" smtClean="0"/>
              <a:t>RMII PORT 5</a:t>
            </a:r>
            <a:endParaRPr lang="en-US" sz="700" b="1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8389620" y="2087880"/>
            <a:ext cx="160020" cy="373380"/>
          </a:xfrm>
          <a:prstGeom prst="straightConnector1">
            <a:avLst/>
          </a:prstGeom>
          <a:ln w="412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04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Demos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87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Firewall</a:t>
            </a:r>
            <a:endParaRPr lang="en-GB" dirty="0"/>
          </a:p>
        </p:txBody>
      </p:sp>
      <p:sp>
        <p:nvSpPr>
          <p:cNvPr id="2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png;base64,iVBORw0KGgoAAAANSUhEUgAABBMAAAJ5CAYAAAD8eXhbAAAgAElEQVR4XuydB3QUVRfH/wJC6KE36V1QFELvSBFEAqKUj16kg6B0DFVQioAYRHpXQKSJdJAelC41gBA6odcQ+nfuxLdOJrvZ3dlpu3vnHI5k57377vvdGcz9733vvfbq1atX4IsJMAEmwASYABNgAkyACTABvyWwZs0a7N+/H1euXMHVq1dx7do16b8ZM2bEvn37/JYLT9w5gaCgIFy/fh1ZsmRB5syZpf9mzZoV9Hnt2rWdG+AWXkvgNRYTvDZ27DgTYAJMgAkwASbABJgAE1BF4Pbt21i1apXtT61atVC6dGlJPFAmhYkSJVI1BnfyDwLPnz+PI0LduHEDYWFh2LhxI+rVq2f7kyZNGv+A4iezZDHBTwLN02QCTIAJMAEmwASYABNgAnv27MH06dOxYsWKWElewoQJGQ4T0JwACQ1y0apBgwbo2LEjSpUqpflYbNB4AiwmGM+cR2QCTIAJMAEmwASYABNgAoYSCA8PR79+/RAZGYkJEyagTJkyho7PgzEBIrBr1y58/vnnyJYtG0aPHo38+fMzGC8mwGKCFwePXWcCTIAJMAEmwASYABNgAvERoLXs/fv3x+7du6XkLTg4mIExAdMJLF++XBK3KlWqJD2X6dKlM90ndsB9AiwmuM+MezABJsAEmAATYAJMgAkwAcsT2LRpEyZOnIiGDRuiTZs2lveXHfQ/AjNnzsSyZcvQu3dvVK1a1f8AePmMWUzw8gCy+0yACTABJsAEmAATYAJMQEmAljLQCQ20AZ4/XTdn7cL5dvOQ9n+lkHN6CyRIllia/vObD3GmbihSVimAbN98FOezTL1rSvcf/XkuDi65LWFfNFKOIx9L2Mrcr5ZtTNHvcv9luDZ6PZT3hJ9KP5KXzo18q7shUfoUPhnOatWqoX79+ujRo4dPzs9XJ8Vigq9GlufFBJgAE2ACTIAJMAEm4JcE2rZti8DAQIwfP96v5v8y6inOfzoft3/6C4lzpkX+tT0QUDiLS2KCEBiosRAMCm79AikqF7AxJAHg9qK9NrtivCf/3IiV6FO7pxfvSGIGtSdxQ25LLhgoRQJnoofcT18L7meffYaoqChpg1C+vIMAiwneESf2kgkwASbABJgAE2ACTIAJOCVApeItW7b0y2UN0Seu4nTtSUhd5y3cW3MEWQbXRfq25TURE4RtuU0yrPxcCAwPd52JJWbIA/dw2ymEV/lWqkqg6gR7QoO8gkLYJBvyagunD4MXNpgxYwaWLl2KdevWeaH3/ucyiwn+F3OeMRNgAkyACTABJsAEmIAPEiAhoXPnzmjUqJEPzs75lKii4Orw1ci7tBMiJ2ySOojk251v/O1VJjiqVlDalVdH0PjK6gb6jCoXHmw9hVxzWiOi9RyHSy/sLcfw5coEEeGFCxdizpw5frdEx/kTbr0WLCZYLybsERNgAkyACTABJsAEmAATcIsALW2oWLGiX1YkECjlt/e0vICEBbHUQQsxQW5PBMde1YCoVnh6/rbUTL6vgtIPISyI/RAc7Zlgb98Ftx4QL2tMSx327t2LadOmeZnn/uUuiwn+FW+eLRNgAkyACTABJsAEmICPEaDNFi9evOh3eyTIw6hcbqD8WQsxQbn3AY1vz65c3KD9G+jKObOltORCLHEQFQvKn+2JDbQUQvT3sUc33unQZoz58+dH9+7d/WnaXjVXFhO8KlzsLBNgAkyACTABJsAEmAAT+I8AHf84evRovy8JF6cjKJ8NscEhnepAmzMmzp7G7mkOzjZgdHXPBOX4ol/aJiWlPRzEBpHKdqJ6gSod5KdOCHHh2bV7Dvdg8OX3gZbuDBkyBFWqVPHlaXrt3FhM8NrQseNMgAkwASbABJgAE2AC/kzg+vXroOUNq1ev9mcMtuqAJHkzxNqgULnPgfI0BmVVgIAY32kO8g0TRaJP/cQyBbl4QAKFXIRIUTaPtEEkCQty8ULuV6IMKeMcYSn88belDiIederUwYIFC5A2bVq/fs6tOHkWE6wYFfaJCTABJsAEmAATYAJMgAk4IeDv+yQIPEIUUC4FUCb2ys0Rqb+95QOOxARqL+6JseX7ISj9ET8LEcCRXbn/gfWKxRET5H7b29DR118U3j/BuhFmMcG6sWHPmAATYAJMgAkwASbABJiAXQLh4eEIDg7GyZMnmRAT8HkC+fLlw/r165E3b16fn6s3TZDFBG+KFvvKBJgAE2ACTIAJMAEmwAQA1K9fXzq5gQQFM66Ht+7h8O+7cePsVUQ/iML9O/fNcCPOmKkCUyJpquTIkC8bin1QDsnTpLSEX0onnj95hv0rd+D6qYu4ffUmnjx+Yhk/kyRNgrRZ0yNTgRwoUb8iEr6eyHTffv31V/z8889YunSp6b6wA/8RYDGBnwYmwASYABNgAkyACTABJuBFBPbs2YNevXohLCzMFK8Prw3D4VW7kDVhAJInSoTkiV5HotcSmOJLnCT95Us8fPEMj54/w5UXT1C8fkW8Vau0JXwTTpza+Td2zF2DHEmSI1nCGH6JEyS0jI9PX77Aw+fP8PjFC5yPfoDKbeoif/m3TPevZMmSmDJlCoKCgkz3hR2IIcBiAj8JTIAJMAEmwASYABNgAkzAiwi0a9cOn376KcqUKWO413sXbUbk3nDkSZTM8LHVDPjP8yhkLV0YJRpVVdNd8z5Hfw/D6Y37UDCJNSsm7E04/OlDFHy/FN6sVUpzHu4Y3LlzJ+bOnQvaQ4EvaxBgMcEacWAvmAATYAJMgAkwASbABJiAUwK3b99G/vz5cevWLadttW5weN0eXNx0EHle9w4hQcz/n2ePkKtmEN6qaW4yTBUJx37djoIB3iMkCIYnH9/H202qIl+Zolo/Vm7ZS506NS5evIhUqVK51Y8b60OAxQR9uLJVJsAEmAATYAJMgAkwASagOYE5c+Zg27ZtmD17tua24zNIeyQsHzITQanTGzquVoPtvXMDDUd2MG0PBdojYW63b1EuY1atpmS4nZ2Rl9H2x75ImMi8JRktWrRArVq10Lx5c8PnzwPGJcBiAj8VTIAJMAEmwASYABNgAkzASwh89NFHoISqQYMGhnq8e+EGPD5wFlmTpjB0XK0Guxz1EMlL5kXZpjW0MumWnb3LtuJB2ClkSeJdVR3ySV5+GoXAcoUQVL+SW3PXsvEvv/wC+rNkyRItzbItlQRYTFAJjrsxASbABJgAE2ACTIAJMAGjCSRKlAhPnjxBwoTGfju8cvhsZHz0EoFJAoyesibj3Y2OxvWUCREc0loTe+4aWf31fKS58wRpA5K629Uy7W8/foy76QPwQT/zqgLo2aelDtHR0Zbh4s+OsJjgz9HnuTMBJsAEmAATYAJMgAl4DYE1a9Zg8uTJ+P333w33eVHvUBRNFohECaxxaoO7AJ6/fIljUXfReFw3d7tq0n5u12/xbtqMSGywCKSJ8/8aefriBQ7duYGWoZ9radZtW7TM4YsvvkDNmjXd7ssdtCXAYoK2PNkaE2ACTIAJMAEmwASYABPQhcDw4cMlu4MHD9bFfnxGp7UdhUq5chs+rpYDbo84hw6zBmpp0mVbvsCPJmsmQwF7yJAhCAgIwIABA1zmzw31IcBigj5c2SoTYAJMgAkwASbABJgAE9CUQOfOnVGsWDF06tRJU7uuGJOS4dx5XWlq2Tbbz/1jrpjg5fwkMcFEhuLBouqcEydOIDQ01LLPmr84xmKCv0Sa58kEmAATYAJMgAkwASbg1QTq16+PNm3aIDg42PB5kJhQOW8+w8fVcsBt/5wxVUzwdn4UCzMZimdh+fLlmD9/PpYtW6bl48G2VBBgMUEFNO7CBJgAE2ACTIAJMAEmwASMJlCmTBl89913KF26tNFDQxIT8uc3fFwtB9x2+rS5YoKX85PEBBMZimdhz5496NWrF8LCwrR8PNiWCgIsJqiAxl2YABNgAkyACTABJsAEmIDRBHLmzIkdO3YgR44cRg8dIyYULGD4uFoOuC38lLligpfzk8QEExmKZ+H8+fOoXLkyIiIitHw82JYKAiwmqIDGXZgAE2ACTIAJMAEmwASYgNEESpYsKX0bS8dDGn2RmFClUEGjh9V0vK0nw00VE7ydHwXDTIbiYXj+/DnKli2LvXv3avp8sDH3CbCY4D4z7sEEmAATYAJMgAkwASbABAwn8Nprr+HVq1eGj0sDSmLCm4VNGVurQbceP2GumODl/CQxwUSG8ufAzHdBq+fRF+ywmOALUeQ5MAEmwASYABNgAkyACfg8ATMTKElMKPqmVzPeevS4uWKCl/OTxAQTGbKYYL3Xj8UE68WEPWICTIAJMAEmwASYABNgAnEImC0mVH27iFdH5Y+/j5kqJng7Pwq+mQxZTLDe68digvViwh4xASbABJgAE2ACTIAJMAHriQnFinp1VP44fNRcMcHL+UligokMWUyw3uvHYoL1YsIeMQEmwASYABNgAkyACTAB64kJ777t1VH54+Df5ooJXs5PEhNMZMhigvVePxYTrBcT9ogJMAEmwASYABNgAkyACVhOTKhWophXR2XL/sOmignezo+CbyZDFhOs9/qxmGC9mLBHTIAJMAEmwASYABNgAkzAemJCyXe8Oipb9h4yV0zwcn6SmGAiQxYTrPf6sZhgvZiwR0yACTABJsAEmAATYAJMwHpiQql3vToqW/46aK6Y4OX8JDHBRIYsJljv9WMxwXoxYY+YABNgAkyACTABJsAEmIDlxIT3yhT36qhs3nPAVDHB2/lR8M1kyGKC9V4/FhOsFxP2iAkwASbABJiAZQm8evkc967uwpP75xB97yxePHuAJw+vWNZfsxxLkjwLEiZOhYDUeRCQKg9SZSmP1xIkNMsdaVx/j50VY+LuA2H20ZDvlQty12WErl6IiSvnxen3bbt+CC5TTbqfPX0W6e/7zxzDirDNGNS4IwISJ3F7LGcdNu/eZ66YoIKfszkZfd9MhiwmGB1t5+OxmOCcEbdgAkyACTABJsAEADyI3Itrx2YgeersSJI8PQKSZ0JAisxImCgx81EQePH8CaIfRiL6Ef25iah7F5G5aAekzFjCFFYcO8BqMVHzIJguJlQo6bbbob8tlPp0+7CZ3b50P3uGzAgu8x72nyYxYRMGNemkj5iwc6+5YoIDfiv3bMYX00fH4dOzfiuJG92/eOOa9HdnjJS2vv2URJv3XI6bPB72Om02kSGLCS6H0bCGLCYYhpoHYgJMgAkwASbgvQSuHPoOL57eQvbCwd47CRM9f/XqJS6dWIWEARmRtVh3Qz3h2NnHbWZM1D4AZosJ1SuWctv10FULYsSEes3j9F0ZthmfT/9G+nz8p/3xRvpMWB62CSkCkmP6uiWoVDQI4zsMQJoUqdwe116HTTv+MlVMcMSPOOw9fQRfNulsV0Sh+xdvXJUY7j99VGJkry21IzFGMLvz8D4+n/Y16petjuCyrgkKFK/sGbI4bG8mQxYTNHkNNDXCYoKmONkYE2ACTIAJMAFfI/AKF/d+hZSB2RGY+S1fm5zh87lz9TAe3b+GN4IGGjA2x84VyMbGxBWPHLcxXUyoXNrtCYSu/FdMCI4rJpAxup89Y0zySolyo5E9sWTQRBTJmR9f/TwFmQPTo5uDvu46s2nbn+aKCQ74SWLCqSP4smlcMUEwobn2atAaZd98B8t3k+CSDNPXLkGlt4IwvuNASXCxx1rYrlOyMtbs3SaNQRexLVngLYn72asX8d2KeShdqBhC5k6MEXc6DrArKJjJkMUEd594/duzmKA/Yx6BCTABJsAEmIDXEqBvtZMmT400LCRoFsM7Vw/h8eMo3SsUOHauh8yomLjukf2WposJVcu6PYXQFfMxYdnsWP0K58iLSV0HI0+W7KD7kphQrjr2nzqK0JXzMb7TQKRJmRord2/CxetX0a1+C7fHtddh0x9h5ooJDvjRPPeGH8GXzbrYr0yQcSBGjb7qgSVfTkKRXPnx1cIfkDlNeomRuNe06odxbN15cA/fLp2FLz5uK6GhvxP/tu9/LPULO35QsiGPh9UYspigyWugqREWEzTFycaYABNgAkyACfgOgQfX/sLdC6t5aYMOIb14fDkCczVAykz67KHAsXM/aHrHxH2P4vYwXUx4r5zb0whdHrP5YrcGLe32pfvZM2ZFcHkSE45g+c6N+LJ5VympXrmLxIQrDvu668ymzbvNFRMc8KN5fj5lZJzpLBk8CSUKvBWLAzGihH9850ExgouCUfTTJ/hqwWT8vOU3yV7Tah9KPOmizxtUqCH1O3ruFC5EXkGz6sFYuGklyhZ5VxpLHg+7YoKJDFlMcPeJ17+9JcWEESNGSDMPCQmxEQgPD8fQoUMRGhqKdOnSaUrm1q1b6Natm2S/YMGCDm272s6eAZrT4MGD0bFjR0yYMAFJkybVdA7xGdOTnWGT4IGYABNgAkzAUAK08/+ZrV2Rv2QHQ8f1l8Fovf6Z/TORr3IoXkuQSNNpc+zU4dQzJuo8itvLbDGhRvXybk/l+3/FhO4OxAS6n4MqE8rXwL7wI1ixSy4mbMSF61fhqK+7zmzctMtUMcERv5W7NsZUJvwroijnRfcFB3cZyfmTHXFlS58Zf589iTJvvotVuzehUeU6yJM1B+TxsMfXTIYsJrj7xOvfnsUEAK6KBK62U4bt8ePHGDJkCNq1axevWKF/uHkEJsAEmAATYAKuEbh7eRuirm1H1gJ1XOvArdwmcDl8NVJkfQ+ps1Zwu298HTh26nHqFRP1HsXuabqYUNP9Z/X7ZXOlSXT/qJVdDHQ/B1UmVPhXTNixAV+27BZTmbCTkugrDvu6y3Xjhp3migkO+NE895782zbvOGKCjIMkJthh9GndJpj4yyw0qvqBJAqIS97+ys1IbD20R7pV5Z0yOHI2HFFPonH+2iX0/KStxFweD7tigokMWUxw94nXv73Xignim35CNHz4cFsVA30L37hxYxw+fBi1atXCwoULpUqGXbt2Se0iIyNRpkyZWNUBcpEgR44c6NWrF7JlyyZVEgj7vXv3lj6fOnUqihUrhsWLF0O0pc/o2rlzJ8qXLw/yoUePHtJnL1++lGzNnRvzDym1KVSoEJo1a4b169fb7IsqDPJF3JP772he8keEmOTJk0fqTxfN/ezZs2jUqFGsqg76vHnzmE1wxFziq8jQ/zHkEZgAE2ACTMBqBCKPz0aiBE+QLpv7R8FZbS5W9efW5b/w/FVSZCrcWlMXOXbqceoVE/Uexe5pupjwfiW3p/L9r3MwYcnMOP16NWqH7g1bY+WODegVOgITuoUgW8YsWLF9Pb5s1T1GTNixIUZMaKjNO7Jx3XZzxQQH/Giekpjw77yVsOQcJHHAASOlHWnJw9zvkSlteomhtG/Coul4EPUQQ9v2kn6e9fsSlCz0NoIr1pSGpXhJ4s6/Pyt9MZOh3Bcz3wW3XwIf7uCVYsLJkycxf/58SRCgS3zrnz59eimRpsScknpKri9fviy1O3DgALp27SqJAMrE2Z6YQHaV/ci+fDmEfDkGiRXCPvUlQWPy5MmSH1SZQEJEixYtULx4cenvFStWlHwVwsOkSZNs4gS1o35CDOjSpYvDecmXS5APci5iTPJbLBEhduS3EFnsLSnx4eedp8YEmAATYAIuEji/ZzDSZ3sXyQP/+4bLxa7czEUCj+6ex80rh5Cz9HAXe7jWjGPnGid7rfSKiXqPrCUm1KxTWaupmGJnw5ptpooJjvhRpUGvSXH/HfhfjWCEtOqBo+fC8UlIF3zeuD3KFi2O5dvXS58HJEkiVSlcjLyC7h/HCC5KW9RH3JPEgqVzpHb0GYkJQ2ZOkKoS8mSL+bde9J/QYzDq2xEUzGTIYoIpr028g3q9mKBMpuWJsnyvAGUSLadiT0wQyb78nlxMUAoXcsGA7lFlAgkEJFzI75FI4Ghs+tzevhAkEjial3z/CLkwIbd18+ZNh/tNCMFCvj+F9R5T9ogJMAEmwASMJnB2R0/kLNoYCRMlNnpovxnvxfOnOH90CfJUjPlyRKuLY6eepF4xUe9R7J5mfhs7re0o1PygilZTMcXOht+3mismeDk/CpqZDFlMMOW18T0xgRJoean+ggULpG/uKemuUCH2Wi5Rxk8JtfjWXrn5oT0xQVQHOBMTxFIFQZl8CQoKipW8K8UEpZ9yH+WigbAZ37zkVRbycSIiIqQlDiQSyEWVZMmS2ZZrCPvyZSLWe0TZIybABJgAEzCDwIm1jVG4Ql8zhvarMU/sHIPCtRdrOmeOnWc49YiJZx7919t0MeHDqlpNxRQ7G377w1wxwcv5SWKCiQxZTDDltfE+McHet+XKb+fFrOQJNH3mSDCQLwHQSkxwdAKE8vQEuY9ivwSxFEMuVpD/jioTHM1LGV3Bjj6vVq2abQ8HYXfdunXYsWOHbc8Irkyw3kvJHjEBJsAErECAE1JjoqBH4sqx8yx2esTEM4+sIybUCq6m1VRMsbN+5RZTxQRv50dBM5MhiwmmvDbeJybI9x+QLxOgjQwpCZcnwPKTEpRLD6gdJeH0X/k+C1qICeSXfL8BsUEi7ZMg36OAqijiExPIt7Fjx0p7OdjznxL/L7/8Eu3bt7ftBSGfl/KYTOFH5syZbfsiyMUNuZgQFRUlVXTQ0gte5mC9l5M9YgJMgAmYSYATUmPo65G4cuw8i50eMfHMIwuJCQ2qazUVU+ysX77JXDHBy/lJYoKJDFlMMOW18T4xgTxWlvbLS/FFci5OURDLHKif/NQD+UkFWlQmiNMb9uzZY/c0B+FHfJUJYmNFcZoCzYE2hxTLKhyd2uBoXsroCjZCeBFMRGUC/Sw/LaJz585Yu3ZtrNMtrPeYskdMgAkwASZgNAFOSI0hrkfiyrHzLHZ6xMQzjywkJnxUQ6upmGJn/bKN5ooJXs5PEhNMZMhigimvjXeKCdZDxR4xASbABJgAE/AfApyQGhNrPRJXjp1nsdMjJp55ZB0x4f2PY44P9NZr3dINpooJ3s6P4m4mQxYTrPfmWfI0B+thYo+YABNgAkyACfgXAU5IjYm3Hokrx86z2OkRE888spCY0KiWVlMxxc66JevNFRO8nJ8kJpjIkMUEU16beAdlMcF6MWGPmAATYAJMgAmYToATUmNCoEfiyrHzLHZ6xMQzjywkJjSprdVUTLGzbtFac8UEL+cniQkmMmQxwZTXhsUE62Fnj5gAE2ACTIAJWJsAJ6TGxEePxNXM2C1cvBbNPw1Bx7YfYcLXnyNp0gAJZPjpCDRuPRCHj5yKBXbB9BFo1rg2RoyegcEjf5Tu1apeFgtnjEC6tIHGBEExih4x0WoiZh8NWbtpHa2mYoqdtT+vMVVM8HZ+FDQzGbKYYMprw2KC9bCzR0yACTABJsAErE3AzITU2mS09U6PxNWs2D1+HI1eA8Zj6qxlKPZWASyeMwoF8+eKA0y0i7hwVRINTp6KQIWa7bFzwwwUL1ZIspEtS0aE9GuvLWwXrekRExeHdtrMdDGh2QdOfbRyg7ULfzdXTPByfpKYYCJDFhOs93ZZapkDHXlIRyFOmDAB4vjGW7duoVu3bqDTCOg4RnHRsYyXL1+O01acVCBH3bFjR6ndhQsX0LhxYxw+fDhOJOQnQshvKk+OqFWrlu3IRWpHPouTGeT9du7cKR25qLzkR0GK+Tiao7Kvq+3UPGbEM0+ePNJJD3wxASbABJgAEzArIfU38nokrmbFTlQf1KxWBhu27EGfHi2kqgPltWvPIZt4UL7MO3HuU5XCrj8Pm1adoEdMtHquTRcTWtTVaiqm2Fk7f7W5YoKX85PEBBMZsphgymsT76BeKSbQMYkkDtDVq1cvm8hAyTYlwyEhIbZEXogBFStWjJUo2xMu7CXvZI+ObRRJNh0x2bVrV+loSBID7NmhNpSc07106dLFMivEB/lRl66KBK62U/OYsZighhr3YQJMgAn4LgGzElLfJWp/ZnokrmbFjpY4jJ00H3OmDMGPs36VJixf6kA/i6oEe/foMyFIlClZNE5fo54NPWKile9miwl1Wn2o1VRMsbNm7m+mignezo+CZiZDFhNMeW18T0yghFxcZ8+elcQDuuyJCfQ5tZe3E58pqyCUpOz1U9pzp5pCPm5ERIRN9FCKBMpqCKpyKF68uCScTJ06FcWKFZOqIagdzV05bxIz5s+fH6caQ15VQeLBsWPHJFGEqjKIj6hMILGGKjgmT55st7rCeo8xe8QEmAATYAJaEzArIdV6Hla3p0fiakbslCLBslV/SMKCcqmDEAvsVS3cun0XzdqHYP2mMIi9FMyInx4x0WoeposJrYO1moopdtbMWWmumODl/CQxwUSGLCaY8tr4lphACfSQIUPQrl07pE+fHoMGDcLIkSOlCgAtKxNEQk9VCcrlCvLKg3Xr1sVZmuGsMoES92rVqtkS/qioqFhLOSjRp4uEAnklBM1XLPmg+zNnzsSwYcOk5RvEpGnTpggODpbEE7ref/99qaJCVFbIl4aMGzcu1jIRUZkQFBQkLSkJDQ2NU1VhvceXPWICTIAJMAG9CJiRkOo1Fyvb1SNxNSN2SpHAkWggqheUIoN8vwXl5o1Gx0+PmGg1BzPFhEX9pqB0rXJ4PfHrWk3HUDvPnj7Dn+t3ocnoLoaOKwab12MCytetjCTJYjYl9cYrOioau1dvR8tJPU1338x3wfTJW8gBr1vmQN+aiySa9lWgJJgSc0r4hZiwfv36WIjlSwrEDWfLHOITE8gHkXCTmKDcM4EqB8QyCGWsRbVD7969pUoDWn5BSb8QCUgwkC/VkPtRqFChWO1En5s3b4L+/P333+jSpQtGjx4tiS10yYUB8rtHjx6YNGkSlixZIt0XVR3EMUWKFPjrr7/i7E9hoeeVXWECTIAJMAGDCJiRkBo0NUsNo0fiakbs5KcxyAHLT2aIb4mD6G/2SQ7kux4x0eqhMzOBWjlyLnIVzI30WTNoNR1D7dy8fB3nT59HvalvUs0AACAASURBVIEtDR1XDPb72IXImiMrMmbPbMr4Wgx6/cI1XLl0FR/0/p8W5jyyYea74JHjPtbZ68QEexseCrFAWZkgT57lmzdSDLUUE+TLJeRVBfaeFfnSCSFKUHUBVRZQ4i/EBKUgQksR5KIDzUcIKSQAVK1aFb/99pu0PGH8+PFStcbJkydj7d0gX05BYoJ8w0WyRVUQtBQiY8aMvBGjj73oPB0mwASYgLsEXE1IxWZ6wr6yPJ2SxDy5stmO/xN/d9cfR+3tJbHxnSSg1bjCjnx+amzrkbi6Gjs1/trrI5Yn5MqRJdY+B+KYSDqlgTZaFO3Kly4W66QG8QwZGbf45q5HTLRibWYCteunDXj16Clyv5VPq+kYaufs36eRKGVSlG1a3dBxxWB7l23Dk1sPvJYfzYMYJs2YGkH1K5nCUD6ome+C6ZO3kAOWEhPka/3FaQ5yQUD5rT1xlCfI9u5T8k77Byg3Q3QmJgjBQbnXgvJzpR0haMg3bZTHW7kPg1h6cO/ePZuYYO/0CuVcSUwgXrTvQWRkpFSRMG/ePCRPnlz6mSoO5BUUtAxEWZmgFBPoZ6VgYaFnlV1hAkyACTABAwm4kpBSsjh/8Rrbrvvim2f5sX5GiAmERX6MIPm1I+ygIRv4sZgACDFAKSSJpQ4N61WT4uNITLAnCJlZocBigv1/aB7deYBfh8zEe83qGPgvkXZDbVqwGp981RHJUifXzqgbll48e47ZXcahdvuP3OhlraZrpv2KdtP7IUGCBKY7xmKC6SGQHLCUmGBv4z/5Ov8DBw7EOSVBflqD2CPA6qc52Ns08tq1a7alEfLqBjkT+TIHEhPoHlU05MiRQ9o7gfh8//336N69e6xlH472TLAnJtASC0cbT1rjkWUvmAATYAJMwAgCzsQESgy79R6DoQM6oGD+XDaX5J/vO3ACzT+N2SSZEs2zEZeRIkVSrN+8R9pkb/igTjYRQL5mntqLb7MpUR0+egYir9+GvR3+KRFVigmUxA79ehpCx/VFurSBtmSX2snX41NfpT9UOUE+K78llye8ImkW37yL+dExiPbaxRcvPRJXZ7Ez4vnx5jH0iIlWPMxOoI5s+AuXj5zD25WKazUlQ+wc3rYP2d/Jj6LVgwwZz9Egp8OO4OSWAyhRs5ypfqgZfN+63ShSMwh5SxdR013zPma/C5pPyEsNWkpMIIYieT58+LCEtGPHjtKpBGJ/BOkXhn9PbxDMRfWBSKTlYgK1UR7nSJ+5UplA7ZQnK8hPRHBkR/TJli2bXV+V1Q5K/5Rj0hIHSvLF53v27JGEBxIRxL4LdF9ZiaDkqTzNwZGYEN9+EV76nLPbTIAJMAEm4CYBZwkpJfnzF61xePRfxbLvxlnaQIn2rj8PS5UMN2/dRePWAzH5275SCbxcFCDbXb8YI50EQO3E3+WihZiOPTFBXplw4dI19Og7DpPG9EaONzKj14DxEJUT9vwR36LL7corMOz5LZZuKMeVz88Rfj0SV2exc/NR8LvmesREK4hWSKAOrNqJyFMXUaxqSa2mpaudQ5v/RNYiufHOB9ZI4E9sPYBTO/5GyToVdJ23lsb/+n0nCld9BwUrvqOlWY9sWeFd8GgCPtLZcmKCj3DlaTABJsAEmAAT8GoCzhJSR2ICTdrR0gZ5gi4qEVo0qYNCBXJJRwKG9G0nCQvye5K9MTNtSymUUJ2VyCuXPMj9HjdpgWROlODLKy2oH1VS0D3lUgb5PMS9j+pVlYQKIaIoObCY4D2vA4sJzmN1dNM+HPxtJ/IUL4SUaVIhdaa0ljnlgU5tuBd5Gw/u3Mc/+0+gRP1KKFKthPNJGdjizJ5j2DrzNxQs8xZSpk2FVBnSICB5UgM9iH+o6EePce/GHTy8fR8nd/+Nah2Ckbf0m5bxjxxhMcEa4WAxwRpxYC+YABNgAkyACViKgF5igvgW356YQEsf5BctJ8iVM4vdCgjRzp5AIU/o5UsRRB+xHv+H6Uttm0Mql20IMaF3j+ZxRAJ7QoMQE6bOWhZrDvKlHPYCrEfi6ix2lnrQLOiMHjHRappWSqBoD4UjG//CjbNX8PhBFO5evaXVND2yQ8JGssAUyJA7C96uVca0PRKcTeLF8xc4uHoXIs9cwq0L1xH9MMpZF8PuB6RMhnTZMyFTvmwoXq+CJfZIUE7eSu+CYYGx4EAsJlgwKOwSE2ACTIAJMAGzCThLSF3ZM4GWJTiqUlCKCfb2XyAG8VVA0H3lMgex6Z9YPiFP/JVM5b45EhPcrUygSguqrnD10iNxdRY7V33z13Z6xEQrlr6cQP3000949OgRPv30U61w+ZWdp0+fSsvDZ8yYgYQJE/r83H35XfCm4LGY4E3RYl+ZABNgAkyACRhEwJWE1JPTHORignLPBLkgQNO1tzeDwODOnglC3Lh89bq01wMtcxCVEvGJCWr2TIh6HC0t3WjRuI60d4SjS4/ENb7YOTrpQhkPPR4zcZqDWM4ixpB/vmXbPltM5D44Eq/c8dOZMCVs6RETd/yMr60vJ1C0P9qLFy9ASTFf7hMYPnw4vvnmG+lPjx493DfgZT18+V3wplCwmOBN0WJfmQATYAJMgAkYRMAVMYFcEccCCreUxwOKZQbiNAd7yxzk+ySIZQLCjrME0J6YIJJTkcjLfZQfOehqZQLNzdEpDfL5KU9zcLbEgezqkbiqERMMeqziVJKIZyi+fTGoDYsJMRHy1QSKNlunE8pISKCN1AcNGmTUI+kz4yROnBjPnj2Tjol/+PChz8zL0UR89V3wtsCxmOBtEWN/mQATYAJMgAkYQMBVMcEAV3x6CKuICfLKhPTpAqWjNVOnSgEh7oijOuUCjHKjTHkFiaPlJSTsKIUDextaBhUvLJ3CQdfLly+RLWtGzF242nZk55Jlm2wVDMqqCqXAJT9mNL4qF/Gg6RETrR5iX02gkiVLJp1aRhclxU+ePNEKmV/YoaqEUaNGSdxSpkyJr776yuerE3z1XfC2B5bFBG+LGPsbhwD9kpEgQQLLk6HSPX9Yw2b5QBjgoLc8k69evZK+5eKLCdgjwGKCMc+FHomrmsoEpZhAx1r26dHCdrynvaUhyiSeBAS63q9RFrS5JW1emTRpQCyQyqUOyooDIVaQmCA/WtNRO6oGUfoujgKlZS3yZR0HDp+Md8kMiwnGPPPKUURVwoMHD6RbSZIk4eoEN0MhqhJEN3+oTmAxwc2HRKfmLCboBJbN6kfg0uUrWL9+A06ePIHTp07htdde4Urkbf0G1MhygVxZEfXkOQoULIiChQqjYYNgST220vXX3n2gP+EnjuPChQu4dsP6XIlf8SL5cP/RExQoVAiF3yyCRh9/ZChWEop+XrQEJ08cx6lTp5AqWWIcOXXeUB/UDBaYMjleT5wYBQvkQ4GChVGlciUULFhAjSnu44MEWEwwJqhWFRPkCbnyOM34lqoMGTUNh4+ewuB+7R1uRCmvblAuY5GLCXIfXBUTlJtfyu2zmGDMM+3uKPKqBNGXqxNcpyivShC9/KE6gcUE158RPVtaSkyIjo7G3LnzcPzYEZw6cw63797Xc+5sOx4CaQNToWD+PHizSFG0bt1aKjmzwkUJ24Y1K1GmQAYUypYS+bOlQdZ0Kazgmks+XLzxAKcu3Ub4lYdYtfs0unbrig/rfuBSX70bjR07Fs/vXkG21K+hYNZUKJg9LQJTxP5GSW8fPLF/+vIdie3ley+xdNsxjPnma7zzTjFPTLrUd9PmLQgZMgwtar2LfJmSocAbaZArU2qX+lqh0fU7jxB+6Q5OXX2Ao5ceoWjxMmjXrq0VXGMfTCbAYoIxAbCqmEDLHELH9UW6tIGxTtSQb1ppb9NGZ3tcEFXRZuTgLhg0/AfIj/KUiwlyH9wRE+T7W9B4Hdt+JG24yWKCMc+0O6NQVcLAgQOlCtPcuXNLXc+dOyeV6w8bNoz3TnAB5uuvvy79nk4CwvXr15E+fXrpVAyqPoyKss5xky5Mxa0mLCa4hUu3xpYRE9auW4+vvxmDznXfln4Rp1/I06VKqtvE2XD8BG7df4zwS7dx4fp9hK48hJBBA1CrVk1TsfXr0xuZA6LRq/7bpvqh5eAjFu1HQLqc6NN/oJZm3bL1/PlzfFivPtrWKopPKuRxq69VG999GI2+s/9E46bN8F6tOrq5OXvGVJw+shejWpbSbQyjDU9ddwJhp25jzty5Rg/N41mMAIsJxgTEm8UEe0sWSBwomD8nMqZP6/AUCzqtg6oOurT/BIt+XW8TLYi4GjFB7odkY8xMLJwxIo4QwmKCMc+0O6OUKlUKOXPmBIkKM2fOlBLg9u3bo1evXvjnn39w4MABd8z5Xdu1a9fif//7HyZPnozGjRtLS0To97p58+ZJDJcsWYL33nvPJ7mwmGCNsFpCTPht+S/YuXkNRrcpaw0q7EUcAn1nhaFKrXqoU6+BKXS6d+uKSnmS4JPKhUwZX89Bp6/5G+ejU+GrkaP0HMah7WrVa2L25zWQ04u+TXcVVL+ZO1G88gfS/2C1vsaNHYPX7vyDLxqW0Nq06fY2HziPOdsuYP6C+ab7wg6YR4DFBGPYe6OYIPZPoOS8Qs32kG/OWK1yEIoXKwRa7tCuZT3QvgXKS1Q00OaOyhMv3BET7PkhFxOSJQ1ArwHjpeG5MsGY59ndUe7fv49UqVJJ3agSgcSEoUOHSj/L77lr11/ay/c+oiWXQkzwh/mzmGCNKJsuJqxduw7bfl+Mb1hIsMYTEY8XfWbuQo0GLVCzRnVDfV326zKc2rsB/T8pbui4Rg7Wf84e1KzfHNXeq2bksBgxfDjeSf8YH5aOKS30xavukFWYNWsWMmbMqNn09u8/gBmh4zClWxXNbFrN0I9rjiFxtrfRtm07q7nG/hhEgMUEY0CbISY0/zQk1uRoGcCowV0xcPhktGhSB+I0B3vLHKIeR6NZ+xCs3xSGPp+1xP0HD6U+Eeev4mzEZYT0ay/ZpuoD+TIFJU1xpKYQIsR9R2KCECD27D2KxXNGST7a84OEDBIQSKgo9lYBDBvY0Vb9cPJUBG/AaMxjrWoUpZigyogfd2IxwY+Db+LUTRUTaI+Emu9/gO3fav+toYlMfXro8r1+xtbNG0Drs4y4aO1XSP8vMLVrRSOGM3WMFt9uwYzZcyVV2Yhr+/Yd2L12Mfp/7DvLRuxxO3PlDqb9cQ1jxk/QBCv9z7pj+7b4rn0pJA8w5j3QxHEVRr6Y+Sc6fT4A+fPlU9Gbu3g7AbPFBEpGaTf/w0dO2da808kA8mP/xFp4+pyS0GMnz2LxrxuwYPoI2ykEg0f+KIVCfEZ/l9uoVb2srSTejJgZLSaYMUdvG1OPmGjFwJe/jWUxwbOnhMUEz/hxb3UETBUTpk2bgVQPw9Gkcn513nMvwwks3HoaUYFv4tN2bQwZe/nyFTi5+zcMaFLakPHMHKT/zB2o+Ul7VKta2RA3hg8djOIZnqBumbyGjGfmIHUHr8Ss2bM1qU44cPAQpk38Bj/2MLaKxAx+U347hIAcJdCGqxPMwG/6mGaKCa4cFyi+gc6WJaP0bTiJCaLsncQF+ZGAFy5dsx0zWKhALnTrPQZDB3SQSvDFcYZ0xKAZlx6Jq5mxM4Oh1mPqEROtfGQxQSuSvmeHxQTfi6k3zMhUMeGzzz5Dk6A0KPtmVm9gxT7StznHLmPpgfuYMFGbb3mdQf161EgUSn4HDSr4/nF1s9cfQXSaIujcuZMzLJrcb/a//2Fok2LSiRi+fvWevgP1mnVEpYoVPJ7qokVLcOXvTfi8YZDHtqxuYMuhC9hwMhrfjB1ndVfZPx0ImJmQOjoRQPk5/Sw22/th+lKJAgkLoiTe3ikB79coG0tM0AGdWyb1SFzNjJ1bk7doYz1iotVUWUzQiqTv2WExwfdi6g0zMlVMqF2nLhb0qcGnNnjDk/Kvj3TKQ/OxG7F2zWpDvG7TujV6f1gARXKlN2Q8MweJEWruYsLE73R3gzbsKVO+Mv78vrnuY1lhgBlr/8bLjMXQocOnHrszdMgQlMr8BHVK+cbJF/EBuXzzAbr9uAvLly/zmBsb8D4CZiak8qoCqjIQl/Jz+bp8EhPy5MomLW+Qb/AnJy82+3O0hMKMKOmRuJoZOzMYaj2mHjHRykcWE7Qi6Xt2WEzwvZh6w4xMFRNKl6vkN8mMNzwMrvpYuvsC/Ll7u6vNPWr38ccfY0qXCsiQOplHdryh85nLtzFy+UnMnj1Hd3evX7+BTp0+xbJB+h2bqPsk3Bhg9Z4zOPogLfr37+9GL/tNe/b8DM1Kp0XJAlk8tmV1A8+ev0CdkJXYuGGd1V1l/3QgYGZCqrYyQSkm0MaA5cu8Ey8dEijkGwfqgDJek3okrmbGzmh+eoynR0y08pPFBK1I+p4dFhN8L6beMCMWE7whShbz0Ugx4cMPgzHzsyrImCa5xSho787pS7cxbMkRLFi4UHvjCovXb9xA29ZtsHp4Pd3HssIAq8JO48jdQAz6cpDH7nTr2hUty2VEqUK+LyY8ffYc1fotxc5tWzzmxga8j4CZCSlVDvToOw6TxvSW9jWg/RDoavRRddveB/b2TBBiArWVVzGIEwhaNK6DoOKFY50ywHsmxDybxGHspPnSSQniOEfl3hWOnuL4Tm4QpzbI+8o3zlTaFFUlrghBer1VLCboRTZ+u7wBo2fcWUzwjB/3VkeAxQR13Py6F4sJ+oSfxQR9uJJVFhPUsWUxQR03X+llpphADB2d2hDfaQ5yMYFskAghTnMQSxxE4iyOR4wvsTUilnokrmpiJ5J+OSetxIQdYQcx4evPIZasKDfLNIKzO2PoERN3xo+vLVcmaEXS9+ywmOB7MfWGGbGY4A1RspiPLCboExAWE/ThymKCeq4sJqhn5ws91SSkvjBvo+egR+KqJnaikiPiwlWE9G0nLQ9RignKvSh2bpgBOh2jWfsQrN8UBnvHbNrb/4LsUh8aR1SY3L33UDrWc/NvP2DJ8k1o1KC69F95hQKJEEIwcueIUHdjqkdM3PXBUXsWE7Qi6Xt2WEzwvZh6w4xYTPCGKFnMRxYT9AkIiwn6cGUxQT1XFhPUs/OFnmoSUl+Yt9Fz0CNxVRM7sXdEtcpBmL9ojVRJQMtD5MdoiuUmdGIGJfNdvxgjLYuga+jX0xA6ri/SpQ2MhdDRZppCGPioXlX0GjAe4ohP+TKHiPNXbftZyIUNGkAsg8nxRuZY/bWoetAjJlo9V74uJty5cwe9evXSCpfmdqzMn8SE/Pnzg/7rD5eVY+EP/MUcWUzwp2hrNFcWEzQCqTDDYoI+XFlMUM+VxQT17Hyhp5qE1BfmbfQc9Ehc1cROiAm9ezSXknM6VlN+jGb6dIG2agKqWpAn/XTPUzFBHOMpt0uxEEd/njwVYRM5lq36A/KlE/INO8dNWiCFkAQPtZceMVHri7KfLydQhw8fRu3atZE4cWKtcGlq5/Hjx1KiniJFCk3tammsUqVKmDdvnpYmLWvLl98Fy0K34xiLCd4ULYv4ymKCPoFgMUEfriwmqOfKYoJ6dr7QU01C6gvzNnoOeiSuamInP9VCbKg4bGBHDBk1FUMHdIAQE2g5g/xaMH1EnE0t5fftVSYIwYAEBFGZIJYzyMUEWkIhKiOWLNtkW+Jgb1NHscRCfkSo2ljqERO1vviTmKAVI73sfPfddxgyZAju3r2r1xBs1w0CLCa4AUvHpj4lJoyY8TsG/7jKhmvnjD4o/04+l/CFR1zD0GmrEdq3CW7efWj7e7pA++qjvL2jNvKBdx06gwrtx9o+WjCiLZrVLu2Sb44aifm2Cy4vNWnzYTmX5+vJwCwmeELPcV8WE/ThymKCeq4sJqhn5ws91SSkvjBvo+egR+KqJnbKIzLFcoF79x/axAT5kgc5J2enOSg3YLS3Z4I9MYEqIMiPTBnT4szZS2jXsp500kR8x3nK91VQG0s9YqLWFxYTtCLnuR0WEzxnqKUFFhO0pKnels+ICZRYX75+FxM+/wRJAxKDkv3GA6djct+mbifYrggFrrQRYSEhoeuYn7F41KcomCszHkc/Ra/xv6Diu/lUCwpkY8i039CuXnnJppEXiwn60GYxQR+uLCao58pignp2vtBTTULqC/M2eg56JK5qYqdM0EXCfy3ylu24SPmeCSQgNG49EJO/7StVLbizzEG+rwHxpmUVjsQEsdGi/NQNe0eHXr56XdrngZY5KE/1cDemesTEXR8ctecESiuS7tthMcF9Znr24HdBT7qu2/YJMcFRck4CA115sqXH2cs3EdL+A9y6+xDNQmYhpF0dSWSgRH/+mj/R+eNK+GbOegzv9CG6j12M9WHHUKtsESwc0VayQX3kn4nqhVJFcuHzCb+gWIE3bGKBHL8j35RihLxyoeNHlSRRRPof7PhfkC1joK3iYnineujdvIb0+dRl26U2m3/oiSWbDqBFndK2OYkqCGovF1lcfzQct2QxQQuKcW2wmKAPVxYT1HNlMUE9O1/oqSYh9YV5Gz0HPRJXNbGz922/fJNFqghQnuZASxyaNa4tnfpApzPQtXDGiFibMNpbkiAXBuTLGpR7MYgTJch2i8Z1pLHEJT/NQX6KBFcmGP0E+/Z4VapUwaNHj7B3717IxYQpU6ZISx5+++03lC7tWaWxbxPUb3YsJujH1h3LPiEmSP/zWvsnmofMAiXPJBrIL0rcZ67ahWEdPsSFa7elb/Sb1iqJ4MrvSP3oCiqc0+4yh2QBiaXEXSTq1J6EiUbVS0iVD31a1JSqC5SVEWJ8GrvHuMWY1LuxwwoCeRVF8UI5bAKCEA3IFokLB05esFU45Mic1uaX6EM+FsqV2SaWiM9Ff6rY0OJiMUELiiwm6EPRvtVVYadx5G4gBn05yONhu3XtipblMqJUoSwe27K6ARYTrB4hff1Tk5Dq65FvWreKmOCbdNXNSo+YqPMkbi9OoLQi6Zqdvn37YuzYmGXKuXPnRmRkpPT3qKgoUCxevnzpmiFupTkBfhc0R6rKoM+ICTR7UXVAFQR0CWGBPu82ZhGGdqgr7Ydw895D/H36Mrp8XBmj562XlgrQZW/PBEf7JyhFAlHhIJZZiGi4shxC2Zd+HjFzDWZ82QJfzVxjWw4hn4cjMYHGpUoL4Ycjv1Q9Lf92YjHBE3qO+3Jlgj5cySqLCerYspigjpuv9GIxwZhI6pG4cuw8i50eMfHMo/96cwKlFUnX7SRKlMjucYt9+vTBmDFjXDfELTUlwO+CpjhVG/MpMUFOQbm8gCoHqgUVxF/HIlA1qCB+2/E3GtcIwviFmzCyS3CsTRflAsLJiGtSYk/LHeQbLdpbpiBP4uVigrPKBKp22HHwTKz9HkjYGPtZQ0lMEFURrogJEVdvxbLFYoLqd8Pwjiwm6IecxQR1bFlMUMfNV3pxQmpMJPVIXDl2nsVOj5h45hGLCVrxU2OnX79+cUSDhAkT4vnz52rMcR+NCLCYoBFID834hJhASfagH1ZKooA84RdLEmjZAyXVx85eReTt+1JFwrzf9yB50iTSz3Tf0WkO8VUmiEoGGtNR0u5ozwS5zyRYKKsJ5JUJ7ogJ9DxwZYKHb4VJ3VlM0A88iwnq2LKYoI6br/TihNSYSOqRuHLsPIudHjHxzCMWE7Tip9aOsjqBqxLUktSuH4sJ2rH0xJJPiAkEQGy2KPZLEEseKBGnPQ1ILKC9Emh5AO2dQPsPfL/kD3RvVFXatNCRmEC25Rs2iioCsWEjHSUZn5hA/R2d5kAbKwohQ5w8YW/PBHfEBN4zwZPXwdy+LCbox5/FBHVsWUxQx81Xep3d/hlyvtUYCRMl8ZUpWW4eL54/wfkji5Gn0nea+saxU49Tr5io9yh2T06gtCLpnh15dQJXJbjHTq/W/C7oRdY9uz4jJghBYfCPq2wEFoxoazt6UVkhoFymIP9ZCAj0X1reQNUJlOwfPnXJdsKDsmLB2XIC+WkNZFe5UWR8pzm4IyaIEyroNAc6YaLLx1Uk4US5l4N7j0ns1rxngif0HPdlMUEfrmSVxQR1bFlMUMfNV3qd3zMY6bO9i+SBOXxlSpabx6O753HzymHkLD1MU984dupx6hUT9R6xmKAVO0/tiOoErkrwlKQ2/VlM0Iajp1Z8SkzwFIYv9ldWbGgxR28VE4SgJCpCtGChpQ2riAn2hDWxqamYr71TU+wJevSZo2NT3WFHzzEd8UpVRmous8QEccqM0mclP/mJLiQIistef3s8iY8QUpX3XTlRxhFTFhPUPG2+0yfyxBwkei0a6bKV9J1JWWwmty79hedIhkyFW2nqGcdOPU69YqLeIxYTtGLnqZ1hw4ZJeyfQUZF8mU+AxQTzY0AesJhgjTho5oVISqiKgq6OH1XStCqBbHqrmCCqR2gOyv01NAuAB4asLCaEtKsjLQeiS4gyomJGPmV74pVyg1E1iLxZTJBvrupo7oIb3ZcfbWuPnbwKitrT0bVygUwpTLCYoOaJ4z5E4N7l7Xh4bRuyFajDQHQicDn8d6TIWg2ps1bQdASOnXqcesVEvUfWExPuXr2FfSu248qJ84h+GKXV1NiORQkEpEiGbG/mQlCDSkidKa1lvGQxwRqhYDHBGnHwKi+8VUwQJ3ps2Rce61tukZylShGAsfM22Jay0F4Y1CdF0iRYv+c46Nt5+TfK8qUptcoWiXPih7tB9RYxgeblKLm3JybYW1KkXDZkb98RsYEqVSQ0D5kl4RRLl+JbFnT3YRQWb9iHnTP62AQQMysTnIkJYjPWz5tVx5Cpv0lH2BbMlVmarz0xQc5TuXmreObkgsOFa7fh7EQZR88qVya4+xb7VvtXL1/gzNYuyBfUHq+9lsC3JmeB2bx8+RxnD8xB3sqheC1BQk094tipw6lnTNR5FLeX2QnUzYirWD/pF7xdtSSSp06BgORJtZoa27EogehHj/Ho3gMc2rIXdXo1QbocmSzhqdnvgiUgWMAJFhMsGNAKJQAAIABJREFUEARvc8EbxQT56Rm038XMVbukjTiTBiSWNsikPSZEoipPiOnvv245gMWjPkX6wBS2zThpo8tuYxbZEj9K+uhSW4ZPfb1FTBCbm8qrFcQz7KwyISr6qcRQbIxK7S9fvytVz9DeHvKTSOSnscjFC/k37bShqvhmvnfzGnG+pRd+WVlMoOePBC6qSFA+R/bEBPln4xZstLv8Q86IGLCY4G3/ylrH3weR+3A3YiWyv1nfOk75iCcXji1D2jwfI0XGd3WZEcfOfax6x8R9j6wlJlBFwuqxC1G1yftaTIVteCGBP35ei3oDWiJVxjSme89igukhkBxgMcEacfAqL7xRTJAnbFSmTyd7tKtXXvoGmO7RUZy02SZ9Qy7/5veHpduk2IjSc5Hg0vGicjFBiwBaWUxQ7pkg39xUPnf52n3xubxqw16Vgkh0SeRxRUxQJtjiW/hRXYMxcPJKVHw3XxxRx0wxQVRVyDnJqyZExYw4VUYudNnbM0HO01GFCAk+4vlkMUGLt9O/bVw5HIqkyZIhTeZi/g1Cw9nfvnIQT54+RZa3umhoNa4pjp3reI2Kiese2W9pZgK1ecpyZMiUAemypPd0GtzfSwncvHIDt27cQrVO5gvMZr4LXho+Xdz2GzFBuZcA0dRiYzhPoyL/Zpa+JfeGyxvFBHtJrrxkXp7EKsUE+cZ/8m/L5c+UFntTWFlMsFeFYO9ZlVcmKE9QofZK4Uae9LojJigTdEqwZ3zZAl/NXCNVPcg3MaRxzRQT4lvmIKo85GKN/N8lZ/tNsJjgDf9i+oaPl/aNQvJUmZAmyzu+MSETZ3H7ygE8fngL2Ur0N8QLjp1zzEbHxLlHjluYmUDN6zEB5etWRpJkAZ5Mgft6MYHoqGjsXr0dLSf1NH0WZr4Lpk/eQg74lZigLPWlxKbrmJ+lEnaxRtnI2FAyOuGnzdKQvf73nik+qJmvt4kJ9jagU647l1cmyBNeZWWCo9Mx5CKDGqbUx9fEBJqTvc0Ah05bjdC+TWxVII4qE5TLTYSo44h1fBtDWlVMcLSM4ezlm7ZlD/GJEY6OpOU9E9S+hdwvPgJXDn+PF9GReKNwMO+hoOJRofX4l06swuvJsiLL211VWFDfhWNnn52ZMVEbTTMTqGltR6FOq3pqXed+PkJgzdxV6DBroOmzMfNdMH3yFnLAr8UEioO9b1KnLtsuhUiUIovEs1SRXPh8wi9SRcPkvk2l0njlpnzyb6udbcon1kfTWCJ5EAkYJVzy8YTgEd9mgUY9V94mJthL2OTr/okb7Zkg4q1MYncd/kdaAkEXrfenb+lp/wR5UuxPeybE95x5umeCEPfE/hTli+WVkmpHeyaQCCiqe8QyB2+pTLBXuUFs5WLWurBjiE9MsHfcKZ/mYNS/hP45zoPr+xF5bAaSpsyEgBSZEJCc/psFCRN5R2WdkVF78fwJoh9eQ/TDSEQ/ikTUg0hkKdoBKTLos0eCs7lx7ACrxcRZzOzdNzOBIjGhdvO6atzmPj5EYO2C1Swm+FA8PZ2K34sJ8m/waDMzuih5kVct0Ge0+3yfFjWltdjyTfnonvhmVSRA9jaXUy5hkK/bp36DflhpO65QJAMNqxWP8+0kbVLnaLNATx8GV/t7k5jgKGETQhJt/teoeglMX7FTmv6iDXtjHadJsX4QFY0Ne46DjtuU7xUgX8/Oyxxinh57YoIQbsR7EZ/gJpajkBBXq8ybePj4ie0doKUN9k5zEKJdsoDE0gaMVhMT7O2ZQM9L548roe+kZZjUu3GsqiQ5L2Lq7DQIwX3wj6ukGCiXb3myxItPc3D1X0X/avfq5XPcvxaG6LunEX0/Ai+ePcCTh1f8C4ILsw1IngUJkqRGQKpcCEidD6kyl9P81AYX3IjVxN9jZ8WYuBtD08WEprXddZnb+xiBtT+vZTHBx2LqyXRYTDh0Rtr07ct2ddD+q/nSt8603lpeMk3JvnyJhLzMWrnRmaMSbuUyCvoFX77RmnITNvl4ynXljjYLpM0Djbi8SUxwhYejUnGRpMn3THDFnto2VlnmoNZ/K/cza5mDlZm44huLCa5Q4jZWIRAREYGqVavi3LlzVnGJ/bBDgOPk2WNhtpjwfqNank2Ae3s9gXVL1rOY4PVR1G4Cfi8miBJ4ISbY27U+qHDOOCXtYllCfIm+/J5STLC3S/vwTvWkb2GVO97Ht0mdsq12j4ZjSywm6EOZxQR9uJJVFhPUsWUxQR037mUOgdatW2Pu3LmYPXs26O98WZMAx8mzuJgtJtRqWMOzCXBvryew/teNLCZ4fRS1m4DfiwmiLDu+o/6UCbunlQny9fpi1/n4jnKTbyBIO9472iyQKxO0ezHMsMRign7UWUxQx5bFBHXcuJfxBOjb7ty5c0sD58qVi6sTjA+BSyNynFzCFG8j08WE+u95Pgm24NUE1q/YzGKCV0dQW+f9WkxQnuYgX+8t38TM3mZ79ioTXN0zQXk8HoVUvrafKiHkezTINxAUeybY2yxQ20fDsTVfq0wwipuzcVhMcEZI/X0WE9SxYzFBHTfuZTwB8W23GJmrE4yPgSsjcpxcoRR/G7PFhJp1q3o+Cbbg1QQ2rP6DxQSvjqC2zvuVmEAJOm2iJy7lRmUioRenOYjN3lytTKClDK6c5hDf8YK0f8OwDnUx8ectSJ0iKcgX+akQJESELtkqTUG5WaC2jwaLCUbxFOOwmKAfcRYT1LFlMUEdN+5lLAH5t91iZK5OMDYGrozGcXKFkvM2posJtSs7d9KDFtFPn2DE3EnInCYDun/833Kls1cuYOjsiRjapifyZM1hG+H7pXOQPVNWvJ23ELpNGIwT58/EGX1C98GoX7Gm9Dm1H79khvT3wjnzIbTX8Fj2aBy5nf/VCEZIqx4ISJzEZteRj3ce3EPPScOx/fCfsXyQ21DaV/pGHeXzpp+F3e4NWyGo0NuxbK/YsQG9vh/ucDwPQuGw64a121hM0AOsl9r0GzHBm+IT3z4I8W0WaNQcuTJBH9IsJujDlayymKCOLYsJ6rhxL2MJiG+78+TJg7NnzyJ9+vS4efMm751gbBicjibilDdvXvzzzz8cJ6fE7DcwW0yoUbOCSs9d67Yv/AgoQabri8btkSZlaunvlIQPmzsJQ1r1iC0mLJuLHBmzIrjCf3s5rNy5EXtP/o0vW3aziQAkAHw1LxSZ0qZH949a2Wx2nzQMw9r0RFDBt6Qx5D9To++XzUXk7ZuxbDnykZL+XqFfodtHLSV7dIlxSxZ6G7VKVcLEX2ahUdUPpDko50RjSWLCv/4JYvbsinv25mrPZ9fou9Zq44adLCa4hsovWrGYYMEws5jwX1A+/DAYMz+rgoxpklswUtq6xGKCtjzl1lhMUMeWxQR13LiXcQTk33bXr18fK1asQIcOHTBt2jTeO8G4MDgdSR6nhg0b4tdff0X79u0xY8YMjpNTerEbmC4mvFfOTY/da/798nkoW+RdhB07GCMSlK8ek/hfvYBh877HkJbdkSeLrDJh+bxY7ajtyl2bsDf8b3zZvKtNTNh36ghW7NwY6zNqK//8aMQphK6YjwmdB/0nYtgZ15GPUtI/ZSS61W+BoAIxYoLw58L1K+jeoGUsGJLQsGAyShZ8W5on2aVL2c6RXUdzja+9e9Gw33rj5t0sJmgB0kdssJjgI4E0chpcmaAPbRYT9OFKVllMUMeWxQR13LiXcQTEt92tWrXCixcvsGDBAunPoEGDcP78ea5OMC4U8Y4kjxM1pFM36M/gwYM5Tm7GyGwxoXqVMm567HrzOw/v4duls/DFx21x58F9LNm+Fj0btJIEgbNXL2L4glAMbt4NebJktxkNXTkf2TNkQXC5GNFBSrB3b8LeU0fw5f+62MQEe+2ordxumpSp8PmPX+PGvduY1CUk1jjCdnw+0j3q361ec5QoUFTqIgkGP/2AkgXeiuUj3VO2Jx/p6hbcIhY0e3bjmyvdczRf16PhuOWmrXtYTNACpI/YYDHBRwJp5DRYTNCHNosJ+nAlqywmqGPLYoI6btzLGALyb7vPnTuHkJAQm5jw7NkztGnThr/1NiYU8Y6ijNPQoUNtYsLLly85Tm7GyGwx4b2Kpdz02PXm+08fRdiJQ1IyTkn4dyvm4ZOK70tJPSX9I36ajJD/dY0tJqxaECMmlP3vlImVYZux7/QRDGrS+T8xwU67mIT+PoYtCEWP4BY2u9T/i+nfSI4Xzp4X33UaZLsXn49k6/NpX2PH0X2xJt2zfitpTsordNWCGPHg33vKn0V7Ybfbh81QIn+MSCEue3Ole2RLycX1SMTfcvOOv1hM0AqmD9hhMcEHgmj0FFhM0Ic4iwn6cCWrLCaoY8tigjpu3MsYAocOHULPnj0lwWDOnDlo0aKFTUxo1qyZ9HmVKlUwceJEBAYGGuMUjxKHgDJOokqBKhNatmzJcXLzmTFdTCgX5KbHrjcPXb0QE1fGlPqL69t2/RBcphrOXruIET9PQUjTzsiTWVaZsHohsqfPIrWxJdh7tmDf6aMY1Ljjf2KCnXbUXhITfpqMHvWax7IrbO0/cwyhq3/C+Pb9kCZFKsTno5T0zxiNbnX/hxL5ijj0WUr2Vy9E5J1bcXyke93qNovFQGlXfnOlnbmSEDNy8VQE5S8ai4vrkYi/5ebd+1hM0AqmD9gxVUyoXacuFvSpgXSpkvoASv+Yws17j9Hy241Y8/tqQybMeybog/n6jRto27oNVg+vp88AFrPKYoK6gLCYoI4b9zKHgFJMMMcLHtUZAaWY4Kw9349NwGwxoVrp4rqE5Oy1SxixZApCGpFY8IY0Bn32/eoFGNyki/Tz8EU/oHtdSvpj7ktJ8y/TUDJfEdQr/Z+YsOrPLdh75hgGfdLBJiaQKLDizy2xPiMb8s83HNwl2ZXbokRejEv3nPn4xawx6FqnqSQm0EW+0Ljftu0riRHC58yB6dD1g//FYjn595+kn5Wfkw9Ku6KjvbnG116L4G358wCLCVqA9BEbpooJPT/7DI2CAlHuzWw+gtP3p7Hr6GUsPXgPEyZONGSyLCbog5nFBPVcu3XtipblMqJUoSzqjXhJTxYTvCRQ7KZEgMUE73gQWEzwLE6miwlBxTybgIPeq/ZujREAGra3CQBSUjxnHLrWboIi2fNi5K8zICXhtZtIVvb/cxzDFk/BxHb9kCdTjMAgJfB2bElJvKL/2chL6DlzNIY07owSed8E/Tzil6kI+aSjzR7ZksSA1r2x48SBeH0kH4S/ZI8uMa4keJSsgslrF8UIBv/OQY7D0T05B2E3vrmSnWt3b8ViqWXQtuw7zGKClkC93JapYsK0aTOQ6v5xNKlayMsx+o/7CzcfR3S6t9GuXVtDJs1igj6YWUxQz5XFBPXsuCcT0JMAiwl60tXONosJnrE0W0yo+u5/pxR4NpP/elPCPWr5TATlfRP1gqrEMjt53WJE3ruFgQ3aSZ9Tu0W71kl/L5QtNya27hNLSJDEhH1bse+f41If2rwxVsK+bjG+W7PQYX9JYJgzFicvn5PaVCxcHONafo6krydx6mOXmo0waFEoutRqhBJ5YsQEuvafPY5hv0zF8Ead8f26RZIoIb/IPs2b5ip8E/c/q9MM/6tYG73njY/T7+ee3+Dy7evSPfnVpPz7dueuVbz+OHiExQStYPqAHVPFhKdPn6Ja9VrYOaGpD6D0jymU7bEQO7dvQcKECQ2ZMIsJ+mBmMUE9VxYT1LPjnkxATwIsJuhJVzvbLCZ4xtJ0MeGtmPJ9vvyXwB9HjrGY4L/hjzNzU8UE8mb9+vXYtPJnjG2n77m1HHPPCXwxfSdqf9wS1av/d/yO51bjt8Bigj6EWUxQz5XFBPXsuCcT0JMAiwl60tXONosJnrE0W0yo8mZhzybAvb2ewNbjJ1hM8PooajcB08UEmsrvK3/F1rXLMPbTytrNjC1pSuCLqX+gZr3GqFW3vqZ2nRlr07o1+tUvhELZ0zpr6vX3/zx5FT/9eRPfTfpe97nQeeyVq1b3m6qg2euP4Gn6t9Gxw6cesx0yeDDKZX2GWiVze2zL6gau3X6ELj/swLLly6zuKvvHBHjPBC95BlhM8CxQZosJlQsW9GwC3NvrCWwLD2cxweujqN0ELCEm0HQ2bNyEYcNHosuHxZArc2opeeRTHrQLtLuW6NSG8Iu3EXH9HkJXHMSIYYNRvfp/Z/i6a09t+5EjR6JoqnsILpdPrQmv6Td341E8TFkYXbt2NsTnpk2a4qtm7yJvVt8/Mq3vzF2o07gdqlSu5DHbhT8tws3jW/FZA312tPbYQQ0NbPv7IlYff4yxY8dpaJVNMQF9CHBlgj5ctbbKYoJnRE0XE/Ll92wC3NvrCWw7c5rFBK+PonYTsIyYQFN69uwZ5s6dh2NHDuPk6bO4ffe+djM10NLtWzfxOOoR0qRNj2TJkxs4snZDpUuTCgXz50XRom+jdZvWhu2RoJzB0mXLcfavdej7SQntJmdRSwPnhKFa/Rao/t5/xxvp6erQIUNQKvMT1CmVR89hLGE7eNhv+HHadGTJnNljf/bt249ZP4zHD119v5Jq6u9/I9EbQWjXtrXH3NgAE9CbAIsJehPWxj6LCZ5xNFtMqJTb939n8CxCvt97+7mzLCb4fphdnqGlxASXvbZ4w+bNm2PhwoWYP38+6O98qSdw/sJFfDd2JMa39v1vgTv9uAffjB2PwEBjKgU2bdqC42Fr0aOOb3/LcOnmQ0xYdwHfTtDmONPnz5+jU4cO+LFTKSRKmED9w+0FPUMWHUGjVp3wVlHecMsLwuX3LrKY4B2PAIsJnsXJTDFhbtdv8W7ajEhs0CbcnpHi3noQePLiOQ7fuYmWoZ/rYd4tm2a+C2456uONWUzQIcAsJmgLdeHCn3HzVBg+q1dUW8MWsjbs5wMIqloPH3xQx1CvBg4chGp5EqD6u9kNHdfIwT4ZtQ7jxk9Ezpw5NBt2164wLF0wHRPal9HMptUMzd18Cg+T50HXrl2s5hr7wwTsEmAxwTseDBYTPIuTmQnUpklLkeLiXaQOCPBsEtzbawncjX6MqJxp8V63hqbPwcx3wfTJW8gBFhN0CAaLCdpDbd+uPRqVzoiaJXJpb9xki4u3hWPv5dcw7ltz1qWXq1gFG7/5BMkDXjeZhPbDD1vwJ3IWq4TWrVtpbnzEiBHIiEh0rPO25rbNNnjwTCRGLj2Cpb8sMdsVHp8JuEyAxQSXUZnakMUEz/CbmUDdi7yNVcNmIygwg2eT4N5eS2DvnetoMKI9UqY3poo2PlBmvgteG0AdHGcxQQeoLCZoD/XVq1fo3KkjSuVKgbY1C2k/gEkWJ638G9efp8RXo742yQPg8eNo1KhVG4Obl0PNEjlN80PLgel56TMrDOWr1UaDjxtraTqWrQljx+DJrQj0/+Qd3cYw2vDi7aexeMdZLF36CxIk8O1lHEaz5fH0JcBigr58tbLOYoJnJM1OoG6euojfx/6E/CkCkSxhIl7y4Fk4vaL30xcvEPX8GU4/uoe6A1siXe4slvDb7HfBEhAs4ASLCToEgcUEHaD+a/LHKVNw7EAYKhZOjwJvpEXBN9IiaZJE+g2oseUHUU8Rfuk2Tl26gxV7IlCvQUPL7Kvx5aBByJDoAXJnCPiXbRrQP9Tect24F4VTF+/g8s0H+PbXfRjzzUhUrlRRd/eXLVuO6dOnoUW1gsiXNQ0KvJEGgSm8pwT0ybMXOPXvM3no/H0EZiuAL3r31p0bD8AEtCbAYoLWRPWxx2KCZ1ytkEDdv34Hfy7ciKtnLiL68RPPJsS9LU8gIGkSZM2fHaWb17RERYIAZoV3wfLBM8BBFhN0gMxigg5QZSaPHz+BNWt+x6nwcISfOYccWTMg8uZdTQelb7a1TqRzv5EJZy5cRcF8eVCgYEF88kkjZMuWVVO/PTW2ecsfCNu9E6fCT+Pilat4PZH2Qg2d2vL669ouqSiSPwdORVxBgX9PIGnXrq2nKNzqf+v2bfy08CeEnzyBU2fOoWDurAg/d9ktG84a6/FMpk6RDNdu3kGBvLlRoEB+VH2vOkqVDHLmCt9nApYkwGKCJcMSxykWEzyLEydQnvHzpHfVqlWxdetW6U/lyr5/opMnrIzoy++CEZSdj8FignNGbrdgMcFtZB51uHPnruaJf5UqVbBy5UqkTp3aI9/knV++fIG0adNqZs8IQ3fv3tN0mClTpuDevXvo37+/pnapgELLWHnq3O07d5DgNe2WCFy8eBH169fH/v37PXUtVv9Xr14iTZo0mtpkY0zALAIsJphF3r1xWUxwj5eyNSdQnvHzpDeLCZ7Q074vvwvaM1VjkcUENdSc9GExQQeoBpqcM2cO2rRpgyFDhmDo0KEGjuzbQ929exe5c+eWJnnu3DnDjsD0Baril+/Zs2eD/s4XE2ACcQmwmOAdTwWLCZ7FiRMoz/h50pvFBE/oad+X3wXtmaqxyGKCGmosJuhAzTomc+XKhfPnz0vJLie92sWFhJlhw4ZJBlmocZ1rRESETYShZ5OeSb6YABNgMcFbnwEWEzyLHCdQnvHzpDeLCZ7Q074vvwvaM1VjkcUENdRYTNCBmjVMiqoE4Q0nvdrERVQl0H/pYqHGda7iF2/Rg6sTXGfHLf2LAFcmeEe8WUzwLE6cQHnGz5PeLCZ4Qk/7vvwuaM9UjUUWE9RQYzFBB2rWMCmqEoQ3nPRqExd5VQILNa4zlVcliF5cneA6P27puwRoA7R33nkn1nIpR2ICtaWL9sLhy1gC9uLkSEygf+9IcKa48uWYACdQ5j0dLCaYx97eyPwuWCMeLCboEAfeM0EHqAaYVFYlcNKrDXRlVQInxa5zVVYliJ5cneA6Q27pmwQoSaVNSXv16oXPPvtMEhWUYgK1oaVVBw8eBCWq1IYvYwnYi5NSTKDYUJyWL1/OcXIhPJxAuQBJgyb0JQgJkHIR0p6YQL/jfPfddwgODmYhTAPu7pjgd8EdWvq1ZTFBB7YsJugA1QCTyqoEMSRXJ3gG315VAifFzpnaq0pgIcY5N27hPwTol/xt27ZJIkHPnj1x/PhxLFmyBIMGDcKuXbuk49vo4uVq5j4TyjiFh4fj559/xrhx43D06FGQkM9xcj1GnEC5zsqTlvTvB4kH9PzSvyH0X7mYUKxYMUlEmDhxIujv4t8bT8bkvu4R4HfBPV56tWYxQQeyLCboAFVnk46qEsSw/MuougA4qkrgpNg5T0dVCSzEOGfHLfyDgPhlX8w2ceLEePr0aazJ05GxXJVg7vPAcdKWPydQ2vKMz5oQwqgN/Z1+pzl06JB0qtKKFSukn+n6448/eBmVcWGxjcTvggnQ7QzJYoIOcWAxQQeoOpt0VJUghuXqBHUBiK8qgZNix0zjq0pgIUbds8i9fJOA/Jd9ezNkIdgacec4aRcHTqC0Y+nMklIIs9e+cuXKXJXgDKRO9/ld0Amsm2ZZTHATmCvNWUxwhZJ12sirEuhbrLJly2LdunWoXr06Tp8+LR0TSRf/UupezJRVCU2bNpVKW5MnT46goCCpPJku3lAwLld5VULOnDmRI0cO7NixA/Xq1ZO43bt3T+rEeye490xya98jEN8v+1yVYJ14c5y0iwUnUNqxdMWSMyGMqxJcoahPG34X9OHqrlUWE9wl5kJ7FhNcgGShJpTMUuJLa27pz9y5c6X/9ujRQ1oPR2IDfcNOCdy5c+d4Ey8XYyeqElq1aiXxo+qONGnSgH7BJ970yyV9TskxJ8X/QRVVCSQiEB8SFtq1a4dZs2ZhxowZaNiwobRGk/4QT3om+WIC/kzA0S/7LABb66ngOGkTD06gtOHoqpX4hDCuSnCVoj7t+F3Qh6u7VllMcJeYC+1ZTHABkkWa0Jo3Wv9G4oHY6ZsEBLmYIFwVm0RRcsdX/ARILKBEmDiSWEMXfSYXE4QF+h81sRV8/Z0tcSNm8udMLibQ3wVPEhToGDXa1Z4vJuCvBOz9ss9VCdZ7GjhO2sSEEyhtOLpjxZEQxlUJ7lDUvi2/C9ozVWORxQQ11Jz0YTFBB6gGmnQkJhjogk8O5UhM8MnJajwpe2KCxkOwOSbg1QSUv+xzVYI1w8lx8jwunEB5ztBdC/aEMK5KcJei9u35XdCeqRqLLCaoocZigg7UrGOSxQR9YsFignquLCaoZ8c9/YOA/Jd9rkqwbsw5Tp7HhhMozxmqsaAUwrgqQQ1Fbfvwu6AtT7XWWExQSy6eflyZoANUA02ymKAPbBYT1HNlMUE9O+7pPwTEL/tclWDtmHOcPIsPJ1Ce8VPbWy6EcVWCWora9uN3QVueaq2xmKCWHIsJOpCzhkkWE/SJA4sJ6rmymKCeHff0HwL0yz7tH0KbmIo9cPxn9t4zU46TZ7HiBMozfp70FkIYVyV4QlG7vvwuaMfSE0ssJnhCz0FfrkzQAaqBJkNDQ9G9e3d06dIFkydPNnBk3x7q2rVryJIlCzJlygT6O1+uE6ATMebNm8enXriOjFtqTODGqcV4eH0fXkv4Oh7f/Udj6/5jLllgXrx88QwpMpVEhvyNNJ/4rXO/48G13Xj18hmi78cca8yX+wQCUuXEawkSI1Xmckibu477BnTswQmUjnCdmBanUNF/+TKfAL8L5seAPGAxQYc4sJigA1QDTS5cuBAUw+rVq2Pjxo0GjuzbQ8mPPKS/8+U6gXLlyiEsLAx0+khwcLDrHbklE9CAwJk/uiD9GyWRJEVGBCTPBPoFji91BF69eonoh9cR/SgSNy/tR/6q2gnWEWGDkDJNTiRNmQkBKTIjQYJE6pzkXpLgE/0wElEPruLR/avIWXqYZahYIYG6e/UW9q3YjisnziP6YZRl2LAj+hAISJEM2d7MhaAGlZA6U1p9BlFh1Qrvggq3fa4Liwk6hJTFBB2gGmhy/fr1eP/996Vv0a9cuWLgyL49FIsJ6uObIkUKPHr0CDt27ECFChXUG+JL6wH1AAAgAElEQVSeTMBNAqf/6IKs+Wsgeeocbvbk5s4IPLxzDpHntiFv5e+dNXV6n4SEwAwFEJipqNO23MA9Anev/Y17t84iZ5kR7nXUqbXZCdTNiKtYP+kXvF21JJKnToGA5El1mimbtQqB6EeP8ejeAxzashd1ejVBuhyZLOGa2e+CJSBYwAkWE3QIAosJOkA10OSNGzeQMWNGacQHDx6AEjm+PCfAYoI6hmJ5CP1P886dO6Cd6vliAkYQuHHmFyR69RhpMhcxYji/HOPOtSN48VpKpM/XUPX8b51bDTy5jHTZglTb4I7xE7h58S+8liwn0uUyf8mDmQkUVSSsHrsQVZu8z4+MnxL44+e1qDegJVJlTGM6ATPfBdMnbyEHWEzQIRgsJugA1WCTpUqVwt69exESEoLhw4cbPLpvDsdigrq49u/fH6NHj0bFihWxfft2dUa4FxNQQeDczj7InLcKkqbIrKI3d3GFwOMHV3Ht3A7kLj/aleZ220SEDUTGHKWRLNUbqm1wx/gJRN27iOsX9yFX2a9MR2VmArV5ynJkyJQB6bKkN50DO2AOgZtXbuDWjVuo1qm+OQ7IRjXzXTB98hZygMUEHYLBYoIOUA02uWjRIjRt2lRaG0wb7VSqVMlgD3xvOBYT3I8piQe0e/SrV6/wyy+/4OOPP3bfCPdgAioJRIQNQM4iDXmPBJX8XOlG7/b5o8uQq9woV5rbbXNuVx/kLPox75GgmqDzjrSHwvljvyJ3+bHOG+vcwswEal6PCShftzKSJAvQeZZs3qoEoqOisXv1drSc1NN0F818F0yfvIUcYDFBh2CwmKADVBNMli9fHrt370bSpEmlCoUBAwaY4IXvDMlignuxnDt3Lvr164fIyEjQBoy7du1yzwC3ZgIeEjixtjEKV+jroRXu7ozAiZ1jULj2YmfNHN7nOKlG51ZHT+Pk1mDxNDYzgZrWdhTqtKqn1VRMs7P3yEF81L2lbfxJg75Ggxp1pZ//uXAOXYb3wfEz4bH8i69N83qfYEjXmH8rh00eg49qfIiSb70r/SzGWvb9vFiffTd/Kr4f9A3SpA40jYPagdfMXYUOswaq7a5ZPzPfBc0m4QOGWEzQIYgsJugA1QST9+7dkzZi3LNnjzR6rly58M0336BEiRLIly+fCR5595AsJjiP35kzZ3Do0CEMGzYMR48elToUL14cmzdvRmCg9/3C4XzG3MLKBIxOUm/dvotm7UOwflOYhKVj248w4evPkTRpAJT3BLfhgzohpF976Udlm1rVy2LhjBFIlzYQI0bPQJ5c2dCscW2pbfjpCDRuPRB9erSI9VmPvuMwaUxvFMyfy7DQeJqkcpyMCZWncdLKSzMTKBITajePSbq99dp79CBCJn2NySFjkDd7LkQ/icawH8ai1FvF0aD6B/jnYgSGhH6DYd36S/fpunPvLkK+/xq9WnWWfu46oi9G9BiAkkVjBAMSBq7dvI4hXfpg6pK5yJHlDckWXcs3/Y5NYdtQIFdefNaio+2zC1cv2X72NpZrF6xmMcHbgqajvywm6ACXxQQdoJpocuzYsfjqq69w//79WF688cYbyJkzJxIl4uO3EiZMKG1aSSdgZMuWDcSGkuD8+fPbmDkSE06fPo0DBw7g4sWLuHz5Mq5evYrr16/j5cuXJkbduKGfP38OYkNzl1+08SdVwwwcaL76bxwNHslKBIxMUoUQ0KJxHVtyv3DxWuwIOygJClGPoyWhIaRvO5Qv846E6fHjaPQaMB4tmtRBoQK5pPvK/vMXr5EEhXUbw3A24rJNeNi15xCGj56BYkULYNjADpJgQZ/NX7TGJmAYFQtPk1SOkzGR8jROWnlpupjQNEaQ88ZLEg5+/Balir6LBu/9t5kmCQgT5k/FiG79cPveXQz5YSyGdeljExNEv4/+FQgmLZyOSf1HIk2q/7N3LnA2lP8f/6yUO+tS7vcKUXIplXuF/JNE4ZdIKHIrJaXcFSVRiBRRqFDy20pU7oRSqF8XuSeUsIvF5rb/13e2WbPjnD1zzs4zZ2bOZ14vL7vnPPN9vt/3d87seT7zfZ4nTeTXBIh/zzlyLAkLvvoMQ3s8qb037t03ULvq9UhYsUSzL+e8Nuct3HL9Dbihatq9zGvH5+9/TjHBa0lT6C/FBAVwKSYogOoCkzNmzMAXX3yhTX34/fffXeCR+12QbQxHjRqlLR7466+/okqVKqhUqZL285dffqktbrlmzRr3B+KQh6VLl9amNDRp0gT333+/NsWGBwlEi4CTg1SjcCADezkCiQVGMUHa6BUHtWtWgbmqQBco5JwiheMxbPSbmDR2QHqlwnXVrsIHHy3BsIGPaJUI4oMcevWCU9yzOkhlnpzJVFbzZJeX0RYT7mjbzK5QHLez44/dGDZlLIY92h8VSwWuPgrUxvhaofzxeGzMYPydeBiTBo66yE7isSS8/M5kPPVgTy0++blP+66YkTAX7Zq1hJw/ZPIYPP7AI0F9cBxMmB0unreEYkKYzPzcnGKCguxSTFAA1WUmT548iT/++EN7gi5PlmP9OHfuHPbs2aM9YZf/f/jhB61cXz+mTp0K2SGjRo0aqF69Om644QZMmzYt/X0ZQIvIIFNJpNpDBtXZsmWLCaxS2VK0aFGtoiN37twxETOD9AYBpwapumhQ/+YaQQfyRmFAr0wwvlazemWtSmHq2wuw5otp6dULOmnpY+ioN9G1U0uUKVUs/ed5C77CrQ1rQz9fqhx0+05lKauDVObJmUxlNU92eRltMaFZmyZ2heK4nR1/7MGr772FET2eQsH8gbdZljZ9XnoWP+/alsG/D8e8hdrXVE9/beGKxXh87BDt92vKX4WJT4uwUFabNjFy2qu4p3FaBcfXP2xE3/ZdIe3luPbKKpj3RQL6dXgYOXN4cyHLJR99STHB8avXvR1STFCQG4oJCqDSpOcILFq0SCvTF2FBDllMULY4LFCgAGQ9CjluuukmjB07FrLYJQ8SIAF3EXB6kJrZQD7Ymgmz3xqZQYCQqQr1mqatoSCHUVgwVjFMfzdBm97w/ZZfsWzlRvR8+F48N2IyXhjSU6tccPLI6iCVeXImW1nNk11eRl1MaHWbXaE4bmfHvj0Y/tY4DH34CVQsWTZg/1bamE/c+MsWTJw7A68+MVwTKRauTBMO5Ch1RXHUrlId0ubrH77DLdfV0v7v266L4/Hb1eGShUspJtgF0wd2KCYoSCLFBAVQadKzBPr3749XXnnlIv9Hjx6NZ555xrNx0XES8DsBpwep4VYmhOIviywapz6I0CDCgVQi7N5zQBMhpI0IC/ff1wzvzV+Svn5CKNt2vp/VQSrzZGc2gtvKap7s8jLaYkLTFo3tCsVxOyn//IORM1/DDVWqo1WDC9M1Eo8fxdj3pqL//d0h0xSGTR+PYV37oUIAwWHhqiWa3+bzh057BY+37aqds3PfHnz29TIknzqJdre10F6TPmYvXoAi8YVwVenyqF35Osfjt6vDLz5dTjHBLpg+sEMxQUESKSYogEqTniYgizFu2rQpPYbbb79dWzOBBwmQgHsJODVIFQKB1kyQ16WaQAb/+gKL5jUTdHq6UKDv7CCvG9dckKkLUt0w+a0PcTz5JO6+s4E2nUHajJ0wG7J+QnLyScfXSxA/szpIZZ6c+QxlNU92eRl1MaF5Q7tCiYqdjb/+gCHTx2FSvxGoUKIMUk7/g5HvTECxgpejz72dsXP/7xg241UMe+hx7X3zEej9hau/wMerluDVvkNQMF8BTTgY+8GbyJsrD/q17Yqcl+XQ+nkr4X3N3APN7tHaefX44vOVFBO8mjwFflNMUACVYoICqDTpaQKy4OJ1112HM2fOQHZ+kJ0bZOcHHiRAAu4l4OQgNdhuDvpuDELJvJuDkVygNRVEYOj15BjMnTlKW2BRXzfh2PHkDNMZxr8+B8nJp9C29e2Obgmp+5/VQSrz5MxnKKt5ssvLaIsJTZrWsyuUqNnZuPVHtB3WO73/fvd1QZ/WD2q/i1gw/J0JGPpg34Bigt6mz4Th+GXPdu2cBtfdiPG9B2UQCCYueEd7T7crP/93zZf49tcfMKhTb01g8Orx5RdrKCZ4NXkK/KaYoAAqxQQFUGnS8wSuvPJK7NixA7Ll4fHjxz0fDwMgAb8TcHKQKizN6yI0u/1mbVtHWcMgkFhg5m8+v/q1V6cLCXrbQBUQIjqMHDM9vS+n85rVQSrz5EzGsponu7yMuphw2y12hUI7HiXw5dKvKSZ4NHcq3KaYoIAqxQQFUGnS8wQqV66MrVu3Il++fDh27Jjn42EAJOB3Ak4PUv3OM1h8WR2kMk/OXDlZzZNdXkZbTLi90U12hUI7HiXw1Yr1FBM8mjsVblNMUECVYoICqDTpeQJVqlSBTHeIj49HYmKi5+NhACTgdwIcpDqT4awOUpknb+TJLi9la+V169ZBthV2+nizyyjcVv9Gp7tlfy4jsHT1N1EXE2Rb9ptvvhnffvuty+jEnjsUExTknGKCAqg06XkCemVCoUKFcPjwYc/HwwBIwO8EOEh1JsMUE5zhnNVespqnrPavn1+2bFmsXr0aZcpcvDigXX0Es6OJCbfUVt0N7bucwNKvN0ZdTNizZw8aNmyI3bt3u5yW/92jmKAgxxQTFEClSc8ToJjg+RQygBgjQDHBmYRndZDKPHkjT3Z5edNNN+G1115DnTp17DJp2Y6ICbfWqWm5PRv6k8CyDd9HXUxYv349+vXrp1Xp8IguAYoJCvhTTFAAlSY9T4BigudTyABijAAHqc4knGKCM5yz2ktW85TV/vXzW7VqhYceegh33323XSYt29HEhNrVLbdX1TDh2xV4cubYdPMfPDEGtSpeE3F3sm3jCx9NwwdrPkenRnfhyPGjGNK2BwrmzR+WzWB+6fZb3dhYsznxs/cisi/OJCYfw4h5b6DPnfejQtFSYflnV+NlG7dEXUxYsGAB5syZg48++siusGgnQgIUEyIEl9lpFBMUQKVJzxOgmOD5FDKAGCMQqZggOyY88PDgdFprvpiGujddHzE92dKx38BxmPr2AvTt0R4HDx3BpLEDtF0ewjmC+aXb79j+/1CkcDyGjX4zIvvii+wo0bv/GAwb+IjlbSazOkhlnsK7DqKVp3Cu1czaPvroo6hevTp69Ohhl0nLdkRMaFzjWsvtVTRM2LgC//12BcZ2egIF8+RH4olj6P/uOPRs1ha1KkQmKIiN8Z/ORr8WD2g2Izky86tqqYoY9fF03H1Do4h91H0SX0fMn4o+zf8TNTFh+aYfoy4mvP766/jll18wadKkSNLFc2wkQDHBRpi6KYoJCqDSpKcIdOvWDbLi9FtvvZXudzAxQdrKMW3aNE/FSGdJwO8EIhmkyoB91txFYW3pGIqjDNCfGzEZLwzpGbaAoNvOzK+a1StrYoWICVkRPaI1SGWeQl1BF78fDdEnfC8DnzFy5Ejt7+ugQYPsMmnZjiYmXFvVcnu7G2rCwezx6Nm0LWqVr5Ju/rtdv+C/G1fg2VZdtNdGLXwbH6xbov38fp/RWtudB/dh4pIPkC9n7gzvVbiipGZz9dZNqFyiPJ68syMWblyOIa0f1oSFhO9Wov+c8dp79Spdjzw5cqFX07YZQgvl1xN3PoBxn83G3bUbaTbFD92++P6fiQM1e+1vbpYhhqIFCuO1xe9p7z12x/3o2vju9NjEn1c79Yf47/Sx/Mefoi4mDBs2DDly5MDAgWnseESPAMUEBewpJiiASpOeIiAL45QrV05bbbpz586aqGAWE0REeOeddyAr8soCOrKoFA8SIAH3EAh3kCoDtA7dBmPwgK4ZBuVr12/GrA8WYfzoJ7Tg9CoD+VmvWti6bbdWEVAgf16tAkF/r/LV5TSbS75ah+rXXo0Xh/XCO+9/ll45oFcbyHtNb70J+fLmxuCn0wRK/Qjl16ghvfDsiNc1McFcmSC+12uaZq97l9YZYihZ/AoMeeEN7b0Rz/VA/74PpMcm/sydOcpSdYLTlQmheDBPgT+DWc2TXZ/szz//HBMnTsSiRYvsMmnZjogJja65MIi3fKJNDWXgPWXpfLz8n34omCdfQKuTv5qPv44exsCWD+GnP3ZixMK3ML7Dk2n3njmvoGvDVmhZswGM7U6dPo2RC99C7ybttHaTvpyLwa0e1qoeXvjvdDx3d1dNBHjq/fGoWa4Ket5+X4a+Q/mVcuYfjE6YgZY1G2p2AtkvUbCI1kYEhC4NW2o/y2GOQ87XfY2GkCA+rfj5l6iLCU2bNsVTTz2FJk2a2HR10UykBCgmREouk/MoJiiASpOeI9CoUSOsXLlS81tEhTx58uDo0aO47LLLcP78eU1EkENW412xYoXn4qPDJOB3AuGKCTLwHjlmenpVQiA+I1+ahn0HDmqD8u+3/IpeT47RBt1ytOv8LJ7q2xEd2jWHsd3JUynpUweknT4N4dDhJPQdMBYTxvTXRAARHerWqX6RmBDKr2DTHIz2y5QqpgkFIiDoooH4Yo5D/HD7NIdQPCQu5uniq9ctYoJ4dumll+LUqVOObw8pYkLDSpWiduv7fvev+O+mlRjYojNyXprjIj+0QfunM3F3jYaoWa4y9N9rl6uCaqUq4vmEtzGoZReUv7wkjLZETHg+YRp6355WcTDpq3kY1LIb1vy2CXuPHETP2+7VXv9k06oMv+sOhOOXiCBG+xt3/5Iej26nX7P7MX7JexC/76rRAIknjqf7F587f/rPEkc0jpVbt0ZVTEhJSUHBggW1zwCP6BOgmKAgBxQTFEClSc8R0KsTQjnOqoRQhPg+CUSHQCRigl6BkCtXzoucNg7aZTqB/nv9m2ugds0q6cJApavKwVjNEExMWPzlOuzcvS9dPJAqBePvugNGW6H8MlYmiP3V6zZpgoGcp9vRKxnEbxE+jCXzXhETmCfnRR87P8Vt2rRBhw4d0Lp1azvNhrSliQlXXhWynaoG3+/5FZOXf4SX2/ZFwdwXVyYknjyOp+ZNQM/GbVCzbGXNjcnLP0TpgkVRrWRFTFo2H4Pu6qKdK7b+u3k1Bv7fgzh15h88/8nb6H1rWsWB3u79DWlTJXo2/ldM2LwaexP/Sv89XUwI4VfKmdMYvegd3H19fRTMnT/d/prfNuOp+RMz4Kp3VXU8f08PTFmxQGsvcUhcun/xefKl/1z+8hKqUGdqd+X2bVEVE+bNm6ctvDh37tyoxM9OMxKgmKDgiqCYoAAqTXqSgLE6IVAArErwZFrpdIwQiERMyKwyIVB5vTwBr1CupCYmGBc+tCImTH7rQy0T+rSGzMSEzPwKVpkgYoJxIUnpq9ntN2PapEF4fsz09DUWvCgmME/eFhNkiuDy5csxc+ZMR+9GIiY0KF/B0T6NnSWJWPDhJDzaqDVqlrlQIbHr0H589N1ydKt/N1796gO0lEF4mUqQQfyLn7+LWmUro1rJCpi0/CMMvrMz4kVM+H0rEjavxjPNO2kVDCM/m4nejdukiQn/tlu9bQv+SDyo9SfHJ1vWZPhd9y0cv0TICGZft6f7rcch9nX/5Hz95/JFoiMmrNq1M6pigoyzmjdvrglqPKJPgGKCghxQTFAAlSY9SSBUdQKrEjyZVjodIwTCFROCzcWX9RCmv5uAZ/o9mL42QaDKhHDFBKuVCeH4Za5MCFTpYK6w8JqYEA4P5unCh91N0xwSExNRsWJFHDlyxNG70Tu9XkGNQlfgsksucbRfY2ef/LAWCT+swcute2qigDaQXzAZLa+rh7uuq4spKz/GX8cT8UyzB/DzgV0YuWgmxt3bJ00kWLkAg5s/eEFM+GGt1k4TEz5/B70bpokGejupCHhh8bt47o5OWjWD9FOz9NV4tOE9F8WfmV9NqtyAF5fMRsvr6mp2AtkXYUD3/fFb2+LVZfO09iKKaGLCv/5pYsK/P0dDTPjn3FlsSTyETpPS1sCJxpE/f37s27cP+fIFXjcjGj7Fcp8UExRkn2KCAqg06VkCwaoTWJXg2ZTS8RghEK6YIFiC7ZrQsd3/XbQWgnnNhHDFBKtrJoTyq3XLxum7ORjFBKN9mXqhryNgXLBRBtteExNC8TCvWcE8pX3g3SQmiD9du3ZFly5dULduXcfuSF9N+BB59yahQM6LpzE55oRUCPz4NZ7+75T0Ll+6+1Hcde0t2u/aU/0v52De98u032c/OFgTAHYdPoDXVy3AoGad0sSEvb8h4ce1eKZJB01MeH7Ju+jVIE1MMLbT+6pX4VrUrXgdTp5OwaP1WwUMN5hfuk8tr00TE8x+PPDOSM2e9DGm1aPaehASg7QX30VM0P0rnr+w9t4P+7bjlda9Ub5wcSfRIynlFE6WLYTbeqdVcTh9rFq1CrNnz8abb77pdNfsLwgBigkKLg2KCQqg0qRnCQSrTmBVgmdTSsdjhMCedQNRpmprxMVlCytifYcF/aTZb43UhAQ59Kf6xh0bZECu7+YwaewAbftHK9McpJ3el0w/aHbbTUhOPnXRAoy6H8H8CjbNQfdD381B+pgzbSRy58qZYStJo5igL9S4/tv/WdrNITX1PH7/6WOUvTltEcpIjkhEH+mHeRoHq3kSXm4TE7755hv06dMHGzZsiOSyieico38dQcLwGagdf3lE53v5JE0QWPoeapW6GndVSxMuYvH4NvEg7hnZDfmKxEcl/Fq1amk7hNWsWTMq/bPTiwlQTFBwVVBMUACVJj1NwFydwKoET6eTzscIgV1rn0Kx8o2QK18x10dsXMxRFy5c77SIK8cP4M9dq1C+7piI3d21pj/KVrsX2S65NGIbTp3o1TydP3cGe/73EcrXe9kpVJb6kQUYO3bsiHvuubjs3pKBCBod+m0vPnv5PVyVNx65L8ke1SkPEbgf1inf/7ENHd+7IPT1rncPHr2lZVg2/ND49LlzOHn2DLadOIoWz3ZC4fLOVkPoDOfPnw/5Jwsw8nAPAYoJCnJBMUEBVJr0NAFzdQKrEjydTjofIwT+3jYf2VOPo2Dx6q6MWKoX9KoBcXDEcz2CViW4MgAAiQc241y2eBS5MvKS4d3rnsMVpW9E7gKlXBmmH/J08uheHNy7EeVuft5VjLdt24Y777wTv/32m6N+HTuYiA1zvsSB7XuRcuofR/tmZ84TyJkrB0pcVRp1HmgatYoEibpChQpYunQpypcv7zwE9hiUAMUEBRcHxQQFUGnS8wSqVauGn376CYULF8ahQ4c8Hw8DIIFYILB9RW8Uq9AIeQvyy5vd+T5+eAcO7lmLig1fy5LpI7s+w/mUP1CkVO0s2eHJwQn8vfcbXJK7HAqVS5uu46ajW7duuPnmm7U1FHioJSAPQoYNG+b4Lhpqo/KG9alTp2LTpk144403vOFwDHlJMUFBsikmKIAaRZOpqamIi4uLogf+6HrixIno27cvWrRogU8++cQfQUUxCl6XUYQfY13vWNkHhUrUQs48RZAzbzHeD7OQf1kjISX5L6Qk/40jf25GxQZZExJ0V/ZsGIoChcohvth1WfCOpwYicOTAZiQn7UOZG4e4EtDhw4fRqVMnfPbZZ670z09Ode7cGbIt565du1CuXDk/heb6WGQryPfffx/x8dFZq8H1gKLoIMUEBfApJiiA6rDJ9+fOwzfr12Hb9h04c/oMko6fcNgD/3V34kQy/jqwDwULFUbBQkX8F6DDERWJz4+4S7Lh6quuRJ2bbka7tvc57AG7iyUCh7Z/jON/rUdctktwKmlHLIVua6y5C1bE+XPnka/YTShSMfCK8JF2uGf9YOTJXxy585fQRB8vrKEQaayqz5M1ElKS/8SJo3/gVPJhlKkzVHWXWbK/fPlyjBw5EsuWpe1gwMN+AlKVoJfXP/jgg6xOsB9xUIsNGjTACy+8gPr16zvYK7uySoBiglVSYbSjmBAGLJc1PXr0KHr16o0WtUqgdKGcuKpkPK4omMdlXtIdEkgjcDDxBH7bl4i9h1OwePNfmPT6JO67zIsjZgkkJSXhoYcewscffxyzDA7v+hTH/1yH1PNnkHJsT8xyyGrguQqUBeIuRf7it6BQuTuzas6R8ydMmIAdO3bgtdfsqXZxxGkPdaJXJeguszrBmeT16tULVatWRc+ePZ3pkL2ETYBiQtjIQp9AMSE0Ize2OJp0BE8/2Q9PtKyCq0sVcqOL9IkEghL45ffDeO3TX/Hy+InIlz8/SZFAzBGQuczDhw+HPKWVHWR4uJOAPOFt3LixVirOw14CDz/8MOrUqQNZR4GHfQSMVQm6VVYn2Mc3mCVZH2HLli2YMmWK+s7YQ8QEKCZEjC74iRQTFEB1wKTkbch91SgkOMCaXaghIILCiwu34p13ZqrpgFZJwKUEpCpBSpDlfxESRFDg4U4C+hPeGTNmQH7mYS+BO+64Q9suskOHDvYajmFr5qoEHQWrE9RdFHJ/+Oijj/Dpp5+q64SWbSFAMcEWjBmNUExQAFWxSVnUJe7AZrRvWFFxTzRPAmoJvLdyB7KXrIm27dqp7YjWScBFBPSqBN0lVie4KDkGV4xPeGUBO1YnqMlTkyZN0LZtW0ilAo+sEQhUlaBbZHVC1tgGO1sqEkREoJCghq/dVikm2E0UAMUEBVAVm+z3WB/cW7MQ6lYrqbgnmicBtQRW/bgXCVuOYex4zptVS5rW3ULAWJUgW8/K6vasTnBLdjL6YX7Cy+oEdXl65JFHkDNnTshaCjwiJxCsKkG3yOqEyNkGOlPWSDh//jynNtiLVak1igkK8FJMUABVsckWd7XE24815mKLijnTvHoCfyWeQLfXluOTTxLUd8YeSMAFBPSqhCuuuAIHDx5E7ty5cfLkSa6d4ILcGF0I9ISX1QlqkyRbMi9YsIDTfiLEnFlVgm6S1QkRwg1wmuza0L59ey62aB9SRyxRTFCAmWKCAqgKTaampqJ58zux+AV7t+lS6DJNk0CmBJo99zEWf74IcXFxJEUCviZgrEq4/S6scewAACAASURBVPbb8dVXX+Gee+7RdnRgdYK7Uh/sCS+rE9TmacWKFRgzZoz2ueC0h/BYG6/ZsmXLapUeW7duRbNmzbBkyZJ0Y6xOCI+rufXUqVOxcOFCPPvss9z+MWsoo3I2xQQF2CkmKICq2GSdWxpgw8QHFPdC8yTgDIE6fWZjw9ernOmMvZBAFAnoVQkNGzZEqVKlMGfOHMh826effhqy1S/XTohicgxdZ/aEl9UJ6nN05MgRPPPMM1i2bBleeukltGnTRn2nHu9Bv2ZFRJD7jAgLIlCuXLlSu6/IdSuvv/POO2B1QmTJnj9/vnavbtq0KV588UXEx8dHZohnRZUAxQQF+CkmKICq2CTFBMWAad5RAhQTHMXNzqJEwFiVIF/up02bpokJs2bNwvbt27VtIlmdEKXkmLoNNe+c1QnO5GnHjh3a4G3Pnj0YP3486tWr50zHHuxFhAIRDIw7jhjFBH37WREdpK3e3oOhOu7yqlWr0K9fP1SsWFETt2QnHh7eJUAxQUHuKCYogKrYJMUExYBp3lECFBMcxc3OokRAymKldFuqEqSU2/i3t0WLFtpAQI7Nmzen/xwlV2O6Wyvzzlmd4OwlsnHjRkhp+bx589CyZcv0fzly5HDWEY/1FkhM8FgIUXE3JSUFCQkJ6f9kXYQePXqgZs2aUfGHndpLgGKCvTw1axQTFEBVbJJigmLANO8oAYoJjuJmZ1EkIANVqVC4/vrrL/rbKwKDvM7S2SgmCNCe7EopuBxSMl6yZEl8/fXXaNWqlVYuLtNR5GB1gvN5OnbsWIZBnghzN910E2Qx0xIlSqB48eLaP8lZ9uzZnXfQZT1STAiekLNnz2Lfvn04cOAA9u/fr/3/999/a5/11atXZxCt8uXL57LM0p2sEKCYkBV6Qc6lmKAAqmKTFBMUA6Z5RwlQTHAUNztzCQH+7XVJIgxuBJp33qlTJ20qiggM8lT81Vdf1f4VLFgQspAdj+gR+OKLLyBVCzIY1AeEMii8/PLLtdd5kEAwArVr19bEAxGfdCFK1rGpVasWmjRpQnA+JkAxQUFy+YVGAVTFJikmKAZM844SoJjgKG525hIC/NvrkkQY3Ag079woJsjPckh1iQgKUkkiFQs8SMCNBFiZ4Mas0KdoE6CYoCAD/EKjAKpikxQTFAOmeUcJUExwFDc7cwkB/u11SSJCuBFITPCG5/Qy1glQTIj1K4DxByJAMUHBdcEvNAqgKjZJMUExYJp3lADFBEdxszOXEODfXpckgmKCNxJBL8MmQDEhbGQ8IQYIUExQkGR+oVEAVbFJigmKAdO8owQoJjiKm525hAD/9rokERQTvJEIehk2AYoJYSPjCTFAgGKCgiTzC40CqIpNUkxQDJjmHSVAMcFR3OzMJQT4t9clibBBTJgzZw527tyJwYMHY+vWrWjXrh22bNmSwfLs2bPRoUOH9NfkHLkG9GPNmjWoW7euN6DQS08QoJjgiTTRSYcJUExQAJxfaBRAVWySYkJkgLfu/hPtnn0LT3Vsig7N66QbGTntM1QoWUR7bc7nG/DA4LczdNC9dQOMf+I+5Mp5mfa6tJdjcLc7M9j4aNn3mDvqYVQqVywyB2P0LIoJMZr4GA+bf3u9cQFYWTPBLCb07dsXEyZMQKVKlbQgDx8+jN69e0MWeJTXpL3sECH/Fy5cWHtfhAYRIygoeOO68IKXFBO8kCX66DQBigkKiPMLjQKoik1STIgMsC4mFCtcAHNGdkHh+Lzp4oBRTFi9aftF4sG+g0npr5nFBPnd+H5k3sXuWRQTYjf3sRw5//Z6I/t2iAmnTp1Cv3790LFjR1SuXDmgcLB27VpNYBg/fjxy5crlDTj00tUEKCa4Oj10LkoEKCYoAM8vNAqgKjZJMSEywCImDHvzUxTImwslr4hPrywwVyaYxYTDScnoMPhtDO76f6h7/ZUZKhOkksHcPjLvYvcsigmxm/tYjpx/e72RfTvEBJn6oFcrHDp0CCNHjkyvSvAGBXrpRQIUE7yYNfqsmgDFBAWE+YVGAVTFJikmRAZYFxOGd78LQ6d+gmGPtNCmJIQSE6Q3Yxu9MkGqGWYt2pChyiEyz2L7LIoJsZ3/WI2ef3u9kflIxIRAayboayKwAsEbefeDlxQT/JBFxmA3AYoJdhMFtAWA9Pl7xsWAFHRFkzYRoJgQGUhdTJg0oD0Wr/spvaJg7OwvM6yZEKjSwCwmDHkjQXOi2c1VKSZElo70sygmZBEgT/ckAf7t9UbaIhETzGsmGCMVMYGVCd7Ivde9pJjg9QzSfxUEKCYooMovNAqgKjZJMSEywEYxIXfOy9Bv3Hx0/L86WLZxa6ZiwqmU01rb+jWu1BZpFGFh7ZYdmogw+cOVXC8hsnRQTMgiN57ubQL82+uN/NktJgRbbFGmQkyfPh3Dhw/nmgneuDRc7yXFBNeniA5GgQDFBAXQ+YVGAVTFJikmRAbYKCbI4otrN2/HyOmLUK544XShINAaCJmtmWAWGiLzLLbPYmVCbOc/VqPn315vZN5uMUGiDrabgyzQaNw+0huE6KVbCVBMcGtm6Fc0CVBMUECfX2gUQFVskmJCZIDNYoJYkSoDmbIwe2SX9K0hw93NQd8l4vUB/9EWaOQRHgGKCeHxYmt/EODfXm/kUYWYoAsKxqmls2fPppDgjUvCM15STPBMquiogwQoJiiAzS80CqAqNkkxITLAgcQEvepApjvIFAapTHhg8NsZOujeusFFW0VKg8Hd7kxvp5+3ZtpTFBTCTA/FhDCBsbkvCPBvrzfSaEVM8EYk9DLWCFBMiLWMM14rBCgmWKEUZht+oQkTmAuaU0xwQRLogm0EKCbYhpKGPESAf3u9kSyKCd7IE728mADFBF4VJHAxAYoJCq4KfqFRAFWxSYoJigHTvKMEKCY4ipuduYQA//a6JBEh3KCY4I080UuKCbwGSMAKAYoJViiF2YZfaMIE5oLmFBNckAS6YBsBigm2oaQhDxFw699eWRxw586dGDx4MGSHgXbt2mHLli0ZyJrn98s5xvn/a9asQd26dT2UjeCuUkywJ428ruzhGI4VViaEQ4ttY4UAxQQFmXbrFxoFofrGJMUE36SSgQCgmMDLIBYJuPVvr3nQ17dvX0yYMAGVKlXS0iRbG/bu3RvDhg3TXgu2M4GIEX4QFCgm2PPp5HVlD8dwrFBMCIcW28YKAYoJCjLt1i80CkL1jUmKCb5JJQOhmMBrIEYJuPVvb6hB36lTp9CvXz/INoaVK1fWdiAwCwdr167FrFmzMH78eOTKlcvTGaaYYE/6eF3ZwzEcKxQTwqHFtrFCgGKCgky79QuNglB9Y5Jigm9SyUAoJvAaiFECbv3bG2rQJ1Mf9GqFQ4cOYeTIkVp1QuHChX2ZSYoJ9qSV15U9HMOxQjEhHFpsGysEKCYoyLRbv9AoCNU3Jikm+CaVDIRiAq+BGCXg1r+9Vua262si+KkCIdhlSDHBng8oryt7OIZj5cYbb8S3334L+Zzecsst4ZzKtiTgWwIUExSk1q1faBSE6huTFBN8k0oGQjGB10CMEnj44Ycxbdo0bT2CPn36uIZCqCfIRkdlkMLKBNekztWO8LpyPj358uVDcnIyfvnlF21KEg8SIAGAYoKCq4BiggKoik1STFAMmOYdJcAFGB3Fzc5cQmDAgAF4+eWX8dhjj+HVV191iVfQpiwYd3MwL8BodFQWYwy0ZoJMhZg+fTqGDx/u+TUTevXqhcmTJ2v/Hn30UdfkyWuO8LpyNmNHjhxJn3p08OBBXH755c46wN5IwKUEKCYoSAzFBAVQFZukmKAYMM07SoBigqO42ZlLCIwePRrPPvssWrRogU8++cQlXoUnJojTwXZzkAUaRWjw+vHCCy9g0KBBGDJkiCaO8IiMQDhiQixcV5FRtH7WN998gzp16qBQoULaDiw8SIAE0ghQTFBwJVBMUABVocnU1FTceeddWDSypcJeaJoEnCNw55AEfPJJArJly+Zcp+yJBKJMICEhAXfffTeqVKmCn3/+OcreXOg+3EGfPvCT7xL6MXv2bF8ICRLPjBkz0KVLF3Tv3h1vvPGGa/LkNUd4XTmbMakomjhxIu69917Mnz/f2c7ZGwm4mADFBAXJoZigAKpiky3uaom3H2uMKwrmUdwTzZOAWgJ/JZ5Atwkr8EnCf9V2ROsk4DICJ06cQHx8PM6ePYsff/wR1apVc5mHdEcILF68GM2bN0erVq3w8ccfEwoJuJ7A9u3btTUSzp07hw8//BBt2rRxvc90kAScIkAxQQFpigkKoCo2+US/fmh9fT7Uq1ZKcU80TwJqCaz6cS8SfjiBsePGqe2I1knAhQTkS/6CBQvQuHFjLFu2zIUe0qUffvgB1atX1+af//nnn8iePTuhkICrCTRt2hRffvklSpUqhT179rDqz9XZonNOE6CYoIA4xQQFUBWbnDt3Ls7vXY//NK6iuCeaJwG1BGYv/QmXlauHtm3vU9sRrZOACwno85rFtc8//xx33HGHC72MbZekcqRs2bLYv38/3n//fbRv3z62gTB61xKQa1Sm5CxZskQTEL744gvcdtttrvWXjpFANAhQTFBAnWKCAqgOmHzwgQ54pk01VClT2IHe2AUJ2E/gf7sPYVzCL3j7nVn2G6dFEvAIgaFDh2LEiBEoUKAARo0ape0YEBcX5xHvY8PN119/Hb1790aDBg2wcuXK2AiaUXqCwKlTp7Br1y5NjBw8eDDkdzlkfQ9Z54MHCZBARgIUExRcERQTFEB1wOTx48fx1OO98ViLyhQUHODNLuwlIELCpEVb8cqEyciTh2t/2EuX1rxGQF8sTfy+4YYb8Pzzz6NYsWLamgryL3/+/F4LyVf+nj59WisZ//vvvyFber744ouOCD5SubJu3Trs2LEDBw4cwKFDhyCLMPMgARENdu/eDdn20XiUKFECM2fORJMmTQiJBEggAAGKCQouC4oJCqA6ZFIEBXla0qx6UZQqlAOVShVCUS7K6BB9dhMuAVlscesfR/D7oRQs++kQJk6aRCEhXIhs71sCUkIvFQq//vqrb2OMxcBKliwJ+Xfttdfipptu0hZzlN+DHbJ43muvvaYNCJOTk2MRGWMOk8A111yjbQN55513crHFMNmxeewRoJigIOcUExRAddjk3Pkf4tv167B123ac/uc0ko6fcNgDdkcCmRMoHJ8Pl2TPjkpXXYk6N9fFffe2JjISIIEABNavX49Vq1Zh7dq1Wvmy/kSasPxDQLYEFcFA1mIwHrJdaIcOHdJFhPr16+Pqq69GuXLltH8iQnAKjH+ug6xEkiNHDq16qXz58lkxw3NJIOYIUExQkHKKCQqgRtGklEDyy0bWE5CUlIQaNWpg06ZNWpkxj6wROH/+PFeUzhpCnk0CJOACAlJWLlUDsmXktm3b8Mcff0TkVdGiRTXRSMQCOWTOuzxZlr/hpUuX1vq49dZbI7LNk0iABEiABAIToJig4MqgmKAAKk16nsCwYcMwfPhwyOJo8jMPEiABEiABEgiXwG+//abNbZcqExEP3nvvvXQTst3kzz//DNkxQkSFEydOaLtFzJgxAzlz5gy3K7YnARIgARIIQYBigoJLhGKCAqg06WkCUpUgpYPyv1QlyJdAVid4OqV0ngRIgARcQWD16tXo2rWrVtUgR+3atbXF8kaPHo0iRYpg586dyJcvnyt8pRMkQAIk4DcCFBMUZJRiggKoNOlpAnpVgh4EqxM8nU46TwIkQAKuIyAL5sluDXLIbh3Hjh3TKhI6d+7sOl/pEAmQAAn4hQDFBAWZpJigACpNepaAsSpBD4LVCZ5NJx0nARIgAVcSkF07qlatCllPRo5s2bLhzJkzXFvGldmiUyRAAn4hQDFBQSYpJiiASpOeJWCuStADYXWCZ1NKx0mABEjAlQS6dOmiVSPIUa1aNfz444+u9JNOkQAJkIBfCFBMUJBJigkKoNKkJwkEqkrQA2F1gidTSqdJgARIwLUERDy47rrrNP9kJ4dPP/3Utb7SMRIgARLwAwGKCQqySDFBAVSa9CSBYFUJejCsTvBkWuk0CZAACbiSwLlz55A9e3bNtzZt2uDDDz90pZ90igRIgAT8QoBigoJMUkxQAJUmPUcgs6oEPRhWJ3gurXSYBEiABFxNQMQEERXatm2LuXPnutpXOkcCJEACXidAMUFBBikmKIBKk54jYKxKKFu2LGrUqIGFCxeiVatW2LRpE/bs2aPFxOoEz6WWDpMACZCAawnkypULKSkpaN68ORYtWuRaP+kYCZAACfiBAMUEBVmkmKAAKk16ioBelVCgQAGIqCBbcw0fPlz7Wf6JgDBz5kzt56NHj2LXrl2QKgUeJEACJEACJJAVAnnz5sWJEydw6623YunSpVkxxXNJgARIgARCEKCYoOASoZigACpNeoqACAVyGPf3NosJekCB2noqWDpLAiRAAiTgGgIUE1yTCjpCAiQQAwQoJihIMsUEBVBp0vMEgokJng+MAZAACZAACbiGAMUE16SCjpAACcQAAYoJCpJM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FIGZM2ciLi4ODz74YLrfwcQEaStH586dPRUjnSUBEiABEoguAfn7Ua5cOTRq1CjdkWBiQqC20fWevZMACZCA9wlQTFCQQ4oJCqDSpKcIJCUlaV/wChYsiGHDhmmigllMkC928lpiYiJ2796N+Ph4T8VIZ0mABEiABKJLQP52lC9fXhMThg4dqv1vFhP0vzWpqana3xoeJEACJEAC9hGgmGAfy3RLFBMUQKVJzxEQEUHEAjlEWLj++uuxcOFCtGrVCps3b07/UidfAKUtDxIgARIgARIIl4AICCtXrtROk5/Xr1+PlJQUVKlSBadOnUr/WzN27Fg8+eST4ZpnexIgARIggUwIUExQcHlQTFAAlSY9R0CvTjh69GhQ3wsUKMCqBM9llg6TAAmQgHsIzJ8/H23btg3pkFQm8CABEiABErCXAMUEe3lq1igmKIBKk54kYKxOCBQAqxI8mVY6TQIkQAKuIpA/f34cP348qE/169fHqlWrXOUznSEBEiABPxCgmKAgixQTFEClSU8SyKw6gVUJnkwpnSYBEiAB1xEIVZ3AqgTXpYwOkQAJ+IQAxQQFiaSYoAAqTXqWQLDqBFYleDaldJwESIAEXEcgWHUCqxJclyo6RAIk4CMCFBMUJJNiggKoNOlZAoGqE1iV4Nl00nESIAEScCWBYNUJrEpwZbroFAmQgE8IUExQkEiKCQqg0qSnCZirE1iV4Ol00nkSIAEScCUBc3UCqxJcmSY6RQIk4CMCFBMUJJNiggKoNOlpAsbqBFYleDqVdJ4ESIAEXEvAXJ3AqgTXpoqOkQAJ+IQAxQQFiaSYoAAqTXqegF6dwKoEz6eSAZAACZCAawno1QmsSnBtiugYCZCAjwhQTFCQTIoJCqBG0aQ82YiLi4uiB/7oWqoTrr/+emzevBnx8fH+CCqKUai4LlNTzyMuLlsUo7rQ9fnU88im0Bc3xSpRx1q8qmN2W35d8aGKESf06gRWJcRIwgOEqfp+GrtkGTkJXEyAYoKCq4JiggKoDptcumw5Vi5fht+2bUOBPDmx+ZedDnvgz+7+SUlBjpw5/Rmcw1HVqFIRSSdOodLVV6PRrbejcaMGEXmw6fc1+O2vH/DXsb3IfkkOHE4+EJEdu08qnLc4zp47jaL5S+HqotVRo0zdLHfh1lglsFiLV0XMbs5vli9eGgiLQOJfx1GwaL6wzmFj/xBQcT/1Dx1GQgL2EqCYYC9PzRrFBAVQHTQ56LlnER93DNVK5cPVpQqiQnE+RXcQP7sKg8DOA0nY+scR/Pj7cSRnK4gRzz9v+exz589i9vpXkT/35cibIx4FchdB3pzuutaTU5KQdPJvnEhJwvGUI+hQ5zFcku0SyzHqDb0Qq/gaa/HaFbNX8hv2hcsTSIAEIiZg1/00Ygd4oqsIjBwJDBmS0aVmzYA5c4DCha27evgw0Ls3MGwYUKmS9fOstFy7Fpg1Cxg/HsiVy8oZwKlTQL9+wNSpQPfu4Z1rrYfQrSgmhGYUdguKCWEjc8cJqefxWK/uaF79ctxRu5w7fKIXJGCRwGff7MLSnxMxbuIUAJlPyzl7/gxmrH0ZVxatgaIFyljsIbrN/jy6Bzv/2oyH6g7AJdmyW3bGi7FKcLEWb6QxezW/li9gNiQBEsgygUjvp1nu2GTgx2eBA4uA04eBU3/Ybd3d9nKVBC4rAhS/E7j2Bed9FTFBjsGDL/QtQsLOnRlfC+WZ28QEYwwSY4UKQIcOoaKw932KCfby1KxRTFAA1QGTUpFQrwwoJDjAml2oIfDphp3Y+OelGDbi37+aQbp55+uxKFOkqmeEBD0M+UK47/BWdLy5n2WAXo1VH1zHUryRxOzl/Fq+iNmQBEggywQi+fuR5U7/NZC0BVh6I5AKIPW0XVa9aSfuMkCWQ7r9G6DAtc7FEEhM0CsBRo0Cnn0WSEoC5s4F1qwBata88MRfvDS/Vr16WtsyZS5uV/ffWZkiPMjAfskSwFgFsXUr0K4dsGVLxteNlQnffw/Uq5fGJ7MKCooJzl1DjvZEMcFR3LZ0tvSrpdi04mP0v+c6W+zRCAlEi8CYj7bgxib3oVHjRgFd+H7PKuxO3InKxW+IlotZ6vfX/d+gQuGrcb2FNRS8HquAirV4w4nZD/nN0oeBJ5MACYRFIJz7aViGM2m8ZzbwXXfg3Em7LPrDziW5gVpvAWXvdyaeQGKC/lr//mmCQMmSF6oU5L19+9KmDcjAvlevNPGgSJGM0xyCtdNFho4dAREX9EF/z55pAoO8Lv+bz5dpDoMGAU89dWEqhZwrR6CKA12wkHXN5V84UyTsIs/KBLtIGuxQTFAAVbHJIc8NxC2lgTtuKK+4J5onAbUEFn2zE9/svwTDRgauI3z/m0kokq80Sha6Uq0jiqz/cWQbEpP3o90NPUP24PVYJcBYizecmP2Q35AXMRuQAAnYRiCc+6ldnX6Yg9UIwVhmywm0OWUX6cztBFozQV9jQM4UMaF+/bQBu74OgS4E6L/L+3fccUFMMAsGxna1a6eJAZMmZVyTQaoSjK/L7337AhMmAIcOpa2ZYBYTMotMqhmkgkGvlLB7HQcr2aGYYIVSmG0oJoQJzAXN27dvj1EP1ORiiy7IBV3IGoEd+5MwaM73eP+DDwIaem3pQNx8ZQvXLbZoNWpZVGv99s/Q97ZRIU/xeqwSYKzFG07MfshvyIuYDUiABGwjEM791I5O/zcE+GU0gLN2WPOfjUvyAJWeAqoOVR9boMoEvVezeKA/7Zf1FfQpC/p6BEYxQaoURHwI1K5cubSqA/MCjzL4N75uXINBFxOkuuD33y9MhQi2sKJxWsSCBWlChPgiAoZZxFBJmGKCAroUExRAVWhS9qLu0e0hTO15i8JeaJoEnCPQffLXeGPaDMTFZVyIMTX1PKasHI5GVdo654yCnlb8Mh89Gg5BNpl4GeTwS6wSXqzFayVmP+VXwUeEJkmABIIQsHI/tQvel7WApO/tsuZPOwVrAbdvVB9bOGJCtCsTzFMVgi0UaV5wUa++mD3b2UUYKSYouH4pJiiAqthknVsaYMPEBxT3QvMk4AyBOn1mY8PXqwJ2NvLT7mhzQ19nHFHUy0ffTsDgFlNDWvdDrBJkrMVrNWa/5DfkhcwGJEACthGwej+1o8NPSgMpMbZrQ7jccpUCWuwN96zw24cjJoj1rK6ZYK5aEEFg9eq0KQzdumW+ZsKjjwIvvnihuiDYmgnmrSSl3QMPACNGhLdDRfg0M55BMSGrBAOcTzFBAVTFJikmKAZM844SoJiQhtsvg02rX379Ei/FBEdvF+yMBGKKgNX7qR1Q5me+S7MdXfjCxn2yzYXiI1wxQa9OmPrvcwvZzUGmPOivr18fejeHYLs2WNnNQaYtiDAgR7BpDvKeLiDo7V54AXjuuTSxQp+ioRgtKCYoIEwxQQFUxSYpJigGTPOOEqCYQDHB0QtOQWdWvvD7STxRgJAmSYAEuejIzQAAIABJREFUAhCwcm+xCxzFBGsknRATrHnCVpEQoJgQCbUQ51BMUABVsUmKCYoB07yjBCgmUExw9IJT0JmVL/wUExSAp0kS8DkBK/cWuxBQTLBGkmKCNU5ubUUxQUFmKCYogKrYJMUExYBp3lECKsWEKePewME/D+Lp4QOQM1dOfPrRp/huw/fpv+uB6q93f/wRDHlyKNYuX5vOoFLVSnhl6liUvzKyrVitfhn0y2Az1uKVC8VKzH7Jr6M3B3ZGAjFOwMq9xS5EFBOskaSYYI2TW1tRTFCQGYoJCqAqNkkxQTFgmneUgCoxYdf2XXj3zVlaLJ0e6aiJAfLa6EGjMfD5geniQMqpFLw0dAxq1amJeo3rYUCvp9GjXw/UvLGGdm4wAcIqJKtfBv0y2Iy1eCkmWP0ksB0JkEC4BKzeT8O1G6g9xQRrFCkmWOPk1lYUExRkhmKCAqiKTVJMUAyY5h0loEpMEBFAP/bu+QOPPtEDRuGgRZsW2ttGgaFgoYIXiQny/uSxk/HcqOcQXyg+bDZWvwxSTAgbrWtOsJJjv+TXNdDpCAnEAAEr9xa7MFBMsEaSYoI1Tm5tRTFBQWYoJiiAqtgkxQTFgGneUQIqxAQRDV5/+XW0vr81RCB47cUJeOyZvpoYYK40kN91sSHpSFLAygT9/UjAWP0y6JfBZqzFK9eElZj9kt9IPgM8hwRIIDICVu4tkVm++CyKCdZIOiEm6LswlCyZ9W0TZTeGYcPStm789Vdg1ixg/HggVy5r8eqtDh8GevdOs1WmDNCvn7O7MITnbfDWFBPsImmwQzFBAVTFJikmKAZM844SUCEmSDXBgvcWoNdTvbS1EmTthDr16mhTF4yVBvKeTHG46967tPd0McG4ZkLdxnUx5vWXIqpKsDrQlHZ+GWxa/fLrl3it5thP8Tp6g2BnJBDDBKzeT+1ARDHBGkUnxIS1a9MG/XLI9omFC1vzLVAro5iQFTtGMaFSpcj9ifaZFBMUZIBiggKoik1STFAMmOYdJaBCTJBqg6d7PZMhjt4DemeY6iACghxvjH8jXSwIVJkQaJ2FcABZ/TLol8FmrMVLMSGcTwPbkgAJhEPA6v00HJvB2lJMsEbRCTFh5Ejg1luBZcuAChWADh3SfNNFhvz5gZdfBpo1A+bMAXLnTqsUqFkTmDwZ2LIFmD077bzMKhOknyFD0myvWQPUrQuIaCDnLVmS9vqIEUD//mn2p04FqlcH3nkHmDLlQmWC9NGuXVq/uk8iXIi/UhEhxwcfpJ07dy4gYoS8V69e2nvGc6xlIfJWFBMiZxf0TIoJCqAqNkkxQTFgmneUgN1iQiBBQF574dkX0LN/T23hRalU0I/SZUtBXz8h0Ln6Ogt69UK4cKx+GaSYEC5Z97S3kmO/5Nc91OkJCfifQKh7y//+9z9Uq1bNFhAUE6xhVC0myGD+uefSKhIOHQKmTweGD0+blqAPwHWhQMQAOfTB/u7daeKCnNe3LzBhQtr7gaY5LFgA7NyZNo1CFxxEoHj+eaB+/QtChG6nSJHA0xwqV05r27Fj2v/i0759aVMpvv8+TTAQoUKEDhEkZOpGz54XbImwID7LoYsm1jIRWSuKCZFxy/QsigkKoCo2STFBMWCad5SA3WLC999sylBtIMGYF16UNh1bdoR520c3VSaI4DFpTJqkPythVvruEvK7/p7Rfz3Gee/O085p26ntRVtgmhMrdoxiiv6+VGM82b0/Bo0elKFfed9c9fHS6y+mizHyfqgvv3ofdg2udV+79Hwogx96bLf/3+3aVJYt3225aItPPRZzDOF+AKzEbFe84foW7fbmqUPG6zLQtCLxV68ikp/NbYzTjszXb6BrIVRlkfl6Nn/WwuVn/Bx26NYBiYeORLx4azh9G6dvJR5JzNKisYH6Nd6PAt2TwvGVba0TCHZv+fzzz9GvXz8kJibir7/+CmnwzJkz+Pjjj9G2bdugbSkmhMSoNVAtJohgIBUJMsiXtROGDgW6dr3wNF8G6zL4lif/wUQA8VPaSVVD7doXiwmjRgHPPht6zQPj1IZgYoK8rosVuk+6ACGihtFf8VsEDLOYYI28Pa0oJtjDMYMVigkKoCo2STEhPMBbd/+Jds++hac6NkWH5nXSTx457TNUKFlEe83489rN21Gv28sY0aMlBne7M7394aRkdBj8tvb7nJFdcCgpGX3HzsWE/u1QqVyxgHbD8zQ2W9stJuhVB7J7g/GQQUPCh59oUxrkkC0gS5YumWHAHWxwk5UBhpWBpvaH/9PuaHNDX8034yKRB/YdyLCdpfG9n3/8JV04WbN8jXauVFkE2rXCfHXpg4NAA2lj5YaRo5GhLGap82p5713pA/lI4s3Kla8PIItcUSTD2hZmMeH40WNo1LRRup/6Ip1bf96Klve1zCBEhOuPlZhjUUwIdH0Yr1/JgXkrVmMlUIUry2vvG68v4zUo17xxcVRNSBw3BZWuqZS+Xoq89smHnwQU1oJdz8atYcO9FiRm44Kv4Z4fafus7jqTWb/yWTr458F0hpmJjZH6z/MCEzDfW0REePLJJzUB4dixYxgxYgQGDhxoCV+RIkVw+PBhPPPMMxg9evRF50RDTKg6Aqj8NJDtsozuHPsZWFIVuOJW4MZ3gRyXA7++BPz0b0m+tG74FXDFbcDBpcDK2y0hsKWRajHBOPVAd1ivRNCnOegLKJrFBKkOkKkK2neKTMSEQYOAbt3SBAu9vd6XcfqBvKZPTQgmJuh96QKHUYAQMcG44KMuJujVEPrUiO7dI1sUMpKEUkyIhFqIcygmKICq2CTFhPAA62JCscIFNBGgcHzetBttJmLCiGmfoVD+PJg0oH16exEZjK9TTAgvD8Fa2y0m2OOVfVasDDS169EgJhgFEXO1hPFpbKBKCt1z864V+uv6YO2KYldoL5krE/TB0IPdO2k7YuhTQ6RtIKHG3E8k8WaFtj6Iyps/HyQmXfwwiwnXXFsFv+/6PX2QqS/SKX1LhYc+1SUSX6zEHItiQqBrMJBYYB6867mrWr1qBiFNcmO85gsWis/wBF7Oq3TN1fh84efp162+Raw5v8E+O0bxQfqTqha92kcXFY3XnPE9XfyQBVzlmur33ONImJeQXpmgV0HIe3Ub3oLcefPgoUc7X7QIrD4lS/ofPejfQV9cnCaW7dy+S6uq0g/xydivVG706t8Ls9+ald6vXokl5+iVIXps8pnRK6CMFSHm+0WtOjUvqvyRNsYtdwNxMvpfpVoVXFX5ynQ7xp10dIFi609bYaw+0QWiQ38fRvVa1UNWW0Xy+XXzOfq9xSgiHDlyRHM5R44cSElJsez+3Llz0aVLF5w/f147zywqREtMuPpx4LdXLwgFZTsCNV8H9s4Dfn8vTUy4JCeQtPmCaCAiQ+230kSGI9/4R0wQcUB/qq8vcmhe88D4pF8G/vL7tGkZpyfou0HIdIVwKhP09RJ0kcGOyoRgYoLxwjWKDJYv6AgbUkyIEFxmp1FMUABVsUmKCeEBFjFh2JufokDeXCh5RXx6tUFmYsKsRRuQP29O3N2gOupef6XWobQvWig/lm/cqokMFBPCy0Ow1hQT0sgYB5vGqRpSsixfyAc+PxDFSxbPMPDIrAIhWIWGMQ+BpjlI3xvWbNAGCeaBmD4oyWwKhZWBtTnerFxJ+sBOdu4wih9mMaH+rfUCDjLlyXagqR7h+GQl5lgTE6xUxwRb30SvVhABSB/MB6oOMm4BK58NfTvYxQlLtN1b9PMDrXcSaDqUOefGJ/JSBfT8wOe1qTJyyDQgfWqNsZ34ZBQDJo+drA3qjZ9j2a5WYqxxQ42QYoJxupF5yoa5gsnYl/Fn3YbOQwQEXcSQWJ4ePgDG+GRdGeOhiyCBxAZpZ7zXCFczJ326VCChRnKjiyG6qBSMu9mvcD6jXm0r95aDSy7D22+/jZMnT2YIo2jRoihYsKDl0E6fPq1Ni5B/cuTMmTNdVBg0aBAW5c1j2ZZdDaUywSwmiO1mPwEpB4BfRqWJCSf3ADmLARsfBg4uA+S8sv8uSnhil3/EBBlUr16d8Sm9cYAvbPQ1CKSiwLxmgrwvVQu//x56zYSxabey9DUTRMSQtRlkyoIuJog/so6CLJoY6ZoJgcQEmW1jnBrBNRPs+kRFyQ7FhCiBz0K3FBPCg6eLCcO734WhUz/BsEdaaNMSQokJNSuXwV9Hjmnig0xxeG7yf9Hx/+pg0rwVFBPCS0GmrSkmpOExDzb1gbvxKZ158BVswGZloKQPAswDafM2msYtNuWcUGszWBlYB4o30kvKWN4tZe/fbfheGxzNmDJTEwn0NRNk0CIiif6aceBJMSFS+sHPs7JwabBpReapN8Yn69KjUVgwVjHo16oMjCXX/+ncPuiUg8ymPxivc12IMH7WzBUTRlvBxATzlAz9qbyVygQREgMNpI39ynSoQGKCVDIYp3no94aRr4zAG69OhV5xYF6k1pxZc650YSHYPUm4SeWILoSK/0YxROzr/oqPxl11jJ9p83v2X6nutij3007XPqtVESQkJGQQFCpWrIhPP/3UcgDbtm3DQw89pE11MB4iKshYoOm0tyzbsqthIDEhUGVC4vdA4ZuBHVPSKhhkioMcOYuniQ5+mOZgrCYwL0SoL2oog/C3/k2T7I6gTw8QFvrihubdGYLt5qCfIzs0yKHv5iAD+wceSHtN3pNFFGX6hL6A4vr14e3mEKwywdgPpznY9YmKkh2KCVECn4VuKSaEB08XE6SaYPG6n7B603aMf+I+jJ39ZdA1E6QyoUebBnjpnSWacPDr7j+xbONWtL29llblwMqE8HKQWWuKCWl0rExzMD9pDSQmGJ8MhnqSZ65MCDS4My9Sac6luQIimmJCzlw50ys3jMKBPN3WtwKV1+9o2Sx9IPP+zA9YmWDfxzndUqSVCaFcMT+d1ytppBJh/959Wgm9PoXlztZ34rMFn6VPbTHaDiW4BaqaMAoX+kBY1g6xIibIdSaHPg3Hqphg7EfONy+EqFcJBRMTjAKbfD70gXr/If01MUEXS0KJCUZ2xtzWa1xPq7KQqR3GQwQhEV2M/hsFJsmVvt6FWSwSO/p9J/FIUtA1L0JdK35433g/3b9/v7Zegi4qFCpUCHPmzMEdd9xhOdT4+HgcPXpUa58nTx6tOmHs2LHo3LkzojXNIdCaCfo6CPqaCX8uThMT9GoFmeKwZw5Qqo1/xAQrSTSvmaCfowsRxjUTrNiLxTac5qAg6xQTFEBVbJJiQniAjWJC7pyXod+4+VqFgYgDwRZgFDHhhZ5346V3l6Bry7qY99V3WtvaVcpSTAgPf8jWFBMyignBBjH6QCSzNRPMC8qFgm8WEwLNcTcOevSn+UaRwvyEN5pigj6wk6ecsrimPHU1ViZIObUsjleuYjmcPHFSG9gF29EiFDvj+1ZijrVpDsIn2LodevWLubzdzNw45UZ/z1zxIJ8XGaifTD6Bxnfcqu0+Im2kMkXWT5A8B1oPI9iaCboQ0bVPV7w2ekL6YNtcmRCumGC1MiHY03vjtS1rJ5hFjEgrE0KJCcEWlNTvC1L9Ydx215jDQItC6udJOxGAJF+ZVYmEqiAJ53PqxbaB7i26qCC7MxQrVgy7ZT9AC8fUqVPxxBNPIC4uLoOIoJ8aLTHBOM2h9jSgdFvg+17AnlkXFmAUMUEOERT++Aio+Ciw5Qmg8jMUE4QLxQQLH4B/m1BMsM7KckuKCZZRuaYhxYTwUmEUE2TxRVlIceT0RShXvDDq17gy4G4OIiZI9cKC5Ztw8MhxfPPTbm16hBx6ZYL83HvMB+nTJrQbesppTazQ7YbnaWy2ViEmZLaNmfk9oW58+m5cCMyYkUi3D7Qy0JR+QlUm6CvaB9vNIZJyYONA2sqUCfNTTuNijvoT10jizcqVH2jAYtypwigmBJqDTzEhK/QzPzfYbg7mXVWC7Z4QaMBvrrzR101ITj6Bx57pqw2y5Xhn6ruakCBVKMEqdELtTpLZmgnhigmh1kzQFw8Vn96ePCN9bQZzP/p0AL0KR2KVaT3BxATpN7M1E0KJCWLfXH1kzqvxfeNOD+YFMsVWoN1XzHk25sU8TUPd1epOy5ndT0VUmD9/Prp166ZVGYQ6ChcujNTUVIwbN06rRDAfbhATxCdZL+HSAsA3ndI8lDUTREz4eyVw7Wgg5a+0BRlltwd9bQU/THMIlT++bw8Bign2cMxghWKCAqiKTVJMCA+wWUzQBm7TPsOQNxIwe2SXTMWE73/9XdsmsnvrBpq48PufR9LFBL3KwbioowgVvca8j7mjHs6wXWR4HsdWa7vFhFDbmIXakcC8FaNkI5wSYHP2Ihlcm9clMC98pg+WjSJIIJFEL4H+atFXGbbQ0300DqTN5eN6G/PAQV+MTX/f7Fsk8Wblig8kJhh9NooJ8hTUPICkmJAV+qHPNU+dyWwNkEDWzOcHmnYTqAIi1DQGvS/z9WwUDc2fQ/NuDrKwotVpDtJO70sY1G1UN706xihgDhg+AP/b9KO2G4UcgaYJyK4JwqH3U720RUXFDzlkuoEc4ezmYEVMEJvm+0tmnPT3An02AwmQYt/IwJhjViZMwOAW/05qD/1xy7TFmjVrUE9W7wtyuEVMCLRmgogJ+s4OuUoCu6YDG7tRTMjiJRGTp1NMUJB2igkKoCo2STEhPMCBxARZULHD4Le16Q4dmtfJsBijCAJ6ZcLJlNMZ2plt6ZUIUxes0pyqfnUpCgnhpQd2ignBnq4bBYRAYoLxS6/xCaL+RNPKYnLBwnZ6cB0mftubx1q8AtBKzLE4zcH2i8snBq2sJ+GTUBlGFglYubdksYv0090iJohDssBioRuB7a8DIi6ImCDigf66Pg2ClQl2ZT927FBMUJBrigkKoCo2STFBMWCad5SAnWKCOB7ONmZ6oOYt1owrkEubYE/trYCy+mXQL4PNWIuXYoKVTwHbmBcZDLbNIkmRgJGA1fupHdSiISbY4bfTNu5LdbpH9mcnAYoJdtL81xbFBAVQFZukmKAYMM07SsBuMUGcD7aNmbwXaDqAsfQ62JoJgfa5twLK6pdBiglWaLqzjZUc+yW/7swAvSIBfxKwcm+xK3KKCdZIUkywxsmtrSgmKMgMxQQFUBWbpJigGDDNO0pAhZhgDMBcUmyc5hCo3DgrVQiBwFn9MuiXwWasxSs5txKzX/Lr6M2BnZFAjBOwcm+xCxHFBGskKSZY4+TWVhQTFGSGYoICqIpNUkxQDJjmHSVgp5gQahszfStACVDffcC4+rgs0EcxIWvpt/rl10+Daysx+ynerF0hPJsESMAqASv3Fqu2QrWjmBCKUNr7FBOscXJrK4oJCjJDMUEBVMUmKSYoBkzzjhKwU0wQx8PZxkwPNNSaCVkBYvXLoF8Gm7EWr1wbVmL2S36z8lnguSRAAuERsHJvCc9i8NYUE6yRpJhgjZNbW1FMUJAZigkKoCo2STFBMWCad5SA3WKCLihMGjMpPQ7jNmaBdnMwbiVYtXpVmBdgzAoQq18G/TLYjLV4KSZk5dPBc0mABDIjYPV+agdFignWKFJMsMbJra0oJijIDMUEBVAVm6SYoBgwzTtKQIWY4GgAITqz+mWQYoKbshaeL1Zy7Jf8hkeGrUmABLJCwMq9JSv2jedSTLBGkmKCNU5ubUUxQUFmKCYogKrYJMUExYBp3lECFBPScPtlsGn1y69f4pXcWYnZT/E6eoNgZyQQwwSs3FvswkMxwRpJignWOLm1FcUEBZmhmKAAqmKTFBMUA6Z5RwlQTKCY4OgFp6AzK1/4KSYoAE+TJOBzAlbuLXYhoJhgjSTFBGuc3NqKYoKCzFBMUABVsUmKCYoB07yjBIKJCedTz+ONlSPQqMp9jvpjd2crf5mP7g2HIFtctqCm/RKrBBhr8VqJ2U/5tfvzQXskQALBCVi5n9rFL6E48M+fdlnzp50cRYGWZOTp5FJMUJA+igkKoCo0mZqaike7dcEbPW9W2AtNk4BzBHpMWYcpb72NuLi4izqdsPRZ3HTlncibM945h2zsKTklCRu2f4Y+t40KadXrsUqAsRZvODH7Ib8hL2I2IAESsI1AOPdTOzpdci1w7H92WPKvjQLXAU23+De+WIiMYoKCLFNMUABVscn27f+DUQ/UQIXi3hxgKcZD8x4isH1/Ioa8/wPee29OQK/nfTsZ8XlLoFShqzwU1QVX/ziyDUkn/kTb2j1C+u/1WCXAWIs3nJj9kN+QFzEbkAAJ2EYgnPupHZ1ufhLYNs4OS/61cfUAoPpL/o0vFiKjmKAgyxQTFEBVbHLo0GG4qXgKmt9QQXFPNE8Cagl8tmEHNv6dB0OHDgnY0ea9a7Hn8A5cVbyWWkcUWd964FtUKFwJ1UuHriTyeqyCMNbiDSdmP+RX0ceEZkmABAIQCOd+ahfADy8DUs/YZc1fdrLlBNqc8ldMsRgNxQQFWaeYoACqYpPLV6zEt199jAH3XKO4J5onAbUEXlzwE25p3hYN6tUN2tGsdeNRqnBlFC1QRq0zNlv/M2k3DiRtR4c6j1m27NVYJcBI4y1ZuBKKFShrmZGbGoYbs+TXy/G6iT19IQE/Ewj33mIXi8TvgeX1gXMn7bLoDzvZ8wK3rgcKVPVHPLEcBcUEBdmnmKAAqgMmhwwejDolzuLOG8s70Bu7IAH7CSSs24FNh3Nj6NChmRo/d/4cZqwdgwpFq3tm0HkgaRd2HfwBXeo9k+nCi+bAvRirxJCVeN9e+xIqFr3eM7nVcxZJzJJfr8Zr/x2AFkmABAIRiOTeYifJxM3AspuA8//YadW7tqQi4bZvgPhrvRsDPb9AgGKCgquBYoICqA6ZfKJ3D9xapQBa3FTRoR7ZDQnYQyDh621Yvf0EXn5tsiWD58+fw5wNE5AnZzzy5iyI+NyXu25RRlksK+nk30hOScTJf47i/jp9wxISdBBeiFV8jbV47YrZK/m19MFkIxIgAVsI2HU/tcWZf41sfAQ4tBo4cwxI2W+nZffbylkcuLQAUKQBUHuq+/2lh9YJUEywzspyS4oJllG5suGwIYOR++wRVCudD5VKFULFElyU0ZWJolOQxRa37j2CH38/jn9yFMHQ4SPCprJl79fY+tcP+PPo78h+yWU4nHwgbBsqTiictzjOnjuNYgXKoFLR6pbWSAjlh1tjFb9jLV4VMbs5v6GuTb5PAiRgHwEV91P7vKMlEvAXAYoJCvJJMUEBVIdNLl+5CiuXL8XWrb8hf+4c2PzLToc9YHckkDmBGlUq4tjJf1Cp0tVofFsTNKgffI0EqyzPp56P6Mm/0f7EiRNRunRptGrVymq3AdvZ4UtmDthh/9y5c+jatSumTp2KHDly+D5eCXDMmDGoUaMGmjRpkqV45WQ7chDMCZW2sxw4DSglsG/fPrzwwguYPNlalZZSZ2g8KgT4+Y8KdnYaowQoJihIPMUEBVCjaDI1NRVxcXFR9MAfXZ88eRIfffQR2rdvj0svvdQfQUUxCjdel+JTtmzZUKhQIRw+fDiKdJzpWoSTp59+WvsXap0KZzxS20tiYiKKFy+Oyy+/HHv37lXbGa2TQIQEOnXqhAULFuC9995Dy5YtI7TC00iABEiABKwQoJhghVKYbSgmhAmMzWOCwJQpU/DEE09gzpw5aN26dUzEHGtByqB6woQJyJ49O1577TV06dLF1wjy5s2LEydOaPGeOeP/vb969OiBd999VxNXZ82axc+xr69ubwb3999/o0yZMkhJScFVV12F3377zZuB0GsSIAES8AgBigkKEkUxQQFUmvQ8gQIFCuDYsWMoVaoUn2p6PpsXB6BXJejv+L06QaoSnnvuORw/flyb4jBw4EBfVydIVUKJEiW0QZoc/Bz78EPsg5CkKkGELjkKFy6Mt99+m9UJPsgrQyABEnAvAYoJCnJDMUEBVJr0NAGpShgwYACSk5ORO3duPtX0dDYDO69XJeiDTXlq7+fqBL0qQafh9+oEvSrh1KlTWsj8HPvwQ+zxkIxVCXoorE7weFLpPgmQgOsJUExQkCKKCQqg0qSnCehVCXoQfKrp6XRe5Ly5KkFv4NfqBGNVgh6rn6sTjFUJEuc//6Rtls7Psb8+x16PxliVIOvyyNQjVid4Pav0nwRIwO0EKCYoyBDFBAVQadKzBIxVCXoQfKrp2XQGdFyqEsaNG4dLLrlEm6csx549e3D69GltRXW/rZ2QJ08eLUb5XxaalAUJZbqDDLLPnj3rr+QC0KsSZPeKypUrQ8QjWYBRFlV9//33uXaC7zLuvYCkKkHELakYio+P16rgZD0TuVaLFSuGHTt2eC8oekwCJEACHiBAMUFBkigmKIBKk54lIFUJUvouA8vLLrtM+3InC7hdccUVXDvBs1nN6LgMMOvUqYNXXnlF25KtbNmyaNGiBR577DFtwLl8+XKfRAosW7YM9913H8aPHw95EipPQKX0f968eejdu7e2wGjz5s19E6/kr2bNmtpWkKNHj0afPn3QsGFD1K5dG3379tUGbwkJCb6Jl4F4k4CIli+99BJEvK5UqRKaNWuG7du3awvCynW7ePFiVK9e3ZvB0WsSIAEScDEBigkKkkMxQQFUmvQkgQ8//FAbeMnidLJYXdGiRXHw4EHt9zfeeANffvklGjRo4MnY6PQFAvIEUH9a369fP01MePzxx7UGR48ehQhKfj10MUHWTJDDjVt2ZpW9VFzI9AY5HnroIU1M6Ny5s/Z7UlKS9iSYBwlEk4CIXlLxJodUIehiQjR9Yt8kQAIkEAsEKCYoyDLFBAVQadKTBGTOqgy25JABp4gJUn4qhzzNzZUrlyfjotPBCZjFBL+zMosJfo/XLCb4PV7G5z0CFBO8lzN6TAIk4F0CFBMU5I5iggKoNOl5AmYxwfMBMYCABCgm+PvCoJjg7/z6ITqKCX7IImMgARLwCgGKCQoyRTFBAVSa9DwBigmBNiz7AAAgAElEQVSeT6GlACgmWMLk2UYUEzybuphxnGJCzKSagZIACbiAAMUEBUmgmKAAKk16ngDFBM+n0FIAFBMsYfJsI4oJnk1dzDhOMSFmUs1ASYAEXECAYoKCJFBMUACVJj1PgGKC51NoKQCKCZYwebYRxQTPpi5mHKeYEDOpZqAkQAIuIEAxQUESKCYogEqTnidAMcHzKbQUAMUES5g824higmdTFzOOU0yImVQzUBIgARcQoJigIAkUExRApUnPE6CY4PkUWgqAYoIlTJ5tRDHBs6mLGccpJsRMqhkoCZCACwhQTFCQBIoJCqDSpOcJUEzwfAotBUAxwRImzzaimODZ1MWM4xQTYibVDJQESMAFBCgmKEgCxQQFUGnS8wQoJng+hZYCoJhgCZNnG1FM8GzqYsZxigkxk2oGSgIk4AICFBMUJIFiggKoNOl5AiImXHHFFViwYIHnY2EAwQlMmTIFZ86cwS233BITmAYPHgy552fLli0m4l21ahVy5cqFEiVKKI+3Q4cOKF68uPJ+2IG/COzfvx/Dhw/H7t27/RUYoyEBEiABFxKgmKAgKRQTFEClSc8TOH/+PGTg9d1333k+FgYQnEBycjJ++eUXxMXFxQSmkydP4uzZszERqwQpn2P5p/pITU3VumjWrJnqrmjfZwTk+rz33nvxyCOP+CwyhkMCJEAC7iNAMUFBTigmKIBKkyRAAiRAAjFDoHLlyti6dSt0USFmAmegJEACJEACJOAhAhQTFCSLYoICqDRJAiRAAiQQMwQoJsRMqhkoCZAACZCAhwlQTFCQPIoJCqDSJAmQAAmQQMwQoJgQM6lmoCRAAiRAAh4mQDFBQfIoJiiASpMkQAIkQAIxQ4BiQsykmoGSAAmQAAl4mADFBAXJo5igACpNkgAJkAAJxAwBigkxk2oGSgIkQAIk4GECFBMUJI9iggKoNEkCJEACJBAzBCgmxEyqGSgJkAAJkICHCVBMUJA8igkKoNIkCZAACZBAzBCgmBAzqWagJEACJEACHiZAMUFB8igmKIBKkyRAAiRAAjFDgGJCzKSagZIACZAACXiYAMUEBcmjmKAAKk2SAAmQAAnEDAGKCTGTagZKAiRAAiTgYQIUExQkj2KCAqg0SQIkQAIkEDMEKCbETKoZKAmQAAmQgIcJUExQkDyKCQqg0iQJkAAJkICvCaxatQoNGjTQYjSLCUlJSYiPj/d1/AyOBEiABEiABLxGgGKCgoxRTFAAlSZJgARIgAR8TSB79uw4d+4cOnfujHXr1mHr1q3Yu3cvrrrqKqSkpODzzz/HHXfc4WsGDI4ESIAESIAEvESAYoKCbFFMUACVJkmABEiABHxNoHXr1vj4448DxpgtWzZNaOBBAiRAAiRAAiTgHgIUExTkgmKCAqg0SQIkQAIk4HsCcXFxAWOcNGkSevXq5fv4GSAJkAAJkAAJeIkAxQQF2aKYoAAqTZIACZAACfieQKDqBFYl+D7tDJAESIAESMCjBCgmKEgcxQQFUGmSBEiABEggJgiYqxNYlRATaWeQJEACJEACHiRAMUFB0igmKIBKkyRAAiRAAjFBwFidwKqEmEg5gyQBEiABEvAoAYoJChJHMUEBVJokARIgARKIGQJ6dQKrEmIm5QyUBEiABEjAgwQoJihIGsUEBVCjbPJ8aiqyBVkYLMqusXsSIAES8B2Bxo0bY/Xq1Th79qzvYmNAJEACJOBWAvy+69bMuNcvigkKckMxQQHUKJhcvH43dh04jn2HkpEK4FjyP1Hwgl2SAAmQQGwSuDx/dvx9jGJCbGafUZMACUSDQMG8OXEeqShZJC/Kl8iPO+qUjYYb7NNDBCgmKEgWxQQFUB00+fOuw3gz4X+oW6M88ufJicsL5kG+PDkd9IBdkQAJkAAJkAAJkAAJkIDzBI6dSMGhxBM4lpyCr7fsxiMtq6FKuULOO8IePUGAYoKCNFFMUADVIZNbth3CFxv3okXDash+STaHemU3JEACJEACJEACJEACJOAuAmfPnkPCyv+h+Y1lcN2VRdzlHL1xBQGKCQrSQDFBAVQHTP606zA+W/877rn1Ogd6YxckQAIkQAIkQAIkQAIk4H4CC77agpZ1y7FCwf2pctxDigkKkFNMUADVAZOPv7YS3e+7hRUJDrBmFyRAAiRAAiRAAiRAAt4gcObsOUxbsB7j+jTwhsP00jECFBMUoO7YsSNmz56Nd999F/IzD/cTWLxhD06cjsN1V5d0v7P0kARIgARIgARIgARIgAQcJLBl6x8okBNociMXZXQQu+u7opigIEU9e/bElClT8NJLL2HAgAEKeqBJuwm8sfBHlC9dFBVKFbbbNO2RAAmQAAmQAAmQAAmQgKcJ7Nh7CHv2/Y3ud1fzdBx03l4CFBPs5alZe+655zBq1Cg88sgjmDp1qoIeaNJuAoPeWofWt13HXRvsBkt7JEACJEACJEACJEACnicguzwsXPoDRj58s+djYQD2EaCYYB/LdEszZsxAly5dcNttt+Grr75S0ANN2kngfGoqBk9bj84tb7TTLG2RAAn4mMDr457Ha2OGZYjwsQHD0OuJQRle27l9Kx7vfj9+/WlLUBrvJ6xErRvrXvR+oHPrN26Ksa/PQsFCaVVUiUcOo3+vjli9/Au07/QInh3+CnLmyqW9l3LqFEYNfRIfvPum9rvZP6P9QL5bSZ8VH812Ej56D/17dQrJLlj/gdgHamtmZSUeO9ro/pnzYYdtu23ovkaLld3x0B4JkIBaAu988i1GdK2DbHFxajuidc8QoJigIFU//fQTqlWrhnLlymHXrl0KeqBJM4GZM2eiVatWiI+PjwhOn/Er0Pf++hGdy5NIgARih0AocaBy1ep4dep7qHBlJQ1KqPY6ubGvv4uWbe5PBxlqwKwLEEbBwDwgNPdtHtx+981a/KdlQ61Pc/9WMmrVR92WUfjIyuA/VL+67WgNkCkmWLl62IYESMCLBCa8txoT+zXyouv0WREBigkKwJ4/fx558+bFqVOnsHLlSjRowJVPFWDOYFLEhH79+uHxxx/HY489FraoQDFBdYZonwS8T8CqMGActFs9xzjwtXKOsb0+eDULGeYKgGDvm1+3kqlwfRSbgSoSzH1ZqZCgmGAlQ9basDLBGie2IgESSCNAMYFXgpkAxQRF10SPHj209RKkOuHnn39Grn/LThV1R7OAxnrPnj2akBCuqEAxgZcQCZBAKALGQaz5Kb95cK1XDhhfNz/9N09D0M8xDrqN5wRrb6wwME6ZCDToDvR+JE/ww/XR6Htm1RuR+BJqQByoIiKzXEhu/9PpETz9WNf06SnhVG5EUplgFlqMooqRnVlsMb6XWeWJXNuBpl2EYhfqM8H3SYAEYosAxYTYyreVaCkmWKEUQZt9+/bhmmuuwbFjx/DAAw/gzTffpKAQAcdwTpHqhIceeij9lHBEBYoJ4ZBmWxKIPQKZrU2g05BB/fCBfYNOcwg0IA0kBOgDy0AVA4HEiUBrHxj9HTh8LNas+EJbV0EfjBrft1INYM54uD5mNugV25nZC3W1ZTYgNvI12zEOrs1CTaA+rXIKR0zIrF+jsKLzyWwqSyghSWIyX1MUE0JdXXyfBEjASIBiAq8HMwGKCQqviaVLl6Jp06aQaQ9ly5aFLMzYuHFjhT3StF6dYCRhRVSgmMBrhwRIIDMCmVUYRHpesEqDUGsdmPsLNFDfv+/39IUfZZC5fs1ybcFIfQBtfD+cp+563+H6aBQMdBuR9BuIdbABsVEwMQ7CA60VEWyxyswqKoLlPRwxIZCIYvRbZ2TkbRQNAokMgQSqYNUNFBN43yMBEgiHAMWEcGjFRluKCYrzvHjxYrRv3x5Hjx7VemrYsCGuvvpqlC9fXivLL1asGFJTU7X35H/9Xzi/h9M2q32Zz3db35s2bcLChQsDZjUzUYFiguIPAs2TgMcJBJtKECosK2sLiA3zE+fM1hcINAg3DwpXL1+i7Zig29V/159MJx45pC2+GMl6CXrM4fqY2VP4rPgRbECcWc7M5+TKlTt954vMnv5bEUCsigmZTV/Q2erijzDXd+bQKyRCCQTBpj0EWm8jkukloa59vk8CJOA/AhQT/JfTrEZEMSGrBC2cv3v3brz66quYPn06kpOTLZzBJioJSJXIihUrNDFHPygmqCRO2yTgfQKqxYRA20NmJkRktpjiS69Nx/vvvqltCakPPM1PtvVKhawOIsPx0YoIEcl2isHEhMyeupsrAkqULJM+WM9si02dZ6D1KHShwaqYEGp3C7PIZK5CEEFI33Y00O4ewT51xmuHlQnevzcxAhJwkgDFBCdpe6MvigkO52nDhg1Yt24dduzYgf379+Pw4cOaB3Fxcen/wvk9nLbSh53t7bQVrm/B+v7hhx+QkJAQMKsFChTQFmaUf+YtJCkmOPxBYHck4DECkW6jGKoyIZzBvHkAG2zXCOMaCfoA1/gUu1vP/khOPqaJDZEM3jNLXWY+BjrPyuKIoS6VSMQEszhU9dqaFz351/sNNI1k+pRXtGkjxkOFmGAc+JsFoX1792SoPilYqDCsrP0gPuviA8WEUFcX3ycBEjASoJjA68FMgGICrwlfEQi0ZkJmIoIePMUEX10GDIYEbCdgZQFGfbA3dPQE1LqxruZDuGsthFqoUGwGmicfaFAebLG9eo2a4NDfB7WdCqyU7ZthRuKj8Sl6oD4zK/kPlcxIxAS3VSZYWdwxmCAUbOcHK0IRxYRQVxffJwESoJjAayAzAhQTeH34hoB5NwcrIgLFBN+kn4GQgHIC4WwNGWjhPKsDd2M/5kFmsEUFAz2RNlc9BNrZIND0Cisgw/VRbPbv1VHbUUIOc79G36wMrI0++mHNBCsDf6OQZIzfzDIcgSCctlauC7YhARLwNwFWJvg7v5FERzEhEmo8x5UE9KqEcEQEigmuTCWdIgFXEgg1ZUF32jiID7cyQWxktp2hEYx5AGpeENE8KDf7H84UC3NCIvEx0DoDgRJtVXTRz3Xrbg6ZXcR67r5Y9LE2VeH/2TsTeJuq9o//TLnm4XIR6UqGRJrMqUh4FSoVJVIpSSl/QyFTEqH0iuZB5OVmVpQGKvNVbySzRJJ5Hq4h9/4/a993H/scZ9jn7LXX3mef3/58+uTus9bzPOv7rL3P3r+zBnHo7Q43CiZwBEqwHAYTZoxiExdgdOXthUGRQFwQoJgQF2lSGiTFBKW46cwuAmJUgr4eQrA1ESL55TSHSIT4OQmQgCAQSVAInFoQi5gg/ITbKUF8Hmz3g8AX/MCX8sDRC2Z/DQ+V+WhjNDOfP5aYwv26Hk70MPoyE5vZERNmRJNguzQEcg61w0W4USGBAkuw3BlHMnBkAu9rJEAC0RCgmBANrcQoSzEhMfLs+VaK7SBvvfXWixZWNNtwiglmSbEcCZCAIBDshTHYy2asYkI44SLUS63xV2srL6LRZDiUuBLuxTuUCGF1ykWokRbBhIJwQot40X+g4xN4/tnHtHUlxBHNaIloxISkfPk0+4F1wo0aMbuzSCDnYH2CYkI0vZ1lSYAEKCawDwQSoJjAPkECACgmsBuQAAmQQOISMLOoZOLSYctJgARIIJsAxQT2BIoJ7AMkEIQAxQR2CxIgARJIXAIUExI392w5CZCAeQIUE8yzSpSSHJmQKJlmO8MSoJjADkICJJDIBCKtf2BkY3btgHjiSTEhnrLFWEmABJwiQDHBKfLu9Usxwb25YWQKCVBMUAibrkiABFxHgGJCBl4Z1BNTJ76HWBaBdF1CGRAJkAAJ2ECAYoINUOPcJMWEOE8gw5dDgGKCHI60QgIkQAIkQAIkQAIk4E0CFBO8mVcrraKYYIUe63qGAMUEz6SSDSEBEiABEiABEiABErCBAMUEG6DGuUmKCXGewGjDz8zMRM6cOaOt5mj58+fPI1euXLbGQDHBVrw0TgIkQAIkQAIkQAIkEOcEKCbEeQJtCJ9igg1Q3WRyZfoqrF+/AZs2r8OWLVuRP39ubN6y200hRoylcqUyOHXqH1SqdCWqVL4aV19dDbVr3RixXjQFKCZEQ4tlSYAESIAESIAESIAEEo0AxYREy3jk9lJMiMwobksMHTYESUn7UbDgaVSpXBCVKhXGZeUKxGV7dv51Elu2HMOmzSdw4ngSzp4rhf59B0hrC8UEaShpiARIgASwbesmPNflQWxct0ajMWXuD7ihdoOLyASWC4YusO7P6UvxQKtbwtplCkiABEiABOQToJggn2m8W6SYEO8ZDBL/tm2/o3OXJ9Hj2avQ8s6yHmwhMGfuX3hz/Ga8/+47qJBawXIbKSZYRkgDJEACJOAjELg7RKjtJM2ICcLo6PET0arNg5p9ignsaCRAAiTgDAGKCc5wd7NXigluzk4MsW3blo4xb7yG4a/UQMGCeWKwED9Vjh07h34v/oqe/9cbFVJrWQqcYoIlfKxMAiRAAj4CpzMubLOon6x6dU288e5/cMWVVfxImRUTGjZqitHjJ6FY8WSKCexrJEACJOAQAYoJDoF3sVuKCS5OTiyhNb79dsyddYvnhQSdzdGjZ3Fv26X45quvYsHlq0MxwRI+ViYBEiABHwGjQND5qV5Y8sM32nQH4+gCvbCxbODngaKEPt0h1MiEw4cOole3Dli86GtfLEYRgikiARIgARKwRoBigjV+XqxNMcFDWR06bACurXkYLe+8zEOtityU2XN2Yv2Gkuj3wqDIhUOUoJgQMzpWJAESIAE/AvoUB/EiP+y19/DWG69g6sT30K7jE+g35DUk5csXVHgIJjYEEw6CnQs3wiHUqAimjQRIgARIIDoCFBOi45UIpSkmeCTLYteGHxd/it49L/VIi6JrxqujdqFxo4dR68Yboqv4v9IUE2LCxkokQAIk4EfAODpAXydBFxeCvdTLGpkw/vWX8e+Rg2EciRAsFqaLBEiABEggdgIUE2Jn59WaFBM8ktmPJ0zE6TPL0LWL9cUI4xHJW2//gfwFbkKnjg/FFD7FhJiwsRIJkAAJ+BGINGogcCFGWWsm6GKCCCbUzhFMFQmQAAmQgDUCFBOs8fNibYoJHsnqC/36oentp9C4URmPtCi6Zny3cDe+/S4/hg97JbqK/ytNMSEmbKxEAiRAAn4Ego0QEAVCnTcrJhgFgmCCReDuEXpQoXaRYNpIgARIgASiJ0AxIXpmXq9BMcEjGW5z3714Y0w1XFaugEdaFF0zdv51Es/1WI8Z06ZHV5FiQky8WIkESIAEAgkEWwAxGCWjMBBJTAi2gGKoBRiNoxMC/QZbj4EZJAESIAESiI4AxYToeCVCaYoJHshyZmYmHn6kLSZ9cqMHWhN7Ezo8/DMmfDQFuXLlitoIRyZEjYwVSIAESMCPgPElPxwa40KM4dZMCGUjlJiglw8WB3d1YGclARIgAesEKCZYZ+g1CxQTPJLROvVvxspld3ikNbE1o079eVi57MeYKlNMiAkbK5EACZCAj0C4kQFGTMaFGO0QE4y+wi3+yNSRAAmQAAlER4BiQnS8EqE0xQSPZJliAkAxwSOdmc0gARKIOwJGUSDUOgXGEQP6tAMZYsLVNa7HK4N6attPBo5ACLVWQ9wBZsAkQAIk4AICFBNckASXhUAxwWUJiTUcigkUE2LtO6xHAiRAAlYJGBdADLWbgnFNBf2l//ChA3iuy4PYuG4NzK5rEGnHiGBtMWvbKgfWJwESIAEvE6CY4OXsxtY2igmxcXNdLYoJsYsJmVlZGPxhOjq0TOw1J1zXqRkQCZBAXBA4nZERcmRAYAMCt3AsVryEFDFB+Am2AKRxSkVcwGSQJEACJOBiApPmrsLgznWQM0cOF0fJ0FQSoJigkraNvigmxC4miLQMeH857rrtGhQukGRjlmiaBEiABEiABEiABEiABOKPwLETpzF70a8Y2rle/AXPiG0jQDHBNrRqDVNMsCYmvD17La64rBSuKJesNnH0RgIkQAIkQAIkQAIkQAIuJ/D7zgPYsWs/urSu7vJIGZ5KAhQTVNK20RfFBGtiwoKV23HsTE5cW6WsjVmiaRIgARIgARIgARIgARKIPwK/bPgLRfMDTWtfHn/BM2LbCFBMsA2tWsMUE6yJCSJbPcb+iCfa1EXu3LnUJo/eSIAESIAESIAESIAESMClBM6e+wcfzU7Ha083dGmEDMspAhQTnCIv2S/FBOtiwvo/DuKL5Ttw9201JWeH5kiABEiABEiABEiABEggPglM/2Y17m5YAVUvLx6fDWDUthGgmGAbWrWGKSZYFxNExtb+ni0otG5UHXk4QkFtJ6Y3EiABEiABEiABEiAB1xAQIxLmfr8OLRtcjuoVuK6YaxLjokAoJrgoGVZCoZggR0wQOdi44xDem/sb6l5zuba7Q8niBbnLg5XOybokQAIkQAIkQAIkQAJxQUDs2rD/8AmI/6/87U880ao6qpQvFhexM0j1BCgmqGdui0eKCfLEBD1BC9J34I+/j+Ov/ceRBeDYiTO25I5GSYAESIAE/Al8/n5f/P37anQZ8SXRkAAJkAAJKCJQrFASspCFsiUL4YoyhdG0dnlFnq27mTwZ2LYNGDAgvC2z5QKtbNoEtG0LrFkDLFkCNGhgPeZgFoYOBa64Amjf3h77sq1STJBN1CF7FBPkiwnGVGZmZSFnjhwOZZduSYAESCCxCBQsWBAnT55EVpaQcnmQAAmQAAmoIBDPz7tmRQKz5QJ5L10KLFwYWaywmieKCVYJsn5MBCgm2CsmxJQUViIBEiABEoiJAMWEmLCxEgmQAAkkLAGjSCBe/MeNy0YxdSpQsyaQlgYcOADcdFP2+ZdeyhYGRFn9XJcuwJgxQL58gHipX7cuu97AgdnlxaGXmTkTeOih7HO6/SpVsv8WseifffrphVEGwqawJQ7jeWPSjGLCwYPZdRcsuBBzr15Ajx5Ahw4XRkeIOo0bZ/9tpj2hfMfSeTgyIRZqLqxDMYFiggu7JUMiARIggZgIUEyICRsrkQAJkEDCEggUE4RAIKYjXH999st32bLZ4oGxnJi60L07MHYsUL68fznxgr5r1wVxQbykT5qU/fd//5stNghbycnZ/xaHLk7o5U6dAp5+Ghg8GPjpJ2Dx4uz6f/6ZPWVi/PiLp0voYsI992TH07BhtqBgjFXY0qd0CMGhf39g2LBsscRse2R1FIoJskg6bIdiAsUEh7sg3ZMACZCANAIUE6ShpCESIAESSAgCgWKC8WXf+Fngv/UXfDEawSgYjB59QSAQ/zJ+JsoaD6PNYNMUMjL8hQFRN9R0hlDnhWigCxOi/ocfAkOGZAsb+vQLEYfZ9sjqFBQTZJF02A7FBIoJDndBuicBEiABaQQoJkhDSUMkQAIkkBAEAsUEfXSAePEPJybo0xF0SM2aZZd/6y3/hRCNYoIoK0YNvPvuBbRiGoQ+BUEfTaB/qosJxvLiM32qhTFBRjHBOGVBlNGnU4hRFIMGAY89Bnz22YUpDsbpFZHaI6tTUEyQRdJhOxQTKCY43AXpngRIgASkEaCYIA0lDZEACZBAQhCIVUwItQNE4AgBo5gg1kswjgAwOzLBuM5BqKTofps3z57eIKZOiLUQjCMTxNoMwue+fdnTH8QUBzHdItziknYt7EgxwSOXF8UEigke6cpsBgmQAAmAYgI7AQmQAAmQQDQEYhETjOsQiBd04zoJYpqDcYvGUGKCWBdBvPSLF359TQZdaNA/E+e3b78gQOjnhbgQuAVkKDFBtG/UqOwFIUWs+laVbdpc2GEimvZEwzZcWYoJskg6bIdiAsUEh7sg3ZMACZCANAIUE6ShpCESIAESSAgCZsUEfepAsN0c9CkO+qKKocQEXQwQuyyIOl27Al9+6b8TRLBdG4y7OQSb4iASZRxBYJy2IKZIiPUR9NEN+tSJwNEOxqkR4dojq1NQTJBF0mE7FBMoJjjcBemeBEiABKQRoJggDSUNkQAJkAAJeJCAGIUgdokQW2AK8cOpg2KCU+Ql+6WYQDFBcpeiORIgARJwjADFBMfQ0zEJkAAJkIDLCeijD8TWl2J6hZMHxQQn6Uv0TTGBYoLE7kRTJEACJOAoAYoJjuKncxIgARIgARIwRYBigilM7i9EMYFigvt7KSMkARIgAXMEKCaY48RSJEACJEACJOAkAYoJTtKX6JtiAsUEid2JpkiABEjAUQIUExzFT+ckQAIkQAIkYIoAxQRTmNxfiGICxQT391JGSAIkQALmCFBMMMeJpUiABEiABEjASQIUE5ykL9E3xQSKCRK7E02RAAmQgKMEKCY4ip/OSYAESIAESMAUAYoJpjC5vxDFBIoJ7u+ljJAESIAEzBGgmGCOE0uRAAmQAAmQgJMEKCY4SV+ib4oJFBMkdieaIgESIAFHCVBMcBQ/nZMACZAACZCAKQIUE0xhcn8higkUE9zfSxkhCZAACZgjQDHBHCeWIgESIAESIAEnCVBMcJK+RN8UEygmSOxONEUCJEACjhKgmOAofjonARIgARIgAVMEKCaYwuT+QhQTKCa4v5cyQhIgARIwR4BigjlOLEUCJEACJEACThKgmOAkfYm+KSZQTJDYnWiKBEiABBwlQDHBUfx0TgIkQAIkQAKmCFBMMIXJ/YUoJlBMcH8vZYQkQAIkYI4AxQRznFiKBEiABEiABJwkQDHBSfoSfVNMoJggsTvRFAmQAAk4SoBigqP46ZwESIAESIAETBGgmGAKk/sLUUxwj5hw/vx55MqVS+s0zz77LP766y/88MMPWLNmDUaPHo033nhD+0z8X3wujh49evA8ObA/8LrgfYD3Ad4HeB/gfYD3gbi7D3Tt2hVbt25FgQIFMGLECFStWtX9L0+MUAoBiglSMDpvhGKCs2KCEBAmTpyo/TdmzBhce+21WqdYvHgxSpUqheTkZO0/HiRAAiRAApEJcGRCZEYsQQIkQAJuIXDixAns3LkTmzdvRvXq1VGxYkUttAT9ub0AACAASURBVD59+qBatWro2LEjcubM6ZZwGYdEAhQTJMJ00hTFBGfFhJYtW2oCwm233YZbb73Vya5A3yRAAiQQ9wQoJsR9CtkAEiABEsDatWuRlpaG4cOH4++//9Z+YOPhLQIUEzyST4oJ6sWE6dOn49577/VID2IzSIAESMA9BCgmuCcXjIQESIAEZBA4cuQIihYtqokKl156qQyTtOECAhQTXJAEGSFQTFAnJoj1DwYNGoR+/fqhadOmMtJHGyRAAiRAAgYCFBPYHUiABEjAmwT279+Pq666CjNmzMAtt9zizUYmUKsoJngk2RQT1IkJd999t7Y2QqFChTzSe9gMEiABEnAXAYoJ7soHoyEBEiABmQQOHjyIRx55BK+88oq2xgKP+CVAMSF+c+cXOcUEdWKCR7oMm0ECJEACriVAMcG1qWFgJEACJCCNwKZNm1ClShVp9mhIPQGKCeqZ2+KRYoK9YkL37t0xduxYW3JHoyRAAiRAAv4EKCawR5AACZBAYhA4c+YMdu/ejdTU1MRosMdaSTHBIwmlmGCfmNCzZ0+0bdsWtWvX9khvYTNIgARIwN0EKCa4Oz+MjgRIgARkEkhPT8cLL7yAhQsXyjRLWwoIUExQAFmFC4oJ9ogJQ4YMQcOGDdG4cWMVabTNxz///IPz58/bZp+GYyfA3MTOTmVN5kklbWi/UJ06dUrbt5yHtwjkypULuXPn9lajPNga5klOUt3IMW/evHIaJ9nKnDlz8PHHH2P27NmSLdOcnQQoJthJV6Ftign2iAkKU2ibqxMnTuD222/HL7/8YpsPGo6dwNmzZ5GVlRW7AdYkARIgARIgARJwJYEcOXLgkksucU1smZmZmD9/Ppo0aeKamIyBCBFZ/PjFRc5dmZ6gQVFMiJ9chY2UYgLFhFAdZO/evahZsyb27Nnjkd7unWasW7dOm0Lz22+/eadRHmwJ86Q+qfyFSj1zVR5LliyJDRs2oESJEqpc0k8MBC677DIsX74c5cqVi6E2q+gEKlSogEWLFrlmPQAx4lb8gDF48GAmiQSkEKCYIAWj80YoJsgVE66//nr8+OOPEPN24/2gmODeDPIl1b25MUbGPKnPE8UE9cxVeaSYoIq0NT8UE6zxo5gQO7/Tp09j8uTJeOyxx2I3wprKCFBMUIbaXkcUE+SJCSNGjECxYsXQpUsXe5OmyDrFBEWgY3DDl9QYoDlQhXlSD51ignrmqjxSTFBF2pofignW+FFMsMbv9ddfx8mTJzFgwABrhljbdgIUE2xHrMYBxQQ5YsLRo0fRqVMnzJo1S03iFHihmKAAcowu+JIaIzjF1ZgnxcABUExQz1yVR4oJqkhb80MxwRo/ignW+RUtWhQ7duxAkSJFrBujBdsIUEywDa1awxQT5IgJarOmxhvFBDWcY/HCl9RYqKmvwzypZ04xQT1zVR4pJqgibc0PxQRr/CgmWOe3b98+nDlzBqIv8nAvAYoJ7s1NVJFRTKCYEKrDUEyI6lJSWpgvqUpxx+yMeYoZXcwVKSbEjM71FSkmuD5FWoAUE+TkiQswyuFIK+4lQDHBvbmJKjKKCdbFhFWrVmH//v1o0aJFVOzdXphignszxJdU9+bGGBnzpD5PFBPUM1flkWKCKtLW/FBMsMZPr00xQQ5HWnEvAYoJ7s1NVJFRTLAuJtx2220YOHAgbrnllqjYu70wxQT3Zogvqe7NDcUEZ3NDMcFZ/nZ6p5hgJ115tikmyGFJMcEax++++w7Dhw/Ht99+a80Qa9tGgGKCbWjVGqaYYE1MECvGlipVCidOnFCbOAXeKCYogByjC4oJMYJTXI15UgycCzCqB67QI8UEhbAtuKKYYAGeoSrFBOscmzVrhhkzZnhiu3brNNxngWKC+3ISU0QUE6yJCZs2bcLatWtx7733xsTfzZUoJrg3O3xJdW9ujJExT+rzxJEJ6pmr8kgxQRVpa34oJljjp9emmGCdY6tWrfDUU0+hefPm1o3RgnQCFBOkI3XGIMUEa2KCM1lT45VighrOsXjhS2os1NTXYZ7UM6eYoJ65Ko8UE1SRtuaHYoI1fhQT5PCjFfcToJjg/hyZipBiAsWEUB2FYoKpS8iRQnxJdQR71E6Zp6iRWa4wb948TJs2DRMmTLBsiwbcRYBigrvyESoaigly8uSGkQk7duzA5ZdfrjVoyJAhyMrKwuDBg7W/jZ/JaTGtJBoBigkeyTjFBGtiwujRo9GxY0ekpKR4pEdcaAbFBPemlC+p7s2NMTLmSX2eODJBPXNVHikmqCJtzQ/FBGv89NpuEBNq1KihCQjjx4/H999/r/27UaNG6NatG3LkyKFN83XzIeLNyMhA/vz53RxmwsZGMcEjqaeYYE1MqFKlClauXImiRYt6pEdQTIiHRPIlNR6yBDBP6vNEMUE9c1UeKSaoIm3ND8UEa/zcJCZ88sknePLJJ5GUlKT9J47Tp09r/7399tvo1KmTnMbaZEVs23711Vdj3759NnmgWSsEKCZYoeeiuhQTrIkJefLk0VTP3LlzuyirckLhyAQ5HO2wwpdUO6jKt8k8yWcaySLFhEiE4vdzignxkTuKCXLy5IaRCaIl4ro7cOCAX6OSk5MvOien1XKt/PPPP7j22mvx22+/yTVMa1IIUEyQgtF5IxQTrIkJaWlpaNu2rfOJtCECigk2QJVkki+pkkDabIZ5shlwEPMUE9QzV+WRYoIq0tb8UEywxk+v7RYxQYxOENMaxFbo4ihQoADGjRvn+lEJOkfxjC6e1Xm4jwDFBPflJKaIKCZYExNigh4nlSgmuDdRfEl1b26MkTFP6vNEMUE9c1UeKSaoIm3ND8UEa/zcJiaIeIyjE+JlVIKcLNCKnQQoJthJV6FtigkUE0J1N4oJCi/EKF3xJTVKYA4VZ57Ug6eYoJ65Ko8UE1SRtuaHYoI1fm4UE/TRCSK2eBqVICcTtGIXAYoJdpFVbJdigjUx4YEHHsCUKVMUZ02NO4oJajjH4oUvqbFQU1+HeVLPnGKCeuaqPFJMUEXamh+KCdb4uVFMEDEVL15cC+3QoUNyGqjIyqZNmyAWS+fhPgIUE9yXk5giophgTUwQW+OIrWe8eFBMcG9W+ZLq3twYI2Oe1OeJYoJ65qo8UkxQRdqaH4oJ1vjJEhPEs6l4RpV1LF26FJmZmWjYsKEsk9rzs8wYgwXm5ed0aYlwyBDFBIfAy3ZLMYFiQqg+RTFB9tUmzx5fUuWxtNMS82Qn3eC2KSaoZ67KI8UEVaSt+aGYYI2fFTHhv5v3Yc3WA/hr3wkk5c2DP/cclROMTVYuL10EGWfO4bKUQriuUgnUrFRSuieKCdKRSjNIMUEaSmcNUUywJiZwNwdn+2+ieudLanxknnlSnyeKCeqZq/JIMUEVaWt+KCZY4xermPDhF+uQI2dulEwujJJFCyC5aAE5gdhs5eCRk9h/+CT2HTqGHFnn8egd1aR6vOqqq7BhwwapNmlMDgGKCXI4Om6FYoI1McHxBNoYAEcm2AjXomm+pFoEqKg686QItMENxQT1zFV5pJigirQ1PxQTrPGLRUz497Q1qFg+BVVSU+Q4d8jK+j/24s9dB/BMm2scioBuVRKgmKCSto2+KCZQTAjVvSgm2HjhWTTNl1SLABVVZ54UgaaYoB60Ax4pJjgAPQaXFBNigBakSoUKFbBo0SKkpqaGNShGJKSUKIaqFUrJceywlfXb9uLQ4SN4pIXcEQoON4vugxCgmOCRbkExwZqYwN0cPHIhxFkz+JIaHwljntTniSMT1DNX5ZFigirS1vxQTLDGT69tRkz4ZdM+/LLtMBpef6Ucpy6x8uNPW3BD5eK4tpL1kRbczcElSaWY4N5EWI2MYoI1McHLC7twZILVq8u++nxJtY+tTMvMk0ya5mxRTDDHKR5LUUyIj6xRTJCTJzNiwkfz1qOkGJUQ59MbAolt2LYXBw8fxSMtrrIM08vP6ZbhOGyAIxMcToAs9xQTKCaE6ksUE2RdZfLt8CVVPlM7LDJPdlANb5NignrmqjxSTFBF2pofignW+Om1zYgJQyek4/Z6VeNmsUWzZMSijN8s34gBnWqbrRKyHMUEywhtM0AxwTa0ag1TTLAmJnA3B7X9ld6yCfAlNT56AvOkPk8UE9QzV+WRYoIq0tb8UEywxs+smJCVlYXXpv6C1o1rynHoMiuzF/6KXu2uhRADrBzczcEKPXvrUkywl68y6xQTrIkJyhLlgCOOTHAAukmXfEk1CcrhYsyT+gRQTFDPXJVHigmqSFvzQzHBGj+zYoIo98yY79H9wYZyHLrMytj/LMabPW51WVQMRyYBigkyaTpoi2ICxYRQ3Y9igoMXZgTXfEl1b26MkTFP6vNEMUE9c1UeKSaoIm3ND8UEa/woJmQToJggpx+52QrFBDdnJ4rYKCZYExO4m0MUnY1FpRHgS6o0lLYaYp5sxRvUOMUE9cxVeaSYoIq0NT8UE6zxsyomzJ3xH/Tq1tEviClzf8CunTvwwVuv4Y13/4MrrqyC8a+/rJV5sFNX9OrWAYsXfe2r067jE6h5XW307dHZz86zfQaj2/+9eFEDA32K+v2GvIav58/CTyuXaP9OypfP57PuTY0wpG93Xyyi/pzpn2L0+EkoVjxZqpjA3Rzk9Ec7rFBMsIOqAzYpJlgTE7y8sAtHJjhwQZp0yZdUk6AcLsY8qU8AxQT1zFV5pJigirQ1PxQTrPGTISYYX+B1e/oLvy4IBIoJT/XojxtqNwgqFOzcsS2oiGC0rfsU514Z1BM31rlJ+ziYmPBY155amVKlL/WJGa3vfQit2jzo8y9rZIKXn9Pl9DTnrFBMcI69VM8UEygmhOpQFBOkXmpSjfElVSpO24wxT7ahDWmYYoJ65qo8UkxQRdqaH4oJ1vjZLSZUvbqmNiLgy7nTNFf6yARZYkJGxiltpIOwJ0ZDBBMTxOiGbVs34eUXn0PVajVx4sQx3+gFvf0UE+T0IzdboZjg5uxEERvFBGtiAndziKKzsag0AnxJlYbSVkPMk614gxqnmKCeuSqPFBNUkbbmh2KCNX4yxATjNIeGjZpq0wcWL1qgvdgXLFgYBQoW9AUZbJrD6PETfaMExIgGMyMTjD6N0xwCp1wYp0qI0RH/HjkYYhpG4KgIWWICd3OQ0x/tsEIxwQ6qDtikmGBNTHAgZcpccmSCMtRRO+JLatTIHKnAPKnHTjFBPXNVHikmqCJtzQ/FBGv8ZIgJoaY5iPMPdHwCzz/7GDauWwPxYi97ZIJYG0E/hBARamSCKPNz+lK8NWaY31oJel1ZYoKcbNCKHQQoJthB1QGbFBMoJoTqdhQTHLggTbrkS6pJUA4XY57UJ4BignrmqjxSTFBF2pofignW+NktJugLI4oRAxQT5OSKVmIjQDEhNm6uq0UxwZqYwN0cXNelEyIgvqTGR5qZJ/V5opignrkqjxQTVJG25odigjV+ZsWErKwsvJa2Gq0bXePnMNxuDvooAX1dg+tr1Q+5m4O+A4PZaQ7hRkME7uag7wgRbmTCnIW/ome7ayEWULRycDcHK/TsrUsxwV6+yqxTTLAmJnh5lViOTFB2GUbtiC+pUSNzpALzpB47xQT1zFV5pJigirQ1PxQTrPEzKyaIci9PSEeTelWRXLSAHKcusXLgyEksXLEJ/R+uZTkiLz+nW4bjsAGKCQ4nQJZ7igkUE0L1JYoJsq4y+Xb4kiqfqR0WmSc7qIa3STFBPXNVHikmqCJtzQ/FBGv8ohETJszfgOTiRVG1QoocpxGsiJEED7S6xa+Uvtiica0Eq8Fs2LYXR44eRcfmV1k1pY1sEKM4eLiPAMUE9+UkpogoJlgTE7ibQ0zdjpUsEuBLqkWAiqozT4pAG9xQTFDPXJVHigmqSFvzQzHBGr9oxITVW/bjv1sOoeENV8px6hIrP/68FbWrJKNGxRKWI+JuDpYR2maAYoJtaNUapphgTUxQmy213jgyQS3vaLzxJTUaWs6VZZ7Us6eYoJ65Ko8UE1SRtuaHYoI1ftGICaLsx/PWo4QYnXBFKTmOHbaybuseHD12DA//y/qoBIebQvcRCFBM8EgXoZhAMSFUV6aY4N6LnC+p7s2NMTLmSX2eKCaoZ67KI8UEVaSt+aGYYI1ftGKCKP/m9F9Rvmwyql1RWo5zh6wIIeGvvQfx9D3+i0o6FA7d2kyAYoLNgFWZp5hgTUzgbg6qeir98CU1/voAxQT1OaOYoJ65Ko8UE1SRtuaHYoI1frGICaLOx/PX43xWLqQUL4SU4gXjZlFGsdji/kMnsPfgMeTJlYVOkkckcDcHOf3RDisUE+yg6oBNignWxAQvL+zCkQkOXJAmXfIl1SQoh4sxT+oTQDFBPXNVHikmqCJtzQ/FBGv8YhUTRL01W/dj9ZYD2LnvOJIuyY0de47JCcYmK5eXLoLTZ//BZSkFcV3lkrhGwhoJgaF6+TndprQoM0sxQRlqex1RTKCYEKqHUUyw99qzYp0vqVboqavLPKljrXuimKCeuSqPFBNUkbbmh2KCNX5WxASjZ7GDgXiRlnU8+eSTuO6669ClSxdZJrVdFmTGGCwwignS0iXdEMUE6UidMUgxwZqYwN0cnOm3ie6VL6nx0QOYJ/V5opignrkqjxQTVJG25odigjV+ssQEOVFcsPLUU0+hRo0a6Nq1q2zTttrjbg624rVknGKCJXzuqUwxwZqY4J5Myo+EIxPkM5VlkS+pskjaa4d5spdvMOsUE9QzV+WRYoIq0tb8UEywxs+tYsLTTz8N8WLerVs3OQ2klYQnQDHBI12AYgLFhFBdmWKCey9yvqS6NzfGyJgn9XmimKCeuSqPFBNUkbbmh2KCNX5uFROeeeYZVKlSBUJU4EECMghQTJBB0QU2KCZYExO4m4MLOnEChsCX1PhIOvOkPk8UE9QzV+WRYoIq0tb8UEywxs+tYsKzzz6LihUronv37nIaqMgKd3NQBDoGNxQTYoDmxioUE6yJCV5b2OXMmTPImzev1lU5MsFdV+yJEydQsGBBLSi+pLorN8ZomCf1uTl8+DCKFSumOQ4UE/755x/kzp1bfVD0KJ1AoJhw9uxZXHLJJdL90KA1AoFiwunTp5GUlGTNaILU3rZtG6644gqttRUqVMCiRYuQmpoK8WyWkZGBokWLKiWxceNGVK1aVfP53HPPaTEJUUEca9eu1dZQcPvhted0t/OOJj6KCdHQcnFZigkUE4zd85NPPkHv3r3x9ttv46abbkLNmjWxZ88ejB8/HoMGDcK8efNQp04dF/do74Y2evRovPnmm3jnnXdQvnx5tG3bFr/99hteeukljBs3Dt9//z2qVavmXQBx0jLmSX2iHnnkEfz88894//33tfvVxx9/DLE47gsvvIBZs2bhp59+QokSJdQHRo+WCKxYsQJ33HEHXn75ZW3RN11MEC9YYjG4N954A+3bt7fkg5WtExDXXrNmzbRnBDEUXhcTVq1apeVN5K9z587WHXncgviRoF69erj11lsxatQoNG/eHF999ZX2nT927Fjt+1/0e5WHEDZy5cqF119/XRM2RG6LFCmiCQrVq1fH8uXLVYYTky+KCTFhU1KJYoISzPY7oZhgTUzw2m4OQv3Onz+/9iuC+MI4deoUMjMztf8KFCigjVbg4QyBXbt2aUMMRR7ErxPiV4oDBw5owVSuXFkTFng4T4B5Up+DH374AS1atNBGIJQqVUp7+N26dau25VirVq0wffp09UHRoxQCQkAQ9zqRU/E9JEZnHTt2DOLXbvF9xVEnUjBbNnLppZdqeRGHGC0iniGOHj2Kc+fO4dChQ75RdZYdedxA/fr1tRd08fyVJ08eiFFXoo+Lvi9G4qg+PvjgA21ag3guFDGIfIojZ86cmDlzJm677TbVIUXtj7s5RI1MWQWKCcpQ2+uIYoI1McHe7DhjvUePHtrIBPGgph/ii+TDDz9Eu3btnAmKXjUCgr8QsIyHEBamTZuGJk2akJJLCDBP6hMh9j9fvXq1n2Px4imG4ophwjzik8DkyZO1fe1Pnjzpa4CYiicWgROjgHi4g8CMGTPQsWNH7QcI/RCCghiRIH5R52GOgBjlIUYmiOly+iHEmRdffBEDBgwwZ0RyqeTkZE0QMh5iVIK4t/IgASsEKCZYoeeiuhQTKCYEdkchIohfv8+fP+/7qHTp0ti9e7eLem5ihiJ+9RajEIwPbPxSd19fYJ7U50SMTmjdurX2a6h+tGnThqMS1KdCukcx2mTfvn0+u+JXUY5KkI7ZssFy5cpB3PuML8EHDx7kqIQoyeqjE/RqYoSCE6MSdP8TJkzQxDtd0BPr00yZMkWb2sKDBKwQoJhghZ6L6lJMsCYmeHU3B+PoBI5KcNEFGzA6gaMS3JUbYzTG0QnMk5o8GUcncFSCGuYqvBhHJ3BUggrisfkwjk7gqITYGIpaxtEJTo9K0FuRkpKC/fv3a3+KaQPr16+PvYGKa3I3B8XAo3BHMSEKWG4uSjHBmpjg1YVdjKMTOCrBXVew8VdvjkpwV26M0TBP6nNjHJ3AUQnq+dvpUR+dwFEJdlK2blsfnSBegjkqIXae+ugEp0cl6C3QBT0h5omFuu+8887YG6e4plef0xVjtMUdxQRbsKo3SjGBYkKoXidGJ4hVhMXK6FwrQf21Gc6jyMfnn3+ubYPHtRLclRtjNMyT+tyI0QnilyjxyxnXSlDP3y6P4mVGzL/v1q0b10qwC7IEu2J0wkMPPcS1EiyyFKMTGjRogP79+zu2VkJgE8SOOGLE1/bt2y22Tm11iglqeUfjjWJCNLRcXJZigjUxwWu7ORi76pEjR7St1YSgwMNdBMSXudgqSmzXxMO9BJgn9blZuXIlvv76a9c8gKsn4F2PYiFGsWVe4cKFvdtID7RMCD5DhgzhdqwWcpmVlYUvv/wSt9xyi7aGlRsOIdKKkUGVKlVyQzimY+BuDqZRKS9IMUE5cnscUkywJibYkZV9q1bij8+mIjMjA8cSfCvGwimlkLNAflRo+yBSbrjRDtxR2WRuLuByW26MiWSe1OdJMN8+dw4yz57B0W3borquvFi4SIUrkDNvXqTedY8r7l1mGPO6UX/dmMlLYBnmiXmKpd84WcfNzwtOckl03xQTPNIDKCa4S0zY/fVX2J42BZdecgny5cmt7ZOeyEdmVhZOn/sHf589i9SHOqJMI+f2NGZu/Huim3JjjIx5Up+n3Yt/wM55n6NCg4YoULIkcubKlci3La3tmefP4+T+/di2+AdNUChV/yZXM+F1o/66iaVDME/MUyz9xuk6bn1ecJpLovunmOCRHkAxwZqYIHM3h70rluOPD9/DlYULeaR3yW3GlqPHULFLV6TUqiPXsAlrzE14SE7mxhgZ86Q+T3tXrsCOmdNxzV13m7iSErPImlkzUOH+B5ByYy1XAuB1o/66iaUjME/MUyz9xm11VD8vcDcHt/WAC/FQTHBvbqKKjGKCNTFB5sIuK5/vidKnM1Agb96ocpgohU+eOYO9+Qqg9ohRypvM3IRH7mRujJExT+rzlP5iX6Redz0KlSql/LqMF4fH9uzBn7+uQa2XhrkyZF436q+bWDoC88Q8xdJv3FZH9fOCzOd0t7GM93goJsR7Bv8XP8UE94gJy595ClcWzI+cCT61IdSlJYbJbT2ZgXpjxyu/+pib8MidzI0xMuZJfZ5W9P4/1Gj+L05tCINeTHlY+9WXqDvKnQum8rpRf93E8iXGPJnI04lTqPfmW7HglVaHeTKRJ4XPchQTpHVt6YYoJkhH6oxBWWLCpk370bbtf7BmzW6tIS+9dDsGDPCf3z506HcYOPAbX0OXLHkSDRqk+jV86dLt6NZtDtLSHkSVKiV9n4m64gi0KYNanfrzsHLZjzGZkrmbw4L77saNVavGFEeiVPpp40Y0mzZLeXOZm8jIncqNMTLmSX2eBPOGT3aN7DjBSyx+521H7l1msPO6iUyJ97fIjNxQgnlyQxYix6AyT9zNIXI+nCpBMcEp8pL9yhATggkA4uV/165jGDPmTuTLlweBf+viw/jxrX2CQkbGOQwalC021KxZBu3bX+d6MUFmOsQDXa3qV8s06Tlbq35b58gDOXMTuSs5lZtAMYHXUPhcyc6TJiZ0fiJyB0nwEos/eM+Re5cZ7Ly/RaYk+7qJ7PHiEsxTZGrMU2RGbijhhjy5gUOix0AxwSM9wKqYIASAHj2+QIcO1/mNMjCev/76slqZhg1TwwoEQmD48MNVePDBa/Hqqz9g3LhWSE7O3l/XrSMTZHYD7UGhZk2ZJj1na9WaNY48kDM3kbuSU7m5SEzgNRQ2WbLzJK6Nmx55NHIHSfASSz7+yJF7lxnsvL9FpiT7uonsMYSYwPub0vsb8xQLgch13HA9RY6SJewmQDHBbsKK7FsVE4QAMHjwt34v/nroRgFg8uRf8NBDaUGnP+jlRRlxiBEJom7jxhV9AoVbxQSZuzmIB7raN9ygKPPx6Sb9558deSBnbiL3F6dyEygm8BoKnyvZedLEhA4dI3eQBC+xZNJER+5dZrDz/haZkuzrJrLH4GIC729q72/MUywEItdReT1xN4fI+XCqBMUEp8hL9munmCDEgW3bDvnWOTh48CTat0/DggWbtVYY11XQpzg89lgtba0EMXVi4cLffXXdKibIXNhFe6CrXVtyhr1lLj093ZEHcuYmcj9yKjcXiQm8hsImS3aexLXR4MH2kTtIgpdY+p/Jjty7zGDn/S0yJdnXTWSPIcQE3t+U3t+Yp1gIRK6j8nqS+ZweuWUsEQ0BignR0HJxWZVighGDPg1Cn/oQuICjKNusWWVMntxWm+qQKGJCnfr1XdxbnA9t5bJljjyQi4dt5iZ8/p3KTaCYwDypzZMmJtzf1vmbg8sjWPpZmiP3LjNYeH+LTIn3t8iM3FCCeXJDFiLHoDJPFBMi58OpEhQTnCIv2a9VkIbTBQAAIABJREFUMcHMmglVq5ZE//5fY9iwpr41EEQzjCMXgokF4twVVxT3TXsQdby+m0OdhjdLzvAFc1v27sOjn0zEb7v+9p2sXvZSfPRwR1QqlYKMs+fQf9ZsrNqxw3dOLzjtp5/xxKTJeK9De9x344WpGCu2/YHe02dcVN6uRqxc/KMjD+Taw7aJ3Oic9PZ/+ewzqHtFBe3PUQu+xivzv/JDc1vVKniv40PYvHcf/vXvN4Ni020E5u+R+vUw7O67kO+SPGFxC7/i6N2sqV+5QydP4omJn6JXs6a+GPUCkfpKMIdO5eYiMcFEngLj1/t+maJF/DgJDi/MnIUR99ytXSPGIzDX+mf9WjS/iHWgv1A5idaf2T5g9C87T+LaqN+mjV8Tt/y9G30+mYSRD3dApUvL+D57deZspKakoO1NF0RTcW7YtBlamRqXl8eE7k/71RG2Oo0dh7U7/tTKPHpbYwzvmD0Sou/Eyfjou4UXdUdRpvc9rfHMux/g21/X+n3e/742eP6eu3znAu0Hfp62ZBkeH//2RT6+HjwAdatUhjF+Y6Em19TAB093RfFChbTTy2bMcOTeFfbm8L8Pzd7fzNgKVkZ8T4j7W+C1od+DRB1xHyxeIHuNpFDXo2473H021hgj1ZN93UTyF+xz2XkK5Kh/vwe7/+vxGJ8BxH1s95Gjvu+hYN9xop7+PSfyG8pnLDyC1fFinozXhJnns2B5MF574rrrM30mnm/ezPe9pl9zHy9brmE15kxWbox2VOaJuznYkUE5NikmyOHouBWrYoJogNndHERZXQzQpzyIhRubN6+sTX8YMKCx3yKOQmxYvHi7tiPE6NHZWze6TUyQmUDxoFC3USOZJv1sbdm7F89Pm4lX77sHlUqV0j5b8fs29E6bjo8eexjlihVDvxmzcDQjA81rVMf9tW7834PdWQyf96UmQrSrU+ui86JQ9XJlfedta4CId9EiRx7IzeTms1U/IW3lKrzfqSOKFyyAQydO4vEJE9H7X81Qt+IVGPnlAg1Nn3818yESdbYfOOh3Llg5kbtHP/wEo9req9kShyi3+8gRvNLmbuS75JKQ2IPZE4UD4zMaiNRX9P5jrONUbowxmMlTMFDiOkhLX5V9j2l5p5Y/cQTjoNcXuVu+9feI/IP5C5WTaP2Z7QN25kkTE1pfeDnXuO3ejT6TJmNkh/aoVMYgJsyeky0m1K+HjLNn0XfyFJQpVhTP39U6m/fu3eg07m289nAH1K1c6aK/RZlXZ8/B7sNHMLz9A75+H8zfoeMn0Pntd9HnrlaaLXHoPts1qK+dW7F5C3p+MgkTnu7qizPQftqy5Vi+abOfP1Fv5Oy5+KBrFxQvVFCzHcyfkfuyObMduXeZuR/Het2YsS3KiOtL9NVi+fNj1P33+q6vcOeDXY/CVqT7rNmYoi0Xz/e3YG0NxbGt4Tte5x3sPifuVW8t/F4z/VTjW33PFOG+W8z6jDY3dt7fYonFjutJ3LvMPp8Ffr/odcsULao9a4jv/t6fTccLdzTX8qY/Cxhzb3w2DPZ9HwsXt+XJahtY3zoBignWGbrCggwxQTQkcJqCcT0EvaFipMHAgdlbP4rj00/baqMOhBgxdOhC35QG/XPj9pFi/QRjXVEmmI9YoNapPw8rl2WLFU4e2hdQk9ttC2HLnr14/rNpePX++1CpdLaYII6R877U/v/M7beh37QZqFn+Mmzbvx9977xDe1gX9SYtW6aVqV62HO6vU0v7t37+vlq18MaCrzGq3f0oXjD7wdquY8W33zjyQB4pN4dOnMDjH01A7xb/Qt0rK/qav2Lr70hbmY5X7muDN7/5Tjvf545/Bf1cFwT0fASWGzX/S7z/aCcf41D5DGQfzJ4oEypmPbfh+ooxNt2fU7kxtjdSnkL1S8Ho5iqV8eOmzUgtUcKvjwfjIOx8tnIVlm/dquU2nJgTzGeonITLaTB/4XIYqq2y8ySY17vzTj93W3bvQZ/JUzCy/QOoVKb0hXvNnM+RmlIS99erixVbtmLqsuUY/kBbP37G82t2/ImRcz/HB10ev9Dvg9gO5k+w6fzu++jTqiXqVrryohha3nA9+k5JQ7v69fw+1wQHw/nPlq/Ass1b/OIUtntN+g/63tXK175Q/nTHy7/4wpF7l5l7cazXjRnboox+HyyULwktrrnGd48U10FK4UJYvGmz3/dHqOvRzH022mvRdBsc+u6RcX8zew8Kdo8JdZ8T5/Vj+4EDft9rofIU7L5n5T4arF2y729m+4ddedLtaoKAyeezYJyN3y3JBQug99TP8MKdd2jPgiIHgTnUv+OCnY+FSWAdN+RJRjtowxoBignW+LmmtiwxwTUNiiEQK2KC7N0c6jW/8KIZQ1PCVtmyZw/6TEnDyAfaolLpCw/4K7ZuxdTlKzHw7tZ4adYc3F79asxY9RP6trpTK/fZipWa3e37DyC1ZAncX7eO9rd+Xvw98vN5uPmqKqh75YWHdtnxC3vLv/rSkQdy7YUpTG4Ew5Gfz8cHjz8aUlARjMTRp+UdPjRmz2kvKu9/hH3HjuLjLo/75S8S52A+RB3dZp+WLS7KW6S+MrztfRe9QDuVm8CHuGivIcFB9HvR/w+eOIFJi5eib+uW/xPSgl8zev9ftmUrgrGINSehuIfzJ/JrvC4j+Zadp2DXRqh2GGMNFbexbnLBgqb6fTB/wfq38ZywPXzuFxj9YLuLrlnjNSPuc4F5Dna9h7uenLx3ReoP4vNI9zczNsKV0b9japYvj/3Hjmn3QP26a1evDt5b+L0vD+GuRzP3Wauxhqov+7qJJU6ZeRIsm40YhUduuTnsPSxY/xcvtsPnfI4ODRtAXEf6/VP/MSHUtWDWZyxs9Dpey5PeLk3kTJtm6vks2He+Xl9cb5VLl0av/0zVnvHKFS+u2RXnA5/f7LzeVOaJuzlYuaLsrUsxwV6+yqxTTACsiAkyF3YJ9gufzI4Q6tdC/ZfAgW3uxkszZmm/1P24foP2C6L49W74rDnocHNDzEpf5ftVUXuY+N958cujsCHq9GndUmbIF9ly6te9SLkJ9SursQEj53yOYbPm+LXpkUa3XPTLrCiniQ5BWIpfSR9/9wPt8xrlL8PHXbv4/fIbDH4oe+F+SY3UVwJ/TdZellzwy2ukPAXjY+y7gf06FAft5d6QC6PdBf1f8PulO5qcRPIX+Au5sC3yq//ab+bik52nYL9qi1/BHv3gQ6z9a9dFIb33SCdt5If49cw4CkQvKPql8VczjfXKVXji4wnZ/b5cWXzU+TG/0VXBRnTov45+t36DXwy6f1FnxBfzgo6oMv5SZ/StGwoWQ6RRIm7+JS6W68ZMX9PL6PfHRxvdgjfmfYXRHR7E5t17tO+Mu2vXwvDZc7Vz4mU03PVo5j4bTVzRlJV93UTjWy8rO0/6KJyPF/2guQj2fRRsZI64T036cTH63t1aE13FPejmalf57nvhvlvM+IyFjV7Hi3kSbTOOmIr0fBbsO99Yv3KZ0r6RVeWSiwcdoSV8ijwbr00reQmsqzJPMp/TZTKgLYBigkd6AcUEd4kJgXOPZXazUPOY9TnBA+9rg5emzYCYTyyOH9avxz11amP4zNkY3bED3v/uO998Z31u89o/sxdFE0eTGjX85hDLjF235dS842Dzwo3tCzaHOrD9Yi62OPT54aH4mC1nxqfwEcpeuDnekfqKcb6607kxcoyUp2DMBZ9hM2b5ffR+1y7avP5QHEThYHPpzfb5UDmJ1p++BkC9KpW1eM0csq+hYPODQ639IObyppZI1tZXMf7bGHfgfN7ANom5vKO+XOBbm0R8HsxfuDVB9Doj5n3lN4df92VcyyRwbYxY1iARdt0w5z5U/4jlujHT1/Qy4l41dekyDLy3DcbMm4eOt9yMmSvTte+T6yuk+r5jxPoT4a5Hs/e8aGIzW1b2dWPWr9X7WzR+gt2Xgt3nxLnH337Xz3T/Nnf7vtsirR9irGj2+85sO7yaJ+N6L4JFuOezYEyNOalcpgx6TZyEvvfchXLJydraNfo6MkbO4vtIf/7T14Yxm4dI5VTmiWJCpGw49znFBOfYS/VMMcGamJCWloa2beVsixZsVXSZyQ63wrrw0/3OFtrq6O0aNkDlS8vgpbTp2qrqJ06f1lY/N67ELv4tDuOq6MFWapcZv7Dl1IrokXJz6PhxdB73Nvrcc5e2wrt+COYTF/2Afvfdg7FfzL+IWTA+wdiKFeXFYVwFX/jsNWEi+ra5x2/1+0CbweyJMqFiFp9F6ivGvOv+nMrNRQ/bATsLhOuDwdopzg2fMROjO3XEweMngu5KIGyKnCzfuEnbWSDaedqhchKKeyh/4XIYqt2y8xRshflQu1KIVcZTk5O1HWHECv/iRT1wRxLj+S9+/VVrhnEHmWArkQfzF263EmFTX71cCBv6jivBzovV55f/vs0Xp263ba0bL4or1O4owq7K1cujve9Gur9Fay+w/IpNmzF18VLtWpmb/hMOHDuGn3//Xbt3iSPc9Wa8HkXZSPfZaK9Fs22Tfd2Y9Wvl/hbKh3gxfWXaTHRsdIvfd4cxTzrHwPtcsHtO4HdRsDLR+IyFTTx/D5lpryYmWHg+M363JBcq6PfsIHK8fd8+v+c5/Tsn2Hkz8UYqo/J64m4OkbLh3OcUE5xjL9UzxQRrYoLMZIgHOjv3a9/899/o8/EnGPnIw6h86aVa6OJlqOeHH2NCj+64rEQJvPDJRLRr2BDXXlFB+/dH33yHr18ajHpVq+DV6TORWioFTa6tic5jx6FPm3u08/qRtngJlm3ciBEPd4z65cosR6f2ajeTG9H+qT8uxgfdn0ZyoUI4KASGsePQ7uaGaNvwJo2fOJ6/N/sBOtQRrFyw3AX6i8aeKKvHF5hH8VmkvqL3H6NPp3IT+LAdzTUUrM8auSQXLnTRNSOjv4fqC8G4h/Mn7Px9+FBU15zsPGliQv0LWz2KeLfs24cXZs3FiLtboVLKhS01R339LVKTi+O+G65Hxrlz6D/7c5QpUhi9mzbRminqPTpxMka1uRt1K6QGtTPt5/8i7af/4r2HHvBtJRjMn/bS/+kU9GraRLMV7Fjxx3b0njELH3Vs74tTxLj76DEMu6sl8uXJA+Fv+bbtvr+FHVFv9Nff+sUQyZ/KfdXN3k/1cmbub9HaNJYX3zNTFy/W+unqbX+g6cDBePT227S/dx44gOHTZmD0o53w7eo1F32HBN6nIt1nrcQZrq7s6yaWOGXmKfDeJ15WxXf+pcWK+31HBZYTuRw5Y6bve060Q69bv2pV7bsu1HeLWZ+xsNHreC1Pert0xpGez4I9awTmVuSn10cT0Pe+NtqzYOCzivBpfDYM9n1vJUeirhvyZLUNrG+dAMUE6wxdYYFigsvEhAez90+349i8axc6vfYG1m7f7jNfIzUVE3o+h8plyyLjzBm88PEnaHfLzah3VVWk/bgYU7//ER/06K69HL86bTpSS5VC+ZIlMXLaDN953Zhu/7XHH9Pq23Es/c9kxxZgbGAiN4JZ5zfG+pr+wXPd0fbmhtrfgp84nr/v3rBoQpULzF+Ta6+9KAfBDAt7L09J8/voxQfaonPzZug8Ziy+Xb3a77Ovhw2FeIkO11eC+XEqN8ZYtIdtE3kSdfT+Xr/aVb4c6bYEs78PHkLnZk3R5c3xQa+ZX37f5pdrve6jTW/HiEceRr68eUPmOVRO7q5fLyT3YP7M+AoMQnaeBPPatWv7udmybz/6zv0Cw8UiriklfZ+N+nYhUosXx33XX+t3bvjX32p/Vy9TBh+2b+dXR9h6bPJU/LZ7t1amceVKeO+BtiheIL/PRjB/h06ewhNT0tC7SWPUSb08ZC4C7fdt2kSrox/T/rsay7dvx7CWd2jigtZ3hBDy+TyUKVzYVzaSv/T0dEfuXWbuw9FcN2bsBZZZvmEjpv7wo3ZdnDp7VrvvtLv1Zu26E/e14WnT8PLDHbTvlXDXo35dhbvPxhKfmTqyrxszPgPLyM5TIEfxvRD4/STKLFu/wXdPC/X9ZHxeEHGLHPe5r81FzwJmfMbCRq/jxTwZv68iPZ+JayrU94ueW01MeP9D9G17n/bsZ7T/0dfZO66Zfb6INVduyFOssbOePAIUE+SxdNQSxQRrYoLs3Rxu6tDR0f7gdudLJk105IFcPMQxN+F7h1O5MUbFPEW+gmXnSRMTbrghsuMEL5H+88+O3LvMYOd1E5mS7OsmsseLSzBPkakxT5EZuaGEyjxxNwc3ZDx4DBQT3JubqCKjmGBNTJC5sIv2oPDIo1HlL9EKL/n4I0ceyN2cm+Xr1+P23i8E7QovPtQeLzwgZ02PSH3NqdxcJCa44BoaMSUNL386OSiyb0aNQL1q1SLhtO1z2XkS10atmjVti9crhletWePIvcsMPzff38zEr6KM7OsmlpiZp8jUmKfIjNxQQmWeZD6nu4Gdl2KgmOCRbFJMcJeY0LDzEx7pWfY0Y/EH7znyQC4e4pib8Dl1KjeBYgLzpDZPmphQ/Wp7LngPWV312zpH7l1mEPL+FpkS72+RGbmhBPPkhixEjkFlnigmRM6HUyUoJjhFXrJfignWxATZuzk0fLKr5Ax7y9zid9525IFce9hmbsJ2Jqdyc5GYwDwpzZO4Nm6sas8aKV66e/20caMj9y4zDHl/i0yJ97fIjNxQgnlyQxYix6AyT9zNIXI+nCpBMcEp8pL9UkywJibITMfyXj1wzb9aIGeuXDLNesZW5vnz+HX+PNR77Q3lbWJuwiN3MjfGyJgn9Xla1q0LKhUuhJw5cii/LuPFYWZmFracOIH6495xZci8btRfN7F0BOaJeYql37itjlueF9zGJRHjoZjgkaxTTHCPmJA+oB9Sr7sOhVJKeaR3yW3G8b17sGPtWtQaPFSuYRPWmJvwkJzMjTEy5kl9ntL79kHpUyeQP8zuFSYuMU8XOXnmDPYVLIxaw0a4sp28btRfN7F0BOaJeYql37itjlueF9zGJRHjoZjgkaxTTLAmJsjczWHfzz/hj7T/oObdbTzSu+Q2Y83M6aj4YAeUuO56uYZNWGNuwkNyMjfGyJgn9XkSzH9/9y1UKlTQxJWUmEU2HzuOyk8948i9ywxxXjfqrxszeQkswzwxT7H0G7fVUf28wN0c3NYDLsRDMcG9uYkqMooJ1sQE2Qu77FmyGDtmz0CFm29BwZRSCT/lIfOff3Bi/35s+34RUu+7H6XrNYiqf8sszNz403RTboyRMU/q8/T311/hj4kTULZQQeTLk4dTHgBkZmUh49w57Dp+AhUfeRSlb2sq83Yk3RavG/XXTSxJZJ6Yp1j6jdN1nHxekP2c7jRLL/mnmOCRbFJMcJeYILrV/p9/wvY5s3H+TAaObtvmkZ4WWzOKVLgCufLlQ4W77nHFr3rMzYU8ui03xh7GPKnPk2C+LW0KMk+dxLG9e2O74D1Uq3BKKeQqWBBXtHvQFfcuM2h53ai/bszkJbAM88Q8xdJvnKzj5PMCxQQnMx/eN8UE9+YmqsgoJlgTE2Tu5hBV4liYBEiABEiABEiABEiABEggJAHu5uDezkExwb25iSoyignWxISoYLMwCZAACZAACZAACZAACZAACSQ4AYoJHukAFBMoJnikK7MZJEACJEACJEACJEACJEACcUCAYkIcJMlMiBQTrIkJMndzMJMvliEBEiABEiABEiABEiABEohMgLs5RGbkVAmKCU6Rl+yXYoI1MYELu0jukDRHAiRAAiRAAiRAAiRAAhII8DldAkSbTFBMsAmsarMUEygmqO5z9EcCJEACJEACJEACJEACdhOgmGA34djtU0yInZ2ralJMsCYmcDcHV3VnBkMCJEACJEACJEACJEACGgHu5uDejkAxwb25iSoyignWxISoYLNwXBPIzMxEzpw547oNDJ4ESIAESIAESIAEnCTA5ykn6bvHN8UE9+TCUiQUEygmWOpAHq986vhp/LZ0C7b9uhMnj2fgbMZZj7eYzSMBEohnAiXLJmP/roPx3ATGTgIk4HECSfnzIl+hJFSsUR7VG1ZCvgJ5Pd5iNi8YAYoJHukXFBOsiQl27+Zw4uBanNr/K04f+x1nT+7GudOHPNLzQjejQLErcf6fs8hbuAKSilyJ4pc3daTNQkj44t3vUahwIZQqm4LCRQs5EgedkgAJkAAJkAAJkICXCBw7fBx7d+3D8ePH0bJrI9sEBe7m4N5eQzHBvbmJKjKKCdbEBDsXdtmz7kNknTuCPHnzI6lASSQVLIXcefJHld94LZxxYg/OnNyHc2dO4+i+tSh3Qx8kFU5V2pz0+Wtx8K9jqHR1RaV+6YwESIAESIAESIAEEoHAlt9+R4nLC6NW8xq2NNfO53RbAk4goxQTPJJsignuExOyMs9j6/dPIblcbRQvc61HelrszTh7+ij+2jgXpap2QoGS6nhMHTkfla+uxBEJsaeONUmABEiABEiABEggJIFjR45j87otaNenhS2UKCbYglWKUYoJUjA6b4RigjUxwY7dHDZ/+xjKV79PG43A4wKBP3+bjiLlW6BI2Ya2YxGLA00YNAs3N29guy86IAESIAESIAESIIFEJfDjgmXoNPguWxa55m4O7u1VFBPcm5uoIqOYYE1MiAq2icK7f30LSfnyo1hpe4Z7mQjB1UU2LnsdlZt8jJy5LrE9zrd7TcHtdzey3Q8dkAAJkAAJkAAJkECiEvhm1iJ0Hf1AojY/YdtNMcEjqaeY4B4x4fien3D87+9waaUmHuld8ptx8uhOHDnwB8pe20O+8QCLFBNsR0wHJEACJEACJEACCU6AYkJidgCKCR7JO8UEa2KCzN0c/l4zFvkLFEbRUhyVEO7y2rhsDCrf9gFy5k6y9SqkmGArXhonARIgARIgARIgAdgpJnA3B/d2MIoJ7s1NVJFRTLAmJshc2GXb4p649MrbtF0beIQmsP3XKUip9jjyF6tiKyaKCbbipXESIAESIAESIAESsFVMkPmczlTJJUAxQS5Px6xRTHCPmLDhy7a46qY+jvWFeHG85/fvcEmxa1D88ua2hkwxwVa8NE4CJGAgMH7CGO2vbp0uTOHa9udWvPnRaxjYYxiKFSkektfPv6Zj9oLp6N99CNZtWot2T7XGVVdejcfbd0P66uXa+aS8+UzxFrbGfzIGrw0cH9anKWMsRAIkQAImCNg5MoFigokEOFSEYoJD4GW7pZhgTUyQtZvDudMH8efKQah4/SOyU+w5ewd3pSMzZzGUrNzO1rZRTLAVL42TAAlIEhOMIOd+PUP7s1XTNjHxpZgQEzZWIgESsEDATjGBuzlYSIzNVSkm2AxYlXmKCdbEBFl5+uf0Ifyx7HlUqvWkLJOetXPwr5U4n7MIUqq0t7WNFBNsxUvjJEACUYgJh48e0kYpFCxQCFPnTNJqTn1rDm64pjb0kQk1q12PvsOzRzY817kP6l7fwDdiQZwbNnbQRXXFeTEC4rmBT2LD1nVavZ/XpnNkAnsnCZCAMgJ2ignKGkFHUROgmBA1MndWoJhAMcGdPTN0VBQT4i1jjJcESCASgUjTHISYIF74Oz/YVRt1IMrv2b/bN7VBn+bw9Q/zsfPvP7XpEsbpDx9OeUcLQT8/5PV+eOOld7SpDD1f6oa7mt3rs0sxIVK2+DkJkIBMAhQTZNKMH1sUE+InV2EjpZhgTUyQtZsDRyaYv6AoJphnxZIkQALxQcCMmDD0jQEY8NxQXFH+Sj+hQKyTEE5M6Pbwc+j3ak90e7iHNpLh9JkMbZSCEBCKFS3uty6D2XUa4oMqoyQBEogHAnaKCdzNwb09gGKCe3MTVWQUE6yJCbIWdqGYYL7bUkwwz4olSYAE4oOAGTHBuBhj4KKLZsSExSu/94Px2sBxKFv6Mr8FFykmxEd/YZQk4CUCdooJsp7TvcTbLW2hmOCWTFiMg2ICxQSLXUh5dYoJypHTIQmQgM0ExMKJ+vQE3ZVxMUR9zQR9Z4doxYRX3xqKZx7tqY1qMB6B4gHFBJsTTfMkQAIXEaCYkJidgmKCR/JOMcGamCBrNweOTDB/QVFMMM+KJUmABOKDgBAH9HUMxAu/PhWhdMky2joHgS/50YgJYmtI45oJ+oKLg/7vFVxdpYY25aFWzTpcMyE+ugqjJAHPEbBTTOBuDu7tLhQT3JubqCKjmGBNTIgKdpjCFBPMk6SYYJ4VS5IACcQPASEQtHuqtS9gsbOCEBLEYVVMEDaMuzmIKQ769pHG3Rz6PTNE8/V/T7ygLc7IgwRIgATsJmCnmGB37LQfOwGKCbGzc1VNigkUE1zVIU0EQzHBBCQWIQESIAESIAESIIE4IOAmMWHoUGDgwAvQliwBGjQID3HTJmDwYGDcOCA5OXRZUa5tW6BuXWDMGCBfvuyyGRlAjx7AihVAWhpQpYr5pE2eDCxe7G8vsLbZ+Mx7lVOSYoIcjo5boZhgTUzgbg7quzDFBPXM6ZEESIAESIAESIAE7CBgp5gQzW4OQkjYtevCi7n+8j9+fHhBwezLuijXvTtQrBgwZMgF0UCcHzQIOHwYGDuWYoIdfYw2bSRAMcGamCBrlVhOczDfyVWICZmZmfhkyGw0bFrffGAsSQIkQAIkQAIkQAIkEBWBxQuW4eHBdyFnzpxR1TNT2Oxzuj46oGFDoH37C5aFwCCOXr2yRw906JAtLBw8CDz9dPaIBHGI/9euDfzf/wE1awYfYaCLDqJcSsoFP2J0wb59QHp6th0xMkEXMtasAZo1A0QZfdTD0qXATTdl+2naFDh2DHjlFaBfv/Dx6SMn9Poi7i5dLognxvOBPs2wjrYMRyZES8yl5SkmUExwadcMGZYKMUE4nzpyPipXq4TCxQrFGyLGSwIkQAIkQAIkQAKuJ3D08DFs3bAVbXu3sCVWs2KCcC5e2B96CHjpJWDAAP9wdLEhlJggpi+0aZNdL9TUA11MaNcO+PLL7Jd4cYjkygs+AAAe40lEQVRRCa1bZ0+TEGJCiRLZQoPwJf5vHDHx55/ZUyXEaInrr88WOMRhVkw4cCB7dIQYAVG+fHb9smWBp566II4IMUO0QRxGYUV2gigmyCbqkD2KCdbEBO7moL7jqhIT0uevxcGdx1CpekX1jaRHEiABEiABEiABEvA4gc2/bUXJy4uiVvPqtrQ02t0cxIgD8QK9YEF2OLqwEElM0F/QxYu4cdSCcf0DXUwQUxyEgKCPavjww+wX/N69/Uc66CMJ9OkRQgAQYsCkSf6jCcTfZsWEr77yX2NBjEYQ9V988YL/aNZssJI0iglW6LmoLsUEa2KCrFRymoN5kqrEhIyTZzB33EIULloYpcqloHBRjlAwnyWWJAESkEng8NFD6PlSNyxe+b1mtl3rDhBbPiblzV7BK/DzhnVuxWsDx2s7MuifdXu4B264prbMsGiLBEiABGIiIEYk7N21D8ePHkfrbo2RVCBvTHbsrGSc+nDPPZGnOegv/5HEBFHurbeAxo2B7duBbdv8RwYIwUCMRtCnNhjt/fRTcDEgGjFBjL4wHvqUBuFXjHoQUyuM0x/sYkwxwS6yiu1STKCYoLjLWXanSkwQgQpBYfW3G7F94y6cOpGBsxlnLcdPAyRAAiQQDYETGccxYf541K52E2pfdZNWNX3DEmz9axPuvbUDzv5zxvf5nU1aY9+ug9rn6euXoFOLblp5Uf9fde9GxbJRLBMeTZAsSwIkQAImCSTlz4t8BZNwedWyuO62qq4QEsQLe//+wLBh/jsyiBd68bIfuGaCcbSAaLZxZILxs2AjE4SYsHEjMGdO9noHYjpD1aoXr8FgZWRCYHz6bhNiZIJoT+A0jsDU6e2OVM5kyoMWo5hghZ6L6lJMsCYmcDcH9Z1ZpZhgbJ1YlNGOxYHUE6RHEiCBeCIwefJkLF68GGPGjEG+/+0llpGRgR49eqBDhw4oUaIEunfvjrFjx6LK/55cDx48iPbt22PAgAGoWrWq798NIu1xFk9gGCsJkEBcElD5PBXtbg4CqP4CrU95EC/7+sgEsb6Avi7CqFHZCy2KQ/yiL6YpiCkSkdZMECKBPgqgdOkL6xPoCzqGWzPh1KlsHyKGYGsmhIpPFxOMayaIrwt9PYauXYERIy5sb8k1E+Ly0nImaIoJ1sSEaBZ2CZdhM9McNm3Zju59RmPsyF6oUinVZ27oqx/gitSyaN/2XxD/HjjsHT9XL/V/EgOe76ydEzbaduqHurWqY8zw/0O+fEna+YyM0+jR93WsWPUb0ia8cpH9Xbv3+ZUPbIvwq92A/+dH//zgoSNo33kABvR5DA3qXutXTY9lzdrNvvM1a1S+yH+gL6fEBGeuUHolARJIZAK6aNCwYUNNEAh26GXeffddLFmyBIGCgVFYoJiQyL2JbSeBxCMQ7XO6eLkeOPACp08/vbAIoXGHhddfv7D7giht3M0h1E4Ixi0k8+e/sPihEAYCp0aY2c1B+H33XWDr1uytJvXFGcU0hWDxBdvNwRirvgClsMtpDol3rcTcYooJ3hMTjC/1ukhQtkyK9qKvCxLFihbGkH5P+EQDcX7QK+/h8JFjfmKFOD9m/H+0/tWj24N+IoOx08UqJgSKI0tXrEa3niPDCgoUE2K+3FmRBEggzggYRyBEEgKWLl2Km8R+Yf87dGGBYkKcJZ3hkgAJSCMQrZggzTENRSTAaQ4REcVHAYoJ1sQElbs5mB2ZYBQTxL+N9TT1dPh7qH3D1UgpUVwbzSCOyWlfYt+BQ0j/eR0G970gMojz+rFt+66LRh7on8kSE4S9ULZ0XxQT4uPewihJgASsEzAzMiGYFzG0V5/6IKZB6FMeIgkS1iOmBRIgARJwD4Fod3NwT+Tej4RigkdyTDHBmpggqxvInOYQKCbooxM6tGuBEslFNTGhXZtm+PKbpdrUBXGIUQmt77gZ4977zCcmiHri/GMdW2n1+r/0FoYNfArJxYte1GyZYoIYnTBp6vyQ0yooJsjqdbRDAiQQDwSCrZmgCa9Dh6KxWA4cwMKFC7X1EfTDOKKBaybEQ5YZIwmQAAkkFgGKCR7JN8WExBQThvTrgkGvvKsJB+L4cOJcdH+yLXoP+LdPTBAjGsR5MR1CrK0gBIPGt9x40doH2kNtjGsmBFsDgmKCR24ubAYJkIAUAvo0BbHYor5ughAYJk2aBPF/cQSOPBBTHrp16wYxeo4jE6SkgUZIgARIgAQkEqCYIBGmk6YoJlgTE1Tu5hDrNAfjIoj6yIRxo/vgrfena+LA9h27IaYwPPX4vXi610ifmCCmODz0+IVfukQ/NS7maOy3MsUE4Xfx8l84MsHJGwN9kwAJuIqALigsWLBAi6tZs2aakJCcnKz9Hfh5zZo1NSFB7O4Q+JnesGCLNbqq0QyGBEiABCwSiGY3B4uuWD1KAhQTogTm1uIUE6yJCbIWdjEzzUGIAsaXfdGn9CkMDetd59vNQZw37qoQbM0EISZs3Lwdc+b9iGPHT0BMgahaOdVnX4gOgbswBPOv92uZYgLXTHDr3YJxkQAJkAAJkAAJkED8EJD1nB4/LY6fSCkmxE+uwkZKMSF+xITAnRlEYgN3Pwh8EQ+2m4NYM0GICQcOHtG2iSxdKhmTPxiq9RNdrBCfDR35oXZeXyMhULgwdixZYoLbdnNQuReyR24pbAYJkAAJkAAJkAAJhCSg8tmKYoJ7OyLFBPfmJqrIKCZYExNU7uYgEqu/0L/70UwtzzVrVPbbRlG81A8c9o5fHzBOTRCjFHQxIX++JPTo+zr0bSONIw8+m/mtZsM4wkH8LaYgTEqb7ycyiPOh/IqpE2KEw4Jvl/vFtOTrD7RFHYWYsWbtZt9nge0J1pntXoDx1PHTWLdsC7at3YmTxzJw5tTZqK4pFiYBEiAB1QRy5MyBrMws1W7pjwRIgASiJpBUIC/yF0pCxWvK4+oGlZCvQN6obZitwN0czJJSX45ignrmtnikmGBNTJCVFDPTHGT5inc7dooJQkiY9/73KFKiEMqkpmj/50ECJEACJEACJEACJCCPwNEDx7H7j304evA47uzSyFZBQV7UtCSTAMUEmTQdtEUxgWKCg90vJtd2ignpC9biyN5jqHpjxZhiYyUSIAESIAESIAESIAFzBDas+h3FyxRGraY1zFVgKc8QoJjgkVRSTLAmJqjczcEjXc5yM+wUE6aOmo+r61TiiATLWaIBEiABEiABEiABEghPQIxQWLdyC9r1bmELKu7mYAtWKUYpJkjB6LwRignWxARZC7twmoP5a8EuMUEsCDRh8Cw0adfAfDAsSQIkQAIkQAIkQAIkEDOBb6cuQ6fBdyFnzpwx2whVUdZzuvTAaBAUEzzSCSgmUEyIt65sl5ggOLzdawrueLRRvCFhvCRAAiRAAiRAAiQQlwTmfbQIXUc/YEvsFBNswSrFKMUEKRidN0IxwZqYoHo3B+d7jPMRUExwPgeMgARIgARIgARIgARkELBTTOBuDjIyZI8Nign2cFVulWKCNTFBVsI4zcE8SYoJ5lmxJAmQAAmQAAmQAAm4mYCdYoKb253osVFM8EgPoJhAMSHeujLFhHjLGOMlARIgARIgARIggeAEKCYkZs+gmOCRvFNMsCYm3HPPPZg4cSIKFixoqUdwZIJ5fBQTzLNiSRIgAXsJ/P7HVgwePgCD+w5FxQpX+pyNfXsMyl9WHnfd2SZkAKLuG2+9hpf6D0O+pHx46dVBmPzZJDzSvjMOHj6gnS9WtLipBhw+cgjP9umG7k/2wI3X176ojv75D0u/1z5rf38HDHx+CJKS8ml/B35+S4Nb8e+R4zX/4WyLNjzd80ms37TOz2fPp/uge9cepmJnIRIggcQmYJeYcO7cOaxatQr169dPbMAubT3FBJcmJtqwKCZYExNatWqFUaNGoUqVKtGi9ytPMcE8PooJ5lmxJAmQgL0ErIgJxsjEC/uof49A72dfMC0gBNYPJSboYsA9re71iRuzv5iB9J9XaoJCxukMTYgI/Hzm3OmaoCCOULaDtT+SsGFvRmidBEgg3gjYJSasXr0ajzzyCH755Zd4Q5IQ8VJM8EiaKSZYFxMef/xxtGzZ0lKPoJhgHh/FBPOsWJIESMBeApHEhOZNWmgjDkqnlMFr40Zqwei/2usjE/7v6d4YNKw/xKiBalWuxvM9+mHG3Gm+kQk//TcdbTq01uoaRxScPp3hG80gzv+1a2fQkQlG4UAfiaDXvaflvShWrPhFoyuMgkDFK66MSkwQcZoZmWFvZmidBEggXgjYJSbMnz8fc+bMwbvvvhsvKBIqTooJHkk3xQRrYsJff/2FPHnyoFSpUpZ6BMUE8/goJphnxZIkQAL2EjArJogoxCiA39avxYCX+2Hca+9ogenTHLTPh/XHc0/19Dt/6PAh34t+2TJlfcKEmEIgXtj37NvtsysEhxmT5vhNc9BFg9o31Ak55cIoSgTWF8FEmuYQOM2DIxPs7XO0TgJeI2CXmDB16lRkZmbiwQcf9BoyT7SHYoIn0ihepG/GymV3eKQ1sTWjTv15WLnsx9gqS6pFMcE8SIoJ5lmxJAmQgL0EzIoJ+su8eNEOJhqEEhN+WLLINx1BjCoQoxRmfj4dfZ7ti5H/Hg4xskCskWAcaWBcMyHU+WBUjCMgxOe6sBBJTAi2ZsK/Xx0Xdr0Ie7NC6yRAAvFEwC4xIZ4YJGKsFBM8knWKCdZGJsjqBhQTzJOkmGCeFUuSAAnYS8CsmKC/9MciJjz7/NN+jRCLIw7pP0ybGqEvuBhJTAg3MiEYIWO7ihcrbnqagxAkxr4zxrd4o730aZ0ESMALBCgmeCGL0beBYkL0zFxZg2KCdTGhc+fO6Nq1K2644YaYc0wxwTw6ignmWbEkCZCAvQSM4oC+m4NxaoG+ZoIVMeHPnX9etDNCoHgQbgRCsDUTBBUxTaJ+nQYaoGUrl/r5MNqLds0E4/QLfY0Ge7NA6yRAAvFMwA4x4eDBg9iwYQNuuummeEbj6dgpJngkvRQTrIsJYmvI33//HUOGDIm5V2RlZWLT1x1Qtf7/xWwjUSru3bYQeYpUQ/FU+dNz3u41BXc82ihRULKdJEACFgnoL91igUV9K0Tx67y+LoK+zkGsYoJxzQQhVhhf1L/6dr5vCoRYiyHYmgmieaF2cwi3W4OxDdGMTDD6C7VNpUXkrE4CJOAxAnaICeKHvnr16uGxxx7zGC3vNIdigkdySTHBupggFncRizCeP3/eUq/Y9uNzuLRycyQVKGnJjtcr71ibhhJVO6FA8WrSm0oxQTpSGiQBzxMwLmAoGit2ZBALLIqX/8ARA9FOcyhWtLi2ToK+m4OY4iC2axTnA3dzKFiwEJo2aua3AKMOXxcUxI4R4jDaMQoA+ufGNgTW1W2KNRWC7QQhPhejIXSxQsTKgwRIgARCEbBDTLjsssuwc+dOQncxAYoJLk5ONKFRTLAuJgjeGRkZyJUrFy655JJo8PuV3bX63yhYqBiKpFwds41EqLhp+Vhc2eht5MqTX3pzKSZIR0qDJEACJEACJEACJBCSgGwxYcWKFTh06BBatGhB6i4mQDHBxcmJJjSKCXLEhGiYhyp79O8lOH1oNUpdXk+GOU/ayDi5Hwd3r0O567K3T5N9UEyQTZT2SIAESIAESIAESCA0AdliAlnHBwGKCfGRp4hRUkyQJyZs2rQJefPmRWpqakTuoQr89d9RKFzsMhQuUSlmG16uuCX9baQ2GIU8ScWkN1NMV5n40mw0vr++dNs0SAIkQAIkQAIkQAIkcDGBhWnL0HHQXciZMyfxJBABigkeSTbFBHligugSKSkpWLduHUqWjH3dgw1ftkWV+j2RM2cuj/QyOc34a+MXyF+yNoqn/kuOwSBW0kbPR7XalVCkRCHbfNAwCZAACZAACZAACZAAcOTAMWxI34q2vaxPSRBTG1q1aoUlS5YQbRwQoJgQB0kyEyLFBLliwvfff4+hQ4fiu+++M4M/aJnz/2Rg87ePomzlO1G4ZNWY7XilYub5s9i5YS6KXtYURcrZu9PCqgVrcXjPMVStVdEr+NgOEiABEiABEiABEnAlASEkJJctihtvr245vkcffRRiF4f69TnC1DJMBQYoJiiArMIFxQS5YoLI2bZt27TdHcRKslaOv/77GnLnzomkfEWRt2AKkgqUQo4cOayYjJu6504fw+mT+3D29FHs37EY5W7ohYIlatoef8bJM5j79kIULVkYl1ZI4QgF24nTAQmQAAmQAAmQQKIRECMSdm/bh6MHj6PVk42RVCCvJQQzZ87UpkncddddluywsjoCFBPUsbbVE8UE+WKCnrCTJ0+iQIEClvJ3dPcKnNz/X5w59gfOntqLHDlyW7IXD5WTilyOMyd3I6nQ5chXrCpKVLxbadhCUFjz/UZsX78Lp45n4Myps0r90xkJkAAJREsgR84cyMrMirYay5MACZCAcgJCOMhfKAmp1cqi5i1VLQsJyhtAh1IIUEyQgtF5IxQT7BMTVq9ejXPnzqFWrVrSEn3+7HFptlxrKEcO5MpT0BXhiUUZuSCQK1LBIEiABEiABEiABDxAQOaz1apVq6Q+Z3sAb9w0gWJC3KQqfKAUE+wTEwT5O++8E48//jhat27tkR7DZpAACZAACZAACZAACZCAswTmzp2LtLQ0TJ482dlA6D0mAhQTYsLmvkoUE+wVE0TGxfytWbNmJcx6B+7r5YyIBEiABEiABEiABEjAKwRWrlyJSZMmYdy4cV5pUsK1g2KCR1JOMcF+MUF0FX1I1+nTp5GUlOSR3sNmkAAJkAAJkAAJkAAJkIAaAllZWdqPcytWrEDdunXVOKUXWwhQTLAFq3qjFBPUiAl6Zl955RVtUcZnn31WfbLpkQRIgARIgARIgARIgATikMCwYcPQtWtXFC9ePA6jZ8iBBCgmeKRPUExQKyaIbjNixAiMHDkSO3futLzbg0e6IZtBAiRAAiRAAiRAAiRAAhcRWLRoEV588UU0atQIL7/8Mgl5hADFBI8kkmKCejFBdJ3Dhw9rw7SKFi2K48ePIz09HbfddptHehWbQQIkQAIkQAIkQAIkQAKxEdi8eTMqV66sVZ45cyZuvfVWjkiIDaVra1FMcG1qoguMYoIzYoIxSxkZGWjZsiXEPLDLLrsMEyZM0D4+e/asJjoUK1YMl1xySXSJZWkSIAESIAESIAESIAEScCkB8Zx75swZFCpUSIvwl19+wYABA7B+/Xr06NEDzzzzjEsjZ1gyCFBMkEHRBTYoJjgvJujd4OTJkxCr0zZu3Fg79ccff6BevXooXLiwpsi+99572vnvvvsOTZo00f4t/v/NN9/wPDmwP/C64H2A9wHeB3gf4H2A94G4uA8MHToUOXPmxFVXXYXx48drMYtRuvv379eeg/Ply+eCtySGYCcBigl20lVom2KCe8QEhWmnKxIgARIgARIgARIgARIgARJwhADFBEewy3dKMYFigvxeRYskQAIkQAIkQAIkQAIkQAIkEJwAxQSP9AyKCXLFhKzM88iRM5dHegebQQIkQAIkQAIkQAIkQAL2EOBzsz1c48EqxYR4yJKJGCkmWBcT/snYh6O/Dcex7bNx7tQBZJ47YYI8i5AACZAACagikK94JWQc2qLKHf2QAAmQAAmYIJArb2HkTkpG4dS7UKRGP+ROKmGiFot4gQDFBC9kEeJF+masXHaHR1oTWzPq1J+Hlct+jKmyEBJ2zauDfJccReGihZCUPykmO6xEAiRAAiRAAiRAAiRAAolG4PSp0zh25DhOnS2CcneuoqCQIB2AYoJHEk0xwdrIhIMrn8H5PZORUibZIz2CzSABEiABEiABEiABEiABtQT27T6AXJd2QnKtMWod05sjBCgmOIJdvlOKCdbEhD8+uxxlUjKRlC+v/OTQIgmQAAmQAAmQAAmQAAkkAIHTGWewe19OVLh/RwK0lk2kmOCRPkAxIXYxQSwas+XTIqhcKcUjvYHNIAESIAESIAESIAESIAFnCGzZsh9XPnSEi5k7g1+pV4oJSnHb54xiQuxigsjKxg9yoOpVl9uXIFomARIgARIgARIgARIggQQgsHHDDlTtnJUALWUTKSZ4pA9QTJAgJlQt75HewGaQAAmQAAmQAAmQAAmQgDMENm78k2KCM+iVe6WYoBy5PQ4pJkgQEyqXsyc5tEoCJEACJEACJEACJEACCUJg4+a/KCYkSK4pJngk0RQTJIgJV17qkd7AZpAACZBA/BGY/O0pLP71LMZ0K4J8eXNoDTh4NBNPjz2KwQ8XwoGjmZj0zSnf5xlnstBj/FGtnF5HP9fwmkvQvkn++IPAiEmABEjAAwQ2bv2bYoIH8mimCRQTzFCKgzIUEySICRXLxEGmGSIJkAAJeJPA5G8zsHjtWYx5qrC/mPBmtpggjsGfHMe4Z4oguUjObKHhzaPIygKGdCqEKpfl9p37//buNbapMg4D+NOddOvKLsp9yy64sFUZicK+YBYTgSmfdCpqgG2MyMXhLaJkLJDJjA4hRGoMcldB6CIioCHBmLgxIEtAvMWw5XTL2IRxmQwYZWvP1p7NnFOzuSiynnZd2/OcT13z/t/zvr//+bIn55wq45W/eVCAAhSgQPAFxOarDBOCzz4qZ2SYMCrsgT8pw4QAhAkPTAp8YzgjBShAAQoMS8BWrYQJblhXxg+GCQ4lMHCgYnEc0iYKWLX9DoryTMidHo26872o+a1XnTsjSUDB3FjYL3nw6XcuvFscNzDHsE7OQRSgAAUoEDABsaWdYULANEN7IoYJod2fYa+OYUIAwoT0CcP25kAKUIACFAisgK1awunzblhLBoOAG0qYsLULFUVm9U4DZYxyFMw1DXyeMllQQ4XygjHqdxeuyepnHhSgAAUoMDoC4h/XGSaMDn3Qz8owIejkI3NChgkBCBPSxo9MczgrBShAAQrcU8BWI6FwU9e/xj2cIeDgWu9jC3X1buyv7kHlEjM2feXC0nkxGJ8YhXV7nep3245JmPOIEbnZxnuejwMoQAEKUGBkBMSLHQwTRoY25GZlmBByLfF9QbIsY8lLi7B/30zfiyOooqj4F+z9rAqCIPi8K3GPAQ+mjPW5jgUUoAAFKBAYAVtND07Xe2BdYR76mMM2JyoKY2FJEaDcqbBunwtvPWvCwVO9WD3fpJ58/QEXFj0ejaraXjVgUMbyoAAFKECB0REQ224yTBgd+qCflWFC0MlH5oTzX5iPj6zZSE3R562dl9q68eaqehw+dFgTsBomJN+nqZZFFKAABSjgv4DtRK83TFgeOzRM2O5CRYFpICCwfiNhTIwB7Z39KF/oDROU2rhYA35vkbH6uRi+L8H/dnAGClCAApoFxCudDBM064VXIcOE8OrXXVdbtnYNnnyiB3Nm6/MXCX6ovoKaE7HY8P5GTR1Vw4SkRE21LKIABShAAf8FbLVKmCDDusw0NEzYIaFi0eDdBsq4Y2c9eP2paORO8/5iQ12DB9+ecat/58/iIw7+d4MzUIACFNAuIF69zTBBO19YVTJMCKt23X2xn+/9AlLPSax8OStCduTbNj7Z1oi4+NkoLir0rfDv0WqYMMn702M8KEABClAg+AK2WjdON8iwLh28s+CGox+v7ZRQsVAJE6LURdnb+vDGbgkfL1fuVvB+p4wr2OJC+YsxyJ3GRxyC3z2ekQIUoMCggNh+h2GCTi4IhgkR0uiz587h5KkqlL49OUJ25Ns2Nm2+hrw5i5GTM8O3wn+GCRP0+YiIJjAWUYACFKAABShAAQpQ4D8ExOvdDBN0cmUwTIigRld+UInp2R3If1pfgcKRo1fQ2JSMstI1mrup3pkw3qy5noUUoAAFKEABClCAAhSgACB2OBkm6ORCYJgQYY3OmzcPRw49hoQEfTwzeutWDxYUnMH3x4/71Uk1TBjrfZEXDwpQgAIUoAAFKEABClBAm4B4U2KYoI0u7KoYJoRdy/5/wS2trfhwSxkq38tGYmJ0hO1u6HaUIKF8fQNKV29GWlqq5r3298loPnA/ppp7NM/BQgpQgAIUoAAFKEABClAAaHJGY2phJwxRfIdNpF8PDBMisMMtrS1YUVKCV1dm4pl87f9khzLNkaMXsXN3M3bv2Im0tHS/l9ryZSqScA0mweD3XJyAAhSgAAUoQAEKUIACehRwefrQbkjGlAUX9bh93e2ZYUIEt3zDxvUQhMuIj5NhsSQiKysBqSnh+ZLBS23dsNtvw253oKsrCv1IR1npOwHr3o26EsjNuzAxxvtmcB4UoAAFKEABClCAAhSggG8Cf0p9ELJewbhHt/pWyNFhKcAwISzbNvxFn/vpZ9Q3/Aq7XURj4wWYzUY0Nl0d/gQhMDIrMwlOpxsWSwYslocwfdoM5OTMDOjKPFIHLn+dCbOnE/FGA0zMFALqy8koQAEKUIACFKAABSJXQOoDHJ5+OIWxSH2+EYJpXORuljsbEGCYoLOLQZZlCEJ4Pb8UrDXLUgc665bhTvuPcLsdkN3dOrs6uF0KUIACoS0wJmEKuh2tob1Iro4CFKCAzgQEYxyMxgQkTJ6FxNxdEGIYJOjlEvgL3EbvmeZd7Fw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0" name="Group 129"/>
          <p:cNvGrpSpPr/>
          <p:nvPr/>
        </p:nvGrpSpPr>
        <p:grpSpPr>
          <a:xfrm>
            <a:off x="1428750" y="838349"/>
            <a:ext cx="3352560" cy="2002931"/>
            <a:chOff x="1362315" y="1194516"/>
            <a:chExt cx="3352560" cy="2002931"/>
          </a:xfrm>
        </p:grpSpPr>
        <p:sp>
          <p:nvSpPr>
            <p:cNvPr id="131" name="Rectangle 130"/>
            <p:cNvSpPr/>
            <p:nvPr/>
          </p:nvSpPr>
          <p:spPr>
            <a:xfrm>
              <a:off x="1362315" y="1194516"/>
              <a:ext cx="3352560" cy="2002931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7150" tIns="28575" rIns="57150" bIns="2857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2209989" y="2529592"/>
              <a:ext cx="2360166" cy="186983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CPSW_LLD</a:t>
              </a: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535395" y="1961838"/>
              <a:ext cx="608862" cy="754736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TI-RTOS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1535394" y="2870048"/>
              <a:ext cx="3034761" cy="186983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Main Domain </a:t>
              </a:r>
              <a:r>
                <a:rPr lang="en-US" sz="700" dirty="0" smtClean="0">
                  <a:solidFill>
                    <a:schemeClr val="tx1"/>
                  </a:solidFill>
                </a:rPr>
                <a:t>R5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grpSp>
          <p:nvGrpSpPr>
            <p:cNvPr id="137" name="Group 136"/>
            <p:cNvGrpSpPr/>
            <p:nvPr/>
          </p:nvGrpSpPr>
          <p:grpSpPr>
            <a:xfrm>
              <a:off x="2209990" y="2269290"/>
              <a:ext cx="2363142" cy="186983"/>
              <a:chOff x="2209990" y="2232590"/>
              <a:chExt cx="2363142" cy="186983"/>
            </a:xfrm>
          </p:grpSpPr>
          <p:sp>
            <p:nvSpPr>
              <p:cNvPr id="146" name="Rectangle 145"/>
              <p:cNvSpPr/>
              <p:nvPr/>
            </p:nvSpPr>
            <p:spPr>
              <a:xfrm>
                <a:off x="2209990" y="2232590"/>
                <a:ext cx="1071314" cy="186983"/>
              </a:xfrm>
              <a:prstGeom prst="rect">
                <a:avLst/>
              </a:prstGeom>
              <a:solidFill>
                <a:srgbClr val="FFC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 err="1">
                    <a:solidFill>
                      <a:schemeClr val="tx1"/>
                    </a:solidFill>
                  </a:rPr>
                  <a:t>Config</a:t>
                </a:r>
                <a:r>
                  <a:rPr lang="en-US" sz="700" dirty="0">
                    <a:solidFill>
                      <a:schemeClr val="tx1"/>
                    </a:solidFill>
                  </a:rPr>
                  <a:t> I/F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3382506" y="2232590"/>
                <a:ext cx="1190626" cy="186983"/>
              </a:xfrm>
              <a:prstGeom prst="rect">
                <a:avLst/>
              </a:prstGeom>
              <a:solidFill>
                <a:srgbClr val="FFC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Data I/F</a:t>
                </a:r>
              </a:p>
            </p:txBody>
          </p:sp>
        </p:grpSp>
        <p:grpSp>
          <p:nvGrpSpPr>
            <p:cNvPr id="138" name="Group 137"/>
            <p:cNvGrpSpPr/>
            <p:nvPr/>
          </p:nvGrpSpPr>
          <p:grpSpPr>
            <a:xfrm>
              <a:off x="2221840" y="1961838"/>
              <a:ext cx="2351292" cy="234133"/>
              <a:chOff x="2221840" y="1870398"/>
              <a:chExt cx="2351292" cy="234133"/>
            </a:xfrm>
          </p:grpSpPr>
          <p:sp>
            <p:nvSpPr>
              <p:cNvPr id="143" name="Rectangle 142"/>
              <p:cNvSpPr/>
              <p:nvPr/>
            </p:nvSpPr>
            <p:spPr>
              <a:xfrm>
                <a:off x="2221840" y="1870398"/>
                <a:ext cx="1065417" cy="234133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Switch </a:t>
                </a:r>
                <a:r>
                  <a:rPr lang="en-US" sz="700" dirty="0" err="1">
                    <a:solidFill>
                      <a:schemeClr val="tx1"/>
                    </a:solidFill>
                  </a:rPr>
                  <a:t>Config</a:t>
                </a:r>
                <a:endParaRPr lang="en-US" sz="7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Utility</a:t>
                </a:r>
              </a:p>
            </p:txBody>
          </p:sp>
          <p:sp>
            <p:nvSpPr>
              <p:cNvPr id="144" name="Rectangle 143"/>
              <p:cNvSpPr/>
              <p:nvPr/>
            </p:nvSpPr>
            <p:spPr>
              <a:xfrm>
                <a:off x="4031397" y="1870398"/>
                <a:ext cx="541735" cy="234133"/>
              </a:xfrm>
              <a:prstGeom prst="rect">
                <a:avLst/>
              </a:prstGeom>
              <a:solidFill>
                <a:srgbClr val="CAF9BF"/>
              </a:solidFill>
              <a:ln w="6350">
                <a:solidFill>
                  <a:srgbClr val="66FF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NDK</a:t>
                </a:r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3406930" y="1870398"/>
                <a:ext cx="570888" cy="23413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Forward</a:t>
                </a:r>
              </a:p>
              <a:p>
                <a:pPr algn="ctr"/>
                <a:r>
                  <a:rPr lang="en-US" sz="700" dirty="0">
                    <a:solidFill>
                      <a:schemeClr val="tx1"/>
                    </a:solidFill>
                  </a:rPr>
                  <a:t>I/F</a:t>
                </a:r>
              </a:p>
            </p:txBody>
          </p:sp>
        </p:grpSp>
        <p:sp>
          <p:nvSpPr>
            <p:cNvPr id="139" name="Rectangle 138"/>
            <p:cNvSpPr/>
            <p:nvPr/>
          </p:nvSpPr>
          <p:spPr>
            <a:xfrm>
              <a:off x="2242160" y="1632433"/>
              <a:ext cx="575072" cy="238125"/>
            </a:xfrm>
            <a:prstGeom prst="rect">
              <a:avLst/>
            </a:prstGeom>
            <a:solidFill>
              <a:srgbClr val="00B0F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Filter Rules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2854960" y="1632433"/>
              <a:ext cx="736600" cy="238125"/>
            </a:xfrm>
            <a:prstGeom prst="rect">
              <a:avLst/>
            </a:prstGeom>
            <a:solidFill>
              <a:srgbClr val="00B0F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Traffic Classification</a:t>
              </a: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2187500" y="1420837"/>
              <a:ext cx="1459940" cy="499403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7150" tIns="28575" rIns="57150" bIns="28575" rtlCol="0" anchor="t"/>
            <a:lstStyle/>
            <a:p>
              <a:pPr algn="ctr"/>
              <a:r>
                <a:rPr lang="en-US" sz="800" b="1" dirty="0" smtClean="0">
                  <a:solidFill>
                    <a:schemeClr val="tx1"/>
                  </a:solidFill>
                </a:rPr>
                <a:t>Firewall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2510313" y="1212975"/>
              <a:ext cx="814313" cy="196208"/>
            </a:xfrm>
            <a:prstGeom prst="rect">
              <a:avLst/>
            </a:prstGeom>
            <a:noFill/>
          </p:spPr>
          <p:txBody>
            <a:bodyPr wrap="square" lIns="57150" tIns="28575" rIns="57150" bIns="28575" rtlCol="0">
              <a:spAutoFit/>
            </a:bodyPr>
            <a:lstStyle/>
            <a:p>
              <a:pPr algn="ctr"/>
              <a:r>
                <a:rPr lang="en-US" sz="900" dirty="0"/>
                <a:t>Demo Apps</a:t>
              </a:r>
              <a:endParaRPr lang="en-US" sz="1000" dirty="0"/>
            </a:p>
          </p:txBody>
        </p:sp>
      </p:grpSp>
      <p:pic>
        <p:nvPicPr>
          <p:cNvPr id="148" name="Picture 14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" t="9604" b="9426"/>
          <a:stretch/>
        </p:blipFill>
        <p:spPr>
          <a:xfrm>
            <a:off x="2114299" y="3147673"/>
            <a:ext cx="2000261" cy="763201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2809859" y="3910874"/>
            <a:ext cx="609141" cy="226985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dirty="0"/>
              <a:t>J7 EVM</a:t>
            </a:r>
          </a:p>
        </p:txBody>
      </p:sp>
      <p:cxnSp>
        <p:nvCxnSpPr>
          <p:cNvPr id="150" name="Straight Arrow Connector 149"/>
          <p:cNvCxnSpPr>
            <a:endCxn id="148" idx="1"/>
          </p:cNvCxnSpPr>
          <p:nvPr/>
        </p:nvCxnSpPr>
        <p:spPr>
          <a:xfrm flipV="1">
            <a:off x="1428750" y="3529274"/>
            <a:ext cx="685549" cy="2612"/>
          </a:xfrm>
          <a:prstGeom prst="straightConnector1">
            <a:avLst/>
          </a:prstGeom>
          <a:ln w="3492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209641" y="4024366"/>
            <a:ext cx="1222490" cy="226985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100" dirty="0" smtClean="0"/>
              <a:t>Linux PC</a:t>
            </a:r>
            <a:endParaRPr lang="en-US" sz="1100" dirty="0"/>
          </a:p>
        </p:txBody>
      </p:sp>
      <p:pic>
        <p:nvPicPr>
          <p:cNvPr id="153" name="Picture 3" descr="C:\Users\a0875134\AppData\Local\Microsoft\Windows\INetCache\IE\36OAZCM7\lenovo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844" y="3124875"/>
            <a:ext cx="1232042" cy="84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4" name="Straight Arrow Connector 153"/>
          <p:cNvCxnSpPr/>
          <p:nvPr/>
        </p:nvCxnSpPr>
        <p:spPr>
          <a:xfrm flipV="1">
            <a:off x="4119775" y="3529274"/>
            <a:ext cx="804410" cy="5224"/>
          </a:xfrm>
          <a:prstGeom prst="straightConnector1">
            <a:avLst/>
          </a:prstGeom>
          <a:ln w="3492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5016353" y="3925891"/>
            <a:ext cx="1098457" cy="226985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dirty="0"/>
              <a:t>Linux PC</a:t>
            </a:r>
          </a:p>
        </p:txBody>
      </p:sp>
      <p:grpSp>
        <p:nvGrpSpPr>
          <p:cNvPr id="156" name="Group 155"/>
          <p:cNvGrpSpPr/>
          <p:nvPr/>
        </p:nvGrpSpPr>
        <p:grpSpPr>
          <a:xfrm>
            <a:off x="183496" y="2064581"/>
            <a:ext cx="1148986" cy="776699"/>
            <a:chOff x="117061" y="2420748"/>
            <a:chExt cx="1148986" cy="776699"/>
          </a:xfrm>
        </p:grpSpPr>
        <p:sp>
          <p:nvSpPr>
            <p:cNvPr id="157" name="Rectangle 156"/>
            <p:cNvSpPr/>
            <p:nvPr/>
          </p:nvSpPr>
          <p:spPr>
            <a:xfrm>
              <a:off x="117061" y="2420748"/>
              <a:ext cx="1148986" cy="776699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00">
                <a:solidFill>
                  <a:schemeClr val="tx1"/>
                </a:solidFill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00422" y="2831120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Generator</a:t>
              </a: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92484" y="2514239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Demo  Packet Streams</a:t>
              </a:r>
            </a:p>
          </p:txBody>
        </p:sp>
      </p:grpSp>
      <p:sp>
        <p:nvSpPr>
          <p:cNvPr id="160" name="Down Arrow 159"/>
          <p:cNvSpPr/>
          <p:nvPr/>
        </p:nvSpPr>
        <p:spPr>
          <a:xfrm>
            <a:off x="729016" y="2898527"/>
            <a:ext cx="115094" cy="315332"/>
          </a:xfrm>
          <a:prstGeom prst="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57150" tIns="28575" rIns="57150" bIns="28575" rtlCol="0" anchor="ctr"/>
          <a:lstStyle/>
          <a:p>
            <a:pPr algn="ctr"/>
            <a:endParaRPr lang="en-US" dirty="0"/>
          </a:p>
        </p:txBody>
      </p:sp>
      <p:grpSp>
        <p:nvGrpSpPr>
          <p:cNvPr id="161" name="Group 160"/>
          <p:cNvGrpSpPr/>
          <p:nvPr/>
        </p:nvGrpSpPr>
        <p:grpSpPr>
          <a:xfrm>
            <a:off x="4965825" y="2025084"/>
            <a:ext cx="1148986" cy="776699"/>
            <a:chOff x="4899390" y="2381251"/>
            <a:chExt cx="1148986" cy="776699"/>
          </a:xfrm>
        </p:grpSpPr>
        <p:sp>
          <p:nvSpPr>
            <p:cNvPr id="162" name="Rectangle 161"/>
            <p:cNvSpPr/>
            <p:nvPr/>
          </p:nvSpPr>
          <p:spPr>
            <a:xfrm>
              <a:off x="4899390" y="2381251"/>
              <a:ext cx="1148986" cy="776699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00">
                <a:solidFill>
                  <a:schemeClr val="tx1"/>
                </a:solidFill>
              </a:endParaRP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4982751" y="2791623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Capture</a:t>
              </a: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4974813" y="2474742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verifier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Application</a:t>
              </a:r>
            </a:p>
          </p:txBody>
        </p:sp>
      </p:grpSp>
      <p:sp>
        <p:nvSpPr>
          <p:cNvPr id="165" name="Up Arrow 164"/>
          <p:cNvSpPr/>
          <p:nvPr/>
        </p:nvSpPr>
        <p:spPr>
          <a:xfrm>
            <a:off x="5470377" y="2840484"/>
            <a:ext cx="139882" cy="276709"/>
          </a:xfrm>
          <a:prstGeom prst="up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57150" tIns="28575" rIns="57150" bIns="28575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6" name="Up-Down Arrow 165"/>
          <p:cNvSpPr/>
          <p:nvPr/>
        </p:nvSpPr>
        <p:spPr>
          <a:xfrm>
            <a:off x="3019185" y="2856520"/>
            <a:ext cx="152280" cy="28359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57150" tIns="28575" rIns="57150" bIns="28575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7" name="Content Placeholder 13"/>
          <p:cNvSpPr>
            <a:spLocks noGrp="1"/>
          </p:cNvSpPr>
          <p:nvPr>
            <p:ph sz="half" idx="2"/>
          </p:nvPr>
        </p:nvSpPr>
        <p:spPr>
          <a:xfrm>
            <a:off x="6507259" y="515226"/>
            <a:ext cx="2534726" cy="2448712"/>
          </a:xfrm>
        </p:spPr>
        <p:txBody>
          <a:bodyPr/>
          <a:lstStyle/>
          <a:p>
            <a:r>
              <a:rPr lang="en-US" sz="1200" b="1" dirty="0" smtClean="0"/>
              <a:t>Demonstrate</a:t>
            </a:r>
          </a:p>
          <a:p>
            <a:pPr lvl="1"/>
            <a:r>
              <a:rPr lang="en-US" sz="1050" dirty="0" smtClean="0"/>
              <a:t>Packet classification Network security, firewall</a:t>
            </a:r>
          </a:p>
          <a:p>
            <a:pPr lvl="2"/>
            <a:r>
              <a:rPr lang="en-US" sz="1000" dirty="0" smtClean="0"/>
              <a:t>Filter on L2 header: OUI, SA, VLAN</a:t>
            </a:r>
          </a:p>
          <a:p>
            <a:pPr lvl="2"/>
            <a:r>
              <a:rPr lang="en-US" sz="1000" dirty="0" smtClean="0"/>
              <a:t>Filter on L3 header: frag, SA/DA</a:t>
            </a:r>
          </a:p>
          <a:p>
            <a:r>
              <a:rPr lang="en-US" sz="1200" b="1" dirty="0" smtClean="0"/>
              <a:t>Differentiation</a:t>
            </a:r>
          </a:p>
          <a:p>
            <a:pPr lvl="1"/>
            <a:r>
              <a:rPr lang="en-US" sz="1050" dirty="0" smtClean="0"/>
              <a:t>Network security based on L2/L3 header  fields (wire rate)</a:t>
            </a:r>
          </a:p>
          <a:p>
            <a:r>
              <a:rPr lang="en-US" sz="1200" b="1" dirty="0" smtClean="0"/>
              <a:t>Timeline: </a:t>
            </a:r>
            <a:r>
              <a:rPr lang="en-US" sz="1200" dirty="0" smtClean="0"/>
              <a:t>SDK 1.0</a:t>
            </a:r>
            <a:endParaRPr lang="en-US" sz="1200" dirty="0"/>
          </a:p>
        </p:txBody>
      </p:sp>
      <p:pic>
        <p:nvPicPr>
          <p:cNvPr id="43" name="Picture 3" descr="C:\Users\a0875134\AppData\Local\Microsoft\Windows\INetCache\IE\36OAZCM7\lenovo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96" y="3180828"/>
            <a:ext cx="1148986" cy="78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60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Classification and </a:t>
            </a:r>
            <a:r>
              <a:rPr lang="en-US" sz="1800" dirty="0" err="1" smtClean="0"/>
              <a:t>InterVLAN</a:t>
            </a:r>
            <a:r>
              <a:rPr lang="en-US" sz="1800" dirty="0" smtClean="0"/>
              <a:t> </a:t>
            </a:r>
            <a:r>
              <a:rPr lang="en-US" sz="1800" dirty="0" smtClean="0"/>
              <a:t>Routing</a:t>
            </a:r>
            <a:endParaRPr lang="en-GB" dirty="0"/>
          </a:p>
        </p:txBody>
      </p:sp>
      <p:sp>
        <p:nvSpPr>
          <p:cNvPr id="2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png;base64,iVBORw0KGgoAAAANSUhEUgAABBMAAAJ5CAYAAAD8eXhbAAAgAElEQVR4XuydB3QUVRfH/wJC6KE36V1QFELvSBFEAqKUj16kg6B0DFVQioAYRHpXQKSJdJAelC41gBA6odcQ+nfuxLdOJrvZ3dlpu3vnHI5k57377vvdGcz9733vvfbq1atX4IsJMAEmwASYABNgAkyACTABvyWwZs0a7N+/H1euXMHVq1dx7do16b8ZM2bEvn37/JYLT9w5gaCgIFy/fh1ZsmRB5syZpf9mzZoV9Hnt2rWdG+AWXkvgNRYTvDZ27DgTYAJMgAkwASbABJgAE1BF4Pbt21i1apXtT61atVC6dGlJPFAmhYkSJVI1BnfyDwLPnz+PI0LduHEDYWFh2LhxI+rVq2f7kyZNGv+A4iezZDHBTwLN02QCTIAJMAEmwASYABNgAnv27MH06dOxYsWKWElewoQJGQ4T0JwACQ1y0apBgwbo2LEjSpUqpflYbNB4AiwmGM+cR2QCTIAJMAEmwASYABNgAoYSCA8PR79+/RAZGYkJEyagTJkyho7PgzEBIrBr1y58/vnnyJYtG0aPHo38+fMzGC8mwGKCFwePXWcCTIAJMAEmwASYABNgAvERoLXs/fv3x+7du6XkLTg4mIExAdMJLF++XBK3KlWqJD2X6dKlM90ndsB9AiwmuM+MezABJsAEmAATYAJMgAkwAcsT2LRpEyZOnIiGDRuiTZs2lveXHfQ/AjNnzsSyZcvQu3dvVK1a1f8AePmMWUzw8gCy+0yACTABJsAEmAATYAJMQEmAljLQCQ20AZ4/XTdn7cL5dvOQ9n+lkHN6CyRIllia/vObD3GmbihSVimAbN98FOezTL1rSvcf/XkuDi65LWFfNFKOIx9L2Mrcr5ZtTNHvcv9luDZ6PZT3hJ9KP5KXzo18q7shUfoUPhnOatWqoX79+ujRo4dPzs9XJ8Vigq9GlufFBJgAE2ACTIAJMAEm4JcE2rZti8DAQIwfP96v5v8y6inOfzoft3/6C4lzpkX+tT0QUDiLS2KCEBiosRAMCm79AikqF7AxJAHg9qK9NrtivCf/3IiV6FO7pxfvSGIGtSdxQ25LLhgoRQJnoofcT18L7meffYaoqChpg1C+vIMAiwneESf2kgkwASbABJgAE2ACTIAJOCVApeItW7b0y2UN0Seu4nTtSUhd5y3cW3MEWQbXRfq25TURE4RtuU0yrPxcCAwPd52JJWbIA/dw2ymEV/lWqkqg6gR7QoO8gkLYJBvyagunD4MXNpgxYwaWLl2KdevWeaH3/ucyiwn+F3OeMRNgAkyACTABJsAEmIAPEiAhoXPnzmjUqJEPzs75lKii4Orw1ci7tBMiJ2ySOojk251v/O1VJjiqVlDalVdH0PjK6gb6jCoXHmw9hVxzWiOi9RyHSy/sLcfw5coEEeGFCxdizpw5frdEx/kTbr0WLCZYLybsERNgAkyACTABJsAEmAATcIsALW2oWLGiX1YkECjlt/e0vICEBbHUQQsxQW5PBMde1YCoVnh6/rbUTL6vgtIPISyI/RAc7Zlgb98Ftx4QL2tMSx327t2LadOmeZnn/uUuiwn+FW+eLRNgAkyACTABJsAEmICPEaDNFi9evOh3eyTIw6hcbqD8WQsxQbn3AY1vz65c3KD9G+jKObOltORCLHEQFQvKn+2JDbQUQvT3sUc33unQZoz58+dH9+7d/WnaXjVXFhO8KlzsLBNgAkyACTABJsAEmAAT+I8AHf84evRovy8JF6cjKJ8NscEhnepAmzMmzp7G7mkOzjZgdHXPBOX4ol/aJiWlPRzEBpHKdqJ6gSod5KdOCHHh2bV7Dvdg8OX3gZbuDBkyBFWqVPHlaXrt3FhM8NrQseNMgAkwASbABJgAE2AC/kzg+vXroOUNq1ev9mcMtuqAJHkzxNqgULnPgfI0BmVVgIAY32kO8g0TRaJP/cQyBbl4QAKFXIRIUTaPtEEkCQty8ULuV6IMKeMcYSn88belDiIederUwYIFC5A2bVq/fs6tOHkWE6wYFfaJCTABJsAEmAATYAJMgAk4IeDv+yQIPEIUUC4FUCb2ys0Rqb+95QOOxARqL+6JseX7ISj9ET8LEcCRXbn/gfWKxRET5H7b29DR118U3j/BuhFmMcG6sWHPmAATYAJMgAkwASbABJiAXQLh4eEIDg7GyZMnmRAT8HkC+fLlw/r165E3b16fn6s3TZDFBG+KFvvKBJgAE2ACTIAJMAEmwAQA1K9fXzq5gQQFM66Ht+7h8O+7cePsVUQ/iML9O/fNcCPOmKkCUyJpquTIkC8bin1QDsnTpLSEX0onnj95hv0rd+D6qYu4ffUmnjx+Yhk/kyRNgrRZ0yNTgRwoUb8iEr6eyHTffv31V/z8889YunSp6b6wA/8RYDGBnwYmwASYABNgAkyACTABJuBFBPbs2YNevXohLCzMFK8Prw3D4VW7kDVhAJInSoTkiV5HotcSmOJLnCT95Us8fPEMj54/w5UXT1C8fkW8Vau0JXwTTpza+Td2zF2DHEmSI1nCGH6JEyS0jI9PX77Aw+fP8PjFC5yPfoDKbeoif/m3TPevZMmSmDJlCoKCgkz3hR2IIcBiAj8JTIAJMAEmwASYABNgAkzAiwi0a9cOn376KcqUKWO413sXbUbk3nDkSZTM8LHVDPjP8yhkLV0YJRpVVdNd8z5Hfw/D6Y37UDCJNSsm7E04/OlDFHy/FN6sVUpzHu4Y3LlzJ+bOnQvaQ4EvaxBgMcEacWAvmAATYAJMgAkwASbABJiAUwK3b99G/vz5cevWLadttW5weN0eXNx0EHle9w4hQcz/n2ePkKtmEN6qaW4yTBUJx37djoIB3iMkCIYnH9/H202qIl+Zolo/Vm7ZS506NS5evIhUqVK51Y8b60OAxQR9uLJVJsAEmAATYAJMgAkwASagOYE5c+Zg27ZtmD17tua24zNIeyQsHzITQanTGzquVoPtvXMDDUd2MG0PBdojYW63b1EuY1atpmS4nZ2Rl9H2x75ImMi8JRktWrRArVq10Lx5c8PnzwPGJcBiAj8VTIAJMAEmwASYABNgAkzASwh89NFHoISqQYMGhnq8e+EGPD5wFlmTpjB0XK0Guxz1EMlL5kXZpjW0MumWnb3LtuJB2ClkSeJdVR3ySV5+GoXAcoUQVL+SW3PXsvEvv/wC+rNkyRItzbItlQRYTFAJjrsxASbABJgAE2ACTIAJMAGjCSRKlAhPnjxBwoTGfju8cvhsZHz0EoFJAoyesibj3Y2OxvWUCREc0loTe+4aWf31fKS58wRpA5K629Uy7W8/foy76QPwQT/zqgLo2aelDtHR0Zbh4s+OsJjgz9HnuTMBJsAEmAATYAJMgAl4DYE1a9Zg8uTJ+P333w33eVHvUBRNFohECaxxaoO7AJ6/fIljUXfReFw3d7tq0n5u12/xbtqMSGywCKSJ8/8aefriBQ7duYGWoZ9radZtW7TM4YsvvkDNmjXd7ssdtCXAYoK2PNkaE2ACTIAJMAEmwASYABPQhcDw4cMlu4MHD9bFfnxGp7UdhUq5chs+rpYDbo84hw6zBmpp0mVbvsCPJmsmQwF7yJAhCAgIwIABA1zmzw31IcBigj5c2SoTYAJMgAkwASbABJgAE9CUQOfOnVGsWDF06tRJU7uuGJOS4dx5XWlq2Tbbz/1jrpjg5fwkMcFEhuLBouqcEydOIDQ01LLPmr84xmKCv0Sa58kEmAATYAJMgAkwASbg1QTq16+PNm3aIDg42PB5kJhQOW8+w8fVcsBt/5wxVUzwdn4UCzMZimdh+fLlmD9/PpYtW6bl48G2VBBgMUEFNO7CBJgAE2ACTIAJMAEmwASMJlCmTBl89913KF26tNFDQxIT8uc3fFwtB9x2+rS5YoKX85PEBBMZimdhz5496NWrF8LCwrR8PNiWCgIsJqiAxl2YABNgAkyACTABJsAEmIDRBHLmzIkdO3YgR44cRg8dIyYULGD4uFoOuC38lLligpfzk8QEExmKZ+H8+fOoXLkyIiIitHw82JYKAiwmqIDGXZgAE2ACTIAJMAEmwASYgNEESpYsKX0bS8dDGn2RmFClUEGjh9V0vK0nw00VE7ydHwXDTIbiYXj+/DnKli2LvXv3avp8sDH3CbCY4D4z7sEEmAATYAJMgAkwASbABAwn8Nprr+HVq1eGj0sDSmLCm4VNGVurQbceP2GumODl/CQxwUSG8ufAzHdBq+fRF+ywmOALUeQ5MAEmwASYABNgAkyACfg8ATMTKElMKPqmVzPeevS4uWKCl/OTxAQTGbKYYL3Xj8UE68WEPWICTIAJMAEmwASYABNgAnEImC0mVH27iFdH5Y+/j5kqJng7Pwq+mQxZTLDe68digvViwh4xASbABJgAE2ACTIAJMAHriQnFinp1VP44fNRcMcHL+UligokMWUyw3uvHYoL1YsIeMQEmwASYABNgAkyACTAB64kJ777t1VH54+Df5ooJXs5PEhNMZMhigvVePxYTrBcT9ogJMAEmwASYABNgAkyACVhOTKhWophXR2XL/sOmignezo+CbyZDFhOs9/qxmGC9mLBHTIAJMAEmwASYABNgAkzAemJCyXe8Oipb9h4yV0zwcn6SmGAiQxYTrPf6sZhgvZiwR0yACTABJsAEmAATYAJMwHpiQql3vToqW/46aK6Y4OX8JDHBRIYsJljv9WMxwXoxYY+YABNgAkyACTABJsAEmIDlxIT3yhT36qhs3nPAVDHB2/lR8M1kyGKC9V4/FhOsFxP2iAkwASbABJiAZQm8evkc967uwpP75xB97yxePHuAJw+vWNZfsxxLkjwLEiZOhYDUeRCQKg9SZSmP1xIkNMsdaVx/j50VY+LuA2H20ZDvlQty12WErl6IiSvnxen3bbt+CC5TTbqfPX0W6e/7zxzDirDNGNS4IwISJ3F7LGcdNu/eZ66YoIKfszkZfd9MhiwmGB1t5+OxmOCcEbdgAkyACTABJsAEADyI3Itrx2YgeersSJI8PQKSZ0JAisxImCgx81EQePH8CaIfRiL6Ef25iah7F5G5aAekzFjCFFYcO8BqMVHzIJguJlQo6bbbob8tlPp0+7CZ3b50P3uGzAgu8x72nyYxYRMGNemkj5iwc6+5YoIDfiv3bMYX00fH4dOzfiuJG92/eOOa9HdnjJS2vv2URJv3XI6bPB72Om02kSGLCS6H0bCGLCYYhpoHYgJMgAkwASbgvQSuHPoOL57eQvbCwd47CRM9f/XqJS6dWIWEARmRtVh3Qz3h2NnHbWZM1D4AZosJ1SuWctv10FULYsSEes3j9F0ZthmfT/9G+nz8p/3xRvpMWB62CSkCkmP6uiWoVDQI4zsMQJoUqdwe116HTTv+MlVMcMSPOOw9fQRfNulsV0Sh+xdvXJUY7j99VGJkry21IzFGMLvz8D4+n/Y16petjuCyrgkKFK/sGbI4bG8mQxYTNHkNNDXCYoKmONkYE2ACTIAJMAFfI/AKF/d+hZSB2RGY+S1fm5zh87lz9TAe3b+GN4IGGjA2x84VyMbGxBWPHLcxXUyoXNrtCYSu/FdMCI4rJpAxup89Y0zySolyo5E9sWTQRBTJmR9f/TwFmQPTo5uDvu46s2nbn+aKCQ74SWLCqSP4smlcMUEwobn2atAaZd98B8t3k+CSDNPXLkGlt4IwvuNASXCxx1rYrlOyMtbs3SaNQRexLVngLYn72asX8d2KeShdqBhC5k6MEXc6DrArKJjJkMUEd594/duzmKA/Yx6BCTABJsAEmIDXEqBvtZMmT400LCRoFsM7Vw/h8eMo3SsUOHauh8yomLjukf2WposJVcu6PYXQFfMxYdnsWP0K58iLSV0HI0+W7KD7kphQrjr2nzqK0JXzMb7TQKRJmRord2/CxetX0a1+C7fHtddh0x9h5ooJDvjRPPeGH8GXzbrYr0yQcSBGjb7qgSVfTkKRXPnx1cIfkDlNeomRuNe06odxbN15cA/fLp2FLz5uK6GhvxP/tu9/LPULO35QsiGPh9UYspigyWugqREWEzTFycaYABNgAkyACfgOgQfX/sLdC6t5aYMOIb14fDkCczVAykz67KHAsXM/aHrHxH2P4vYwXUx4r5zb0whdHrP5YrcGLe32pfvZM2ZFcHkSE45g+c6N+LJ5VympXrmLxIQrDvu668ymzbvNFRMc8KN5fj5lZJzpLBk8CSUKvBWLAzGihH9850ExgouCUfTTJ/hqwWT8vOU3yV7Tah9KPOmizxtUqCH1O3ruFC5EXkGz6sFYuGklyhZ5VxpLHg+7YoKJDFlMcPeJ17+9JcWEESNGSDMPCQmxEQgPD8fQoUMRGhqKdOnSaUrm1q1b6Natm2S/YMGCDm272s6eAZrT4MGD0bFjR0yYMAFJkybVdA7xGdOTnWGT4IGYABNgAkzAUAK08/+ZrV2Rv2QHQ8f1l8Fovf6Z/TORr3IoXkuQSNNpc+zU4dQzJuo8itvLbDGhRvXybk/l+3/FhO4OxAS6n4MqE8rXwL7wI1ixSy4mbMSF61fhqK+7zmzctMtUMcERv5W7NsZUJvwroijnRfcFB3cZyfmTHXFlS58Zf589iTJvvotVuzehUeU6yJM1B+TxsMfXTIYsJrj7xOvfnsUEAK6KBK62U4bt8ePHGDJkCNq1axevWKF/uHkEJsAEmAATYAKuEbh7eRuirm1H1gJ1XOvArdwmcDl8NVJkfQ+ps1Zwu298HTh26nHqFRP1HsXuabqYUNP9Z/X7ZXOlSXT/qJVdDHQ/B1UmVPhXTNixAV+27BZTmbCTkugrDvu6y3Xjhp3migkO+NE895782zbvOGKCjIMkJthh9GndJpj4yyw0qvqBJAqIS97+ys1IbD20R7pV5Z0yOHI2HFFPonH+2iX0/KStxFweD7tigokMWUxw94nXv73Xignim35CNHz4cFsVA30L37hxYxw+fBi1atXCwoULpUqGXbt2Se0iIyNRpkyZWNUBcpEgR44c6NWrF7JlyyZVEgj7vXv3lj6fOnUqihUrhsWLF0O0pc/o2rlzJ8qXLw/yoUePHtJnL1++lGzNnRvzDym1KVSoEJo1a4b169fb7IsqDPJF3JP772he8keEmOTJk0fqTxfN/ezZs2jUqFGsqg76vHnzmE1wxFziq8jQ/zHkEZgAE2ACTMBqBCKPz0aiBE+QLpv7R8FZbS5W9efW5b/w/FVSZCrcWlMXOXbqceoVE/Uexe5pupjwfiW3p/L9r3MwYcnMOP16NWqH7g1bY+WODegVOgITuoUgW8YsWLF9Pb5s1T1GTNixIUZMaKjNO7Jx3XZzxQQH/Giekpjw77yVsOQcJHHAASOlHWnJw9zvkSlteomhtG/Coul4EPUQQ9v2kn6e9fsSlCz0NoIr1pSGpXhJ4s6/Pyt9MZOh3Bcz3wW3XwIf7uCVYsLJkycxf/58SRCgS3zrnz59eimRpsScknpKri9fviy1O3DgALp27SqJAMrE2Z6YQHaV/ci+fDmEfDkGiRXCPvUlQWPy5MmSH1SZQEJEixYtULx4cenvFStWlHwVwsOkSZNs4gS1o35CDOjSpYvDecmXS5APci5iTPJbLBEhduS3EFnsLSnx4eedp8YEmAATYAIuEji/ZzDSZ3sXyQP/+4bLxa7czEUCj+6ex80rh5Cz9HAXe7jWjGPnGid7rfSKiXqPrCUm1KxTWaupmGJnw5ptpooJjvhRpUGvSXH/HfhfjWCEtOqBo+fC8UlIF3zeuD3KFi2O5dvXS58HJEkiVSlcjLyC7h/HCC5KW9RH3JPEgqVzpHb0GYkJQ2ZOkKoS8mSL+bde9J/QYzDq2xEUzGTIYoIpr028g3q9mKBMpuWJsnyvAGUSLadiT0wQyb78nlxMUAoXcsGA7lFlAgkEJFzI75FI4Ghs+tzevhAkEjial3z/CLkwIbd18+ZNh/tNCMFCvj+F9R5T9ogJMAEmwASMJnB2R0/kLNoYCRMlNnpovxnvxfOnOH90CfJUjPlyRKuLY6eepF4xUe9R7J5mfhs7re0o1PygilZTMcXOht+3mismeDk/CpqZDFlMMOW18T0xgRJoean+ggULpG/uKemuUCH2Wi5Rxk8JtfjWXrn5oT0xQVQHOBMTxFIFQZl8CQoKipW8K8UEpZ9yH+WigbAZ37zkVRbycSIiIqQlDiQSyEWVZMmS2ZZrCPvyZSLWe0TZIybABJgAEzCDwIm1jVG4Ql8zhvarMU/sHIPCtRdrOmeOnWc49YiJZx7919t0MeHDqlpNxRQ7G377w1wxwcv5SWKCiQxZTDDltfE+McHet+XKb+fFrOQJNH3mSDCQLwHQSkxwdAKE8vQEuY9ivwSxFEMuVpD/jioTHM1LGV3Bjj6vVq2abQ8HYXfdunXYsWOHbc8Irkyw3kvJHjEBJsAErECAE1JjoqBH4sqx8yx2esTEM4+sIybUCq6m1VRMsbN+5RZTxQRv50dBM5MhiwmmvDbeJybI9x+QLxOgjQwpCZcnwPKTEpRLD6gdJeH0X/k+C1qICeSXfL8BsUEi7ZMg36OAqijiExPIt7Fjx0p7OdjznxL/L7/8Eu3bt7ftBSGfl/KYTOFH5syZbfsiyMUNuZgQFRUlVXTQ0gte5mC9l5M9YgJMgAmYSYATUmPo65G4cuw8i50eMfHMIwuJCQ2qazUVU+ysX77JXDHBy/lJYoKJDFlMMOW18T4xgTxWlvbLS/FFci5OURDLHKif/NQD+UkFWlQmiNMb9uzZY/c0B+FHfJUJYmNFcZoCzYE2hxTLKhyd2uBoXsroCjZCeBFMRGUC/Sw/LaJz585Yu3ZtrNMtrPeYskdMgAkwASZgNAFOSI0hrkfiyrHzLHZ6xMQzjywkJnxUQ6upmGJn/bKN5ooJXs5PEhNMZMhigimvjXeKCdZDxR4xASbABJgAE/AfApyQGhNrPRJXjp1nsdMjJp55ZB0x4f2PY44P9NZr3dINpooJ3s6P4m4mQxYTrPfmWfI0B+thYo+YABNgAkyACfgXAU5IjYm3Hokrx86z2OkRE888spCY0KiWVlMxxc66JevNFRO8nJ8kJpjIkMUEU16beAdlMcF6MWGPmAATYAJMgAmYToATUmNCoEfiyrHzLHZ6xMQzjywkJjSprdVUTLGzbtFac8UEL+cniQkmMmQxwZTXhsUE62Fnj5gAE2ACTIAJWJsAJ6TGxEePxNXM2C1cvBbNPw1Bx7YfYcLXnyNp0gAJZPjpCDRuPRCHj5yKBXbB9BFo1rg2RoyegcEjf5Tu1apeFgtnjEC6tIHGBEExih4x0WoiZh8NWbtpHa2mYoqdtT+vMVVM8HZ+FDQzGbKYYMprw2KC9bCzR0yACTABJsAErE3AzITU2mS09U6PxNWs2D1+HI1eA8Zj6qxlKPZWASyeMwoF8+eKA0y0i7hwVRINTp6KQIWa7bFzwwwUL1ZIspEtS0aE9GuvLWwXrekRExeHdtrMdDGh2QdOfbRyg7ULfzdXTPByfpKYYCJDFhOs93ZZapkDHXlIRyFOmDAB4vjGW7duoVu3bqDTCOg4RnHRsYyXL1+O01acVCBH3bFjR6ndhQsX0LhxYxw+fDhOJOQnQshvKk+OqFWrlu3IRWpHPouTGeT9du7cKR25qLzkR0GK+Tiao7Kvq+3UPGbEM0+ePNJJD3wxASbABJgAEzArIfU38nokrmbFTlQf1KxWBhu27EGfHi2kqgPltWvPIZt4UL7MO3HuU5XCrj8Pm1adoEdMtHquTRcTWtTVaiqm2Fk7f7W5YoKX85PEBBMZsphgymsT76BeKSbQMYkkDtDVq1cvm8hAyTYlwyEhIbZEXogBFStWjJUo2xMu7CXvZI+ObRRJNh0x2bVrV+loSBID7NmhNpSc07106dLFMivEB/lRl66KBK62U/OYsZighhr3YQJMgAn4LgGzElLfJWp/ZnokrmbFjpY4jJ00H3OmDMGPs36VJixf6kA/i6oEe/foMyFIlClZNE5fo54NPWKile9miwl1Wn2o1VRMsbNm7m+mignezo+CZiZDFhNMeW18T0yghFxcZ8+elcQDuuyJCfQ5tZe3E58pqyCUpOz1U9pzp5pCPm5ERIRN9FCKBMpqCKpyKF68uCScTJ06FcWKFZOqIagdzV05bxIz5s+fH6caQ15VQeLBsWPHJFGEqjKIj6hMILGGKjgmT55st7rCeo8xe8QEmAATYAJaEzArIdV6Hla3p0fiakbslCLBslV/SMKCcqmDEAvsVS3cun0XzdqHYP2mMIi9FMyInx4x0WoeposJrYO1moopdtbMWWmumODl/CQxwUSGLCaY8tr4lphACfSQIUPQrl07pE+fHoMGDcLIkSOlCgAtKxNEQk9VCcrlCvLKg3Xr1sVZmuGsMoES92rVqtkS/qioqFhLOSjRp4uEAnklBM1XLPmg+zNnzsSwYcOk5RvEpGnTpggODpbEE7ref/99qaJCVFbIl4aMGzcu1jIRUZkQFBQkLSkJDQ2NU1VhvceXPWICTIAJMAG9CJiRkOo1Fyvb1SNxNSN2SpHAkWggqheUIoN8vwXl5o1Gx0+PmGg1BzPFhEX9pqB0rXJ4PfHrWk3HUDvPnj7Dn+t3ocnoLoaOKwab12MCytetjCTJYjYl9cYrOioau1dvR8tJPU1338x3wfTJW8gBr1vmQN+aiySa9lWgJJgSc0r4hZiwfv36WIjlSwrEDWfLHOITE8gHkXCTmKDcM4EqB8QyCGWsRbVD7969pUoDWn5BSb8QCUgwkC/VkPtRqFChWO1En5s3b4L+/P333+jSpQtGjx4tiS10yYUB8rtHjx6YNGkSlixZIt0XVR3EMUWKFPjrr7/i7E9hoeeVXWECTIAJMAGDCJiRkBo0NUsNo0fiakbs5KcxyAHLT2aIb4mD6G/2SQ7kux4x0eqhMzOBWjlyLnIVzI30WTNoNR1D7dy8fB3nT59HvalvUs0AACAASURBVIEtDR1XDPb72IXImiMrMmbPbMr4Wgx6/cI1XLl0FR/0/p8W5jyyYea74JHjPtbZ68QEexseCrFAWZkgT57lmzdSDLUUE+TLJeRVBfaeFfnSCSFKUHUBVRZQ4i/EBKUgQksR5KIDzUcIKSQAVK1aFb/99pu0PGH8+PFStcbJkydj7d0gX05BYoJ8w0WyRVUQtBQiY8aMvBGjj73oPB0mwASYgLsEXE1IxWZ6wr6yPJ2SxDy5stmO/xN/d9cfR+3tJbHxnSSg1bjCjnx+amzrkbi6Gjs1/trrI5Yn5MqRJdY+B+KYSDqlgTZaFO3Kly4W66QG8QwZGbf45q5HTLRibWYCteunDXj16Clyv5VPq+kYaufs36eRKGVSlG1a3dBxxWB7l23Dk1sPvJYfzYMYJs2YGkH1K5nCUD6ome+C6ZO3kAOWEhPka/3FaQ5yQUD5rT1xlCfI9u5T8k77Byg3Q3QmJgjBQbnXgvJzpR0haMg3bZTHW7kPg1h6cO/ePZuYYO/0CuVcSUwgXrTvQWRkpFSRMG/ePCRPnlz6mSoO5BUUtAxEWZmgFBPoZ6VgYaFnlV1hAkyACTABAwm4kpBSsjh/8Rrbrvvim2f5sX5GiAmERX6MIPm1I+ygIRv4sZgACDFAKSSJpQ4N61WT4uNITLAnCJlZocBigv1/aB7deYBfh8zEe83qGPgvkXZDbVqwGp981RHJUifXzqgbll48e47ZXcahdvuP3OhlraZrpv2KdtP7IUGCBKY7xmKC6SGQHLCUmGBv4z/5Ov8DBw7EOSVBflqD2CPA6qc52Ns08tq1a7alEfLqBjkT+TIHEhPoHlU05MiRQ9o7gfh8//336N69e6xlH472TLAnJtASC0cbT1rjkWUvmAATYAJMwAgCzsQESgy79R6DoQM6oGD+XDaX5J/vO3ACzT+N2SSZEs2zEZeRIkVSrN+8R9pkb/igTjYRQL5mntqLb7MpUR0+egYir9+GvR3+KRFVigmUxA79ehpCx/VFurSBtmSX2snX41NfpT9UOUE+K78llye8ImkW37yL+dExiPbaxRcvPRJXZ7Ez4vnx5jH0iIlWPMxOoI5s+AuXj5zD25WKazUlQ+wc3rYP2d/Jj6LVgwwZz9Egp8OO4OSWAyhRs5ypfqgZfN+63ShSMwh5SxdR013zPma/C5pPyEsNWkpMIIYieT58+LCEtGPHjtKpBGJ/BOkXhn9PbxDMRfWBSKTlYgK1UR7nSJ+5UplA7ZQnK8hPRHBkR/TJli2bXV+V1Q5K/5Rj0hIHSvLF53v27JGEBxIRxL4LdF9ZiaDkqTzNwZGYEN9+EV76nLPbTIAJMAEm4CYBZwkpJfnzF61xePRfxbLvxlnaQIn2rj8PS5UMN2/dRePWAzH5275SCbxcFCDbXb8YI50EQO3E3+WihZiOPTFBXplw4dI19Og7DpPG9EaONzKj14DxEJUT9vwR36LL7corMOz5LZZuKMeVz88Rfj0SV2exc/NR8LvmesREK4hWSKAOrNqJyFMXUaxqSa2mpaudQ5v/RNYiufHOB9ZI4E9sPYBTO/5GyToVdJ23lsb/+n0nCld9BwUrvqOlWY9sWeFd8GgCPtLZcmKCj3DlaTABJsAEmAAT8GoCzhJSR2ICTdrR0gZ5gi4qEVo0qYNCBXJJRwKG9G0nCQvye5K9MTNtSymUUJ2VyCuXPMj9HjdpgWROlODLKy2oH1VS0D3lUgb5PMS9j+pVlYQKIaIoObCY4D2vA4sJzmN1dNM+HPxtJ/IUL4SUaVIhdaa0ljnlgU5tuBd5Gw/u3Mc/+0+gRP1KKFKthPNJGdjizJ5j2DrzNxQs8xZSpk2FVBnSICB5UgM9iH+o6EePce/GHTy8fR8nd/+Nah2Ckbf0m5bxjxxhMcEa4WAxwRpxYC+YABNgAkyACViKgF5igvgW356YQEsf5BctJ8iVM4vdCgjRzp5AIU/o5UsRRB+xHv+H6Uttm0Mql20IMaF3j+ZxRAJ7QoMQE6bOWhZrDvKlHPYCrEfi6ix2lnrQLOiMHjHRappWSqBoD4UjG//CjbNX8PhBFO5evaXVND2yQ8JGssAUyJA7C96uVca0PRKcTeLF8xc4uHoXIs9cwq0L1xH9MMpZF8PuB6RMhnTZMyFTvmwoXq+CJfZIUE7eSu+CYYGx4EAsJlgwKOwSE2ACTIAJMAGzCThLSF3ZM4GWJTiqUlCKCfb2XyAG8VVA0H3lMgex6Z9YPiFP/JVM5b45EhPcrUygSguqrnD10iNxdRY7V33z13Z6xEQrlr6cQP3000949OgRPv30U61w+ZWdp0+fSsvDZ8yYgYQJE/r83H35XfCm4LGY4E3RYl+ZABNgAkyACRhEwJWE1JPTHORignLPBLkgQNO1tzeDwODOnglC3Lh89bq01wMtcxCVEvGJCWr2TIh6HC0t3WjRuI60d4SjS4/ENb7YOTrpQhkPPR4zcZqDWM4ixpB/vmXbPltM5D44Eq/c8dOZMCVs6RETd/yMr60vJ1C0P9qLFy9ASTFf7hMYPnw4vvnmG+lPjx493DfgZT18+V3wplCwmOBN0WJfmQATYAJMgAkYRMAVMYFcEccCCreUxwOKZQbiNAd7yxzk+ySIZQLCjrME0J6YIJJTkcjLfZQfOehqZQLNzdEpDfL5KU9zcLbEgezqkbiqERMMeqziVJKIZyi+fTGoDYsJMRHy1QSKNlunE8pISKCN1AcNGmTUI+kz4yROnBjPnj2Tjol/+PChz8zL0UR89V3wtsCxmOBtEWN/mQATYAJMgAkYQMBVMcEAV3x6CKuICfLKhPTpAqWjNVOnSgEh7oijOuUCjHKjTHkFiaPlJSTsKIUDextaBhUvLJ3CQdfLly+RLWtGzF242nZk55Jlm2wVDMqqCqXAJT9mNL4qF/Gg6RETrR5iX02gkiVLJp1aRhclxU+ePNEKmV/YoaqEUaNGSdxSpkyJr776yuerE3z1XfC2B5bFBG+LGPsbhwD9kpEgQQLLk6HSPX9Yw2b5QBjgoLc8k69evZK+5eKLCdgjwGKCMc+FHomrmsoEpZhAx1r26dHCdrynvaUhyiSeBAS63q9RFrS5JW1emTRpQCyQyqUOyooDIVaQmCA/WtNRO6oGUfoujgKlZS3yZR0HDp+Md8kMiwnGPPPKUURVwoMHD6RbSZIk4eoEN0MhqhJEN3+oTmAxwc2HRKfmLCboBJbN6kfg0uUrWL9+A06ePIHTp07htdde4Urkbf0G1MhygVxZEfXkOQoULIiChQqjYYNgST220vXX3n2gP+EnjuPChQu4dsP6XIlf8SL5cP/RExQoVAiF3yyCRh9/ZChWEop+XrQEJ08cx6lTp5AqWWIcOXXeUB/UDBaYMjleT5wYBQvkQ4GChVGlciUULFhAjSnu44MEWEwwJqhWFRPkCbnyOM34lqoMGTUNh4+ewuB+7R1uRCmvblAuY5GLCXIfXBUTlJtfyu2zmGDMM+3uKPKqBNGXqxNcpyivShC9/KE6gcUE158RPVtaSkyIjo7G3LnzcPzYEZw6cw63797Xc+5sOx4CaQNToWD+PHizSFG0bt1aKjmzwkUJ24Y1K1GmQAYUypYS+bOlQdZ0Kazgmks+XLzxAKcu3Ub4lYdYtfs0unbrig/rfuBSX70bjR07Fs/vXkG21K+hYNZUKJg9LQJTxP5GSW8fPLF/+vIdie3ley+xdNsxjPnma7zzTjFPTLrUd9PmLQgZMgwtar2LfJmSocAbaZArU2qX+lqh0fU7jxB+6Q5OXX2Ao5ceoWjxMmjXrq0VXGMfTCbAYoIxAbCqmEDLHELH9UW6tIGxTtSQb1ppb9NGZ3tcEFXRZuTgLhg0/AfIj/KUiwlyH9wRE+T7W9B4Hdt+JG24yWKCMc+0O6NQVcLAgQOlCtPcuXNLXc+dOyeV6w8bNoz3TnAB5uuvvy79nk4CwvXr15E+fXrpVAyqPoyKss5xky5Mxa0mLCa4hUu3xpYRE9auW4+vvxmDznXfln4Rp1/I06VKqtvE2XD8BG7df4zwS7dx4fp9hK48hJBBA1CrVk1TsfXr0xuZA6LRq/7bpvqh5eAjFu1HQLqc6NN/oJZm3bL1/PlzfFivPtrWKopPKuRxq69VG999GI2+s/9E46bN8F6tOrq5OXvGVJw+shejWpbSbQyjDU9ddwJhp25jzty5Rg/N41mMAIsJxgTEm8UEe0sWSBwomD8nMqZP6/AUCzqtg6oOurT/BIt+XW8TLYi4GjFB7odkY8xMLJwxIo4QwmKCMc+0O6OUKlUKOXPmBIkKM2fOlBLg9u3bo1evXvjnn39w4MABd8z5Xdu1a9fif//7HyZPnozGjRtLS0To97p58+ZJDJcsWYL33nvPJ7mwmGCNsFpCTPht+S/YuXkNRrcpaw0q7EUcAn1nhaFKrXqoU6+BKXS6d+uKSnmS4JPKhUwZX89Bp6/5G+ejU+GrkaP0HMah7WrVa2L25zWQ04u+TXcVVL+ZO1G88gfS/2C1vsaNHYPX7vyDLxqW0Nq06fY2HziPOdsuYP6C+ab7wg6YR4DFBGPYe6OYIPZPoOS8Qs32kG/OWK1yEIoXKwRa7tCuZT3QvgXKS1Q00OaOyhMv3BET7PkhFxOSJQ1ArwHjpeG5MsGY59ndUe7fv49UqVJJ3agSgcSEoUOHSj/L77lr11/ay/c+oiWXQkzwh/mzmGCNKJsuJqxduw7bfl+Mb1hIsMYTEY8XfWbuQo0GLVCzRnVDfV326zKc2rsB/T8pbui4Rg7Wf84e1KzfHNXeq2bksBgxfDjeSf8YH5aOKS30xavukFWYNWsWMmbMqNn09u8/gBmh4zClWxXNbFrN0I9rjiFxtrfRtm07q7nG/hhEgMUEY0CbISY0/zQk1uRoGcCowV0xcPhktGhSB+I0B3vLHKIeR6NZ+xCs3xSGPp+1xP0HD6U+Eeev4mzEZYT0ay/ZpuoD+TIFJU1xpKYQIsR9R2KCECD27D2KxXNGST7a84OEDBIQSKgo9lYBDBvY0Vb9cPJUBG/AaMxjrWoUpZigyogfd2IxwY+Db+LUTRUTaI+Emu9/gO3fav+toYlMfXro8r1+xtbNG0Drs4y4aO1XSP8vMLVrRSOGM3WMFt9uwYzZcyVV2Yhr+/Yd2L12Mfp/7DvLRuxxO3PlDqb9cQ1jxk/QBCv9z7pj+7b4rn0pJA8w5j3QxHEVRr6Y+Sc6fT4A+fPlU9Gbu3g7AbPFBEpGaTf/w0dO2da808kA8mP/xFp4+pyS0GMnz2LxrxuwYPoI2ykEg0f+KIVCfEZ/l9uoVb2srSTejJgZLSaYMUdvG1OPmGjFwJe/jWUxwbOnhMUEz/hxb3UETBUTpk2bgVQPw9Gkcn513nMvwwks3HoaUYFv4tN2bQwZe/nyFTi5+zcMaFLakPHMHKT/zB2o+Ul7VKta2RA3hg8djOIZnqBumbyGjGfmIHUHr8Ss2bM1qU44cPAQpk38Bj/2MLaKxAx+U347hIAcJdCGqxPMwG/6mGaKCa4cFyi+gc6WJaP0bTiJCaLsncQF+ZGAFy5dsx0zWKhALnTrPQZDB3SQSvDFcYZ0xKAZlx6Jq5mxM4Oh1mPqEROtfGQxQSuSvmeHxQTfi6k3zMhUMeGzzz5Dk6A0KPtmVm9gxT7StznHLmPpgfuYMFGbb3mdQf161EgUSn4HDSr4/nF1s9cfQXSaIujcuZMzLJrcb/a//2Fok2LSiRi+fvWevgP1mnVEpYoVPJ7qokVLcOXvTfi8YZDHtqxuYMuhC9hwMhrfjB1ndVfZPx0ImJmQOjoRQPk5/Sw22/th+lKJAgkLoiTe3ikB79coG0tM0AGdWyb1SFzNjJ1bk7doYz1iotVUWUzQiqTv2WExwfdi6g0zMlVMqF2nLhb0qcGnNnjDk/Kvj3TKQ/OxG7F2zWpDvG7TujV6f1gARXKlN2Q8MweJEWruYsLE73R3gzbsKVO+Mv78vrnuY1lhgBlr/8bLjMXQocOnHrszdMgQlMr8BHVK+cbJF/EBuXzzAbr9uAvLly/zmBsb8D4CZiak8qoCqjIQl/Jz+bp8EhPy5MomLW+Qb/AnJy82+3O0hMKMKOmRuJoZOzMYaj2mHjHRykcWE7Qi6Xt2WEzwvZh6w4xMFRNKl6vkN8mMNzwMrvpYuvsC/Ll7u6vNPWr38ccfY0qXCsiQOplHdryh85nLtzFy+UnMnj1Hd3evX7+BTp0+xbJB+h2bqPsk3Bhg9Z4zOPogLfr37+9GL/tNe/b8DM1Kp0XJAlk8tmV1A8+ev0CdkJXYuGGd1V1l/3QgYGZCqrYyQSkm0MaA5cu8Ey8dEijkGwfqgDJek3okrmbGzmh+eoynR0y08pPFBK1I+p4dFhN8L6beMCMWE7whShbz0Ugx4cMPgzHzsyrImCa5xSho787pS7cxbMkRLFi4UHvjCovXb9xA29ZtsHp4Pd3HssIAq8JO48jdQAz6cpDH7nTr2hUty2VEqUK+LyY8ffYc1fotxc5tWzzmxga8j4CZCSlVDvToOw6TxvSW9jWg/RDoavRRddveB/b2TBBiArWVVzGIEwhaNK6DoOKFY50ywHsmxDybxGHspPnSSQniOEfl3hWOnuL4Tm4QpzbI+8o3zlTaFFUlrghBer1VLCboRTZ+u7wBo2fcWUzwjB/3VkeAxQR13Py6F4sJ+oSfxQR9uJJVFhPUsWUxQR03X+llpphADB2d2hDfaQ5yMYFskAghTnMQSxxE4iyOR4wvsTUilnokrmpiJ5J+OSetxIQdYQcx4evPIZasKDfLNIKzO2PoERN3xo+vLVcmaEXS9+ywmOB7MfWGGbGY4A1RspiPLCboExAWE/ThymKCeq4sJqhn5ws91SSkvjBvo+egR+KqJnaikiPiwlWE9G0nLQ9RignKvSh2bpgBOh2jWfsQrN8UBnvHbNrb/4LsUh8aR1SY3L33UDrWc/NvP2DJ8k1o1KC69F95hQKJEEIwcueIUHdjqkdM3PXBUXsWE7Qi6Xt2WEzwvZh6w4xYTPCGKFnMRxYT9AkIiwn6cGUxQT1XFhPUs/OFnmoSUl+Yt9Fz0CNxVRM7sXdEtcpBmL9ojVRJQMtD5MdoiuUmdGIGJfNdvxgjLYuga+jX0xA6ri/SpQ2MhdDRZppCGPioXlX0GjAe4ohP+TKHiPNXbftZyIUNGkAsg8nxRuZY/bWoetAjJlo9V74uJty5cwe9evXSCpfmdqzMn8SE/Pnzg/7rD5eVY+EP/MUcWUzwp2hrNFcWEzQCqTDDYoI+XFlMUM+VxQT17Hyhp5qE1BfmbfQc9Ehc1cROiAm9ezSXknM6VlN+jGb6dIG2agKqWpAn/XTPUzFBHOMpt0uxEEd/njwVYRM5lq36A/KlE/INO8dNWiCFkAQPtZceMVHri7KfLydQhw8fRu3atZE4cWKtcGlq5/Hjx1KiniJFCk3tammsUqVKmDdvnpYmLWvLl98Fy0K34xiLCd4ULYv4ymKCPoFgMUEfriwmqOfKYoJ6dr7QU01C6gvzNnoOeiSuamInP9VCbKg4bGBHDBk1FUMHdIAQE2g5g/xaMH1EnE0t5fftVSYIwYAEBFGZIJYzyMUEWkIhKiOWLNtkW+Jgb1NHscRCfkSo2ljqERO1vviTmKAVI73sfPfddxgyZAju3r2r1xBs1w0CLCa4AUvHpj4lJoyY8TsG/7jKhmvnjD4o/04+l/CFR1zD0GmrEdq3CW7efWj7e7pA++qjvL2jNvKBdx06gwrtx9o+WjCiLZrVLu2Sb44aifm2Cy4vNWnzYTmX5+vJwCwmeELPcV8WE/ThymKCeq4sJqhn5ws91SSkvjBvo+egR+KqJnbKIzLFcoF79x/axAT5kgc5J2enOSg3YLS3Z4I9MYEqIMiPTBnT4szZS2jXsp500kR8x3nK91VQG0s9YqLWFxYTtCLnuR0WEzxnqKUFFhO0pKnels+ICZRYX75+FxM+/wRJAxKDkv3GA6djct+mbifYrggFrrQRYSEhoeuYn7F41KcomCszHkc/Ra/xv6Diu/lUCwpkY8i039CuXnnJppEXiwn60GYxQR+uLCao58pignp2vtBTTULqC/M2eg56JK5qYqdM0EXCfy3ylu24SPmeCSQgNG49EJO/7StVLbizzEG+rwHxpmUVjsQEsdGi/NQNe0eHXr56XdrngZY5KE/1cDemesTEXR8ctecESiuS7tthMcF9Znr24HdBT7qu2/YJMcFRck4CA115sqXH2cs3EdL+A9y6+xDNQmYhpF0dSWSgRH/+mj/R+eNK+GbOegzv9CG6j12M9WHHUKtsESwc0VayQX3kn4nqhVJFcuHzCb+gWIE3bGKBHL8j35RihLxyoeNHlSRRRPof7PhfkC1joK3iYnineujdvIb0+dRl26U2m3/oiSWbDqBFndK2OYkqCGovF1lcfzQct2QxQQuKcW2wmKAPVxYT1HNlMUE9O1/oqSYh9YV5Gz0HPRJXNbGz922/fJNFqghQnuZASxyaNa4tnfpApzPQtXDGiFibMNpbkiAXBuTLGpR7MYgTJch2i8Z1pLHEJT/NQX6KBFcmGP0E+/Z4VapUwaNHj7B3717IxYQpU6ZISx5+++03lC7tWaWxbxPUb3YsJujH1h3LPiEmSP/zWvsnmofMAiXPJBrIL0rcZ67ahWEdPsSFa7elb/Sb1iqJ4MrvSP3oCiqc0+4yh2QBiaXEXSTq1J6EiUbVS0iVD31a1JSqC5SVEWJ8GrvHuMWY1LuxwwoCeRVF8UI5bAKCEA3IFokLB05esFU45Mic1uaX6EM+FsqV2SaWiM9Ff6rY0OJiMUELiiwm6EPRvtVVYadx5G4gBn05yONhu3XtipblMqJUoSwe27K6ARYTrB4hff1Tk5Dq65FvWreKmOCbdNXNSo+YqPMkbi9OoLQi6Zqdvn37YuzYmGXKuXPnRmRkpPT3qKgoUCxevnzpmiFupTkBfhc0R6rKoM+ICTR7UXVAFQR0CWGBPu82ZhGGdqgr7Ydw895D/H36Mrp8XBmj562XlgrQZW/PBEf7JyhFAlHhIJZZiGi4shxC2Zd+HjFzDWZ82QJfzVxjWw4hn4cjMYHGpUoL4Ycjv1Q9Lf92YjHBE3qO+3Jlgj5cySqLCerYspigjpuv9GIxwZhI6pG4cuw8i50eMfHMo/96cwKlFUnX7SRKlMjucYt9+vTBmDFjXDfELTUlwO+CpjhVG/MpMUFOQbm8gCoHqgUVxF/HIlA1qCB+2/E3GtcIwviFmzCyS3CsTRflAsLJiGtSYk/LHeQbLdpbpiBP4uVigrPKBKp22HHwTKz9HkjYGPtZQ0lMEFURrogJEVdvxbLFYoLqd8Pwjiwm6IecxQR1bFlMUMfNV3pxQmpMJPVIXDl2nsVOj5h45hGLCVrxU2OnX79+cUSDhAkT4vnz52rMcR+NCLCYoBFID834hJhASfagH1ZKooA84RdLEmjZAyXVx85eReTt+1JFwrzf9yB50iTSz3Tf0WkO8VUmiEoGGtNR0u5ozwS5zyRYKKsJ5JUJ7ogJ9DxwZYKHb4VJ3VlM0A88iwnq2LKYoI6br/TihNSYSOqRuHLsPIudHjHxzCMWE7Tip9aOsjqBqxLUktSuH4sJ2rH0xJJPiAkEQGy2KPZLEEseKBGnPQ1ILKC9Emh5AO2dQPsPfL/kD3RvVFXatNCRmEC25Rs2iioCsWEjHSUZn5hA/R2d5kAbKwohQ5w8YW/PBHfEBN4zwZPXwdy+LCbox5/FBHVsWUxQx81Xep3d/hlyvtUYCRMl8ZUpWW4eL54/wfkji5Gn0nea+saxU49Tr5io9yh2T06gtCLpnh15dQJXJbjHTq/W/C7oRdY9uz4jJghBYfCPq2wEFoxoazt6UVkhoFymIP9ZCAj0X1reQNUJlOwfPnXJdsKDsmLB2XIC+WkNZFe5UWR8pzm4IyaIEyroNAc6YaLLx1Uk4US5l4N7j0ns1rxngif0HPdlMUEfrmSVxQR1bFlMUMfNV3qd3zMY6bO9i+SBOXxlSpabx6O753HzymHkLD1MU984dupx6hUT9R6xmKAVO0/tiOoErkrwlKQ2/VlM0Iajp1Z8SkzwFIYv9ldWbGgxR28VE4SgJCpCtGChpQ2riAn2hDWxqamYr71TU+wJevSZo2NT3WFHzzEd8UpVRmous8QEccqM0mclP/mJLiQIistef3s8iY8QUpX3XTlRxhFTFhPUPG2+0yfyxBwkei0a6bKV9J1JWWwmty79hedIhkyFW2nqGcdOPU69YqLeIxYTtGLnqZ1hw4ZJeyfQUZF8mU+AxQTzY0AesJhgjTho5oVISqiKgq6OH1XStCqBbHqrmCCqR2gOyv01NAuAB4asLCaEtKsjLQeiS4gyomJGPmV74pVyg1E1iLxZTJBvrupo7oIb3ZcfbWuPnbwKitrT0bVygUwpTLCYoOaJ4z5E4N7l7Xh4bRuyFajDQHQicDn8d6TIWg2ps1bQdASOnXqcesVEvUfWExPuXr2FfSu248qJ84h+GKXV1NiORQkEpEiGbG/mQlCDSkidKa1lvGQxwRqhYDHBGnHwKi+8VUwQJ3ps2Rce61tukZylShGAsfM22Jay0F4Y1CdF0iRYv+c46Nt5+TfK8qUptcoWiXPih7tB9RYxgeblKLm3JybYW1KkXDZkb98RsYEqVSQ0D5kl4RRLl+JbFnT3YRQWb9iHnTP62AQQMysTnIkJYjPWz5tVx5Cpv0lH2BbMlVmarz0xQc5TuXmreObkgsOFa7fh7EQZR88qVya4+xb7VvtXL1/gzNYuyBfUHq+9lsC3JmeB2bx8+RxnD8xB3sqheC1BQk094tipw6lnTNR5FLeX2QnUzYirWD/pF7xdtSSSp06BgORJtZoa27EogehHj/Ho3gMc2rIXdXo1QbocmSzhqdnvgiUgWMAJFhMsGNAKJQAAIABJREFUEARvc8EbxQT56Rm038XMVbukjTiTBiSWNsikPSZEoipPiOnvv245gMWjPkX6wBS2zThpo8tuYxbZEj9K+uhSW4ZPfb1FTBCbm8qrFcQz7KwyISr6qcRQbIxK7S9fvytVz9DeHvKTSOSnscjFC/k37bShqvhmvnfzGnG+pRd+WVlMoOePBC6qSFA+R/bEBPln4xZstLv8Q86IGLCY4G3/ylrH3weR+3A3YiWyv1nfOk75iCcXji1D2jwfI0XGd3WZEcfOfax6x8R9j6wlJlBFwuqxC1G1yftaTIVteCGBP35ei3oDWiJVxjSme89igukhkBxgMcEacfAqL7xRTJAnbFSmTyd7tKtXXvoGmO7RUZy02SZ9Qy7/5veHpduk2IjSc5Hg0vGicjFBiwBaWUxQ7pkg39xUPnf52n3xubxqw16Vgkh0SeRxRUxQJtjiW/hRXYMxcPJKVHw3XxxRx0wxQVRVyDnJqyZExYw4VUYudNnbM0HO01GFCAk+4vlkMUGLt9O/bVw5HIqkyZIhTeZi/g1Cw9nfvnIQT54+RZa3umhoNa4pjp3reI2Kiese2W9pZgK1ecpyZMiUAemypPd0GtzfSwncvHIDt27cQrVO5gvMZr4LXho+Xdz2GzFBuZcA0dRiYzhPoyL/Zpa+JfeGyxvFBHtJrrxkXp7EKsUE+cZ/8m/L5c+UFntTWFlMsFeFYO9ZlVcmKE9QofZK4Uae9LojJigTdEqwZ3zZAl/NXCNVPcg3MaRxzRQT4lvmIKo85GKN/N8lZ/tNsJjgDf9i+oaPl/aNQvJUmZAmyzu+MSETZ3H7ygE8fngL2Ur0N8QLjp1zzEbHxLlHjluYmUDN6zEB5etWRpJkAZ5Mgft6MYHoqGjsXr0dLSf1NH0WZr4Lpk/eQg74lZigLPWlxKbrmJ+lEnaxRtnI2FAyOuGnzdKQvf73nik+qJmvt4kJ9jagU647l1cmyBNeZWWCo9Mx5CKDGqbUx9fEBJqTvc0Ah05bjdC+TWxVII4qE5TLTYSo44h1fBtDWlVMcLSM4ezlm7ZlD/GJEY6OpOU9E9S+hdwvPgJXDn+PF9GReKNwMO+hoOJRofX4l06swuvJsiLL211VWFDfhWNnn52ZMVEbTTMTqGltR6FOq3pqXed+PkJgzdxV6DBroOmzMfNdMH3yFnLAr8UEioO9b1KnLtsuhUiUIovEs1SRXPh8wi9SRcPkvk2l0njlpnzyb6udbcon1kfTWCJ5EAkYJVzy8YTgEd9mgUY9V94mJthL2OTr/okb7Zkg4q1MYncd/kdaAkEXrfenb+lp/wR5UuxPeybE95x5umeCEPfE/hTli+WVkmpHeyaQCCiqe8QyB2+pTLBXuUFs5WLWurBjiE9MsHfcKZ/mYNS/hP45zoPr+xF5bAaSpsyEgBSZEJCc/psFCRN5R2WdkVF78fwJoh9eQ/TDSEQ/ikTUg0hkKdoBKTLos0eCs7lx7ACrxcRZzOzdNzOBIjGhdvO6atzmPj5EYO2C1Swm+FA8PZ2K34sJ8m/waDMzuih5kVct0Ge0+3yfFjWltdjyTfnonvhmVSRA9jaXUy5hkK/bp36DflhpO65QJAMNqxWP8+0kbVLnaLNATx8GV/t7k5jgKGETQhJt/teoeglMX7FTmv6iDXtjHadJsX4QFY0Ne46DjtuU7xUgX8/Oyxxinh57YoIQbsR7EZ/gJpajkBBXq8ybePj4ie0doKUN9k5zEKJdsoDE0gaMVhMT7O2ZQM9L548roe+kZZjUu3GsqiQ5L2Lq7DQIwX3wj6ukGCiXb3myxItPc3D1X0X/avfq5XPcvxaG6LunEX0/Ai+ePcCTh1f8C4ILsw1IngUJkqRGQKpcCEidD6kyl9P81AYX3IjVxN9jZ8WYuBtD08WEprXddZnb+xiBtT+vZTHBx2LqyXRYTDh0Rtr07ct2ddD+q/nSt8603lpeMk3JvnyJhLzMWrnRmaMSbuUyCvoFX77RmnITNvl4ynXljjYLpM0Djbi8SUxwhYejUnGRpMn3THDFnto2VlnmoNZ/K/cza5mDlZm44huLCa5Q4jZWIRAREYGqVavi3LlzVnGJ/bBDgOPk2WNhtpjwfqNank2Ae3s9gXVL1rOY4PVR1G4Cfi8miBJ4ISbY27U+qHDOOCXtYllCfIm+/J5STLC3S/vwTvWkb2GVO97Ht0mdsq12j4ZjSywm6EOZxQR9uJJVFhPUsWUxQR037mUOgdatW2Pu3LmYPXs26O98WZMAx8mzuJgtJtRqWMOzCXBvryew/teNLCZ4fRS1m4DfiwmiLDu+o/6UCbunlQny9fpi1/n4jnKTbyBIO9472iyQKxO0ezHMsMRign7UWUxQx5bFBHXcuJfxBOjb7ty5c0sD58qVi6sTjA+BSyNynFzCFG8j08WE+u95Pgm24NUE1q/YzGKCV0dQW+f9WkxQnuYgX+8t38TM3mZ79ioTXN0zQXk8HoVUvrafKiHkezTINxAUeybY2yxQ20fDsTVfq0wwipuzcVhMcEZI/X0WE9SxYzFBHTfuZTwB8W23GJmrE4yPgSsjcpxcoRR/G7PFhJp1q3o+Cbbg1QQ2rP6DxQSvjqC2zvuVmEAJOm2iJy7lRmUioRenOYjN3lytTKClDK6c5hDf8YK0f8OwDnUx8ectSJ0iKcgX+akQJESELtkqTUG5WaC2jwaLCUbxFOOwmKAfcRYT1LFlMUEdN+5lLAH5t91iZK5OMDYGrozGcXKFkvM2posJtSs7d9KDFtFPn2DE3EnInCYDun/833Kls1cuYOjsiRjapifyZM1hG+H7pXOQPVNWvJ23ELpNGIwT58/EGX1C98GoX7Gm9Dm1H79khvT3wjnzIbTX8Fj2aBy5nf/VCEZIqx4ISJzEZteRj3ce3EPPScOx/fCfsXyQ21DaV/pGHeXzpp+F3e4NWyGo0NuxbK/YsQG9vh/ucDwPQuGw64a121hM0AOsl9r0GzHBm+IT3z4I8W0WaNQcuTJBH9IsJujDlayymKCOLYsJ6rhxL2MJiG+78+TJg7NnzyJ9+vS4efMm751gbBicjibilDdvXvzzzz8cJ6fE7DcwW0yoUbOCSs9d67Yv/AgoQabri8btkSZlaunvlIQPmzsJQ1r1iC0mLJuLHBmzIrjCf3s5rNy5EXtP/o0vW3aziQAkAHw1LxSZ0qZH949a2Wx2nzQMw9r0RFDBt6Qx5D9To++XzUXk7ZuxbDnykZL+XqFfodtHLSV7dIlxSxZ6G7VKVcLEX2ahUdUPpDko50RjSWLCv/4JYvbsinv25mrPZ9fou9Zq44adLCa4hsovWrGYYMEws5jwX1A+/DAYMz+rgoxpklswUtq6xGKCtjzl1lhMUMeWxQR13LiXcQTk33bXr18fK1asQIcOHTBt2jTeO8G4MDgdSR6nhg0b4tdff0X79u0xY8YMjpNTerEbmC4mvFfOTY/da/798nkoW+RdhB07GCMSlK8ek/hfvYBh877HkJbdkSeLrDJh+bxY7ajtyl2bsDf8b3zZvKtNTNh36ghW7NwY6zNqK//8aMQphK6YjwmdB/0nYtgZ15GPUtI/ZSS61W+BoAIxYoLw58L1K+jeoGUsGJLQsGAyShZ8W5on2aVL2c6RXUdzja+9e9Gw33rj5t0sJmgB0kdssJjgI4E0chpcmaAPbRYT9OFKVllMUMeWxQR13LiXcQTEt92tWrXCixcvsGDBAunPoEGDcP78ea5OMC4U8Y4kjxM1pFM36M/gwYM5Tm7GyGwxoXqVMm567HrzOw/v4duls/DFx21x58F9LNm+Fj0btJIEgbNXL2L4glAMbt4NebJktxkNXTkf2TNkQXC5GNFBSrB3b8LeU0fw5f+62MQEe+2ordxumpSp8PmPX+PGvduY1CUk1jjCdnw+0j3q361ec5QoUFTqIgkGP/2AkgXeiuUj3VO2Jx/p6hbcIhY0e3bjmyvdczRf16PhuOWmrXtYTNACpI/YYDHBRwJp5DRYTNCHNosJ+nAlqywmqGPLYoI6btzLGALyb7vPnTuHkJAQm5jw7NkztGnThr/1NiYU8Y6ijNPQoUNtYsLLly85Tm7GyGwx4b2Kpdz02PXm+08fRdiJQ1IyTkn4dyvm4ZOK70tJPSX9I36ajJD/dY0tJqxaECMmlP3vlImVYZux7/QRDGrS+T8xwU67mIT+PoYtCEWP4BY2u9T/i+nfSI4Xzp4X33UaZLsXn49k6/NpX2PH0X2xJt2zfitpTsordNWCGPHg33vKn0V7Ybfbh81QIn+MSCEue3Ole2RLycX1SMTfcvOOv1hM0AqmD9hhMcEHgmj0FFhM0Ic4iwn6cCWrLCaoY8tigjpu3MsYAocOHULPnj0lwWDOnDlo0aKFTUxo1qyZ9HmVKlUwceJEBAYGGuMUjxKHgDJOokqBKhNatmzJcXLzmTFdTCgX5KbHrjcPXb0QE1fGlPqL69t2/RBcphrOXruIET9PQUjTzsiTWVaZsHohsqfPIrWxJdh7tmDf6aMY1Ljjf2KCnXbUXhITfpqMHvWax7IrbO0/cwyhq3/C+Pb9kCZFKsTno5T0zxiNbnX/hxL5ijj0WUr2Vy9E5J1bcXyke93qNovFQGlXfnOlnbmSEDNy8VQE5S8ai4vrkYi/5ebd+1hM0AqmD9gxVUyoXacuFvSpgXSpkvoASv+Yws17j9Hy241Y8/tqQybMeybog/n6jRto27oNVg+vp88AFrPKYoK6gLCYoI4b9zKHgFJMMMcLHtUZAaWY4Kw9349NwGwxoVrp4rqE5Oy1SxixZApCGpFY8IY0Bn32/eoFGNyki/Tz8EU/oHtdSvpj7ktJ8y/TUDJfEdQr/Z+YsOrPLdh75hgGfdLBJiaQKLDizy2xPiMb8s83HNwl2ZXbokRejEv3nPn4xawx6FqnqSQm0EW+0Ljftu0riRHC58yB6dD1g//FYjn595+kn5Wfkw9Ku6KjvbnG116L4G358wCLCVqA9BEbpooJPT/7DI2CAlHuzWw+gtP3p7Hr6GUsPXgPEyZONGSyLCbog5nFBPVcu3XtipblMqJUoSzqjXhJTxYTvCRQ7KZEgMUE73gQWEzwLE6miwlBxTybgIPeq/ZujREAGra3CQBSUjxnHLrWboIi2fNi5K8zICXhtZtIVvb/cxzDFk/BxHb9kCdTjMAgJfB2bElJvKL/2chL6DlzNIY07owSed8E/Tzil6kI+aSjzR7ZksSA1r2x48SBeH0kH4S/ZI8uMa4keJSsgslrF8UIBv/OQY7D0T05B2E3vrmSnWt3b8ViqWXQtuw7zGKClkC93JapYsK0aTOQ6v5xNKlayMsx+o/7CzcfR3S6t9GuXVtDJs1igj6YWUxQz5XFBPXsuCcT0JMAiwl60tXONosJnrE0W0yo+u5/pxR4NpP/elPCPWr5TATlfRP1gqrEMjt53WJE3ruFgQ3aSZ9Tu0W71kl/L5QtNya27hNLSJDEhH1bse+f41If2rwxVsK+bjG+W7PQYX9JYJgzFicvn5PaVCxcHONafo6krydx6mOXmo0waFEoutRqhBJ5YsQEuvafPY5hv0zF8Ead8f26RZIoIb/IPs2b5ip8E/c/q9MM/6tYG73njY/T7+ee3+Dy7evSPfnVpPz7dueuVbz+OHiExQStYPqAHVPFhKdPn6Ja9VrYOaGpD6D0jymU7bEQO7dvQcKECQ2ZMIsJ+mBmMUE9VxYT1LPjnkxATwIsJuhJVzvbLCZ4xtJ0MeGtmPJ9vvyXwB9HjrGY4L/hjzNzU8UE8mb9+vXYtPJnjG2n77m1HHPPCXwxfSdqf9wS1av/d/yO51bjt8Bigj6EWUxQz5XFBPXsuCcT0JMAiwl60tXONosJnrE0W0yo8mZhzybAvb2ewNbjJ1hM8PooajcB08UEmsrvK3/F1rXLMPbTytrNjC1pSuCLqX+gZr3GqFW3vqZ2nRlr07o1+tUvhELZ0zpr6vX3/zx5FT/9eRPfTfpe97nQeeyVq1b3m6qg2euP4Gn6t9Gxw6cesx0yeDDKZX2GWiVze2zL6gau3X6ELj/swLLly6zuKvvHBHjPBC95BlhM8CxQZosJlQsW9GwC3NvrCWwLD2cxweujqN0ELCEm0HQ2bNyEYcNHosuHxZArc2opeeRTHrQLtLuW6NSG8Iu3EXH9HkJXHMSIYYNRvfp/Z/i6a09t+5EjR6JoqnsILpdPrQmv6Td341E8TFkYXbt2NsTnpk2a4qtm7yJvVt8/Mq3vzF2o07gdqlSu5DHbhT8tws3jW/FZA312tPbYQQ0NbPv7IlYff4yxY8dpaJVNMQF9CHBlgj5ctbbKYoJnRE0XE/Ll92wC3NvrCWw7c5rFBK+PonYTsIyYQFN69uwZ5s6dh2NHDuPk6bO4ffe+djM10NLtWzfxOOoR0qRNj2TJkxs4snZDpUuTCgXz50XRom+jdZvWhu2RoJzB0mXLcfavdej7SQntJmdRSwPnhKFa/Rao/t5/xxvp6erQIUNQKvMT1CmVR89hLGE7eNhv+HHadGTJnNljf/bt249ZP4zHD119v5Jq6u9/I9EbQWjXtrXH3NgAE9CbAIsJehPWxj6LCZ5xNFtMqJTb939n8CxCvt97+7mzLCb4fphdnqGlxASXvbZ4w+bNm2PhwoWYP38+6O98qSdw/sJFfDd2JMa39v1vgTv9uAffjB2PwEBjKgU2bdqC42Fr0aOOb3/LcOnmQ0xYdwHfTtDmONPnz5+jU4cO+LFTKSRKmED9w+0FPUMWHUGjVp3wVlHecMsLwuX3LrKY4B2PAIsJnsXJTDFhbtdv8W7ajEhs0CbcnpHi3noQePLiOQ7fuYmWoZ/rYd4tm2a+C2456uONWUzQIcAsJmgLdeHCn3HzVBg+q1dUW8MWsjbs5wMIqloPH3xQx1CvBg4chGp5EqD6u9kNHdfIwT4ZtQ7jxk9Ezpw5NBt2164wLF0wHRPal9HMptUMzd18Cg+T50HXrl2s5hr7wwTsEmAxwTseDBYTPIuTmQnUpklLkeLiXaQOCPBsEtzbawncjX6MqJxp8V63hqbPwcx3wfTJW8gBFhN0CAaLCdpDbd+uPRqVzoiaJXJpb9xki4u3hWPv5dcw7ltz1qWXq1gFG7/5BMkDXjeZhPbDD1vwJ3IWq4TWrVtpbnzEiBHIiEh0rPO25rbNNnjwTCRGLj2Cpb8sMdsVHp8JuEyAxQSXUZnakMUEz/CbmUDdi7yNVcNmIygwg2eT4N5eS2DvnetoMKI9UqY3poo2PlBmvgteG0AdHGcxQQeoLCZoD/XVq1fo3KkjSuVKgbY1C2k/gEkWJ638G9efp8RXo742yQPg8eNo1KhVG4Obl0PNEjlN80PLgel56TMrDOWr1UaDjxtraTqWrQljx+DJrQj0/+Qd3cYw2vDi7aexeMdZLF36CxIk8O1lHEaz5fH0JcBigr58tbLOYoJnJM1OoG6euojfx/6E/CkCkSxhIl7y4Fk4vaL30xcvEPX8GU4/uoe6A1siXe4slvDb7HfBEhAs4ASLCToEgcUEHaD+a/LHKVNw7EAYKhZOjwJvpEXBN9IiaZJE+g2oseUHUU8Rfuk2Tl26gxV7IlCvQUPL7Kvx5aBByJDoAXJnCPiXbRrQP9Tect24F4VTF+/g8s0H+PbXfRjzzUhUrlRRd/eXLVuO6dOnoUW1gsiXNQ0KvJEGgSm8pwT0ybMXOPXvM3no/H0EZiuAL3r31p0bD8AEtCbAYoLWRPWxx2KCZ1ytkEDdv34Hfy7ciKtnLiL68RPPJsS9LU8gIGkSZM2fHaWb17RERYIAZoV3wfLBM8BBFhN0gMxigg5QZSaPHz+BNWt+x6nwcISfOYccWTMg8uZdTQelb7a1TqRzv5EJZy5cRcF8eVCgYEF88kkjZMuWVVO/PTW2ecsfCNu9E6fCT+Pilat4PZH2Qg2d2vL669ouqSiSPwdORVxBgX9PIGnXrq2nKNzqf+v2bfy08CeEnzyBU2fOoWDurAg/d9ktG84a6/FMpk6RDNdu3kGBvLlRoEB+VH2vOkqVDHLmCt9nApYkwGKCJcMSxykWEzyLEydQnvHzpHfVqlWxdetW6U/lyr5/opMnrIzoy++CEZSdj8FignNGbrdgMcFtZB51uHPnruaJf5UqVbBy5UqkTp3aI9/knV++fIG0adNqZs8IQ3fv3tN0mClTpuDevXvo37+/pnapgELLWHnq3O07d5DgNe2WCFy8eBH169fH/v37PXUtVv9Xr14iTZo0mtpkY0zALAIsJphF3r1xWUxwj5eyNSdQnvHzpDeLCZ7Q074vvwvaM1VjkcUENdSc9GExQQeoBpqcM2cO2rRpgyFDhmDo0KEGjuzbQ929exe5c+eWJnnu3DnDjsD0Baril+/Zs2eD/s4XE2ACcQmwmOAdTwWLCZ7FiRMoz/h50pvFBE/oad+X3wXtmaqxyGKCGmosJuhAzTomc+XKhfPnz0vJLie92sWFhJlhw4ZJBlmocZ1rRESETYShZ5OeSb6YABNgMcFbnwEWEzyLHCdQnvHzpDeLCZ7Q074vvwvaM1VjkcUENdRYTNCBmjVMiqoE4Q0nvdrERVQl0H/pYqHGda7iF2/Rg6sTXGfHLf2LAFcmeEe8WUzwLE6cQHnGz5PeLCZ4Qk/7vvwuaM9UjUUWE9RQYzFBB2rWMCmqEoQ3nPRqExd5VQILNa4zlVcliF5cneA6P27puwRoA7R33nkn1nIpR2ICtaWL9sLhy1gC9uLkSEygf+9IcKa48uWYACdQ5j0dLCaYx97eyPwuWCMeLCboEAfeM0EHqAaYVFYlcNKrDXRlVQInxa5zVVYliJ5cneA6Q27pmwQoSaVNSXv16oXPPvtMEhWUYgK1oaVVBw8eBCWq1IYvYwnYi5NSTKDYUJyWL1/OcXIhPJxAuQBJgyb0JQgJkHIR0p6YQL/jfPfddwgODmYhTAPu7pjgd8EdWvq1ZTFBB7YsJugA1QCTyqoEMSRXJ3gG315VAifFzpnaq0pgIcY5N27hPwTol/xt27ZJIkHPnj1x/PhxLFmyBIMGDcKuXbuk49vo4uVq5j4TyjiFh4fj559/xrhx43D06FGQkM9xcj1GnEC5zsqTlvTvB4kH9PzSvyH0X7mYUKxYMUlEmDhxIujv4t8bT8bkvu4R4HfBPV56tWYxQQeyLCboAFVnk46qEsSw/MuougA4qkrgpNg5T0dVCSzEOGfHLfyDgPhlX8w2ceLEePr0aazJ05GxXJVg7vPAcdKWPydQ2vKMz5oQwqgN/Z1+pzl06JB0qtKKFSukn+n6448/eBmVcWGxjcTvggnQ7QzJYoIOcWAxQQeoOpt0VJUghuXqBHUBiK8qgZNix0zjq0pgIUbds8i9fJOA/Jd9ezNkIdgacec4aRcHTqC0Y+nMklIIs9e+cuXKXJXgDKRO9/ld0Amsm2ZZTHATmCvNWUxwhZJ12sirEuhbrLJly2LdunWoXr06Tp8+LR0TSRf/UupezJRVCU2bNpVKW5MnT46goCCpPJku3lAwLld5VULOnDmRI0cO7NixA/Xq1ZO43bt3T+rEeye490xya98jEN8v+1yVYJ14c5y0iwUnUNqxdMWSMyGMqxJcoahPG34X9OHqrlUWE9wl5kJ7FhNcgGShJpTMUuJLa27pz9y5c6X/9ujRQ1oPR2IDfcNOCdy5c+d4Ey8XYyeqElq1aiXxo+qONGnSgH7BJ970yyV9TskxJ8X/QRVVCSQiEB8SFtq1a4dZs2ZhxowZaNiwobRGk/4QT3om+WIC/kzA0S/7LABb66ngOGkTD06gtOHoqpX4hDCuSnCVoj7t+F3Qh6u7VllMcJeYC+1ZTHABkkWa0Jo3Wv9G4oHY6ZsEBLmYIFwVm0RRcsdX/ARILKBEmDiSWEMXfSYXE4QF+h81sRV8/Z0tcSNm8udMLibQ3wVPEhToGDXa1Z4vJuCvBOz9ss9VCdZ7GjhO2sSEEyhtOLpjxZEQxlUJ7lDUvi2/C9ozVWORxQQ11Jz0YTFBB6gGmnQkJhjogk8O5UhM8MnJajwpe2KCxkOwOSbg1QSUv+xzVYI1w8lx8jwunEB5ztBdC/aEMK5KcJei9u35XdCeqRqLLCaoocZigg7UrGOSxQR9YsFignquLCaoZ8c9/YOA/Jd9rkqwbsw5Tp7HhhMozxmqsaAUwrgqQQ1Fbfvwu6AtT7XWWExQSy6eflyZoANUA02ymKAPbBYT1HNlMUE9O+7pPwTEL/tclWDtmHOcPIsPJ1Ce8VPbWy6EcVWCWora9uN3QVueaq2xmKCWHIsJOpCzhkkWE/SJA4sJ6rmymKCeHff0HwL0yz7tH0KbmIo9cPxn9t4zU46TZ7HiBMozfp70FkIYVyV4QlG7vvwuaMfSE0ssJnhCz0FfrkzQAaqBJkNDQ9G9e3d06dIFkydPNnBk3x7q2rVryJIlCzJlygT6O1+uE6ATMebNm8enXriOjFtqTODGqcV4eH0fXkv4Oh7f/Udj6/5jLllgXrx88QwpMpVEhvyNNJ/4rXO/48G13Xj18hmi78cca8yX+wQCUuXEawkSI1Xmckibu477BnTswQmUjnCdmBanUNF/+TKfAL8L5seAPGAxQYc4sJigA1QDTS5cuBAUw+rVq2Pjxo0GjuzbQ8mPPKS/8+U6gXLlyiEsLAx0+khwcLDrHbklE9CAwJk/uiD9GyWRJEVGBCTPBPoFji91BF69eonoh9cR/SgSNy/tR/6q2gnWEWGDkDJNTiRNmQkBKTIjQYJE6pzkXpLgE/0wElEPruLR/avIWXqYZahYIYG6e/UW9q3YjisnziP6YZRl2LAj+hAISJEM2d7MhaAGlZA6U1p9BlFh1Qrvggq3fa4Liwk6hJTFBB2gGmhy/fr1eP/996Vv0a9cuWLgyL49FIsJ6uObIkUKPHr0CDt27ECFChXUG+JL6wH1AAAgAElEQVSeTMBNAqf/6IKs+Wsgeeocbvbk5s4IPLxzDpHntiFv5e+dNXV6n4SEwAwFEJipqNO23MA9Anev/Y17t84iZ5kR7nXUqbXZCdTNiKtYP+kXvF21JJKnToGA5El1mimbtQqB6EeP8ejeAxzashd1ejVBuhyZLOGa2e+CJSBYwAkWE3QIAosJOkA10OSNGzeQMWNGacQHDx6AEjm+PCfAYoI6hmJ5CP1P886dO6Cd6vliAkYQuHHmFyR69RhpMhcxYji/HOPOtSN48VpKpM/XUPX8b51bDTy5jHTZglTb4I7xE7h58S+8liwn0uUyf8mDmQkUVSSsHrsQVZu8z4+MnxL44+e1qDegJVJlTGM6ATPfBdMnbyEHWEzQIRgsJugA1WCTpUqVwt69exESEoLhw4cbPLpvDsdigrq49u/fH6NHj0bFihWxfft2dUa4FxNQQeDczj7InLcKkqbIrKI3d3GFwOMHV3Ht3A7kLj/aleZ220SEDUTGHKWRLNUbqm1wx/gJRN27iOsX9yFX2a9MR2VmArV5ynJkyJQB6bKkN50DO2AOgZtXbuDWjVuo1qm+OQ7IRjXzXTB98hZygMUEHYLBYoIOUA02uWjRIjRt2lRaG0wb7VSqVMlgD3xvOBYT3I8piQe0e/SrV6/wyy+/4OOPP3bfCPdgAioJRIQNQM4iDXmPBJX8XOlG7/b5o8uQq9woV5rbbXNuVx/kLPox75GgmqDzjrSHwvljvyJ3+bHOG+vcwswEal6PCShftzKSJAvQeZZs3qoEoqOisXv1drSc1NN0F818F0yfvIUcYDFBh2CwmKADVBNMli9fHrt370bSpEmlCoUBAwaY4IXvDMlignuxnDt3Lvr164fIyEjQBoy7du1yzwC3ZgIeEjixtjEKV+jroRXu7ozAiZ1jULj2YmfNHN7nOKlG51ZHT+Pk1mDxNDYzgZrWdhTqtKqn1VRMs7P3yEF81L2lbfxJg75Ggxp1pZ//uXAOXYb3wfEz4bH8i69N83qfYEjXmH8rh00eg49qfIiSb70r/SzGWvb9vFiffTd/Kr4f9A3SpA40jYPagdfMXYUOswaq7a5ZPzPfBc0m4QOGWEzQIYgsJugA1QST9+7dkzZi3LNnjzR6rly58M0336BEiRLIly+fCR5595AsJjiP35kzZ3Do0CEMGzYMR48elToUL14cmzdvRmCg9/3C4XzG3MLKBIxOUm/dvotm7UOwflOYhKVj248w4evPkTRpAJT3BLfhgzohpF976Udlm1rVy2LhjBFIlzYQI0bPQJ5c2dCscW2pbfjpCDRuPRB9erSI9VmPvuMwaUxvFMyfy7DQeJqkcpyMCZWncdLKSzMTKBITajePSbq99dp79CBCJn2NySFjkDd7LkQ/icawH8ai1FvF0aD6B/jnYgSGhH6DYd36S/fpunPvLkK+/xq9WnWWfu46oi9G9BiAkkVjBAMSBq7dvI4hXfpg6pK5yJHlDckWXcs3/Y5NYdtQIFdefNaio+2zC1cv2X72NpZrF6xmMcHbgqajvywm6ACXxQQdoJpocuzYsfjqq69w//79WF688cYbyJkzJxIl4uO3EiZMKG1aSSdgZMuWDcSGkuD8+fPbmDkSE06fPo0DBw7g4sWLuHz5Mq5evYrr16/j5cuXJkbduKGfP38OYkNzl1+08SdVwwwcaL76bxwNHslKBIxMUoUQ0KJxHVtyv3DxWuwIOygJClGPoyWhIaRvO5Qv846E6fHjaPQaMB4tmtRBoQK5pPvK/vMXr5EEhXUbw3A24rJNeNi15xCGj56BYkULYNjADpJgQZ/NX7TGJmAYFQtPk1SOkzGR8jROWnlpupjQNEaQ88ZLEg5+/Balir6LBu/9t5kmCQgT5k/FiG79cPveXQz5YSyGdeljExNEv4/+FQgmLZyOSf1HIk2q/7N3LnA2lP8f/6yUO+tS7vcKUXIplXuF/JNE4ZdIKHIrJaXcFSVRiBRRqFDy20pU7oRSqF8XuSeUsIvF5rb/13e2WbPjnD1zzs4zZ2bOZ14vL7vnPPN9vt/3d87seT7zfZ4nTeTXBIh/zzlyLAkLvvoMQ3s8qb037t03ULvq9UhYsUSzL+e8Nuct3HL9Dbihatq9zGvH5+9/TjHBa0lT6C/FBAVwKSYogOoCkzNmzMAXX3yhTX34/fffXeCR+12QbQxHjRqlLR7466+/okqVKqhUqZL285dffqktbrlmzRr3B+KQh6VLl9amNDRp0gT333+/NsWGBwlEi4CTg1SjcCADezkCiQVGMUHa6BUHtWtWgbmqQBco5JwiheMxbPSbmDR2QHqlwnXVrsIHHy3BsIGPaJUI4oMcevWCU9yzOkhlnpzJVFbzZJeX0RYT7mjbzK5QHLez44/dGDZlLIY92h8VSwWuPgrUxvhaofzxeGzMYPydeBiTBo66yE7isSS8/M5kPPVgTy0++blP+66YkTAX7Zq1hJw/ZPIYPP7AI0F9cBxMmB0unreEYkKYzPzcnGKCguxSTFAA1WUmT548iT/++EN7gi5PlmP9OHfuHPbs2aM9YZf/f/jhB61cXz+mTp0K2SGjRo0aqF69Om644QZMmzYt/X0ZQIvIIFNJpNpDBtXZsmWLCaxS2VK0aFGtoiN37twxETOD9AYBpwapumhQ/+YaQQfyRmFAr0wwvlazemWtSmHq2wuw5otp6dULOmnpY+ioN9G1U0uUKVUs/ed5C77CrQ1rQz9fqhx0+05lKauDVObJmUxlNU92eRltMaFZmyZ2heK4nR1/7MGr772FET2eQsH8gbdZljZ9XnoWP+/alsG/D8e8hdrXVE9/beGKxXh87BDt92vKX4WJT4uwUFabNjFy2qu4p3FaBcfXP2xE3/ZdIe3luPbKKpj3RQL6dXgYOXN4cyHLJR99STHB8avXvR1STFCQG4oJCqDSpOcILFq0SCvTF2FBDllMULY4LFCgAGQ9CjluuukmjB07FrLYJQ8SIAF3EXB6kJrZQD7Ymgmz3xqZQYCQqQr1mqatoSCHUVgwVjFMfzdBm97w/ZZfsWzlRvR8+F48N2IyXhjSU6tccPLI6iCVeXImW1nNk11eRl1MaHWbXaE4bmfHvj0Y/tY4DH34CVQsWTZg/1bamE/c+MsWTJw7A68+MVwTKRauTBMO5Ch1RXHUrlId0ubrH77DLdfV0v7v266L4/Hb1eGShUspJtgF0wd2KCYoSCLFBAVQadKzBPr3749XXnnlIv9Hjx6NZ555xrNx0XES8DsBpwep4VYmhOIviywapz6I0CDCgVQi7N5zQBMhpI0IC/ff1wzvzV+Svn5CKNt2vp/VQSrzZGc2gtvKap7s8jLaYkLTFo3tCsVxOyn//IORM1/DDVWqo1WDC9M1Eo8fxdj3pqL//d0h0xSGTR+PYV37oUIAwWHhqiWa3+bzh057BY+37aqds3PfHnz29TIknzqJdre10F6TPmYvXoAi8YVwVenyqF35Osfjt6vDLz5dTjHBLpg+sEMxQUESKSYogEqTniYgizFu2rQpPYbbb79dWzOBBwmQgHsJODVIFQKB1kyQ16WaQAb/+gKL5jUTdHq6UKDv7CCvG9dckKkLUt0w+a0PcTz5JO6+s4E2nUHajJ0wG7J+QnLyScfXSxA/szpIZZ6c+QxlNU92eRl1MaF5Q7tCiYqdjb/+gCHTx2FSvxGoUKIMUk7/g5HvTECxgpejz72dsXP/7xg241UMe+hx7X3zEej9hau/wMerluDVvkNQMF8BTTgY+8GbyJsrD/q17Yqcl+XQ+nkr4X3N3APN7tHaefX44vOVFBO8mjwFflNMUACVYoICqDTpaQKy4OJ1112HM2fOQHZ+kJ0bZOcHHiRAAu4l4OQgNdhuDvpuDELJvJuDkVygNRVEYOj15BjMnTlKW2BRXzfh2PHkDNMZxr8+B8nJp9C29e2Obgmp+5/VQSrz5MxnKKt5ssvLaIsJTZrWsyuUqNnZuPVHtB3WO73/fvd1QZ/WD2q/i1gw/J0JGPpg34Bigt6mz4Th+GXPdu2cBtfdiPG9B2UQCCYueEd7T7crP/93zZf49tcfMKhTb01g8Orx5RdrKCZ4NXkK/KaYoAAqxQQFUGnS8wSuvPJK7NixA7Ll4fHjxz0fDwMgAb8TcHKQKizN6yI0u/1mbVtHWcMgkFhg5m8+v/q1V6cLCXrbQBUQIjqMHDM9vS+n85rVQSrz5EzGsponu7yMuphw2y12hUI7HiXw5dKvKSZ4NHcq3KaYoIAqxQQFUGnS8wQqV66MrVu3Il++fDh27Jjn42EAJOB3Ak4PUv3OM1h8WR2kMk/OXDlZzZNdXkZbTLi90U12hUI7HiXw1Yr1FBM8mjsVblNMUECVYoICqDTpeQJVqlSBTHeIj49HYmKi5+NhACTgdwIcpDqT4awOUpknb+TJLi9la+V169ZBthV2+nizyyjcVv9Gp7tlfy4jsHT1N1EXE2Rb9ptvvhnffvuty+jEnjsUExTknGKCAqg06XkCemVCoUKFcPjwYc/HwwBIwO8EOEh1JsMUE5zhnNVespqnrPavn1+2bFmsXr0aZcpcvDigXX0Es6OJCbfUVt0N7bucwNKvN0ZdTNizZw8aNmyI3bt3u5yW/92jmKAgxxQTFEClSc8ToJjg+RQygBgjQDHBmYRndZDKPHkjT3Z5edNNN+G1115DnTp17DJp2Y6ICbfWqWm5PRv6k8CyDd9HXUxYv349+vXrp1Xp8IguAYoJCvhTTFAAlSY9T4BigudTyABijAAHqc4knGKCM5yz2ktW85TV/vXzW7VqhYceegh33323XSYt29HEhNrVLbdX1TDh2xV4cubYdPMfPDEGtSpeE3F3sm3jCx9NwwdrPkenRnfhyPGjGNK2BwrmzR+WzWB+6fZb3dhYsznxs/cisi/OJCYfw4h5b6DPnfejQtFSYflnV+NlG7dEXUxYsGAB5syZg48++siusGgnQgIUEyIEl9lpFBMUQKVJzxOgmOD5FDKAGCMQqZggOyY88PDgdFprvpiGujddHzE92dKx38BxmPr2AvTt0R4HDx3BpLEDtF0ewjmC+aXb79j+/1CkcDyGjX4zIvvii+wo0bv/GAwb+IjlbSazOkhlnsK7DqKVp3Cu1czaPvroo6hevTp69Ohhl0nLdkRMaFzjWsvtVTRM2LgC//12BcZ2egIF8+RH4olj6P/uOPRs1ha1KkQmKIiN8Z/ORr8WD2g2Izky86tqqYoY9fF03H1Do4h91H0SX0fMn4o+zf8TNTFh+aYfoy4mvP766/jll18wadKkSNLFc2wkQDHBRpi6KYoJCqDSpKcIdOvWDbLi9FtvvZXudzAxQdrKMW3aNE/FSGdJwO8EIhmkyoB91txFYW3pGIqjDNCfGzEZLwzpGbaAoNvOzK+a1StrYoWICVkRPaI1SGWeQl1BF78fDdEnfC8DnzFy5Ejt7+ugQYPsMmnZjiYmXFvVcnu7G2rCwezx6Nm0LWqVr5Ju/rtdv+C/G1fg2VZdtNdGLXwbH6xbov38fp/RWtudB/dh4pIPkC9n7gzvVbiipGZz9dZNqFyiPJ68syMWblyOIa0f1oSFhO9Wov+c8dp79Spdjzw5cqFX07YZQgvl1xN3PoBxn83G3bUbaTbFD92++P6fiQM1e+1vbpYhhqIFCuO1xe9p7z12x/3o2vju9NjEn1c79Yf47/Sx/Mefoi4mDBs2DDly5MDAgWnseESPAMUEBewpJiiASpOeIiAL45QrV05bbbpz586aqGAWE0REeOeddyAr8soCOrKoFA8SIAH3EAh3kCoDtA7dBmPwgK4ZBuVr12/GrA8WYfzoJ7Tg9CoD+VmvWti6bbdWEVAgf16tAkF/r/LV5TSbS75ah+rXXo0Xh/XCO+9/ll45oFcbyHtNb70J+fLmxuCn0wRK/Qjl16ghvfDsiNc1McFcmSC+12uaZq97l9YZYihZ/AoMeeEN7b0Rz/VA/74PpMcm/sydOcpSdYLTlQmheDBPgT+DWc2TXZ/szz//HBMnTsSiRYvsMmnZjogJja65MIi3fKJNDWXgPWXpfLz8n34omCdfQKuTv5qPv44exsCWD+GnP3ZixMK3ML7Dk2n3njmvoGvDVmhZswGM7U6dPo2RC99C7ybttHaTvpyLwa0e1qoeXvjvdDx3d1dNBHjq/fGoWa4Ket5+X4a+Q/mVcuYfjE6YgZY1G2p2AtkvUbCI1kYEhC4NW2o/y2GOQ87XfY2GkCA+rfj5l6iLCU2bNsVTTz2FJk2a2HR10UykBCgmREouk/MoJiiASpOeI9CoUSOsXLlS81tEhTx58uDo0aO47LLLcP78eU1EkENW412xYoXn4qPDJOB3AuGKCTLwHjlmenpVQiA+I1+ahn0HDmqD8u+3/IpeT47RBt1ytOv8LJ7q2xEd2jWHsd3JUynpUweknT4N4dDhJPQdMBYTxvTXRAARHerWqX6RmBDKr2DTHIz2y5QqpgkFIiDoooH4Yo5D/HD7NIdQPCQu5uniq9ctYoJ4dumll+LUqVOObw8pYkLDSpWiduv7fvev+O+mlRjYojNyXprjIj+0QfunM3F3jYaoWa4y9N9rl6uCaqUq4vmEtzGoZReUv7wkjLZETHg+YRp6355WcTDpq3kY1LIb1vy2CXuPHETP2+7VXv9k06oMv+sOhOOXiCBG+xt3/5Iej26nX7P7MX7JexC/76rRAIknjqf7F587f/rPEkc0jpVbt0ZVTEhJSUHBggW1zwCP6BOgmKAgBxQTFEClSc8R0KsTQjnOqoRQhPg+CUSHQCRigl6BkCtXzoucNg7aZTqB/nv9m2ugds0q6cJApavKwVjNEExMWPzlOuzcvS9dPJAqBePvugNGW6H8MlYmiP3V6zZpgoGcp9vRKxnEbxE+jCXzXhETmCfnRR87P8Vt2rRBhw4d0Lp1azvNhrSliQlXXhWynaoG3+/5FZOXf4SX2/ZFwdwXVyYknjyOp+ZNQM/GbVCzbGXNjcnLP0TpgkVRrWRFTFo2H4Pu6qKdK7b+u3k1Bv7fgzh15h88/8nb6H1rWsWB3u79DWlTJXo2/ldM2LwaexP/Sv89XUwI4VfKmdMYvegd3H19fRTMnT/d/prfNuOp+RMz4Kp3VXU8f08PTFmxQGsvcUhcun/xefKl/1z+8hKqUGdqd+X2bVEVE+bNm6ctvDh37tyoxM9OMxKgmKDgiqCYoAAqTXqSgLE6IVAArErwZFrpdIwQiERMyKwyIVB5vTwBr1CupCYmGBc+tCImTH7rQy0T+rSGzMSEzPwKVpkgYoJxIUnpq9ntN2PapEF4fsz09DUWvCgmME/eFhNkiuDy5csxc+ZMR+9GIiY0KF/B0T6NnSWJWPDhJDzaqDVqlrlQIbHr0H589N1ydKt/N1796gO0lEF4mUqQQfyLn7+LWmUro1rJCpi0/CMMvrMz4kVM+H0rEjavxjPNO2kVDCM/m4nejdukiQn/tlu9bQv+SDyo9SfHJ1vWZPhd9y0cv0TICGZft6f7rcch9nX/5Hz95/JFoiMmrNq1M6pigoyzmjdvrglqPKJPgGKCghxQTFAAlSY9SSBUdQKrEjyZVjodIwTCFROCzcWX9RCmv5uAZ/o9mL42QaDKhHDFBKuVCeH4Za5MCFTpYK6w8JqYEA4P5unCh91N0xwSExNRsWJFHDlyxNG70Tu9XkGNQlfgsksucbRfY2ef/LAWCT+swcute2qigDaQXzAZLa+rh7uuq4spKz/GX8cT8UyzB/DzgV0YuWgmxt3bJ00kWLkAg5s/eEFM+GGt1k4TEz5/B70bpokGejupCHhh8bt47o5OWjWD9FOz9NV4tOE9F8WfmV9NqtyAF5fMRsvr6mp2AtkXYUD3/fFb2+LVZfO09iKKaGLCv/5pYsK/P0dDTPjn3FlsSTyETpPS1sCJxpE/f37s27cP+fIFXjcjGj7Fcp8UExRkn2KCAqg06VkCwaoTWJXg2ZTS8RghEK6YIFiC7ZrQsd3/XbQWgnnNhHDFBKtrJoTyq3XLxum7ORjFBKN9mXqhryNgXLBRBtteExNC8TCvWcE8pX3g3SQmiD9du3ZFly5dULduXcfuSF9N+BB59yahQM6LpzE55oRUCPz4NZ7+75T0Ll+6+1Hcde0t2u/aU/0v52De98u032c/OFgTAHYdPoDXVy3AoGad0sSEvb8h4ce1eKZJB01MeH7Ju+jVIE1MMLbT+6pX4VrUrXgdTp5OwaP1WwUMN5hfuk8tr00TE8x+PPDOSM2e9DGm1aPaehASg7QX30VM0P0rnr+w9t4P+7bjlda9Ub5wcSfRIynlFE6WLYTbeqdVcTh9rFq1CrNnz8abb77pdNfsLwgBigkKLg2KCQqg0qRnCQSrTmBVgmdTSsdjhMCedQNRpmprxMVlCytifYcF/aTZb43UhAQ59Kf6xh0bZECu7+YwaewAbftHK9McpJ3el0w/aHbbTUhOPnXRAoy6H8H8CjbNQfdD381B+pgzbSRy58qZYStJo5igL9S4/tv/WdrNITX1PH7/6WOUvTltEcpIjkhEH+mHeRoHq3kSXm4TE7755hv06dMHGzZsiOSyieico38dQcLwGagdf3lE53v5JE0QWPoeapW6GndVSxMuYvH4NvEg7hnZDfmKxEcl/Fq1amk7hNWsWTMq/bPTiwlQTFBwVVBMUACVJj1NwFydwKoET6eTzscIgV1rn0Kx8o2QK18x10dsXMxRFy5c77SIK8cP4M9dq1C+7piI3d21pj/KVrsX2S65NGIbTp3o1TydP3cGe/73EcrXe9kpVJb6kQUYO3bsiHvuubjs3pKBCBod+m0vPnv5PVyVNx65L8ke1SkPEbgf1inf/7ENHd+7IPT1rncPHr2lZVg2/ND49LlzOHn2DLadOIoWz3ZC4fLOVkPoDOfPnw/5Jwsw8nAPAYoJCnJBMUEBVJr0NAFzdQKrEjydTjofIwT+3jYf2VOPo2Dx6q6MWKoX9KoBcXDEcz2CViW4MgAAiQc241y2eBS5MvKS4d3rnsMVpW9E7gKlXBmmH/J08uheHNy7EeVuft5VjLdt24Y777wTv/32m6N+HTuYiA1zvsSB7XuRcuofR/tmZ84TyJkrB0pcVRp1HmgatYoEibpChQpYunQpypcv7zwE9hiUAMUEBRcHxQQFUGnS8wSqVauGn376CYULF8ahQ4c8Hw8DIIFYILB9RW8Uq9AIeQvyy5vd+T5+eAcO7lmLig1fy5LpI7s+w/mUP1CkVO0s2eHJwQn8vfcbXJK7HAqVS5uu46ajW7duuPnmm7U1FHioJSAPQoYNG+b4Lhpqo/KG9alTp2LTpk144403vOFwDHlJMUFBsikmKIAaRZOpqamIi4uLogf+6HrixIno27cvWrRogU8++cQfQUUxCl6XUYQfY13vWNkHhUrUQs48RZAzbzHeD7OQf1kjISX5L6Qk/40jf25GxQZZExJ0V/ZsGIoChcohvth1WfCOpwYicOTAZiQn7UOZG4e4EtDhw4fRqVMnfPbZZ670z09Ode7cGbIt565du1CuXDk/heb6WGQryPfffx/x8dFZq8H1gKLoIMUEBfApJiiA6rDJ9+fOwzfr12Hb9h04c/oMko6fcNgD/3V34kQy/jqwDwULFUbBQkX8F6DDERWJz4+4S7Lh6quuRJ2bbka7tvc57AG7iyUCh7Z/jON/rUdctktwKmlHLIVua6y5C1bE+XPnka/YTShSMfCK8JF2uGf9YOTJXxy585fQRB8vrKEQaayqz5M1ElKS/8SJo3/gVPJhlKkzVHWXWbK/fPlyjBw5EsuWpe1gwMN+AlKVoJfXP/jgg6xOsB9xUIsNGjTACy+8gPr16zvYK7uySoBiglVSYbSjmBAGLJc1PXr0KHr16o0WtUqgdKGcuKpkPK4omMdlXtIdEkgjcDDxBH7bl4i9h1OwePNfmPT6JO67zIsjZgkkJSXhoYcewscffxyzDA7v+hTH/1yH1PNnkHJsT8xyyGrguQqUBeIuRf7it6BQuTuzas6R8ydMmIAdO3bgtdfsqXZxxGkPdaJXJeguszrBmeT16tULVatWRc+ePZ3pkL2ETYBiQtjIQp9AMSE0Ize2OJp0BE8/2Q9PtKyCq0sVcqOL9IkEghL45ffDeO3TX/Hy+InIlz8/SZFAzBGQuczDhw+HPKWVHWR4uJOAPOFt3LixVirOw14CDz/8MOrUqQNZR4GHfQSMVQm6VVYn2Mc3mCVZH2HLli2YMmWK+s7YQ8QEKCZEjC74iRQTFEB1wKTkbch91SgkOMCaXaghIILCiwu34p13ZqrpgFZJwKUEpCpBSpDlfxESRFDg4U4C+hPeGTNmQH7mYS+BO+64Q9suskOHDvYajmFr5qoEHQWrE9RdFHJ/+Oijj/Dpp5+q64SWbSFAMcEWjBmNUExQAFWxSVnUJe7AZrRvWFFxTzRPAmoJvLdyB7KXrIm27dqp7YjWScBFBPSqBN0lVie4KDkGV4xPeGUBO1YnqMlTkyZN0LZtW0ilAo+sEQhUlaBbZHVC1tgGO1sqEkREoJCghq/dVikm2E0UAMUEBVAVm+z3WB/cW7MQ6lYrqbgnmicBtQRW/bgXCVuOYex4zptVS5rW3ULAWJUgW8/K6vasTnBLdjL6YX7Cy+oEdXl65JFHkDNnTshaCjwiJxCsKkG3yOqEyNkGOlPWSDh//jynNtiLVak1igkK8FJMUABVsckWd7XE24815mKLijnTvHoCfyWeQLfXluOTTxLUd8YeSMAFBPSqhCuuuAIHDx5E7ty5cfLkSa6d4ILcGF0I9ISX1QlqkyRbMi9YsIDTfiLEnFlVgm6S1QkRwg1wmuza0L59ey62aB9SRyxRTFCAmWKCAqgKTaampqJ58zux+AV7t+lS6DJNk0CmBJo99zEWf74IcXFxJEUCviZgrEq4/S6scewAACAASURBVPbb8dVXX+Gee+7RdnRgdYK7Uh/sCS+rE9TmacWKFRgzZoz2ueC0h/BYG6/ZsmXLapUeW7duRbNmzbBkyZJ0Y6xOCI+rufXUqVOxcOFCPPvss9z+MWsoo3I2xQQF2CkmKICq2GSdWxpgw8QHFPdC8yTgDIE6fWZjw9ernOmMvZBAFAnoVQkNGzZEqVKlMGfOHMh826effhqy1S/XTohicgxdZ/aEl9UJ6nN05MgRPPPMM1i2bBleeukltGnTRn2nHu9Bv2ZFRJD7jAgLIlCuXLlSu6/IdSuvv/POO2B1QmTJnj9/vnavbtq0KV588UXEx8dHZohnRZUAxQQF+CkmKICq2CTFBMWAad5RAhQTHMXNzqJEwFiVIF/up02bpokJs2bNwvbt27VtIlmdEKXkmLoNNe+c1QnO5GnHjh3a4G3Pnj0YP3486tWr50zHHuxFhAIRDIw7jhjFBH37WREdpK3e3oOhOu7yqlWr0K9fP1SsWFETt2QnHh7eJUAxQUHuKCYogKrYJMUExYBp3lECFBMcxc3OokRAymKldFuqEqSU2/i3t0WLFtpAQI7Nmzen/xwlV2O6Wyvzzlmd4OwlsnHjRkhp+bx589CyZcv0fzly5HDWEY/1FkhM8FgIUXE3JSUFCQkJ6f9kXYQePXqgZs2aUfGHndpLgGKCvTw1axQTFEBVbJJigmLANO8oAYoJjuJmZ1EkIANVqVC4/vrrL/rbKwKDvM7S2SgmCNCe7EopuBxSMl6yZEl8/fXXaNWqlVYuLtNR5GB1gvN5OnbsWIZBnghzN910E2Qx0xIlSqB48eLaP8lZ9uzZnXfQZT1STAiekLNnz2Lfvn04cOAA9u/fr/3/999/a5/11atXZxCt8uXL57LM0p2sEKCYkBV6Qc6lmKAAqmKTFBMUA6Z5RwlQTHAUNztzCQH+7XVJIgxuBJp33qlTJ20qiggM8lT81Vdf1f4VLFgQspAdj+gR+OKLLyBVCzIY1AeEMii8/PLLtdd5kEAwArVr19bEAxGfdCFK1rGpVasWmjRpQnA+JkAxQUFy+YVGAVTFJikmKAZM844SoJjgKG525hIC/NvrkkQY3Ag079woJsjPckh1iQgKUkkiFQs8SMCNBFiZ4Mas0KdoE6CYoCAD/EKjAKpikxQTFAOmeUcJUExwFDc7cwkB/u11SSJCuBFITPCG5/Qy1glQTIj1K4DxByJAMUHBdcEvNAqgKjZJMUExYJp3lADFBEdxszOXEODfXpckgmKCNxJBL8MmQDEhbGQ8IQYIUExQkGR+oVEAVbFJigmKAdO8owQoJjiKm525hAD/9rokERQTvJEIehk2AYoJYSPjCTFAgGKCgiTzC40CqIpNUkxQDJjmHSVAMcFR3OzMJQT4t9clibBBTJgzZw527tyJwYMHY+vWrWjXrh22bNmSwfLs2bPRoUOH9NfkHLkG9GPNmjWoW7euN6DQS08QoJjgiTTRSYcJUExQAJxfaBRAVWySYkJkgLfu/hPtnn0LT3Vsig7N66QbGTntM1QoWUR7bc7nG/DA4LczdNC9dQOMf+I+5Mp5mfa6tJdjcLc7M9j4aNn3mDvqYVQqVywyB2P0LIoJMZr4GA+bf3u9cQFYWTPBLCb07dsXEyZMQKVKlbQgDx8+jN69e0MWeJTXpL3sECH/Fy5cWHtfhAYRIygoeOO68IKXFBO8kCX66DQBigkKiPMLjQKoik1STIgMsC4mFCtcAHNGdkHh+Lzp4oBRTFi9aftF4sG+g0npr5nFBPnd+H5k3sXuWRQTYjf3sRw5//Z6I/t2iAmnTp1Cv3790LFjR1SuXDmgcLB27VpNYBg/fjxy5crlDTj00tUEKCa4Oj10LkoEKCYoAM8vNAqgKjZJMSEywCImDHvzUxTImwslr4hPrywwVyaYxYTDScnoMPhtDO76f6h7/ZUZKhOkksHcPjLvYvcsigmxm/tYjpx/e72RfTvEBJn6oFcrHDp0CCNHjkyvSvAGBXrpRQIUE7yYNfqsmgDFBAWE+YVGAVTFJikmRAZYFxOGd78LQ6d+gmGPtNCmJIQSE6Q3Yxu9MkGqGWYt2pChyiEyz2L7LIoJsZ3/WI2ef3u9kflIxIRAayboayKwAsEbefeDlxQT/JBFxmA3AYoJdhMFtAWA9Pl7xsWAFHRFkzYRoJgQGUhdTJg0oD0Wr/spvaJg7OwvM6yZEKjSwCwmDHkjQXOi2c1VKSZElo70sygmZBEgT/ckAf7t9UbaIhETzGsmGCMVMYGVCd7Ivde9pJjg9QzSfxUEKCYooMovNAqgKjZJMSEywEYxIXfOy9Bv3Hx0/L86WLZxa6ZiwqmU01rb+jWu1BZpFGFh7ZYdmogw+cOVXC8hsnRQTMgiN57ubQL82+uN/NktJgRbbFGmQkyfPh3Dhw/nmgneuDRc7yXFBNeniA5GgQDFBAXQ+YVGAVTFJikmRAbYKCbI4otrN2/HyOmLUK544XShINAaCJmtmWAWGiLzLLbPYmVCbOc/VqPn315vZN5uMUGiDrabgyzQaNw+0huE6KVbCVBMcGtm6Fc0CVBMUECfX2gUQFVskmJCZIDNYoJYkSoDmbIwe2SX9K0hw93NQd8l4vUB/9EWaOQRHgGKCeHxYmt/EODfXm/kUYWYoAsKxqmls2fPppDgjUvCM15STPBMquiogwQoJiiAzS80CqAqNkkxITLAgcQEvepApjvIFAapTHhg8NsZOujeusFFW0VKg8Hd7kxvp5+3ZtpTFBTCTA/FhDCBsbkvCPBvrzfSaEVM8EYk9DLWCFBMiLWMM14rBCgmWKEUZht+oQkTmAuaU0xwQRLogm0EKCbYhpKGPESAf3u9kSyKCd7IE728mADFBF4VJHAxAYoJCq4KfqFRAFWxSYoJigHTvKMEKCY4ipuduYQA//a6JBEh3KCY4I080UuKCbwGSMAKAYoJViiF2YZfaMIE5oLmFBNckAS6YBsBigm2oaQhDxFw699eWRxw586dGDx4MGSHgXbt2mHLli0ZyJrn98s5xvn/a9asQd26dT2UjeCuUkywJ428ruzhGI4VViaEQ4ttY4UAxQQFmXbrFxoFofrGJMUE36SSgQCgmMDLIBYJuPVvr3nQ17dvX0yYMAGVKlXS0iRbG/bu3RvDhg3TXgu2M4GIEX4QFCgm2PPp5HVlD8dwrFBMCIcW28YKAYoJCjLt1i80CkL1jUmKCb5JJQOhmMBrIEYJuPVvb6hB36lTp9CvXz/INoaVK1fWdiAwCwdr167FrFmzMH78eOTKlcvTGaaYYE/6eF3ZwzEcKxQTwqHFtrFCgGKCgky79QuNglB9Y5Jigm9SyUAoJvAaiFECbv3bG2rQJ1Mf9GqFQ4cOYeTIkVp1QuHChX2ZSYoJ9qSV15U9HMOxQjEhHFpsGysEKCYoyLRbv9AoCNU3Jikm+CaVDIRiAq+BGCXg1r+9Vua262si+KkCIdhlSDHBng8oryt7OIZj5cYbb8S3334L+Zzecsst4ZzKtiTgWwIUExSk1q1faBSE6huTFBN8k0oGQjGB10CMEnj44Ycxbdo0bT2CPn36uIZCqCfIRkdlkMLKBNekztWO8LpyPj358uVDcnIyfvnlF21KEg8SIAGAYoKCq4BiggKoik1STFAMmOYdJcAFGB3Fzc5cQmDAgAF4+eWX8dhjj+HVV191iVfQpiwYd3MwL8BodFQWYwy0ZoJMhZg+fTqGDx/u+TUTevXqhcmTJ2v/Hn30UdfkyWuO8LpyNmNHjhxJn3p08OBBXH755c46wN5IwKUEKCYoSAzFBAVQFZukmKAYMM07SoBigqO42ZlLCIwePRrPPvssWrRogU8++cQlXoUnJojTwXZzkAUaRWjw+vHCCy9g0KBBGDJkiCaO8IiMQDhiQixcV5FRtH7WN998gzp16qBQoULaDiw8SIAE0ghQTFBwJVBMUABVocnU1FTceeddWDSypcJeaJoEnCNw55AEfPJJArJly+Zcp+yJBKJMICEhAXfffTeqVKmCn3/+OcreXOg+3EGfPvCT7xL6MXv2bF8ICRLPjBkz0KVLF3Tv3h1vvPGGa/LkNUd4XTmbMakomjhxIu69917Mnz/f2c7ZGwm4mADFBAXJoZigAKpiky3uaom3H2uMKwrmUdwTzZOAWgJ/JZ5Atwkr8EnCf9V2ROsk4DICJ06cQHx8PM6ePYsff/wR1apVc5mHdEcILF68GM2bN0erVq3w8ccfEwoJuJ7A9u3btTUSzp07hw8//BBt2rRxvc90kAScIkAxQQFpigkKoCo2+US/fmh9fT7Uq1ZKcU80TwJqCaz6cS8SfjiBsePGqe2I1knAhQTkS/6CBQvQuHFjLFu2zIUe0qUffvgB1atX1+af//nnn8iePTuhkICrCTRt2hRffvklSpUqhT179rDqz9XZonNOE6CYoIA4xQQFUBWbnDt3Ls7vXY//NK6iuCeaJwG1BGYv/QmXlauHtm3vU9sRrZOACwno85rFtc8//xx33HGHC72MbZekcqRs2bLYv38/3n//fbRv3z62gTB61xKQa1Sm5CxZskQTEL744gvcdtttrvWXjpFANAhQTFBAnWKCAqgOmHzwgQ54pk01VClT2IHe2AUJ2E/gf7sPYVzCL3j7nVn2G6dFEvAIgaFDh2LEiBEoUKAARo0ape0YEBcX5xHvY8PN119/Hb1790aDBg2wcuXK2AiaUXqCwKlTp7Br1y5NjBw8eDDkdzlkfQ9Z54MHCZBARgIUExRcERQTFEB1wOTx48fx1OO98ViLyhQUHODNLuwlIELCpEVb8cqEyciTh2t/2EuX1rxGQF8sTfy+4YYb8Pzzz6NYsWLamgryL3/+/F4LyVf+nj59WisZ//vvvyFber744ouOCD5SubJu3Trs2LEDBw4cwKFDhyCLMPMgARENdu/eDdn20XiUKFECM2fORJMmTQiJBEggAAGKCQouC4oJCqA6ZFIEBXla0qx6UZQqlAOVShVCUS7K6BB9dhMuAVlscesfR/D7oRQs++kQJk6aRCEhXIhs71sCUkIvFQq//vqrb2OMxcBKliwJ+Xfttdfipptu0hZzlN+DHbJ43muvvaYNCJOTk2MRGWMOk8A111yjbQN55513crHFMNmxeewRoJigIOcUExRAddjk3Pkf4tv167B123ac/uc0ko6fcNgDdkcCmRMoHJ8Pl2TPjkpXXYk6N9fFffe2JjISIIEABNavX49Vq1Zh7dq1Wvmy/kSasPxDQLYEFcFA1mIwHrJdaIcOHdJFhPr16+Pqq69GuXLltH8iQnAKjH+ug6xEkiNHDq16qXz58lkxw3NJIOYIUExQkHKKCQqgRtGklEDyy0bWE5CUlIQaNWpg06ZNWpkxj6wROH/+PFeUzhpCnk0CJOACAlJWLlUDsmXktm3b8Mcff0TkVdGiRTXRSMQCOWTOuzxZlr/hpUuX1vq49dZbI7LNk0iABEiABAIToJig4MqgmKAAKk16nsCwYcMwfPhwyOJo8jMPEiABEiABEgiXwG+//abNbZcqExEP3nvvvXQTst3kzz//DNkxQkSFEydOaLtFzJgxAzlz5gy3K7YnARIgARIIQYBigoJLhGKCAqg06WkCUpUgpYPyv1QlyJdAVid4OqV0ngRIgARcQWD16tXo2rWrVtUgR+3atbXF8kaPHo0iRYpg586dyJcvnyt8pRMkQAIk4DcCFBMUZJRiggKoNOlpAnpVgh4EqxM8nU46TwIkQAKuIyAL5sluDXLIbh3Hjh3TKhI6d+7sOl/pEAmQAAn4hQDFBAWZpJigACpNepaAsSpBD4LVCZ5NJx0nARIgAVcSkF07qlatCllPRo5s2bLhzJkzXFvGldmiUyRAAn4hQDFBQSYpJiiASpOeJWCuStADYXWCZ1NKx0mABEjAlQS6dOmiVSPIUa1aNfz444+u9JNOkQAJkIBfCFBMUJBJigkKoNKkJwkEqkrQA2F1gidTSqdJgARIwLUERDy47rrrNP9kJ4dPP/3Utb7SMRIgARLwAwGKCQqySDFBAVSa9CSBYFUJejCsTvBkWuk0CZAACbiSwLlz55A9e3bNtzZt2uDDDz90pZ90igRIgAT8QoBigoJMUkxQAJUmPUcgs6oEPRhWJ3gurXSYBEiABFxNQMQEERXatm2LuXPnutpXOkcCJEACXidAMUFBBikmKIBKk54jYKxKKFu2LGrUqIGFCxeiVatW2LRpE/bs2aPFxOoEz6WWDpMACZCAawnkypULKSkpaN68ORYtWuRaP+kYCZAACfiBAMUEBVmkmKAAKk16ioBelVCgQAGIqCBbcw0fPlz7Wf6JgDBz5kzt56NHj2LXrl2QKgUeJEACJEACJJAVAnnz5sWJEydw6623YunSpVkxxXNJgARIgARCEKCYoOASoZigACpNeoqACAVyGPf3NosJekCB2noqWDpLAiRAAiTgGgIUE1yTCjpCAiQQAwQoJihIMsUEBVBp0vMEgokJng+MAZAACZAACbiGAMUE16SCjpAACcQAAYoJCpJM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FIGZM2ciLi4ODz74YLrfwcQEaStH586dPRUjnSUBEiABEoguAfn7Ua5cOTRq1CjdkWBiQqC20fWevZMACZCA9wlQTFCQQ4oJCqDSpKcIJCUlaV/wChYsiGHDhmmigllMkC928lpiYiJ2796N+Ph4T8VIZ0mABEiABKJLQP52lC9fXhMThg4dqv1vFhP0vzWpqana3xoeJEACJEAC9hGgmGAfy3RLFBMUQKVJzxEQEUHEAjlEWLj++uuxcOFCtGrVCps3b07/UidfAKUtDxIgARIgARIIl4AICCtXrtROk5/Xr1+PlJQUVKlSBadOnUr/WzN27Fg8+eST4ZpnexIgARIggUwIUExQcHlQTFAAlSY9R0CvTjh69GhQ3wsUKMCqBM9llg6TAAmQgHsIzJ8/H23btg3pkFQm8CABEiABErCXAMUEe3lq1igmKIBKk54kYKxOCBQAqxI8mVY6TQIkQAKuIpA/f34cP348qE/169fHqlWrXOUznSEBEiABPxCgmKAgixQTFEClSU8SyKw6gVUJnkwpnSYBEiAB1xEIVZ3AqgTXpYwOkQAJ+IQAxQQFiaSYoAAqTXqWQLDqBFYleDaldJwESIAEXEcgWHUCqxJclyo6RAIk4CMCFBMUJJNiggKoNOlZAoGqE1iV4Nl00nESIAEScCWBYNUJrEpwZbroFAmQgE8IUExQkEiKCQqg0qSnCZirE1iV4Ol00nkSIAEScCUBc3UCqxJcmSY6RQIk4CMCFBMUJJNiggKoNOlpAsbqBFYleDqVdJ4ESIAEXEvAXJ3AqgTXpoqOkQAJ+IQAxQQFiaSYoAAqTXqegF6dwKoEz6eSAZAACZCAawno1QmsSnBtiugYCZCAjwhQTFCQTIoJCqBG0aQ82YiLi4uiB/7oWqoTrr/+emzevBnx8fH+CCqKUai4LlNTzyMuLlsUo7rQ9fnU88im0Bc3xSpRx1q8qmN2W35d8aGKESf06gRWJcRIwgOEqfp+GrtkGTkJXEyAYoKCq4JiggKoDptcumw5Vi5fht+2bUOBPDmx+ZedDnvgz+7+SUlBjpw5/Rmcw1HVqFIRSSdOodLVV6PRrbejcaMGEXmw6fc1+O2vH/DXsb3IfkkOHE4+EJEdu08qnLc4zp47jaL5S+HqotVRo0zdLHfh1lglsFiLV0XMbs5vli9eGgiLQOJfx1GwaL6wzmFj/xBQcT/1Dx1GQgL2EqCYYC9PzRrFBAVQHTQ56LlnER93DNVK5cPVpQqiQnE+RXcQP7sKg8DOA0nY+scR/Pj7cSRnK4gRzz9v+exz589i9vpXkT/35cibIx4FchdB3pzuutaTU5KQdPJvnEhJwvGUI+hQ5zFcku0SyzHqDb0Qq/gaa/HaFbNX8hv2hcsTSIAEIiZg1/00Ygd4oqsIjBwJDBmS0aVmzYA5c4DCha27evgw0Ls3MGwYUKmS9fOstFy7Fpg1Cxg/HsiVy8oZwKlTQL9+wNSpQPfu4Z1rrYfQrSgmhGYUdguKCWEjc8cJqefxWK/uaF79ctxRu5w7fKIXJGCRwGff7MLSnxMxbuIUAJlPyzl7/gxmrH0ZVxatgaIFyljsIbrN/jy6Bzv/2oyH6g7AJdmyW3bGi7FKcLEWb6QxezW/li9gNiQBEsgygUjvp1nu2GTgx2eBA4uA04eBU3/Ybd3d9nKVBC4rAhS/E7j2Bed9FTFBjsGDL/QtQsLOnRlfC+WZ28QEYwwSY4UKQIcOoaKw932KCfby1KxRTFAA1QGTUpFQrwwoJDjAml2oIfDphp3Y+OelGDbi37+aQbp55+uxKFOkqmeEBD0M+UK47/BWdLy5n2WAXo1VH1zHUryRxOzl/Fq+iNmQBEggywQi+fuR5U7/NZC0BVh6I5AKIPW0XVa9aSfuMkCWQ7r9G6DAtc7FEEhM0CsBRo0Cnn0WSEoC5s4F1qwBata88MRfvDS/Vr16WtsyZS5uV/ffWZkiPMjAfskSwFgFsXUr0K4dsGVLxteNlQnffw/Uq5fGJ7MKCooJzl1DjvZEMcFR3LZ0tvSrpdi04mP0v+c6W+zRCAlEi8CYj7bgxib3oVHjRgFd+H7PKuxO3InKxW+IlotZ6vfX/d+gQuGrcb2FNRS8HquAirV4w4nZD/nN0oeBJ5MACYRFIJz7aViGM2m8ZzbwXXfg3Em7LPrDziW5gVpvAWXvdyaeQGKC/lr//mmCQMmSF6oU5L19+9KmDcjAvlevNPGgSJGM0xyCtdNFho4dAREX9EF/z55pAoO8Lv+bz5dpDoMGAU89dWEqhZwrR6CKA12wkHXN5V84UyTsIs/KBLtIGuxQTFAAVbHJIc8NxC2lgTtuKK+4J5onAbUEFn2zE9/svwTDRgauI3z/m0kokq80Sha6Uq0jiqz/cWQbEpP3o90NPUP24PVYJcBYizecmP2Q35AXMRuQAAnYRiCc+6ldnX6Yg9UIwVhmywm0OWUX6cztBFozQV9jQM4UMaF+/bQBu74OgS4E6L/L+3fccUFMMAsGxna1a6eJAZMmZVyTQaoSjK/L7337AhMmAIcOpa2ZYBYTMotMqhmkgkGvlLB7HQcr2aGYYIVSmG0oJoQJzAXN27dvj1EP1ORiiy7IBV3IGoEd+5MwaM73eP+DDwIaem3pQNx8ZQvXLbZoNWpZVGv99s/Q97ZRIU/xeqwSYKzFG07MfshvyIuYDUiABGwjEM791I5O/zcE+GU0gLN2WPOfjUvyAJWeAqoOVR9boMoEvVezeKA/7Zf1FfQpC/p6BEYxQaoURHwI1K5cubSqA/MCjzL4N75uXINBFxOkuuD33y9MhQi2sKJxWsSCBWlChPgiAoZZxFBJmGKCAroUExRAVWhS9qLu0e0hTO15i8JeaJoEnCPQffLXeGPaDMTFZVyIMTX1PKasHI5GVdo654yCnlb8Mh89Gg5BNpl4GeTwS6wSXqzFayVmP+VXwUeEJkmABIIQsHI/tQvel7WApO/tsuZPOwVrAbdvVB9bOGJCtCsTzFMVgi0UaV5wUa++mD3b2UUYKSYouH4pJiiAqthknVsaYMPEBxT3QvMk4AyBOn1mY8PXqwJ2NvLT7mhzQ19nHFHUy0ffTsDgFlNDWvdDrBJkrMVrNWa/5DfkhcwGJEACthGwej+1o8NPSgMpMbZrQ7jccpUCWuwN96zw24cjJoj1rK6ZYK5aEEFg9eq0KQzdumW+ZsKjjwIvvnihuiDYmgnmrSSl3QMPACNGhLdDRfg0M55BMSGrBAOcTzFBAVTFJikmKAZM844SoJiQhtsvg02rX379Ei/FBEdvF+yMBGKKgNX7qR1Q5me+S7MdXfjCxn2yzYXiI1wxQa9OmPrvcwvZzUGmPOivr18fejeHYLs2WNnNQaYtiDAgR7BpDvKeLiDo7V54AXjuuTSxQp+ioRgtKCYoIEwxQQFUxSYpJigGTPOOEqCYQDHB0QtOQWdWvvD7STxRgJAmSYAEuejIzQAAIABJREFUAhCwcm+xCxzFBGsknRATrHnCVpEQoJgQCbUQ51BMUABVsUmKCYoB07yjBCgmUExw9IJT0JmVL/wUExSAp0kS8DkBK/cWuxBQTLBGkmKCNU5ubUUxQUFmKCYogKrYJMUExYBp3lECKsWEKePewME/D+Lp4QOQM1dOfPrRp/huw/fpv+uB6q93f/wRDHlyKNYuX5vOoFLVSnhl6liUvzKyrVitfhn0y2Az1uKVC8VKzH7Jr6M3B3ZGAjFOwMq9xS5EFBOskaSYYI2TW1tRTFCQGYoJCqAqNkkxQTFgmneUgCoxYdf2XXj3zVlaLJ0e6aiJAfLa6EGjMfD5geniQMqpFLw0dAxq1amJeo3rYUCvp9GjXw/UvLGGdm4wAcIqJKtfBv0y2Iy1eCkmWP0ksB0JkEC4BKzeT8O1G6g9xQRrFCkmWOPk1lYUExRkhmKCAqiKTVJMUAyY5h0loEpMEBFAP/bu+QOPPtEDRuGgRZsW2ttGgaFgoYIXiQny/uSxk/HcqOcQXyg+bDZWvwxSTAgbrWtOsJJjv+TXNdDpCAnEAAEr9xa7MFBMsEaSYoI1Tm5tRTFBQWYoJiiAqtgkxQTFgGneUQIqxAQRDV5/+XW0vr81RCB47cUJeOyZvpoYYK40kN91sSHpSFLAygT9/UjAWP0y6JfBZqzFK9eElZj9kt9IPgM8hwRIIDICVu4tkVm++CyKCdZIOiEm6LswlCyZ9W0TZTeGYcPStm789Vdg1ixg/HggVy5r8eqtDh8GevdOs1WmDNCvn7O7MITnbfDWFBPsImmwQzFBAVTFJikmKAZM844SUCEmSDXBgvcWoNdTvbS1EmTthDr16mhTF4yVBvKeTHG46967tPd0McG4ZkLdxnUx5vWXIqpKsDrQlHZ+GWxa/fLrl3it5thP8Tp6g2BnJBDDBKzeT+1ARDHBGkUnxIS1a9MG/XLI9omFC1vzLVAro5iQFTtGMaFSpcj9ifaZFBMUZIBiggKoik1STFAMmOYdJaBCTJBqg6d7PZMhjt4DemeY6iACghxvjH8jXSwIVJkQaJ2FcABZ/TLol8FmrMVLMSGcTwPbkgAJhEPA6v00HJvB2lJMsEbRCTFh5Ejg1luBZcuAChWADh3SfNNFhvz5gZdfBpo1A+bMAXLnTqsUqFkTmDwZ2LIFmD077bzMKhOknyFD0myvWQPUrQuIaCDnLVmS9vqIEUD//mn2p04FqlcH3nkHmDLlQmWC9NGuXVq/uk8iXIi/UhEhxwcfpJ07dy4gYoS8V69e2nvGc6xlIfJWFBMiZxf0TIoJCqAqNkkxQTFgmneUgN1iQiBBQF574dkX0LN/T23hRalU0I/SZUtBXz8h0Ln6Ogt69UK4cKx+GaSYEC5Z97S3kmO/5Nc91OkJCfifQKh7y//+9z9Uq1bNFhAUE6xhVC0myGD+uefSKhIOHQKmTweGD0+blqAPwHWhQMQAOfTB/u7daeKCnNe3LzBhQtr7gaY5LFgA7NyZNo1CFxxEoHj+eaB+/QtChG6nSJHA0xwqV05r27Fj2v/i0759aVMpvv8+TTAQoUKEDhEkZOpGz54XbImwID7LoYsm1jIRWSuKCZFxy/QsigkKoCo2STFBMWCad5SA3WLC999sylBtIMGYF16UNh1bdoR520c3VSaI4DFpTJqkPythVvruEvK7/p7Rfz3Gee/O085p26ntRVtgmhMrdoxiiv6+VGM82b0/Bo0elKFfed9c9fHS6y+mizHyfqgvv3ofdg2udV+79Hwogx96bLf/3+3aVJYt3225aItPPRZzDOF+AKzEbFe84foW7fbmqUPG6zLQtCLxV68ikp/NbYzTjszXb6BrIVRlkfl6Nn/WwuVn/Bx26NYBiYeORLx4azh9G6dvJR5JzNKisYH6Nd6PAt2TwvGVba0TCHZv+fzzz9GvXz8kJibir7/+CmnwzJkz+Pjjj9G2bdugbSkmhMSoNVAtJohgIBUJMsiXtROGDgW6dr3wNF8G6zL4lif/wUQA8VPaSVVD7doXiwmjRgHPPht6zQPj1IZgYoK8rosVuk+6ACGihtFf8VsEDLOYYI28Pa0oJtjDMYMVigkKoCo2STEhPMBbd/+Jds++hac6NkWH5nXSTx457TNUKFlEe83489rN21Gv28sY0aMlBne7M7394aRkdBj8tvb7nJFdcCgpGX3HzsWE/u1QqVyxgHbD8zQ2W9stJuhVB7J7g/GQQUPCh59oUxrkkC0gS5YumWHAHWxwk5UBhpWBpvaH/9PuaHNDX8034yKRB/YdyLCdpfG9n3/8JV04WbN8jXauVFkE2rXCfHXpg4NAA2lj5YaRo5GhLGap82p5713pA/lI4s3Kla8PIItcUSTD2hZmMeH40WNo1LRRup/6Ip1bf96Klve1zCBEhOuPlZhjUUwIdH0Yr1/JgXkrVmMlUIUry2vvG68v4zUo17xxcVRNSBw3BZWuqZS+Xoq89smHnwQU1oJdz8atYcO9FiRm44Kv4Z4fafus7jqTWb/yWTr458F0hpmJjZH6z/MCEzDfW0REePLJJzUB4dixYxgxYgQGDhxoCV+RIkVw+PBhPPPMMxg9evRF50RDTKg6Aqj8NJDtsozuHPsZWFIVuOJW4MZ3gRyXA7++BPz0b0m+tG74FXDFbcDBpcDK2y0hsKWRajHBOPVAd1ivRNCnOegLKJrFBKkOkKkK2neKTMSEQYOAbt3SBAu9vd6XcfqBvKZPTQgmJuh96QKHUYAQMcG44KMuJujVEPrUiO7dI1sUMpKEUkyIhFqIcygmKICq2CTFhPAA62JCscIFNBGgcHzetBttJmLCiGmfoVD+PJg0oH16exEZjK9TTAgvD8Fa2y0m2OOVfVasDDS169EgJhgFEXO1hPFpbKBKCt1z864V+uv6YO2KYldoL5krE/TB0IPdO2k7YuhTQ6RtIKHG3E8k8WaFtj6Iyps/HyQmXfwwiwnXXFsFv+/6PX2QqS/SKX1LhYc+1SUSX6zEHItiQqBrMJBYYB6867mrWr1qBiFNcmO85gsWis/wBF7Oq3TN1fh84efp162+Raw5v8E+O0bxQfqTqha92kcXFY3XnPE9XfyQBVzlmur33ONImJeQXpmgV0HIe3Ub3oLcefPgoUc7X7QIrD4lS/ofPejfQV9cnCaW7dy+S6uq0g/xydivVG706t8Ls9+ald6vXokl5+iVIXps8pnRK6CMFSHm+0WtOjUvqvyRNsYtdwNxMvpfpVoVXFX5ynQ7xp10dIFi609bYaw+0QWiQ38fRvVa1UNWW0Xy+XXzOfq9xSgiHDlyRHM5R44cSElJsez+3Llz0aVLF5w/f147zywqREtMuPpx4LdXLwgFZTsCNV8H9s4Dfn8vTUy4JCeQtPmCaCAiQ+230kSGI9/4R0wQcUB/qq8vcmhe88D4pF8G/vL7tGkZpyfou0HIdIVwKhP09RJ0kcGOyoRgYoLxwjWKDJYv6AgbUkyIEFxmp1FMUABVsUmKCeEBFjFh2JufokDeXCh5RXx6tUFmYsKsRRuQP29O3N2gOupef6XWobQvWig/lm/cqokMFBPCy0Ow1hQT0sgYB5vGqRpSsixfyAc+PxDFSxbPMPDIrAIhWIWGMQ+BpjlI3xvWbNAGCeaBmD4oyWwKhZWBtTnerFxJ+sBOdu4wih9mMaH+rfUCDjLlyXagqR7h+GQl5lgTE6xUxwRb30SvVhABSB/MB6oOMm4BK58NfTvYxQlLtN1b9PMDrXcSaDqUOefGJ/JSBfT8wOe1qTJyyDQgfWqNsZ34ZBQDJo+drA3qjZ9j2a5WYqxxQ42QYoJxupF5yoa5gsnYl/Fn3YbOQwQEXcSQWJ4ePgDG+GRdGeOhiyCBxAZpZ7zXCFczJ326VCChRnKjiyG6qBSMu9mvcD6jXm0r95aDSy7D22+/jZMnT2YIo2jRoihYsKDl0E6fPq1Ni5B/cuTMmTNdVBg0aBAW5c1j2ZZdDaUywSwmiO1mPwEpB4BfRqWJCSf3ADmLARsfBg4uA+S8sv8uSnhil3/EBBlUr16d8Sm9cYAvbPQ1CKSiwLxmgrwvVQu//x56zYSxabey9DUTRMSQtRlkyoIuJog/so6CLJoY6ZoJgcQEmW1jnBrBNRPs+kRFyQ7FhCiBz0K3FBPCg6eLCcO734WhUz/BsEdaaNMSQokJNSuXwV9Hjmnig0xxeG7yf9Hx/+pg0rwVFBPCS0GmrSkmpOExDzb1gbvxKZ158BVswGZloKQPAswDafM2msYtNuWcUGszWBlYB4o30kvKWN4tZe/fbfheGxzNmDJTEwn0NRNk0CIiif6aceBJMSFS+sHPs7JwabBpReapN8Yn69KjUVgwVjHo16oMjCXX/+ncPuiUg8ymPxivc12IMH7WzBUTRlvBxATzlAz9qbyVygQREgMNpI39ynSoQGKCVDIYp3no94aRr4zAG69OhV5xYF6k1pxZc650YSHYPUm4SeWILoSK/0YxROzr/oqPxl11jJ9p83v2X6nutij3007XPqtVESQkJGQQFCpWrIhPP/3UcgDbtm3DQw89pE11MB4iKshYoOm0tyzbsqthIDEhUGVC4vdA4ZuBHVPSKhhkioMcOYuniQ5+mOZgrCYwL0SoL2oog/C3/k2T7I6gTw8QFvrihubdGYLt5qCfIzs0yKHv5iAD+wceSHtN3pNFFGX6hL6A4vr14e3mEKwywdgPpznY9YmKkh2KCVECn4VuKSaEB08XE6SaYPG6n7B603aMf+I+jJ39ZdA1E6QyoUebBnjpnSWacPDr7j+xbONWtL29llblwMqE8HKQWWuKCWl0rExzMD9pDSQmGJ8MhnqSZ65MCDS4My9Sac6luQIimmJCzlw50ys3jMKBPN3WtwKV1+9o2Sx9IPP+zA9YmWDfxzndUqSVCaFcMT+d1ytppBJh/959Wgm9PoXlztZ34rMFn6VPbTHaDiW4BaqaMAoX+kBY1g6xIibIdSaHPg3Hqphg7EfONy+EqFcJBRMTjAKbfD70gXr/If01MUEXS0KJCUZ2xtzWa1xPq7KQqR3GQwQhEV2M/hsFJsmVvt6FWSwSO/p9J/FIUtA1L0JdK35433g/3b9/v7Zegi4qFCpUCHPmzMEdd9xhOdT4+HgcPXpUa58nTx6tOmHs2LHo3LkzojXNIdCaCfo6CPqaCX8uThMT9GoFmeKwZw5Qqo1/xAQrSTSvmaCfowsRxjUTrNiLxTac5qAg6xQTFEBVbJJiQniAjWJC7pyXod+4+VqFgYgDwRZgFDHhhZ5346V3l6Bry7qY99V3WtvaVcpSTAgPf8jWFBMyignBBjH6QCSzNRPMC8qFgm8WEwLNcTcOevSn+UaRwvyEN5pigj6wk6ecsrimPHU1ViZIObUsjleuYjmcPHFSG9gF29EiFDvj+1ZijrVpDsIn2LodevWLubzdzNw45UZ/z1zxIJ8XGaifTD6Bxnfcqu0+Im2kMkXWT5A8B1oPI9iaCboQ0bVPV7w2ekL6YNtcmRCumGC1MiHY03vjtS1rJ5hFjEgrE0KJCcEWlNTvC1L9Ydx215jDQItC6udJOxGAJF+ZVYmEqiAJ53PqxbaB7i26qCC7MxQrVgy7ZT9AC8fUqVPxxBNPIC4uLoOIoJ8aLTHBOM2h9jSgdFvg+17AnlkXFmAUMUEOERT++Aio+Ciw5Qmg8jMUE4QLxQQLH4B/m1BMsM7KckuKCZZRuaYhxYTwUmEUE2TxRVlIceT0RShXvDDq17gy4G4OIiZI9cKC5Ztw8MhxfPPTbm16hBx6ZYL83HvMB+nTJrQbesppTazQ7YbnaWy2ViEmZLaNmfk9oW58+m5cCMyYkUi3D7Qy0JR+QlUm6CvaB9vNIZJyYONA2sqUCfNTTuNijvoT10jizcqVH2jAYtypwigmBJqDTzEhK/QzPzfYbg7mXVWC7Z4QaMBvrrzR101ITj6Bx57pqw2y5Xhn6ruakCBVKMEqdELtTpLZmgnhigmh1kzQFw8Vn96ePCN9bQZzP/p0AL0KR2KVaT3BxATpN7M1E0KJCWLfXH1kzqvxfeNOD+YFMsVWoN1XzHk25sU8TUPd1epOy5ndT0VUmD9/Prp166ZVGYQ6ChcujNTUVIwbN06rRDAfbhATxCdZL+HSAsA3ndI8lDUTREz4eyVw7Wgg5a+0BRlltwd9bQU/THMIlT++bw8Bign2cMxghWKCAqiKTVJMCA+wWUzQBm7TPsOQNxIwe2SXTMWE73/9XdsmsnvrBpq48PufR9LFBL3KwbioowgVvca8j7mjHs6wXWR4HsdWa7vFhFDbmIXakcC8FaNkI5wSYHP2Ihlcm9clMC98pg+WjSJIIJFEL4H+atFXGbbQ0300DqTN5eN6G/PAQV+MTX/f7Fsk8Wblig8kJhh9NooJ8hTUPICkmJAV+qHPNU+dyWwNkEDWzOcHmnYTqAIi1DQGvS/z9WwUDc2fQ/NuDrKwotVpDtJO70sY1G1UN706xihgDhg+AP/b9KO2G4UcgaYJyK4JwqH3U720RUXFDzlkuoEc4ezmYEVMEJvm+0tmnPT3An02AwmQYt/IwJhjViZMwOAW/05qD/1xy7TFmjVrUE9W7wtyuEVMCLRmgogJ+s4OuUoCu6YDG7tRTMjiJRGTp1NMUJB2igkKoCo2STEhPMCBxARZULHD4Le16Q4dmtfJsBijCAJ6ZcLJlNMZ2plt6ZUIUxes0pyqfnUpCgnhpQd2ignBnq4bBYRAYoLxS6/xCaL+RNPKYnLBwnZ6cB0mftubx1q8AtBKzLE4zcH2i8snBq2sJ+GTUBlGFglYubdksYv0090iJohDssBioRuB7a8DIi6ImCDigf66Pg2ClQl2ZT927FBMUJBrigkKoCo2STFBMWCad5SAnWKCOB7ONmZ6oOYt1owrkEubYE/trYCy+mXQL4PNWIuXYoKVTwHbmBcZDLbNIkmRgJGA1fupHdSiISbY4bfTNu5LdbpH9mcnAYoJdtL81xbFBAVQFZukmKAYMM07SsBuMUGcD7aNmbwXaDqAsfQ62JoJgfa5twLK6pdBiglWaLqzjZUc+yW/7swAvSIBfxKwcm+xK3KKCdZIUkywxsmtrSgmKMgMxQQFUBWbpJigGDDNO0pAhZhgDMBcUmyc5hCo3DgrVQiBwFn9MuiXwWasxSs5txKzX/Lr6M2BnZFAjBOwcm+xCxHFBGskKSZY4+TWVhQTFGSGYoICqIpNUkxQDJjmHSVgp5gQahszfStACVDffcC4+rgs0EcxIWvpt/rl10+Daysx+ynerF0hPJsESMAqASv3Fqu2QrWjmBCKUNr7FBOscXJrK4oJCjJDMUEBVMUmKSYoBkzzjhKwU0wQx8PZxkwPNNSaCVkBYvXLoF8Gm7EWr1wbVmL2S36z8lnguSRAAuERsHJvCc9i8NYUE6yRpJhgjZNbW1FMUJAZigkKoCo2STFBMWCad5SA3WKCLihMGjMpPQ7jNmaBdnMwbiVYtXpVmBdgzAoQq18G/TLYjLV4KSZk5dPBc0mABDIjYPV+agdFignWKFJMsMbJra0oJijIDMUEBVAVm6SYoBgwzTtKQIWY4GgAITqz+mWQYoKbshaeL1Zy7Jf8hkeGrUmABLJCwMq9JSv2jedSTLBGkmKCNU5ubUUxQUFmKCYogKrYJMUExYBp3lECFBPScPtlsGn1y69f4pXcWYnZT/E6eoNgZyQQwwSs3FvswkMxwRpJignWOLm1FcUEBZmhmKAAqmKTFBMUA6Z5RwlQTKCY4OgFp6AzK1/4KSYoAE+TJOBzAlbuLXYhoJhgjSTFBGuc3NqKYoKCzFBMUABVsUmKCYoB07yjBIKJCedTz+ONlSPQqMp9jvpjd2crf5mP7g2HIFtctqCm/RKrBBhr8VqJ2U/5tfvzQXskQALBCVi5n9rFL6E48M+fdlnzp50cRYGWZOTp5FJMUJA+igkKoCo0mZqaike7dcEbPW9W2AtNk4BzBHpMWYcpb72NuLi4izqdsPRZ3HTlncibM945h2zsKTklCRu2f4Y+t40KadXrsUqAsRZvODH7Ib8hL2I2IAESsI1AOPdTOzpdci1w7H92WPKvjQLXAU23+De+WIiMYoKCLFNMUABVscn27f+DUQ/UQIXi3hxgKcZD8x4isH1/Ioa8/wPee29OQK/nfTsZ8XlLoFShqzwU1QVX/ziyDUkn/kTb2j1C+u/1WCXAWIs3nJj9kN+QFzEbkAAJ2EYgnPupHZ1ufhLYNs4OS/61cfUAoPpL/o0vFiKjmKAgyxQTFEBVbHLo0GG4qXgKmt9QQXFPNE8Cagl8tmEHNv6dB0OHDgnY0ea9a7Hn8A5cVbyWWkcUWd964FtUKFwJ1UuHriTyeqyCMNbiDSdmP+RX0ceEZkmABAIQCOd+ahfADy8DUs/YZc1fdrLlBNqc8ldMsRgNxQQFWaeYoACqYpPLV6zEt199jAH3XKO4J5onAbUEXlzwE25p3hYN6tUN2tGsdeNRqnBlFC1QRq0zNlv/M2k3DiRtR4c6j1m27NVYJcBI4y1ZuBKKFShrmZGbGoYbs+TXy/G6iT19IQE/Ewj33mIXi8TvgeX1gXMn7bLoDzvZ8wK3rgcKVPVHPLEcBcUEBdmnmKAAqgMmhwwejDolzuLOG8s70Bu7IAH7CSSs24FNh3Nj6NChmRo/d/4cZqwdgwpFq3tm0HkgaRd2HfwBXeo9k+nCi+bAvRirxJCVeN9e+xIqFr3eM7nVcxZJzJJfr8Zr/x2AFkmABAIRiOTeYifJxM3AspuA8//YadW7tqQi4bZvgPhrvRsDPb9AgGKCgquBYoICqA6ZfKJ3D9xapQBa3FTRoR7ZDQnYQyDh621Yvf0EXn5tsiWD58+fw5wNE5AnZzzy5iyI+NyXu25RRlksK+nk30hOScTJf47i/jp9wxISdBBeiFV8jbV47YrZK/m19MFkIxIgAVsI2HU/tcWZf41sfAQ4tBo4cwxI2W+nZffbylkcuLQAUKQBUHuq+/2lh9YJUEywzspyS4oJllG5suGwIYOR++wRVCudD5VKFULFElyU0ZWJolOQxRa37j2CH38/jn9yFMHQ4SPCprJl79fY+tcP+PPo78h+yWU4nHwgbBsqTiictzjOnjuNYgXKoFLR6pbWSAjlh1tjFb9jLV4VMbs5v6GuTb5PAiRgHwEV91P7vKMlEvAXAYoJCvJJMUEBVIdNLl+5CiuXL8XWrb8hf+4c2PzLToc9YHckkDmBGlUq4tjJf1Cp0tVofFsTNKgffI0EqyzPp56P6Mm/0f7EiRNRunRptGrVymq3AdvZ4UtmDthh/9y5c+jatSumTp2KHDly+D5eCXDMmDGoUaMGmjRpkqV45WQ7chDMCZW2sxw4DSglsG/fPrzwwguYPNlalZZSZ2g8KgT4+Y8KdnYaowQoJihIPMUEBVCjaDI1NRVxcXFR9MAfXZ88eRIfffQR2rdvj0svvdQfQUUxCjdel+JTtmzZUKhQIRw+fDiKdJzpWoSTp59+WvsXap0KZzxS20tiYiKKFy+Oyy+/HHv37lXbGa2TQIQEOnXqhAULFuC9995Dy5YtI7TC00iABEiABKwQoJhghVKYbSgmhAmMzWOCwJQpU/DEE09gzpw5aN26dUzEHGtByqB6woQJyJ49O1577TV06dLF1wjy5s2LEydOaPGeOeP/vb969OiBd999VxNXZ82axc+xr69ubwb3999/o0yZMkhJScFVV12F3377zZuB0GsSIAES8AgBigkKEkUxQQFUmvQ8gQIFCuDYsWMoVaoUn2p6PpsXB6BXJejv+L06QaoSnnvuORw/flyb4jBw4EBfVydIVUKJEiW0QZoc/Bz78EPsg5CkKkGELjkKFy6Mt99+m9UJPsgrQyABEnAvAYoJCnJDMUEBVJr0NAGpShgwYACSk5ORO3duPtX0dDYDO69XJeiDTXlq7+fqBL0qQafh9+oEvSrh1KlTWsj8HPvwQ+zxkIxVCXoorE7weFLpPgmQgOsJUExQkCKKCQqg0qSnCehVCXoQfKrp6XRe5Ly5KkFv4NfqBGNVgh6rn6sTjFUJEuc//6Rtls7Psb8+x16PxliVIOvyyNQjVid4Pav0nwRIwO0EKCYoyBDFBAVQadKzBIxVCXoQfKrp2XQGdFyqEsaNG4dLLrlEm6csx549e3D69GltRXW/rZ2QJ08eLUb5XxaalAUJZbqDDLLPnj3rr+QC0KsSZPeKypUrQ8QjWYBRFlV9//33uXaC7zLuvYCkKkHELakYio+P16rgZD0TuVaLFSuGHTt2eC8oekwCJEACHiBAMUFBkigmKIBKk54lIFUJUvouA8vLLrtM+3InC7hdccUVXDvBs1nN6LgMMOvUqYNXXnlF25KtbNmyaNGiBR577DFtwLl8+XKfRAosW7YM9913H8aPHw95EipPQKX0f968eejdu7e2wGjz5s19E6/kr2bNmtpWkKNHj0afPn3QsGFD1K5dG3379tUGbwkJCb6Jl4F4k4CIli+99BJEvK5UqRKaNWuG7du3awvCynW7ePFiVK9e3ZvB0WsSIAEScDEBigkKkkMxQQFUmvQkgQ8//FAbeMnidLJYXdGiRXHw4EHt9zfeeANffvklGjRo4MnY6PQFAvIEUH9a369fP01MePzxx7UGR48ehQhKfj10MUHWTJDDjVt2ZpW9VFzI9AY5HnroIU1M6Ny5s/Z7UlKS9iSYBwlEk4CIXlLxJodUIehiQjR9Yt8kQAIkEAsEKCYoyDLFBAVQadKTBGTOqgy25JABp4gJUn4qhzzNzZUrlyfjotPBCZjFBL+zMosJfo/XLCb4PV7G5z0CFBO8lzN6TAIk4F0CFBMU5I5iggKoNOl5AmYxwfMBMYCABCgm+PvCoJjg7/z6ITqKCX7IImMgARLwCgGKCQoyRTFBAVSa9DwBigmBNiz7AAAgAElEQVSeT6GlACgmWMLk2UYUEzybuphxnGJCzKSagZIACbiAAMUEBUmgmKAAKk16ngDFBM+n0FIAFBMsYfJsI4oJnk1dzDhOMSFmUs1ASYAEXECAYoKCJFBMUACVJj1PgGKC51NoKQCKCZYwebYRxQTPpi5mHKeYEDOpZqAkQAIuIEAxQUESKCYogEqTnidAMcHzKbQUAMUES5g824higmdTFzOOU0yImVQzUBIgARcQoJigIAkUExRApUnPE6CY4PkUWgqAYoIlTJ5tRDHBs6mLGccpJsRMqhkoCZCACwhQTFCQBIoJCqDSpOcJUEzwfAotBUAxwRImzzaimODZ1MWM4xQTYibVDJQESMAFBCgmKEgCxQQFUGnS8wQoJng+hZYCoJhgCZNnG1FM8GzqYsZxigkxk2oGSgIk4AICFBMUJIFiggKoNOl5AiImXHHFFViwYIHnY2EAwQlMmTIFZ86cwS233BITmAYPHgy552fLli0m4l21ahVy5cqFEiVKKI+3Q4cOKF68uPJ+2IG/COzfvx/Dhw/H7t27/RUYoyEBEiABFxKgmKAgKRQTFEClSc8TOH/+PGTg9d1333k+FgYQnEBycjJ++eUXxMXFxQSmkydP4uzZszERqwQpn2P5p/pITU3VumjWrJnqrmjfZwTk+rz33nvxyCOP+CwyhkMCJEAC7iNAMUFBTigmKIBKkyRAAiRAAjFDoHLlyti6dSt0USFmAmegJEACJEACJOAhAhQTFCSLYoICqDRJAiRAAiQQMwQoJsRMqhkoCZAACZCAhwlQTFCQPIoJCqDSJAmQAAmQQMwQoJgQM6lmoCRAAiRAAh4mQDFBQfIoJiiASpMkQAIkQAIxQ4BiQsykmoGSAAmQAAl4mADFBAXJo5igACpNkgAJkAAJxAwBigkxk2oGSgIkQAIk4GECFBMUJI9iggKoNEkCJEACJBAzBCgmxEyqGSgJkAAJkICHCVBMUJA8igkKoNIkCZAACZBAzBCgmBAzqWagJEACJEACHiZAMUFB8igmKIBKkyRAAiRAAjFDgGJCzKSagZIACZAACXiYAMUEBcmjmKAAKk2SAAmQAAnEDAGKCTGTagZKAiRAAiTgYQIUExQkj2KCAqg0SQIkQAIkEDMEKCbETKoZKAmQAAmQgIcJUExQkDyKCQqg0iQJkAAJkICvCaxatQoNGjTQYjSLCUlJSYiPj/d1/AyOBEiABEiABLxGgGKCgoxRTFAAlSZJgARIgAR8TSB79uw4d+4cOnfujHXr1mHr1q3Yu3cvrrrqKqSkpODzzz/HHXfc4WsGDI4ESIAESIAEvESAYoKCbFFMUACVJkmABEiABHxNoHXr1vj4448DxpgtWzZNaOBBAiRAAiRAAiTgHgIUExTkgmKCAqg0SQIkQAIk4HsCcXFxAWOcNGkSevXq5fv4GSAJkAAJkAAJeIkAxQQF2aKYoAAqTZIACZAACfieQKDqBFYl+D7tDJAESIAESMCjBCgmKEgcxQQFUGmSBEiABEggJgiYqxNYlRATaWeQJEACJEACHiRAMUFB0igmKIBKkyRAAiRAAjFBwFidwKqEmEg5gyQBEiABEvAoAYoJChJHMUEBVJokARIgARKIGQJ6dQKrEmIm5QyUBEiABEjAgwQoJihIGsUEBVCjbPJ8aiqyBVkYLMqusXsSIAES8B2Bxo0bY/Xq1Th79qzvYmNAJEACJOBWAvy+69bMuNcvigkKckMxQQHUKJhcvH43dh04jn2HkpEK4FjyP1Hwgl2SAAmQQGwSuDx/dvx9jGJCbGafUZMACUSDQMG8OXEeqShZJC/Kl8iPO+qUjYYb7NNDBCgmKEgWxQQFUB00+fOuw3gz4X+oW6M88ufJicsL5kG+PDkd9IBdkQAJkAAJkAAJkAAJkIDzBI6dSMGhxBM4lpyCr7fsxiMtq6FKuULOO8IePUGAYoKCNFFMUADVIZNbth3CFxv3okXDash+STaHemU3JEACJEACJEACJEACJOAuAmfPnkPCyv+h+Y1lcN2VRdzlHL1xBQGKCQrSQDFBAVQHTP606zA+W/877rn1Ogd6YxckQAIkQAIkQAIkQAIk4H4CC77agpZ1y7FCwf2pctxDigkKkFNMUADVAZOPv7YS3e+7hRUJDrBmFyRAAiRAAiRAAiRAAt4gcObsOUxbsB7j+jTwhsP00jECFBMUoO7YsSNmz56Nd999F/IzD/cTWLxhD06cjsN1V5d0v7P0kARIgARIgARIgARIgAQcJLBl6x8okBNociMXZXQQu+u7opigIEU9e/bElClT8NJLL2HAgAEKeqBJuwm8sfBHlC9dFBVKFbbbNO2RAAmQAAmQAAmQAAmQgKcJ7Nh7CHv2/Y3ud1fzdBx03l4CFBPs5alZe+655zBq1Cg88sgjmDp1qoIeaNJuAoPeWofWt13HXRvsBkt7JEACJEACJEACJEACnicguzwsXPoDRj58s+djYQD2EaCYYB/LdEszZsxAly5dcNttt+Grr75S0ANN2kngfGoqBk9bj84tb7TTLG2RAAn4mMDr457Ha2OGZYjwsQHD0OuJQRle27l9Kx7vfj9+/WlLUBrvJ6xErRvrXvR+oHPrN26Ksa/PQsFCaVVUiUcOo3+vjli9/Au07/QInh3+CnLmyqW9l3LqFEYNfRIfvPum9rvZP6P9QL5bSZ8VH812Ej56D/17dQrJLlj/gdgHamtmZSUeO9ro/pnzYYdtu23ovkaLld3x0B4JkIBaAu988i1GdK2DbHFxajuidc8QoJigIFU//fQTqlWrhnLlymHXrl0KeqBJM4GZM2eiVatWiI+PjwhOn/Er0Pf++hGdy5NIgARih0AocaBy1ep4dep7qHBlJQ1KqPY6ubGvv4uWbe5PBxlqwKwLEEbBwDwgNPdtHtx+981a/KdlQ61Pc/9WMmrVR92WUfjIyuA/VL+67WgNkCkmWLl62IYESMCLBCa8txoT+zXyouv0WREBigkKwJ4/fx558+bFqVOnsHLlSjRowJVPFWDOYFLEhH79+uHxxx/HY489FraoQDFBdYZonwS8T8CqMGActFs9xzjwtXKOsb0+eDULGeYKgGDvm1+3kqlwfRSbgSoSzH1ZqZCgmGAlQ9basDLBGie2IgESSCNAMYFXgpkAxQRF10SPHj209RKkOuHnn39Grn/LThV1R7OAxnrPnj2akBCuqEAxgZcQCZBAKALGQaz5Kb95cK1XDhhfNz/9N09D0M8xDrqN5wRrb6wwME6ZCDToDvR+JE/ww/XR6Htm1RuR+BJqQByoIiKzXEhu/9PpETz9WNf06SnhVG5EUplgFlqMooqRnVlsMb6XWeWJXNuBpl2EYhfqM8H3SYAEYosAxYTYyreVaCkmWKEUQZt9+/bhmmuuwbFjx/DAAw/gzTffpKAQAcdwTpHqhIceeij9lHBEBYoJ4ZBmWxKIPQKZrU2g05BB/fCBfYNOcwg0IA0kBOgDy0AVA4HEiUBrHxj9HTh8LNas+EJbV0EfjBrft1INYM54uD5mNugV25nZC3W1ZTYgNvI12zEOrs1CTaA+rXIKR0zIrF+jsKLzyWwqSyghSWIyX1MUE0JdXXyfBEjASIBiAq8HMwGKCQqviaVLl6Jp06aQaQ9ly5aFLMzYuHFjhT3StF6dYCRhRVSgmMBrhwRIIDMCmVUYRHpesEqDUGsdmPsLNFDfv+/39IUfZZC5fs1ybcFIfQBtfD+cp+563+H6aBQMdBuR9BuIdbABsVEwMQ7CA60VEWyxyswqKoLlPRwxIZCIYvRbZ2TkbRQNAokMgQSqYNUNFBN43yMBEgiHAMWEcGjFRluKCYrzvHjxYrRv3x5Hjx7VemrYsCGuvvpqlC9fXivLL1asGFJTU7X35H/9Xzi/h9M2q32Zz3db35s2bcLChQsDZjUzUYFiguIPAs2TgMcJBJtKECosK2sLiA3zE+fM1hcINAg3DwpXL1+i7Zig29V/159MJx45pC2+GMl6CXrM4fqY2VP4rPgRbECcWc7M5+TKlTt954vMnv5bEUCsigmZTV/Q2erijzDXd+bQKyRCCQTBpj0EWm8jkukloa59vk8CJOA/AhQT/JfTrEZEMSGrBC2cv3v3brz66quYPn06kpOTLZzBJioJSJXIihUrNDFHPygmqCRO2yTgfQKqxYRA20NmJkRktpjiS69Nx/vvvqltCakPPM1PtvVKhawOIsPx0YoIEcl2isHEhMyeupsrAkqULJM+WM9si02dZ6D1KHShwaqYEGp3C7PIZK5CEEFI33Y00O4ewT51xmuHlQnevzcxAhJwkgDFBCdpe6MvigkO52nDhg1Yt24dduzYgf379+Pw4cOaB3Fxcen/wvk9nLbSh53t7bQVrm/B+v7hhx+QkJAQMKsFChTQFmaUf+YtJCkmOPxBYHck4DECkW6jGKoyIZzBvHkAG2zXCOMaCfoA1/gUu1vP/khOPqaJDZEM3jNLXWY+BjrPyuKIoS6VSMQEszhU9dqaFz351/sNNI1k+pRXtGkjxkOFmGAc+JsFoX1792SoPilYqDCsrP0gPuviA8WEUFcX3ycBEjASoJjA68FMgGICrwlfEQi0ZkJmIoIePMUEX10GDIYEbCdgZQFGfbA3dPQE1LqxruZDuGsthFqoUGwGmicfaFAebLG9eo2a4NDfB7WdCqyU7ZthRuKj8Sl6oD4zK/kPlcxIxAS3VSZYWdwxmCAUbOcHK0IRxYRQVxffJwESoJjAayAzAhQTeH34hoB5NwcrIgLFBN+kn4GQgHIC4WwNGWjhPKsDd2M/5kFmsEUFAz2RNlc9BNrZIND0Cisgw/VRbPbv1VHbUUIOc79G36wMrI0++mHNBCsDf6OQZIzfzDIcgSCctlauC7YhARLwNwFWJvg7v5FERzEhEmo8x5UE9KqEcEQEigmuTCWdIgFXEgg1ZUF32jiID7cyQWxktp2hEYx5AGpeENE8KDf7H84UC3NCIvEx0DoDgRJtVXTRz3Xrbg6ZXcR67r5Y9LE2VeH/2TsTeJuq9o//TLnm4XIR6UqGRJrMqUh4FSoVJVIpSSl/QyFTEqH0iuZB5OVmVpQGKvNVbySzRJJ5Hq4h9/4/a993H/scZ9jn7LXX3mef3/58+uTus9bzPOv7rL3P3r+zBnHo7Q43CiZwBEqwHAYTZoxiExdgdOXthUGRQFwQoJgQF2lSGiTFBKW46cwuAmJUgr4eQrA1ESL55TSHSIT4OQmQgCAQSVAInFoQi5gg/ITbKUF8Hmz3g8AX/MCX8sDRC2Z/DQ+V+WhjNDOfP5aYwv26Hk70MPoyE5vZERNmRJNguzQEcg61w0W4USGBAkuw3BlHMnBkAu9rJEAC0RCgmBANrcQoSzEhMfLs+VaK7SBvvfXWixZWNNtwiglmSbEcCZCAIBDshTHYy2asYkI44SLUS63xV2srL6LRZDiUuBLuxTuUCGF1ykWokRbBhIJwQot40X+g4xN4/tnHtHUlxBHNaIloxISkfPk0+4F1wo0aMbuzSCDnYH2CYkI0vZ1lSYAEKCawDwQSoJjAPkECACgmsBuQAAmQQOISMLOoZOLSYctJgARIIJsAxQT2BIoJ7AMkEIQAxQR2CxIgARJIXAIUExI392w5CZCAeQIUE8yzSpSSHJmQKJlmO8MSoJjADkICJJDIBCKtf2BkY3btgHjiSTEhnrLFWEmABJwiQDHBKfLu9Usxwb25YWQKCVBMUAibrkiABFxHgGJCBl4Z1BNTJ76HWBaBdF1CGRAJkAAJ2ECAYoINUOPcJMWEOE8gw5dDgGKCHI60QgIkQAIkQAIkQAIk4E0CFBO8mVcrraKYYIUe63qGAMUEz6SSDSEBEiABEiABEiABErCBAMUEG6DGuUmKCXGewGjDz8zMRM6cOaOt5mj58+fPI1euXLbGQDHBVrw0TgIkQAIkQAIkQAIkEOcEKCbEeQJtCJ9igg1Q3WRyZfoqrF+/AZs2r8OWLVuRP39ubN6y200hRoylcqUyOHXqH1SqdCWqVL4aV19dDbVr3RixXjQFKCZEQ4tlSYAESIAESIAESIAEEo0AxYREy3jk9lJMiMwobksMHTYESUn7UbDgaVSpXBCVKhXGZeUKxGV7dv51Elu2HMOmzSdw4ngSzp4rhf59B0hrC8UEaShpiARIgASwbesmPNflQWxct0ajMWXuD7ihdoOLyASWC4YusO7P6UvxQKtbwtplCkiABEiABOQToJggn2m8W6SYEO8ZDBL/tm2/o3OXJ9Hj2avQ8s6yHmwhMGfuX3hz/Ga8/+47qJBawXIbKSZYRkgDJEACJOAjELg7RKjtJM2ICcLo6PET0arNg5p9ignsaCRAAiTgDAGKCc5wd7NXigluzk4MsW3blo4xb7yG4a/UQMGCeWKwED9Vjh07h34v/oqe/9cbFVJrWQqcYoIlfKxMAiRAAj4CpzMubLOon6x6dU288e5/cMWVVfxImRUTGjZqitHjJ6FY8WSKCexrJEACJOAQAYoJDoF3sVuKCS5OTiyhNb79dsyddYvnhQSdzdGjZ3Fv26X45quvYsHlq0MxwRI+ViYBEiABHwGjQND5qV5Y8sM32nQH4+gCvbCxbODngaKEPt0h1MiEw4cOole3Dli86GtfLEYRgikiARIgARKwRoBigjV+XqxNMcFDWR06bACurXkYLe+8zEOtityU2XN2Yv2Gkuj3wqDIhUOUoJgQMzpWJAESIAE/AvoUB/EiP+y19/DWG69g6sT30K7jE+g35DUk5csXVHgIJjYEEw6CnQs3wiHUqAimjQRIgARIIDoCFBOi45UIpSkmeCTLYteGHxd/it49L/VIi6JrxqujdqFxo4dR68Yboqv4v9IUE2LCxkokQAIk4EfAODpAXydBFxeCvdTLGpkw/vWX8e+Rg2EciRAsFqaLBEiABEggdgIUE2Jn59WaFBM8ktmPJ0zE6TPL0LWL9cUI4xHJW2//gfwFbkKnjg/FFD7FhJiwsRIJkAAJ+BGINGogcCFGWWsm6GKCCCbUzhFMFQmQAAmQgDUCFBOs8fNibYoJHsnqC/36oentp9C4URmPtCi6Zny3cDe+/S4/hg97JbqK/ytNMSEmbKxEAiRAAn4Ego0QEAVCnTcrJhgFgmCCReDuEXpQoXaRYNpIgARIgASiJ0AxIXpmXq9BMcEjGW5z3714Y0w1XFaugEdaFF0zdv51Es/1WI8Z06ZHV5FiQky8WIkESIAEAgkEWwAxGCWjMBBJTAi2gGKoBRiNoxMC/QZbj4EZJAESIAESiI4AxYToeCVCaYoJHshyZmYmHn6kLSZ9cqMHWhN7Ezo8/DMmfDQFuXLlitoIRyZEjYwVSIAESMCPgPElPxwa40KM4dZMCGUjlJiglw8WB3d1YGclARIgAesEKCZYZ+g1CxQTPJLROvVvxspld3ikNbE1o079eVi57MeYKlNMiAkbK5EACZCAj0C4kQFGTMaFGO0QE4y+wi3+yNSRAAmQAAlER4BiQnS8EqE0xQSPZJliAkAxwSOdmc0gARKIOwJGUSDUOgXGEQP6tAMZYsLVNa7HK4N6attPBo5ACLVWQ9wBZsAkQAIk4AICFBNckASXhUAxwWUJiTUcigkUE2LtO6xHAiRAAlYJGBdADLWbgnFNBf2l//ChA3iuy4PYuG4NzK5rEGnHiGBtMWvbKgfWJwESIAEvE6CY4OXsxtY2igmxcXNdLYoJsYsJmVlZGPxhOjq0TOw1J1zXqRkQCZBAXBA4nZERcmRAYAMCt3AsVryEFDFB+Am2AKRxSkVcwGSQJEACJOBiApPmrsLgznWQM0cOF0fJ0FQSoJigkraNvigmxC4miLQMeH857rrtGhQukGRjlmiaBEiABEiABEiABEiABOKPwLETpzF70a8Y2rle/AXPiG0jQDHBNrRqDVNMsCYmvD17La64rBSuKJesNnH0RgIkQAIkQAIkQAIkQAIuJ/D7zgPYsWs/urSu7vJIGZ5KAhQTVNK20RfFBGtiwoKV23HsTE5cW6WsjVmiaRIgARIgARIgARIgARKIPwK/bPgLRfMDTWtfHn/BM2LbCFBMsA2tWsMUE6yJCSJbPcb+iCfa1EXu3LnUJo/eSIAESIAESIAESIAESMClBM6e+wcfzU7Ha083dGmEDMspAhQTnCIv2S/FBOtiwvo/DuKL5Ttw9201JWeH5kiABEiABEiABEiABEggPglM/2Y17m5YAVUvLx6fDWDUthGgmGAbWrWGKSZYFxNExtb+ni0otG5UHXk4QkFtJ6Y3EiABEiABEiABEiAB1xAQIxLmfr8OLRtcjuoVuK6YaxLjokAoJrgoGVZCoZggR0wQOdi44xDem/sb6l5zuba7Q8niBbnLg5XOybokQAIkQAIkQAIkQAJxQUDs2rD/8AmI/6/87U880ao6qpQvFhexM0j1BCgmqGdui0eKCfLEBD1BC9J34I+/j+Ov/ceRBeDYiTO25I5GSYAESIAE/Al8/n5f/P37anQZ8SXRkAAJkAAJKCJQrFASspCFsiUL4YoyhdG0dnlFnq27mTwZ2LYNGDAgvC2z5QKtbNoEtG0LrFkDLFkCNGhgPeZgFoYOBa64Amjf3h77sq1STJBN1CF7FBPkiwnGVGZmZSFnjhwOZZduSYAESCCxCBQsWBAnT55EVpaQcnmQAAmQAAmoIBDPz7tmRQKz5QJ5L10KLFwYWaywmieKCVYJsn5MBCgm2CsmxJQUViIBEiABEoiJAMWEmLCxEgmQAAkkLAGjSCBe/MeNy0YxdSpQsyaQlgYcOADcdFP2+ZdeyhYGRFn9XJcuwJgxQL58gHipX7cuu97AgdnlxaGXmTkTeOih7HO6/SpVsv8WseifffrphVEGwqawJQ7jeWPSjGLCwYPZdRcsuBBzr15Ajx5Ahw4XRkeIOo0bZ/9tpj2hfMfSeTgyIRZqLqxDMYFiggu7JUMiARIggZgIUEyICRsrkQAJkEDCEggUE4RAIKYjXH999st32bLZ4oGxnJi60L07MHYsUL68fznxgr5r1wVxQbykT5qU/fd//5stNghbycnZ/xaHLk7o5U6dAp5+Ghg8GPjpJ2Dx4uz6f/6ZPWVi/PiLp0voYsI992TH07BhtqBgjFXY0qd0CMGhf39g2LBsscRse2R1FIoJskg6bIdiAsUEh7sg3ZMACZCANAIUE6ShpCESIAESSAgCgWKC8WXf+Fngv/UXfDEawSgYjB59QSAQ/zJ+JsoaD6PNYNMUMjL8hQFRN9R0hlDnhWigCxOi/ocfAkOGZAsb+vQLEYfZ9sjqFBQTZJF02A7FBIoJDndBuicBEiABaQQoJkhDSUMkQAIkkBAEAsUEfXSAePEPJybo0xF0SM2aZZd/6y3/hRCNYoIoK0YNvPvuBbRiGoQ+BUEfTaB/qosJxvLiM32qhTFBRjHBOGVBlNGnU4hRFIMGAY89Bnz22YUpDsbpFZHaI6tTUEyQRdJhOxQTKCY43AXpngRIgASkEaCYIA0lDZEACZBAQhCIVUwItQNE4AgBo5gg1kswjgAwOzLBuM5BqKTofps3z57eIKZOiLUQjCMTxNoMwue+fdnTH8QUBzHdItziknYt7EgxwSOXF8UEigke6cpsBgmQAAmAYgI7AQmQAAmQQDQEYhETjOsQiBd04zoJYpqDcYvGUGKCWBdBvPSLF359TQZdaNA/E+e3b78gQOjnhbgQuAVkKDFBtG/UqOwFIUWs+laVbdpc2GEimvZEwzZcWYoJskg6bIdiAsUEh7sg3ZMACZCANAIUE6ShpCESIAESSAgCZsUEfepAsN0c9CkO+qKKocQEXQwQuyyIOl27Al9+6b8TRLBdG4y7OQSb4iASZRxBYJy2IKZIiPUR9NEN+tSJwNEOxqkR4dojq1NQTJBF0mE7FBMoJjjcBemeBEiABKQRoJggDSUNkQAJkAAJeJCAGIUgdokQW2AK8cOpg2KCU+Ql+6WYQDFBcpeiORIgARJwjADFBMfQ0zEJkAAJkIDLCeijD8TWl2J6hZMHxQQn6Uv0TTGBYoLE7kRTJEACJOAoAYoJjuKncxIgARIgARIwRYBigilM7i9EMYFigvt7KSMkARIgAXMEKCaY48RSJEACJEACJOAkAYoJTtKX6JtiAsUEid2JpkiABEjAUQIUExzFT+ckQAIkQAIkYIoAxQRTmNxfiGICxQT391JGSAIkQALmCFBMMMeJpUiABEiABEjASQIUE5ykL9E3xQSKCRK7E02RAAmQgKMEKCY4ip/OSYAESIAESMAUAYoJpjC5vxDFBIoJ7u+ljJAESIAEzBGgmGCOE0uRAAmQAAmQgJMEKCY4SV+ib4oJFBMkdieaIgESIAFHCVBMcBQ/nZMACZAACZCAKQIUE0xhcn8higkUE9zfSxkhCZAACZgjQDHBHCeWIgESIAESIAEnCVBMcJK+RN8UEygmSOxONEUCJEACjhKgmOAofjonARIgARIgAVMEKCaYwuT+QhQTKCa4v5cyQhIgARIwR4BigjlOLEUCJEACJEACThKgmOAkfYm+KSZQTJDYnWiKBEiABBwlQDHBUfx0TgIkQAIkQAKmCFBMMIXJ/YUoJlBMcH8vZYQkQAIkYI4AxQRznFiKBEiABEiABJwkQDHBSfoSfVNMoJggsTvRFAmQAAk4SoBigqP46ZwESIAESIAETBGgmGAKk/sLUUxwj5hw/vx55MqVS+s0zz77LP766y/88MMPWLNmDUaPHo033nhD+0z8X3wujh49evA8ObA/8LrgfYD3Ad4HeB/gfYD3gbi7D3Tt2hVbt25FgQIFMGLECFStWtX9L0+MUAoBiglSMDpvhGKCs2KCEBAmTpyo/TdmzBhce+21WqdYvHgxSpUqheTkZO0/HiRAAiRAApEJcGRCZEYsQQIkQAJuIXDixAns3LkTmzdvRvXq1VGxYkUttAT9ub0AACAASURBVD59+qBatWro2LEjcubM6ZZwGYdEAhQTJMJ00hTFBGfFhJYtW2oCwm233YZbb73Vya5A3yRAAiQQ9wQoJsR9CtkAEiABEsDatWuRlpaG4cOH4++//9Z+YOPhLQIUEzyST4oJ6sWE6dOn49577/VID2IzSIAESMA9BCgmuCcXjIQESIAEZBA4cuQIihYtqokKl156qQyTtOECAhQTXJAEGSFQTFAnJoj1DwYNGoR+/fqhadOmMtJHGyRAAiRAAgYCFBPYHUiABEjAmwT279+Pq666CjNmzMAtt9zizUYmUKsoJngk2RQT1IkJd999t7Y2QqFChTzSe9gMEiABEnAXAYoJ7soHoyEBEiABmQQOHjyIRx55BK+88oq2xgKP+CVAMSF+c+cXOcUEdWKCR7oMm0ECJEACriVAMcG1qWFgJEACJCCNwKZNm1ClShVp9mhIPQGKCeqZ2+KRYoK9YkL37t0xduxYW3JHoyRAAiRAAv4EKCawR5AACZBAYhA4c+YMdu/ejdTU1MRosMdaSTHBIwmlmGCfmNCzZ0+0bdsWtWvX9khvYTNIgARIwN0EKCa4Oz+MjgRIgARkEkhPT8cLL7yAhQsXyjRLWwoIUExQAFmFC4oJ9ogJQ4YMQcOGDdG4cWMVabTNxz///IPz58/bZp+GYyfA3MTOTmVN5kklbWi/UJ06dUrbt5yHtwjkypULuXPn9lajPNga5klOUt3IMW/evHIaJ9nKnDlz8PHHH2P27NmSLdOcnQQoJthJV6Ftign2iAkKU2ibqxMnTuD222/HL7/8YpsPGo6dwNmzZ5GVlRW7AdYkARIgARIgARJwJYEcOXLgkksucU1smZmZmD9/Ppo0aeKamIyBCBFZ/PjFRc5dmZ6gQVFMiJ9chY2UYgLFhFAdZO/evahZsyb27Nnjkd7unWasW7dOm0Lz22+/eadRHmwJ86Q+qfyFSj1zVR5LliyJDRs2oESJEqpc0k8MBC677DIsX74c5cqVi6E2q+gEKlSogEWLFrlmPQAx4lb8gDF48GAmiQSkEKCYIAWj80YoJsgVE66//nr8+OOPEPN24/2gmODeDPIl1b25MUbGPKnPE8UE9cxVeaSYoIq0NT8UE6zxo5gQO7/Tp09j8uTJeOyxx2I3wprKCFBMUIbaXkcUE+SJCSNGjECxYsXQpUsXe5OmyDrFBEWgY3DDl9QYoDlQhXlSD51ignrmqjxSTFBF2pofignW+FFMsMbv9ddfx8mTJzFgwABrhljbdgIUE2xHrMYBxQQ5YsLRo0fRqVMnzJo1S03iFHihmKAAcowu+JIaIzjF1ZgnxcABUExQz1yVR4oJqkhb80MxwRo/ignW+RUtWhQ7duxAkSJFrBujBdsIUEywDa1awxQT5IgJarOmxhvFBDWcY/HCl9RYqKmvwzypZ04xQT1zVR4pJqgibc0PxQRr/CgmWOe3b98+nDlzBqIv8nAvAYoJ7s1NVJFRTKCYEKrDUEyI6lJSWpgvqUpxx+yMeYoZXcwVKSbEjM71FSkmuD5FWoAUE+TkiQswyuFIK+4lQDHBvbmJKjKKCdbFhFWrVmH//v1o0aJFVOzdXphignszxJdU9+bGGBnzpD5PFBPUM1flkWKCKtLW/FBMsMZPr00xQQ5HWnEvAYoJ7s1NVJFRTLAuJtx2220YOHAgbrnllqjYu70wxQT3Zogvqe7NDcUEZ3NDMcFZ/nZ6p5hgJ115tikmyGFJMcEax++++w7Dhw/Ht99+a80Qa9tGgGKCbWjVGqaYYE1MECvGlipVCidOnFCbOAXeKCYogByjC4oJMYJTXI15UgycCzCqB67QI8UEhbAtuKKYYAGeoSrFBOscmzVrhhkzZnhiu3brNNxngWKC+3ISU0QUE6yJCZs2bcLatWtx7733xsTfzZUoJrg3O3xJdW9ujJExT+rzxJEJ6pmr8kgxQRVpa34oJljjp9emmGCdY6tWrfDUU0+hefPm1o3RgnQCFBOkI3XGIMUEa2KCM1lT45VighrOsXjhS2os1NTXYZ7UM6eYoJ65Ko8UE1SRtuaHYoI1fhQT5PCjFfcToJjg/hyZipBiAsWEUB2FYoKpS8iRQnxJdQR71E6Zp6iRWa4wb948TJs2DRMmTLBsiwbcRYBigrvyESoaigly8uSGkQk7duzA5ZdfrjVoyJAhyMrKwuDBg7W/jZ/JaTGtJBoBigkeyTjFBGtiwujRo9GxY0ekpKR4pEdcaAbFBPemlC+p7s2NMTLmSX2eODJBPXNVHikmqCJtzQ/FBGv89NpuEBNq1KihCQjjx4/H999/r/27UaNG6NatG3LkyKFN83XzIeLNyMhA/vz53RxmwsZGMcEjqaeYYE1MqFKlClauXImiRYt6pEdQTIiHRPIlNR6yBDBP6vNEMUE9c1UeKSaoIm3ND8UEa/zcJCZ88sknePLJJ5GUlKT9J47Tp09r/7399tvo1KmTnMbaZEVs23711Vdj3759NnmgWSsEKCZYoeeiuhQTrIkJefLk0VTP3LlzuyirckLhyAQ5HO2wwpdUO6jKt8k8yWcaySLFhEiE4vdzignxkTuKCXLy5IaRCaIl4ro7cOCAX6OSk5MvOien1XKt/PPPP7j22mvx22+/yTVMa1IIUEyQgtF5IxQTrIkJaWlpaNu2rfOJtCECigk2QJVkki+pkkDabIZ5shlwEPMUE9QzV+WRYoIq0tb8UEywxk+v7RYxQYxOENMaxFbo4ihQoADGjRvn+lEJOkfxjC6e1Xm4jwDFBPflJKaIKCZYExNigh4nlSgmuDdRfEl1b26MkTFP6vNEMUE9c1UeKSaoIm3ND8UEa/zcJiaIeIyjE+JlVIKcLNCKnQQoJthJV6FtigkUE0J1N4oJCi/EKF3xJTVKYA4VZ57Ug6eYoJ65Ko8UE1SRtuaHYoI1fm4UE/TRCSK2eBqVICcTtGIXAYoJdpFVbJdigjUx4YEHHsCUKVMUZ02NO4oJajjH4oUvqbFQU1+HeVLPnGKCeuaqPFJMUEXamh+KCdb4uVFMEDEVL15cC+3QoUNyGqjIyqZNmyAWS+fhPgIUE9yXk5giophgTUwQW+OIrWe8eFBMcG9W+ZLq3twYI2Oe1OeJYoJ65qo8UkxQRdqaH4oJ1vjJEhPEs6l4RpV1LF26FJmZmWjYsKEsk9rzs8wYgwXm5ed0aYlwyBDFBIfAy3ZLMYFiQqg+RTFB9tUmzx5fUuWxtNMS82Qn3eC2KSaoZ67KI8UEVaSt+aGYYI2fFTHhv5v3Yc3WA/hr3wkk5c2DP/cclROMTVYuL10EGWfO4bKUQriuUgnUrFRSuieKCdKRSjNIMUEaSmcNUUywJiZwNwdn+2+ieudLanxknnlSnyeKCeqZq/JIMUEVaWt+KCZY4xermPDhF+uQI2dulEwujJJFCyC5aAE5gdhs5eCRk9h/+CT2HTqGHFnn8egd1aR6vOqqq7BhwwapNmlMDgGKCXI4Om6FYoI1McHxBNoYAEcm2AjXomm+pFoEqKg686QItMENxQT1zFV5pJigirQ1PxQTrPGLRUz497Q1qFg+BVVSU+Q4d8jK+j/24s9dB/BMm2scioBuVRKgmKCSto2+KCZQTAjVvSgm2HjhWTTNl1SLABVVZ54UgaaYoB60Ax4pJjgAPQaXFBNigBakSoUKFbBo0SKkpqaGNShGJKSUKIaqFUrJceywlfXb9uLQ4SN4pIXcEQoON4vugxCgmOCRbkExwZqYwN0cPHIhxFkz+JIaHwljntTniSMT1DNX5ZFigirS1vxQTLDGT69tRkz4ZdM+/LLtMBpef6Ucpy6x8uNPW3BD5eK4tpL1kRbczcElSaWY4N5EWI2MYoI1McHLC7twZILVq8u++nxJtY+tTMvMk0ya5mxRTDDHKR5LUUyIj6xRTJCTJzNiwkfz1qOkGJUQ59MbAolt2LYXBw8fxSMtrrIM08vP6ZbhOGyAIxMcToAs9xQTKCaE6ksUE2RdZfLt8CVVPlM7LDJPdlANb5NignrmqjxSTFBF2pofignW+Om1zYgJQyek4/Z6VeNmsUWzZMSijN8s34gBnWqbrRKyHMUEywhtM0AxwTa0ag1TTLAmJnA3B7X9ld6yCfAlNT56AvOkPk8UE9QzV+WRYoIq0tb8UEywxs+smJCVlYXXpv6C1o1rynHoMiuzF/6KXu2uhRADrBzczcEKPXvrUkywl68y6xQTrIkJyhLlgCOOTHAAukmXfEk1CcrhYsyT+gRQTFDPXJVHigmqSFvzQzHBGj+zYoIo98yY79H9wYZyHLrMytj/LMabPW51WVQMRyYBigkyaTpoi2ICxYRQ3Y9igoMXZgTXfEl1b26MkTFP6vNEMUE9c1UeKSaoIm3ND8UEa/woJmQToJggpx+52QrFBDdnJ4rYKCZYExO4m0MUnY1FpRHgS6o0lLYaYp5sxRvUOMUE9cxVeaSYoIq0NT8UE6zxsyomzJ3xH/Tq1tEviClzf8CunTvwwVuv4Y13/4MrrqyC8a+/rJV5sFNX9OrWAYsXfe2r067jE6h5XW307dHZz86zfQaj2/+9eFEDA32K+v2GvIav58/CTyuXaP9OypfP57PuTY0wpG93Xyyi/pzpn2L0+EkoVjxZqpjA3Rzk9Ec7rFBMsIOqAzYpJlgTE7y8sAtHJjhwQZp0yZdUk6AcLsY8qU8AxQT1zFV5pJigirQ1PxQTrPGTISYYX+B1e/oLvy4IBIoJT/XojxtqNwgqFOzcsS2oiGC0rfsU514Z1BM31rlJ+ziYmPBY155amVKlL/WJGa3vfQit2jzo8y9rZIKXn9Pl9DTnrFBMcI69VM8UEygmhOpQFBOkXmpSjfElVSpO24wxT7ahDWmYYoJ65qo8UkxQRdqaH4oJ1vjZLSZUvbqmNiLgy7nTNFf6yARZYkJGxiltpIOwJ0ZDBBMTxOiGbVs34eUXn0PVajVx4sQx3+gFvf0UE+T0IzdboZjg5uxEERvFBGtiAndziKKzsag0AnxJlYbSVkPMk614gxqnmKCeuSqPFBNUkbbmh2KCNX4yxATjNIeGjZpq0wcWL1qgvdgXLFgYBQoW9AUZbJrD6PETfaMExIgGMyMTjD6N0xwCp1wYp0qI0RH/HjkYYhpG4KgIWWICd3OQ0x/tsEIxwQ6qDtikmGBNTHAgZcpccmSCMtRRO+JLatTIHKnAPKnHTjFBPXNVHikmqCJtzQ/FBGv8ZIgJoaY5iPMPdHwCzz/7GDauWwPxYi97ZIJYG0E/hBARamSCKPNz+lK8NWaY31oJel1ZYoKcbNCKHQQoJthB1QGbFBMoJoTqdhQTHLggTbrkS6pJUA4XY57UJ4BignrmqjxSTFBF2pofignW+NktJugLI4oRAxQT5OSKVmIjQDEhNm6uq0UxwZqYwN0cXNelEyIgvqTGR5qZJ/V5opignrkqjxQTVJG25odigjV+ZsWErKwsvJa2Gq0bXePnMNxuDvooAX1dg+tr1Q+5m4O+A4PZaQ7hRkME7uag7wgRbmTCnIW/ome7ayEWULRycDcHK/TsrUsxwV6+yqxTTLAmJnh5lViOTFB2GUbtiC+pUSNzpALzpB47xQT1zFV5pJigirQ1PxQTrPEzKyaIci9PSEeTelWRXLSAHKcusXLgyEksXLEJ/R+uZTkiLz+nW4bjsAGKCQ4nQJZ7igkUE0L1JYoJsq4y+Xb4kiqfqR0WmSc7qIa3STFBPXNVHikmqCJtzQ/FBGv8ohETJszfgOTiRVG1QoocpxGsiJEED7S6xa+Uvtiica0Eq8Fs2LYXR44eRcfmV1k1pY1sEKM4eLiPAMUE9+UkpogoJlgTE7ibQ0zdjpUsEuBLqkWAiqozT4pAG9xQTFDPXJVHigmqSFvzQzHBGr9oxITVW/bjv1sOoeENV8px6hIrP/68FbWrJKNGxRKWI+JuDpYR2maAYoJtaNUapphgTUxQmy213jgyQS3vaLzxJTUaWs6VZZ7Us6eYoJ65Ko8UE1SRtuaHYoI1ftGICaLsx/PWo4QYnXBFKTmOHbaybuseHD12DA//y/qoBIebQvcRCFBM8EgXoZhAMSFUV6aY4N6LnC+p7s2NMTLmSX2eKCaoZ67KI8UEVaSt+aGYYI1ftGKCKP/m9F9Rvmwyql1RWo5zh6wIIeGvvQfx9D3+i0o6FA7d2kyAYoLNgFWZp5hgTUzgbg6qeir98CU1/voAxQT1OaOYoJ65Ko8UE1SRtuaHYoI1frGICaLOx/PX43xWLqQUL4SU4gXjZlFGsdji/kMnsPfgMeTJlYVOkkckcDcHOf3RDisUE+yg6oBNignWxAQvL+zCkQkOXJAmXfIl1SQoh4sxT+oTQDFBPXNVHikmqCJtzQ/FBGv8YhUTRL01W/dj9ZYD2LnvOJIuyY0de47JCcYmK5eXLoLTZ//BZSkFcV3lkrhGwhoJgaF6+TndprQoM0sxQRlqex1RTKCYEKqHUUyw99qzYp0vqVboqavLPKljrXuimKCeuSqPFBNUkbbmh2KCNX5WxASjZ7GDgXiRlnU8+eSTuO6669ClSxdZJrVdFmTGGCwwignS0iXdEMUE6UidMUgxwZqYwN0cnOm3ie6VL6nx0QOYJ/V5opignrkqjxQTVJG25odigjV+ssQEOVFcsPLUU0+hRo0a6Nq1q2zTttrjbg624rVknGKCJXzuqUwxwZqY4J5Myo+EIxPkM5VlkS+pskjaa4d5spdvMOsUE9QzV+WRYoIq0tb8UEywxs+tYsLTTz8N8WLerVs3OQ2klYQnQDHBI12AYgLFhFBdmWKCey9yvqS6NzfGyJgn9XmimKCeuSqPFBNUkbbmh2KCNX5uFROeeeYZVKlSBUJU4EECMghQTJBB0QU2KCZYExO4m4MLOnEChsCX1PhIOvOkPk8UE9QzV+WRYoIq0tb8UEywxs+tYsKzzz6LihUronv37nIaqMgKd3NQBDoGNxQTYoDmxioUE6yJCV5b2OXMmTPImzev1lU5MsFdV+yJEydQsGBBLSi+pLorN8ZomCf1uTl8+DCKFSumOQ4UE/755x/kzp1bfVD0KJ1AoJhw9uxZXHLJJdL90KA1AoFiwunTp5GUlGTNaILU3rZtG6644gqttRUqVMCiRYuQmpoK8WyWkZGBokWLKiWxceNGVK1aVfP53HPPaTEJUUEca9eu1dZQcPvhted0t/OOJj6KCdHQcnFZigkUE4zd85NPPkHv3r3x9ttv46abbkLNmjWxZ88ejB8/HoMGDcK8efNQp04dF/do74Y2evRovPnmm3jnnXdQvnx5tG3bFr/99hteeukljBs3Dt9//z2qVavmXQBx0jLmSX2iHnnkEfz88894//33tfvVxx9/DLE47gsvvIBZs2bhp59+QokSJdQHRo+WCKxYsQJ33HEHXn75ZW3RN11MEC9YYjG4N954A+3bt7fkg5WtExDXXrNmzbRnBDEUXhcTVq1apeVN5K9z587WHXncgviRoF69erj11lsxatQoNG/eHF999ZX2nT927Fjt+1/0e5WHEDZy5cqF119/XRM2RG6LFCmiCQrVq1fH8uXLVYYTky+KCTFhU1KJYoISzPY7oZhgTUzw2m4OQv3Onz+/9iuC+MI4deoUMjMztf8KFCigjVbg4QyBXbt2aUMMRR7ErxPiV4oDBw5owVSuXFkTFng4T4B5Up+DH374AS1atNBGIJQqVUp7+N26dau25VirVq0wffp09UHRoxQCQkAQ9zqRU/E9JEZnHTt2DOLXbvF9xVEnUjBbNnLppZdqeRGHGC0iniGOHj2Kc+fO4dChQ75RdZYdedxA/fr1tRd08fyVJ08eiFFXoo+Lvi9G4qg+PvjgA21ag3guFDGIfIojZ86cmDlzJm677TbVIUXtj7s5RI1MWQWKCcpQ2+uIYoI1McHe7DhjvUePHtrIBPGgph/ii+TDDz9Eu3btnAmKXjUCgr8QsIyHEBamTZuGJk2akJJLCDBP6hMh9j9fvXq1n2Px4imG4ophwjzik8DkyZO1fe1Pnjzpa4CYiicWgROjgHi4g8CMGTPQsWNH7QcI/RCCghiRIH5R52GOgBjlIUYmiOly+iHEmRdffBEDBgwwZ0RyqeTkZE0QMh5iVIK4t/IgASsEKCZYoeeiuhQTKCYEdkchIohfv8+fP+/7qHTp0ti9e7eLem5ihiJ+9RajEIwPbPxSd19fYJ7U50SMTmjdurX2a6h+tGnThqMS1KdCukcx2mTfvn0+u+JXUY5KkI7ZssFy5cpB3PuML8EHDx7kqIQoyeqjE/RqYoSCE6MSdP8TJkzQxDtd0BPr00yZMkWb2sKDBKwQoJhghZ6L6lJMsCYmeHU3B+PoBI5KcNEFGzA6gaMS3JUbYzTG0QnMk5o8GUcncFSCGuYqvBhHJ3BUggrisfkwjk7gqITYGIpaxtEJTo9K0FuRkpKC/fv3a3+KaQPr16+PvYGKa3I3B8XAo3BHMSEKWG4uSjHBmpjg1YVdjKMTOCrBXVew8VdvjkpwV26M0TBP6nNjHJ3AUQnq+dvpUR+dwFEJdlK2blsfnSBegjkqIXae+ugEp0cl6C3QBT0h5omFuu+8887YG6e4plef0xVjtMUdxQRbsKo3SjGBYkKoXidGJ4hVhMXK6FwrQf21Gc6jyMfnn3+ubYPHtRLclRtjNMyT+tyI0QnilyjxyxnXSlDP3y6P4mVGzL/v1q0b10qwC7IEu2J0wkMPPcS1EiyyFKMTGjRogP79+zu2VkJgE8SOOGLE1/bt2y22Tm11iglqeUfjjWJCNLRcXJZigjUxwWu7ORi76pEjR7St1YSgwMNdBMSXudgqSmzXxMO9BJgn9blZuXIlvv76a9c8gKsn4F2PYiFGsWVe4cKFvdtID7RMCD5DhgzhdqwWcpmVlYUvv/wSt9xyi7aGlRsOIdKKkUGVKlVyQzimY+BuDqZRKS9IMUE5cnscUkywJibYkZV9q1bij8+mIjMjA8cSfCvGwimlkLNAflRo+yBSbrjRDtxR2WRuLuByW26MiWSe1OdJMN8+dw4yz57B0W3borquvFi4SIUrkDNvXqTedY8r7l1mGPO6UX/dmMlLYBnmiXmKpd84WcfNzwtOckl03xQTPNIDKCa4S0zY/fVX2J42BZdecgny5cmt7ZOeyEdmVhZOn/sHf589i9SHOqJMI+f2NGZu/Huim3JjjIx5Up+n3Yt/wM55n6NCg4YoULIkcubKlci3La3tmefP4+T+/di2+AdNUChV/yZXM+F1o/66iaVDME/MUyz9xuk6bn1ecJpLovunmOCRHkAxwZqYIHM3h70rluOPD9/DlYULeaR3yW3GlqPHULFLV6TUqiPXsAlrzE14SE7mxhgZ86Q+T3tXrsCOmdNxzV13m7iSErPImlkzUOH+B5ByYy1XAuB1o/66iaUjME/MUyz9xm11VD8vcDcHt/WAC/FQTHBvbqKKjGKCNTFB5sIuK5/vidKnM1Agb96ocpgohU+eOYO9+Qqg9ohRypvM3IRH7mRujJExT+rzlP5iX6Redz0KlSql/LqMF4fH9uzBn7+uQa2XhrkyZF436q+bWDoC88Q8xdJv3FZH9fOCzOd0t7GM93goJsR7Bv8XP8UE94gJy595ClcWzI+cCT61IdSlJYbJbT2ZgXpjxyu/+pib8MidzI0xMuZJfZ5W9P4/1Gj+L05tCINeTHlY+9WXqDvKnQum8rpRf93E8iXGPJnI04lTqPfmW7HglVaHeTKRJ4XPchQTpHVt6YYoJkhH6oxBWWLCpk370bbtf7BmzW6tIS+9dDsGDPCf3z506HcYOPAbX0OXLHkSDRqk+jV86dLt6NZtDtLSHkSVKiV9n4m64gi0KYNanfrzsHLZjzGZkrmbw4L77saNVavGFEeiVPpp40Y0mzZLeXOZm8jIncqNMTLmSX2eBPOGT3aN7DjBSyx+521H7l1msPO6iUyJ97fIjNxQgnlyQxYix6AyT9zNIXI+nCpBMcEp8pL9yhATggkA4uV/165jGDPmTuTLlweBf+viw/jxrX2CQkbGOQwalC021KxZBu3bX+d6MUFmOsQDXa3qV8s06Tlbq35b58gDOXMTuSs5lZtAMYHXUPhcyc6TJiZ0fiJyB0nwEos/eM+Re5cZ7Ly/RaYk+7qJ7PHiEsxTZGrMU2RGbijhhjy5gUOix0AxwSM9wKqYIASAHj2+QIcO1/mNMjCev/76slqZhg1TwwoEQmD48MNVePDBa/Hqqz9g3LhWSE7O3l/XrSMTZHYD7UGhZk2ZJj1na9WaNY48kDM3kbuSU7m5SEzgNRQ2WbLzJK6Nmx55NHIHSfASSz7+yJF7lxnsvL9FpiT7uonsMYSYwPub0vsb8xQLgch13HA9RY6SJewmQDHBbsKK7FsVE4QAMHjwt34v/nroRgFg8uRf8NBDaUGnP+jlRRlxiBEJom7jxhV9AoVbxQSZuzmIB7raN9ygKPPx6Sb9558deSBnbiL3F6dyEygm8BoKnyvZedLEhA4dI3eQBC+xZNJER+5dZrDz/haZkuzrJrLH4GIC729q72/MUywEItdReT1xN4fI+XCqBMUEp8hL9munmCDEgW3bDvnWOTh48CTat0/DggWbtVYY11XQpzg89lgtba0EMXVi4cLffXXdKibIXNhFe6CrXVtyhr1lLj093ZEHcuYmcj9yKjcXiQm8hsImS3aexLXR4MH2kTtIgpdY+p/Jjty7zGDn/S0yJdnXTWSPIcQE3t+U3t+Yp1gIRK6j8nqS+ZweuWUsEQ0BignR0HJxWZVighGDPg1Cn/oQuICjKNusWWVMntxWm+qQKGJCnfr1XdxbnA9t5bJljjyQi4dt5iZ8/p3KTaCYwDypzZMmJtzf1vmbg8sjWPpZmiP3LjNYeH+LTIn3t8iM3FCCeXJDFiLHoDJPFBMi58OpEhQTnCIv2a9VkIbTBQAAIABJREFUMcHMmglVq5ZE//5fY9iwpr41EEQzjCMXgokF4twVVxT3TXsQdby+m0OdhjdLzvAFc1v27sOjn0zEb7v+9p2sXvZSfPRwR1QqlYKMs+fQf9ZsrNqxw3dOLzjtp5/xxKTJeK9De9x344WpGCu2/YHe02dcVN6uRqxc/KMjD+Taw7aJ3Oic9PZ/+ewzqHtFBe3PUQu+xivzv/JDc1vVKniv40PYvHcf/vXvN4Ni020E5u+R+vUw7O67kO+SPGFxC7/i6N2sqV+5QydP4omJn6JXs6a+GPUCkfpKMIdO5eYiMcFEngLj1/t+maJF/DgJDi/MnIUR99ytXSPGIzDX+mf9WjS/iHWgv1A5idaf2T5g9C87T+LaqN+mjV8Tt/y9G30+mYSRD3dApUvL+D57deZspKakoO1NF0RTcW7YtBlamRqXl8eE7k/71RG2Oo0dh7U7/tTKPHpbYwzvmD0Sou/Eyfjou4UXdUdRpvc9rfHMux/g21/X+n3e/742eP6eu3znAu0Hfp62ZBkeH//2RT6+HjwAdatUhjF+Y6Em19TAB093RfFChbTTy2bMcOTeFfbm8L8Pzd7fzNgKVkZ8T4j7W+C1od+DRB1xHyxeIHuNpFDXo2473H021hgj1ZN93UTyF+xz2XkK5Kh/vwe7/+vxGJ8BxH1s95Gjvu+hYN9xop7+PSfyG8pnLDyC1fFinozXhJnns2B5MF574rrrM30mnm/ezPe9pl9zHy9brmE15kxWbox2VOaJuznYkUE5NikmyOHouBWrYoJogNndHERZXQzQpzyIhRubN6+sTX8YMKCx3yKOQmxYvHi7tiPE6NHZWze6TUyQmUDxoFC3USOZJv1sbdm7F89Pm4lX77sHlUqV0j5b8fs29E6bjo8eexjlihVDvxmzcDQjA81rVMf9tW7834PdWQyf96UmQrSrU+ui86JQ9XJlfedta4CId9EiRx7IzeTms1U/IW3lKrzfqSOKFyyAQydO4vEJE9H7X81Qt+IVGPnlAg1Nn3818yESdbYfOOh3Llg5kbtHP/wEo9req9kShyi3+8gRvNLmbuS75JKQ2IPZE4UD4zMaiNRX9P5jrONUbowxmMlTMFDiOkhLX5V9j2l5p5Y/cQTjoNcXuVu+9feI/IP5C5WTaP2Z7QN25kkTE1pfeDnXuO3ejT6TJmNkh/aoVMYgJsyeky0m1K+HjLNn0XfyFJQpVhTP39U6m/fu3eg07m289nAH1K1c6aK/RZlXZ8/B7sNHMLz9A75+H8zfoeMn0Pntd9HnrlaaLXHoPts1qK+dW7F5C3p+MgkTnu7qizPQftqy5Vi+abOfP1Fv5Oy5+KBrFxQvVFCzHcyfkfuyObMduXeZuR/Het2YsS3KiOtL9NVi+fNj1P33+q6vcOeDXY/CVqT7rNmYoi0Xz/e3YG0NxbGt4Tte5x3sPifuVW8t/F4z/VTjW33PFOG+W8z6jDY3dt7fYonFjutJ3LvMPp8Ffr/odcsULao9a4jv/t6fTccLdzTX8qY/Cxhzb3w2DPZ9HwsXt+XJahtY3zoBignWGbrCggwxQTQkcJqCcT0EvaFipMHAgdlbP4rj00/baqMOhBgxdOhC35QG/XPj9pFi/QRjXVEmmI9YoNapPw8rl2WLFU4e2hdQk9ttC2HLnr14/rNpePX++1CpdLaYII6R877U/v/M7beh37QZqFn+Mmzbvx9977xDe1gX9SYtW6aVqV62HO6vU0v7t37+vlq18MaCrzGq3f0oXjD7wdquY8W33zjyQB4pN4dOnMDjH01A7xb/Qt0rK/qav2Lr70hbmY5X7muDN7/5Tjvf545/Bf1cFwT0fASWGzX/S7z/aCcf41D5DGQfzJ4oEypmPbfh+ooxNt2fU7kxtjdSnkL1S8Ho5iqV8eOmzUgtUcKvjwfjIOx8tnIVlm/dquU2nJgTzGeonITLaTB/4XIYqq2y8ySY17vzTj93W3bvQZ/JUzCy/QOoVKb0hXvNnM+RmlIS99erixVbtmLqsuUY/kBbP37G82t2/ImRcz/HB10ev9Dvg9gO5k+w6fzu++jTqiXqVrryohha3nA9+k5JQ7v69fw+1wQHw/nPlq/Ass1b/OIUtntN+g/63tXK175Q/nTHy7/4wpF7l5l7cazXjRnboox+HyyULwktrrnGd48U10FK4UJYvGmz3/dHqOvRzH022mvRdBsc+u6RcX8zew8Kdo8JdZ8T5/Vj+4EDft9rofIU7L5n5T4arF2y729m+4ddedLtaoKAyeezYJyN3y3JBQug99TP8MKdd2jPgiIHgTnUv+OCnY+FSWAdN+RJRjtowxoBignW+LmmtiwxwTUNiiEQK2KC7N0c6jW/8KIZQ1PCVtmyZw/6TEnDyAfaolLpCw/4K7ZuxdTlKzHw7tZ4adYc3F79asxY9RP6trpTK/fZipWa3e37DyC1ZAncX7eO9rd+Xvw98vN5uPmqKqh75YWHdtnxC3vLv/rSkQdy7YUpTG4Ew5Gfz8cHjz8aUlARjMTRp+UdPjRmz2kvKu9/hH3HjuLjLo/75S8S52A+RB3dZp+WLS7KW6S+MrztfRe9QDuVm8CHuGivIcFB9HvR/w+eOIFJi5eib+uW/xPSgl8zev9ftmUrgrGINSehuIfzJ/JrvC4j+Zadp2DXRqh2GGMNFbexbnLBgqb6fTB/wfq38ZywPXzuFxj9YLuLrlnjNSPuc4F5Dna9h7uenLx3ReoP4vNI9zczNsKV0b9japYvj/3Hjmn3QP26a1evDt5b+L0vD+GuRzP3Wauxhqov+7qJJU6ZeRIsm40YhUduuTnsPSxY/xcvtsPnfI4ODRtAXEf6/VP/MSHUtWDWZyxs9Dpey5PeLk3kTJtm6vks2He+Xl9cb5VLl0av/0zVnvHKFS+u2RXnA5/f7LzeVOaJuzlYuaLsrUsxwV6+yqxTTACsiAkyF3YJ9gufzI4Q6tdC/ZfAgW3uxkszZmm/1P24foP2C6L49W74rDnocHNDzEpf5ftVUXuY+N958cujsCHq9GndUmbIF9ly6te9SLkJ9SursQEj53yOYbPm+LXpkUa3XPTLrCiniQ5BWIpfSR9/9wPt8xrlL8PHXbv4/fIbDH4oe+F+SY3UVwJ/TdZellzwy2ukPAXjY+y7gf06FAft5d6QC6PdBf1f8PulO5qcRPIX+Au5sC3yq//ab+bik52nYL9qi1/BHv3gQ6z9a9dFIb33SCdt5If49cw4CkQvKPql8VczjfXKVXji4wnZ/b5cWXzU+TG/0VXBRnTov45+t36DXwy6f1FnxBfzgo6oMv5SZ/StGwoWQ6RRIm7+JS6W68ZMX9PL6PfHRxvdgjfmfYXRHR7E5t17tO+Mu2vXwvDZc7Vz4mU03PVo5j4bTVzRlJV93UTjWy8rO0/6KJyPF/2guQj2fRRsZI64T036cTH63t1aE13FPejmalf57nvhvlvM+IyFjV7Hi3kSbTOOmIr0fBbsO99Yv3KZ0r6RVeWSiwcdoSV8ijwbr00reQmsqzJPMp/TZTKgLYBigkd6AcUEd4kJgXOPZXazUPOY9TnBA+9rg5emzYCYTyyOH9avxz11amP4zNkY3bED3v/uO998Z31u89o/sxdFE0eTGjX85hDLjF235dS842Dzwo3tCzaHOrD9Yi62OPT54aH4mC1nxqfwEcpeuDnekfqKcb6607kxcoyUp2DMBZ9hM2b5ffR+1y7avP5QHEThYHPpzfb5UDmJ1p++BkC9KpW1eM0csq+hYPODQ639IObyppZI1tZXMf7bGHfgfN7ANom5vKO+XOBbm0R8HsxfuDVB9Doj5n3lN4df92VcyyRwbYxY1iARdt0w5z5U/4jlujHT1/Qy4l41dekyDLy3DcbMm4eOt9yMmSvTte+T6yuk+r5jxPoT4a5Hs/e8aGIzW1b2dWPWr9X7WzR+gt2Xgt3nxLnH337Xz3T/Nnf7vtsirR9irGj2+85sO7yaJ+N6L4JFuOezYEyNOalcpgx6TZyEvvfchXLJydraNfo6MkbO4vtIf/7T14Yxm4dI5VTmiWJCpGw49znFBOfYS/VMMcGamJCWloa2beVsixZsVXSZyQ63wrrw0/3OFtrq6O0aNkDlS8vgpbTp2qrqJ06f1lY/N67ELv4tDuOq6MFWapcZv7Dl1IrokXJz6PhxdB73Nvrcc5e2wrt+COYTF/2Afvfdg7FfzL+IWTA+wdiKFeXFYVwFX/jsNWEi+ra5x2/1+0CbweyJMqFiFp9F6ivGvOv+nMrNRQ/bATsLhOuDwdopzg2fMROjO3XEweMngu5KIGyKnCzfuEnbWSDaedqhchKKeyh/4XIYqt2y8xRshflQu1KIVcZTk5O1HWHECv/iRT1wRxLj+S9+/VVrhnEHmWArkQfzF263EmFTX71cCBv6jivBzovV55f/vs0Xp263ba0bL4or1O4owq7K1cujve9Gur9Fay+w/IpNmzF18VLtWpmb/hMOHDuGn3//Xbt3iSPc9Wa8HkXZSPfZaK9Fs22Tfd2Y9Wvl/hbKh3gxfWXaTHRsdIvfd4cxTzrHwPtcsHtO4HdRsDLR+IyFTTx/D5lpryYmWHg+M363JBcq6PfsIHK8fd8+v+c5/Tsn2Hkz8UYqo/J64m4OkbLh3OcUE5xjL9UzxQRrYoLMZIgHOjv3a9/899/o8/EnGPnIw6h86aVa6OJlqOeHH2NCj+64rEQJvPDJRLRr2BDXXlFB+/dH33yHr18ajHpVq+DV6TORWioFTa6tic5jx6FPm3u08/qRtngJlm3ciBEPd4z65cosR6f2ajeTG9H+qT8uxgfdn0ZyoUI4KASGsePQ7uaGaNvwJo2fOJ6/N/sBOtQRrFyw3AX6i8aeKKvHF5hH8VmkvqL3H6NPp3IT+LAdzTUUrM8auSQXLnTRNSOjv4fqC8G4h/Mn7Px9+FBU15zsPGliQv0LWz2KeLfs24cXZs3FiLtboVLKhS01R339LVKTi+O+G65Hxrlz6D/7c5QpUhi9mzbRminqPTpxMka1uRt1K6QGtTPt5/8i7af/4r2HHvBtJRjMn/bS/+kU9GraRLMV7Fjxx3b0njELH3Vs74tTxLj76DEMu6sl8uXJA+Fv+bbtvr+FHVFv9Nff+sUQyZ/KfdXN3k/1cmbub9HaNJYX3zNTFy/W+unqbX+g6cDBePT227S/dx44gOHTZmD0o53w7eo1F32HBN6nIt1nrcQZrq7s6yaWOGXmKfDeJ15WxXf+pcWK+31HBZYTuRw5Y6bve060Q69bv2pV7bsu1HeLWZ+xsNHreC1Pert0xpGez4I9awTmVuSn10cT0Pe+NtqzYOCzivBpfDYM9n1vJUeirhvyZLUNrG+dAMUE6wxdYYFigsvEhAez90+349i8axc6vfYG1m7f7jNfIzUVE3o+h8plyyLjzBm88PEnaHfLzah3VVWk/bgYU7//ER/06K69HL86bTpSS5VC+ZIlMXLaDN953Zhu/7XHH9Pq23Es/c9kxxZgbGAiN4JZ5zfG+pr+wXPd0fbmhtrfgp84nr/v3rBoQpULzF+Ta6+9KAfBDAt7L09J8/voxQfaonPzZug8Ziy+Xb3a77Ovhw2FeIkO11eC+XEqN8ZYtIdtE3kSdfT+Xr/aVb4c6bYEs78PHkLnZk3R5c3xQa+ZX37f5pdrve6jTW/HiEceRr68eUPmOVRO7q5fLyT3YP7M+AoMQnaeBPPatWv7udmybz/6zv0Cw8UiriklfZ+N+nYhUosXx33XX+t3bvjX32p/Vy9TBh+2b+dXR9h6bPJU/LZ7t1amceVKeO+BtiheIL/PRjB/h06ewhNT0tC7SWPUSb08ZC4C7fdt2kSrox/T/rsay7dvx7CWd2jigtZ3hBDy+TyUKVzYVzaSv/T0dEfuXWbuw9FcN2bsBZZZvmEjpv7wo3ZdnDp7VrvvtLv1Zu26E/e14WnT8PLDHbTvlXDXo35dhbvPxhKfmTqyrxszPgPLyM5TIEfxvRD4/STKLFu/wXdPC/X9ZHxeEHGLHPe5r81FzwJmfMbCRq/jxTwZv68iPZ+JayrU94ueW01MeP9D9G17n/bsZ7T/0dfZO66Zfb6INVduyFOssbOePAIUE+SxdNQSxQRrYoLs3Rxu6tDR0f7gdudLJk105IFcPMQxN+F7h1O5MUbFPEW+gmXnSRMTbrghsuMEL5H+88+O3LvMYOd1E5mS7OsmsseLSzBPkakxT5EZuaGEyjxxNwc3ZDx4DBQT3JubqCKjmGBNTJC5sIv2oPDIo1HlL9EKL/n4I0ceyN2cm+Xr1+P23i8E7QovPtQeLzwgZ02PSH3NqdxcJCa44BoaMSUNL386OSiyb0aNQL1q1SLhtO1z2XkS10atmjVti9crhletWePIvcsMPzff38zEr6KM7OsmlpiZp8jUmKfIjNxQQmWeZD6nu4Gdl2KgmOCRbFJMcJeY0LDzEx7pWfY0Y/EH7znyQC4e4pib8Dl1KjeBYgLzpDZPmphQ/Wp7LngPWV312zpH7l1mEPL+FpkS72+RGbmhBPPkhixEjkFlnigmRM6HUyUoJjhFXrJfignWxATZuzk0fLKr5Ax7y9zid9525IFce9hmbsJ2Jqdyc5GYwDwpzZO4Nm6sas8aKV66e/20caMj9y4zDHl/i0yJ97fIjNxQgnlyQxYix6AyT9zNIXI+nCpBMcEp8pL9UkywJibITMfyXj1wzb9aIGeuXDLNesZW5vnz+HX+PNR77Q3lbWJuwiN3MjfGyJgn9Xla1q0LKhUuhJw5cii/LuPFYWZmFracOIH6495xZci8btRfN7F0BOaJeYql37itjlueF9zGJRHjoZjgkaxTTHCPmJA+oB9Sr7sOhVJKeaR3yW3G8b17sGPtWtQaPFSuYRPWmJvwkJzMjTEy5kl9ntL79kHpUyeQP8zuFSYuMU8XOXnmDPYVLIxaw0a4sp28btRfN7F0BOaJeYql37itjlueF9zGJRHjoZjgkaxTTLAmJsjczWHfzz/hj7T/oObdbTzSu+Q2Y83M6aj4YAeUuO56uYZNWGNuwkNyMjfGyJgn9XkSzH9/9y1UKlTQxJWUmEU2HzuOyk8948i9ywxxXjfqrxszeQkswzwxT7H0G7fVUf28wN0c3NYDLsRDMcG9uYkqMooJ1sQE2Qu77FmyGDtmz0CFm29BwZRSCT/lIfOff3Bi/35s+34RUu+7H6XrNYiqf8sszNz403RTboyRMU/q8/T311/hj4kTULZQQeTLk4dTHgBkZmUh49w57Dp+AhUfeRSlb2sq83Yk3RavG/XXTSxJZJ6Yp1j6jdN1nHxekP2c7jRLL/mnmOCRbFJMcJeYILrV/p9/wvY5s3H+TAaObtvmkZ4WWzOKVLgCufLlQ4W77nHFr3rMzYU8ui03xh7GPKnPk2C+LW0KMk+dxLG9e2O74D1Uq3BKKeQqWBBXtHvQFfcuM2h53ai/bszkJbAM88Q8xdJvnKzj5PMCxQQnMx/eN8UE9+YmqsgoJlgTE2Tu5hBV4liYBEiABEiABEiABEiABEggJAHu5uDezkExwb25iSoyignWxISoYLMwCZAACZAACZAACZAACZAACSQ4AYoJHukAFBMoJnikK7MZJEACJEACJEACJEACJEACcUCAYkIcJMlMiBQTrIkJMndzMJMvliEBEiABEiABEiABEiABEohMgLs5RGbkVAmKCU6Rl+yXYoI1MYELu0jukDRHAiRAAiRAAiRAAiRAAhII8DldAkSbTFBMsAmsarMUEygmqO5z9EcCJEACJEACJEACJEACdhOgmGA34djtU0yInZ2ralJMsCYmcDcHV3VnBkMCJEACJEACJEACJEACGgHu5uDejkAxwb25iSoyignWxISoYLNwXBPIzMxEzpw547oNDJ4ESIAESIAESIAEnCTA5ykn6bvHN8UE9+TCUiQUEygmWOpAHq986vhp/LZ0C7b9uhMnj2fgbMZZj7eYzSMBEohnAiXLJmP/roPx3ATGTgIk4HECSfnzIl+hJFSsUR7VG1ZCvgJ5Pd5iNi8YAYoJHukXFBOsiQl27+Zw4uBanNr/K04f+x1nT+7GudOHPNLzQjejQLErcf6fs8hbuAKSilyJ4pc3daTNQkj44t3vUahwIZQqm4LCRQs5EgedkgAJkAAJkAAJkICXCBw7fBx7d+3D8ePH0bJrI9sEBe7m4N5eQzHBvbmJKjKKCdbEBDsXdtmz7kNknTuCPHnzI6lASSQVLIXcefJHld94LZxxYg/OnNyHc2dO4+i+tSh3Qx8kFU5V2pz0+Wtx8K9jqHR1RaV+6YwESIAESIAESIAEEoHAlt9+R4nLC6NW8xq2NNfO53RbAk4goxQTPJJsignuExOyMs9j6/dPIblcbRQvc61HelrszTh7+ij+2jgXpap2QoGS6nhMHTkfla+uxBEJsaeONUmABEiABEiABEggJIFjR45j87otaNenhS2UKCbYglWKUYoJUjA6b4RigjUxwY7dHDZ/+xjKV79PG43A4wKBP3+bjiLlW6BI2Ya2YxGLA00YNAs3N29guy86IAESIAESIAESIIFEJfDjgmXoNPguWxa55m4O7u1VFBPcm5uoIqOYYE1MiAq2icK7f30LSfnyo1hpe4Z7mQjB1UU2LnsdlZt8jJy5LrE9zrd7TcHtdzey3Q8dkAAJkAAJkAAJkECiEvhm1iJ0Hf1AojY/YdtNMcEjqaeY4B4x4fien3D87+9waaUmHuld8ptx8uhOHDnwB8pe20O+8QCLFBNsR0wHJEACJEACJEACCU6AYkJidgCKCR7JO8UEa2KCzN0c/l4zFvkLFEbRUhyVEO7y2rhsDCrf9gFy5k6y9SqkmGArXhonARIgARIgARIgAdgpJnA3B/d2MIoJ7s1NVJFRTLAmJshc2GXb4p649MrbtF0beIQmsP3XKUip9jjyF6tiKyaKCbbipXESIAESIAESIAESsFVMkPmczlTJJUAxQS5Px6xRTHCPmLDhy7a46qY+jvWFeHG85/fvcEmxa1D88ua2hkwxwVa8NE4CJGAgMH7CGO2vbp0uTOHa9udWvPnRaxjYYxiKFSkektfPv6Zj9oLp6N99CNZtWot2T7XGVVdejcfbd0P66uXa+aS8+UzxFrbGfzIGrw0cH9anKWMsRAIkQAImCNg5MoFigokEOFSEYoJD4GW7pZhgTUyQtZvDudMH8efKQah4/SOyU+w5ewd3pSMzZzGUrNzO1rZRTLAVL42TAAlIEhOMIOd+PUP7s1XTNjHxpZgQEzZWIgESsEDATjGBuzlYSIzNVSkm2AxYlXmKCdbEBFl5+uf0Ifyx7HlUqvWkLJOetXPwr5U4n7MIUqq0t7WNFBNsxUvjJEACUYgJh48e0kYpFCxQCFPnTNJqTn1rDm64pjb0kQk1q12PvsOzRzY817kP6l7fwDdiQZwbNnbQRXXFeTEC4rmBT2LD1nVavZ/XpnNkAnsnCZCAMgJ2ignKGkFHUROgmBA1MndWoJhAMcGdPTN0VBQT4i1jjJcESCASgUjTHISYIF74Oz/YVRt1IMrv2b/bN7VBn+bw9Q/zsfPvP7XpEsbpDx9OeUcLQT8/5PV+eOOld7SpDD1f6oa7mt3rs0sxIVK2+DkJkIBMAhQTZNKMH1sUE+InV2EjpZhgTUyQtZsDRyaYv6AoJphnxZIkQALxQcCMmDD0jQEY8NxQXFH+Sj+hQKyTEE5M6Pbwc+j3ak90e7iHNpLh9JkMbZSCEBCKFS3uty6D2XUa4oMqoyQBEogHAnaKCdzNwb09gGKCe3MTVWQUE6yJCbIWdqGYYL7bUkwwz4olSYAE4oOAGTHBuBhj4KKLZsSExSu/94Px2sBxKFv6Mr8FFykmxEd/YZQk4CUCdooJsp7TvcTbLW2hmOCWTFiMg2ICxQSLXUh5dYoJypHTIQmQgM0ExMKJ+vQE3ZVxMUR9zQR9Z4doxYRX3xqKZx7tqY1qMB6B4gHFBJsTTfMkQAIXEaCYkJidgmKCR/JOMcGamCBrNweOTDB/QVFMMM+KJUmABOKDgBAH9HUMxAu/PhWhdMky2joHgS/50YgJYmtI45oJ+oKLg/7vFVxdpYY25aFWzTpcMyE+ugqjJAHPEbBTTOBuDu7tLhQT3JubqCKjmGBNTIgKdpjCFBPMk6SYYJ4VS5IACcQPASEQtHuqtS9gsbOCEBLEYVVMEDaMuzmIKQ769pHG3Rz6PTNE8/V/T7ygLc7IgwRIgATsJmCnmGB37LQfOwGKCbGzc1VNigkUE1zVIU0EQzHBBCQWIQESIAESIAESIIE4IOAmMWHoUGDgwAvQliwBGjQID3HTJmDwYGDcOCA5OXRZUa5tW6BuXWDMGCBfvuyyGRlAjx7AihVAWhpQpYr5pE2eDCxe7G8vsLbZ+Mx7lVOSYoIcjo5boZhgTUzgbg7quzDFBPXM6ZEESIAESIAESIAE7CBgp5gQzW4OQkjYtevCi7n+8j9+fHhBwezLuijXvTtQrBgwZMgF0UCcHzQIOHwYGDuWYoIdfYw2bSRAMcGamCBrlVhOczDfyVWICZmZmfhkyGw0bFrffGAsSQIkQAIkQAIkQAIkEBWBxQuW4eHBdyFnzpxR1TNT2Oxzuj46oGFDoH37C5aFwCCOXr2yRw906JAtLBw8CDz9dPaIBHGI/9euDfzf/wE1awYfYaCLDqJcSsoFP2J0wb59QHp6th0xMkEXMtasAZo1A0QZfdTD0qXATTdl+2naFDh2DHjlFaBfv/Dx6SMn9Poi7i5dLognxvOBPs2wjrYMRyZES8yl5SkmUExwadcMGZYKMUE4nzpyPipXq4TCxQrFGyLGSwIkQAIkQAIkQAKuJ3D08DFs3bAVbXu3sCVWs2KCcC5e2B96CHjpJWDAAP9wdLEhlJggpi+0aZNdL9TUA11MaNcO+PLL7Jd4cYjkygs+AAAe40lEQVRRCa1bZ0+TEGJCiRLZQoPwJf5vHDHx55/ZUyXEaInrr88WOMRhVkw4cCB7dIQYAVG+fHb9smWBp566II4IMUO0QRxGYUV2gigmyCbqkD2KCdbEBO7moL7jqhIT0uevxcGdx1CpekX1jaRHEiABEiABEiABEvA4gc2/bUXJy4uiVvPqtrQ02t0cxIgD8QK9YEF2OLqwEElM0F/QxYu4cdSCcf0DXUwQUxyEgKCPavjww+wX/N69/Uc66CMJ9OkRQgAQYsCkSf6jCcTfZsWEr77yX2NBjEYQ9V988YL/aNZssJI0iglW6LmoLsUEa2KCrFRymoN5kqrEhIyTZzB33EIULloYpcqloHBRjlAwnyWWJAESkEng8NFD6PlSNyxe+b1mtl3rDhBbPiblzV7BK/DzhnVuxWsDx2s7MuifdXu4B264prbMsGiLBEiABGIiIEYk7N21D8ePHkfrbo2RVCBvTHbsrGSc+nDPPZGnOegv/5HEBFHurbeAxo2B7duBbdv8RwYIwUCMRtCnNhjt/fRTcDEgGjFBjL4wHvqUBuFXjHoQUyuM0x/sYkwxwS6yiu1STKCYoLjLWXanSkwQgQpBYfW3G7F94y6cOpGBsxlnLcdPAyRAAiQQDYETGccxYf541K52E2pfdZNWNX3DEmz9axPuvbUDzv5zxvf5nU1aY9+ug9rn6euXoFOLblp5Uf9fde9GxbJRLBMeTZAsSwIkQAImCSTlz4t8BZNwedWyuO62qq4QEsQLe//+wLBh/jsyiBd68bIfuGaCcbSAaLZxZILxs2AjE4SYsHEjMGdO9noHYjpD1aoXr8FgZWRCYHz6bhNiZIJoT+A0jsDU6e2OVM5kyoMWo5hghZ6L6lJMsCYmcDcH9Z1ZpZhgbJ1YlNGOxYHUE6RHEiCBeCIwefJkLF68GGPGjEG+/+0llpGRgR49eqBDhw4oUaIEunfvjrFjx6LK/55cDx48iPbt22PAgAGoWrWq798NIu1xFk9gGCsJkEBcElD5PBXtbg4CqP4CrU95EC/7+sgEsb6Avi7CqFHZCy2KQ/yiL6YpiCkSkdZMECKBPgqgdOkL6xPoCzqGWzPh1KlsHyKGYGsmhIpPFxOMayaIrwt9PYauXYERIy5sb8k1E+Ly0nImaIoJ1sSEaBZ2CZdhM9McNm3Zju59RmPsyF6oUinVZ27oqx/gitSyaN/2XxD/HjjsHT9XL/V/EgOe76ydEzbaduqHurWqY8zw/0O+fEna+YyM0+jR93WsWPUb0ia8cpH9Xbv3+ZUPbIvwq92A/+dH//zgoSNo33kABvR5DA3qXutXTY9lzdrNvvM1a1S+yH+gL6fEBGeuUHolARJIZAK6aNCwYUNNEAh26GXeffddLFmyBIGCgVFYoJiQyL2JbSeBxCMQ7XO6eLkeOPACp08/vbAIoXGHhddfv7D7giht3M0h1E4Ixi0k8+e/sPihEAYCp0aY2c1B+H33XWDr1uytJvXFGcU0hWDxBdvNwRirvgClsMtpDol3rcTcYooJ3hMTjC/1ukhQtkyK9qKvCxLFihbGkH5P+EQDcX7QK+/h8JFjfmKFOD9m/H+0/tWj24N+IoOx08UqJgSKI0tXrEa3niPDCgoUE2K+3FmRBEggzggYRyBEEgKWLl2Km8R+Yf87dGGBYkKcJZ3hkgAJSCMQrZggzTENRSTAaQ4REcVHAYoJ1sQElbs5mB2ZYBQTxL+N9TT1dPh7qH3D1UgpUVwbzSCOyWlfYt+BQ0j/eR0G970gMojz+rFt+66LRh7on8kSE4S9ULZ0XxQT4uPewihJgASsEzAzMiGYFzG0V5/6IKZB6FMeIgkS1iOmBRIgARJwD4Fod3NwT+Tej4RigkdyTDHBmpggqxvInOYQKCbooxM6tGuBEslFNTGhXZtm+PKbpdrUBXGIUQmt77gZ4977zCcmiHri/GMdW2n1+r/0FoYNfArJxYte1GyZYoIYnTBp6vyQ0yooJsjqdbRDAiQQDwSCrZmgCa9Dh6KxWA4cwMKFC7X1EfTDOKKBaybEQ5YZIwmQAAkkFgGKCR7JN8WExBQThvTrgkGvvKsJB+L4cOJcdH+yLXoP+LdPTBAjGsR5MR1CrK0gBIPGt9x40doH2kNtjGsmBFsDgmKCR24ubAYJkIAUAvo0BbHYor5ughAYJk2aBPF/cQSOPBBTHrp16wYxeo4jE6SkgUZIgARIgAQkEqCYIBGmk6YoJlgTE1Tu5hDrNAfjIoj6yIRxo/vgrfena+LA9h27IaYwPPX4vXi610ifmCCmODz0+IVfukQ/NS7maOy3MsUE4Xfx8l84MsHJGwN9kwAJuIqALigsWLBAi6tZs2aakJCcnKz9Hfh5zZo1NSFB7O4Q+JnesGCLNbqq0QyGBEiABCwSiGY3B4uuWD1KAhQTogTm1uIUE6yJCbIWdjEzzUGIAsaXfdGn9CkMDetd59vNQZw37qoQbM0EISZs3Lwdc+b9iGPHT0BMgahaOdVnX4gOgbswBPOv92uZYgLXTHDr3YJxkQAJkAAJkAAJkED8EJD1nB4/LY6fSCkmxE+uwkZKMSF+xITAnRlEYgN3Pwh8EQ+2m4NYM0GICQcOHtG2iSxdKhmTPxiq9RNdrBCfDR35oXZeXyMhULgwdixZYoLbdnNQuReyR24pbAYJkAAJkAAJkAAJhCSg8tmKYoJ7OyLFBPfmJqrIKCZYExNU7uYgEqu/0L/70UwtzzVrVPbbRlG81A8c9o5fHzBOTRCjFHQxIX++JPTo+zr0bSONIw8+m/mtZsM4wkH8LaYgTEqb7ycyiPOh/IqpE2KEw4Jvl/vFtOTrD7RFHYWYsWbtZt9nge0J1pntXoDx1PHTWLdsC7at3YmTxzJw5tTZqK4pFiYBEiAB1QRy5MyBrMws1W7pjwRIgASiJpBUIC/yF0pCxWvK4+oGlZCvQN6obZitwN0czJJSX45ignrmtnikmGBNTJCVFDPTHGT5inc7dooJQkiY9/73KFKiEMqkpmj/50ECJEACJEACJEACJCCPwNEDx7H7j304evA47uzSyFZBQV7UtCSTAMUEmTQdtEUxgWKCg90vJtd2ignpC9biyN5jqHpjxZhiYyUSIAESIAESIAESIAFzBDas+h3FyxRGraY1zFVgKc8QoJjgkVRSTLAmJqjczcEjXc5yM+wUE6aOmo+r61TiiATLWaIBEiABEiABEiABEghPQIxQWLdyC9r1bmELKu7mYAtWKUYpJkjB6LwRignWxARZC7twmoP5a8EuMUEsCDRh8Cw0adfAfDAsSQIkQAIkQAIkQAIkEDOBb6cuQ6fBdyFnzpwx2whVUdZzuvTAaBAUEzzSCSgmUEyIt65sl5ggOLzdawrueLRRvCFhvCRAAiRAAiRAAiQQlwTmfbQIXUc/YEvsFBNswSrFKMUEKRidN0IxwZqYoHo3B+d7jPMRUExwPgeMgARIgARIgARIgARkELBTTOBuDjIyZI8Nign2cFVulWKCNTFBVsI4zcE8SYoJ5lmxJAmQAAmQAAmQAAm4mYCdYoKb253osVFM8EgPoJhAMSHeujLFhHjLGOMlARIgARIgARIggeAEKCYkZs+gmOCRvFNMsCYm3HPPPZg4cSIKFixoqUdwZIJ5fBQTzLNiSRIgAXsJ/P7HVgwePgCD+w5FxQpX+pyNfXsMyl9WHnfd2SZkAKLuG2+9hpf6D0O+pHx46dVBmPzZJDzSvjMOHj6gnS9WtLipBhw+cgjP9umG7k/2wI3X176ojv75D0u/1z5rf38HDHx+CJKS8ml/B35+S4Nb8e+R4zX/4WyLNjzd80ms37TOz2fPp/uge9cepmJnIRIggcQmYJeYcO7cOaxatQr169dPbMAubT3FBJcmJtqwKCZYExNatWqFUaNGoUqVKtGi9ytPMcE8PooJ5lmxJAmQgL0ErIgJxsjEC/uof49A72dfMC0gBNYPJSboYsA9re71iRuzv5iB9J9XaoJCxukMTYgI/Hzm3OmaoCCOULaDtT+SsGFvRmidBEgg3gjYJSasXr0ajzzyCH755Zd4Q5IQ8VJM8EiaKSZYFxMef/xxtGzZ0lKPoJhgHh/FBPOsWJIESMBeApHEhOZNWmgjDkqnlMFr40Zqwei/2usjE/7v6d4YNKw/xKiBalWuxvM9+mHG3Gm+kQk//TcdbTq01uoaRxScPp3hG80gzv+1a2fQkQlG4UAfiaDXvaflvShWrPhFoyuMgkDFK66MSkwQcZoZmWFvZmidBEggXgjYJSbMnz8fc+bMwbvvvhsvKBIqTooJHkk3xQRrYsJff/2FPHnyoFSpUpZ6BMUE8/goJphnxZIkQAL2EjArJogoxCiA39avxYCX+2Hca+9ogenTHLTPh/XHc0/19Dt/6PAh34t+2TJlfcKEmEIgXtj37NvtsysEhxmT5vhNc9BFg9o31Ak55cIoSgTWF8FEmuYQOM2DIxPs7XO0TgJeI2CXmDB16lRkZmbiwQcf9BoyT7SHYoIn0ihepG/GymV3eKQ1sTWjTv15WLnsx9gqS6pFMcE8SIoJ5lmxJAmQgL0EzIoJ+su8eNEOJhqEEhN+WLLINx1BjCoQoxRmfj4dfZ7ti5H/Hg4xskCskWAcaWBcMyHU+WBUjCMgxOe6sBBJTAi2ZsK/Xx0Xdr0Ie7NC6yRAAvFEwC4xIZ4YJGKsFBM8knWKCdZGJsjqBhQTzJOkmGCeFUuSAAnYS8CsmKC/9MciJjz7/NN+jRCLIw7pP0ybGqEvuBhJTAg3MiEYIWO7ihcrbnqagxAkxr4zxrd4o730aZ0ESMALBCgmeCGL0beBYkL0zFxZg2KCdTGhc+fO6Nq1K2644YaYc0wxwTw6ignmWbEkCZCAvQSM4oC+m4NxaoG+ZoIVMeHPnX9etDNCoHgQbgRCsDUTBBUxTaJ+nQYaoGUrl/r5MNqLds0E4/QLfY0Ge7NA6yRAAvFMwA4x4eDBg9iwYQNuuummeEbj6dgpJngkvRQTrIsJYmvI33//HUOGDIm5V2RlZWLT1x1Qtf7/xWwjUSru3bYQeYpUQ/FU+dNz3u41BXc82ihRULKdJEACFgnoL91igUV9K0Tx67y+LoK+zkGsYoJxzQQhVhhf1L/6dr5vCoRYiyHYmgmieaF2cwi3W4OxDdGMTDD6C7VNpUXkrE4CJOAxAnaICeKHvnr16uGxxx7zGC3vNIdigkdySTHBupggFncRizCeP3/eUq/Y9uNzuLRycyQVKGnJjtcr71ibhhJVO6FA8WrSm0oxQTpSGiQBzxMwLmAoGit2ZBALLIqX/8ARA9FOcyhWtLi2ToK+m4OY4iC2axTnA3dzKFiwEJo2aua3AKMOXxcUxI4R4jDaMQoA+ufGNgTW1W2KNRWC7QQhPhejIXSxQsTKgwRIgARCEbBDTLjsssuwc+dOQncxAYoJLk5ONKFRTLAuJgjeGRkZyJUrFy655JJo8PuV3bX63yhYqBiKpFwds41EqLhp+Vhc2eht5MqTX3pzKSZIR0qDJEACJEACJEACJBCSgGwxYcWKFTh06BBatGhB6i4mQDHBxcmJJjSKCXLEhGiYhyp79O8lOH1oNUpdXk+GOU/ayDi5Hwd3r0O567K3T5N9UEyQTZT2SIAESIAESIAESCA0AdliAlnHBwGKCfGRp4hRUkyQJyZs2rQJefPmRWpqakTuoQr89d9RKFzsMhQuUSlmG16uuCX9baQ2GIU8ScWkN1NMV5n40mw0vr++dNs0SAIkQAIkQAIkQAIkcDGBhWnL0HHQXciZMyfxJBABigkeSTbFBHligugSKSkpWLduHUqWjH3dgw1ftkWV+j2RM2cuj/QyOc34a+MXyF+yNoqn/kuOwSBW0kbPR7XalVCkRCHbfNAwCZAACZAACZAACZAAcOTAMWxI34q2vaxPSRBTG1q1aoUlS5YQbRwQoJgQB0kyEyLFBLliwvfff4+hQ4fiu+++M4M/aJnz/2Rg87ePomzlO1G4ZNWY7XilYub5s9i5YS6KXtYURcrZu9PCqgVrcXjPMVStVdEr+NgOEiABEiABEiABEnAlASEkJJctihtvr245vkcffRRiF4f69TnC1DJMBQYoJiiArMIFxQS5YoLI2bZt27TdHcRKslaOv/77GnLnzomkfEWRt2AKkgqUQo4cOayYjJu6504fw+mT+3D29FHs37EY5W7ohYIlatoef8bJM5j79kIULVkYl1ZI4QgF24nTAQmQAAmQAAmQQKIRECMSdm/bh6MHj6PVk42RVCCvJQQzZ87UpkncddddluywsjoCFBPUsbbVE8UE+WKCnrCTJ0+iQIEClvJ3dPcKnNz/X5w59gfOntqLHDlyW7IXD5WTilyOMyd3I6nQ5chXrCpKVLxbadhCUFjz/UZsX78Lp45n4Myps0r90xkJkAAJREsgR84cyMrMirYay5MACZCAcgJCOMhfKAmp1cqi5i1VLQsJyhtAh1IIUEyQgtF5IxQT7BMTVq9ejXPnzqFWrVrSEn3+7HFptlxrKEcO5MpT0BXhiUUZuSCQK1LBIEiABEiABEiABDxAQOaz1apVq6Q+Z3sAb9w0gWJC3KQqfKAUE+wTEwT5O++8E48//jhat27tkR7DZpAACZAACZAACZAACZCAswTmzp2LtLQ0TJ482dlA6D0mAhQTYsLmvkoUE+wVE0TGxfytWbNmJcx6B+7r5YyIBEiABEiABEiABEjAKwRWrlyJSZMmYdy4cV5pUsK1g2KCR1JOMcF+MUF0FX1I1+nTp5GUlOSR3sNmkAAJkAAJkAAJkAAJkIAaAllZWdqPcytWrEDdunXVOKUXWwhQTLAFq3qjFBPUiAl6Zl955RVtUcZnn31WfbLpkQRIgARIgARIgARIgATikMCwYcPQtWtXFC9ePA6jZ8iBBCgmeKRPUExQKyaIbjNixAiMHDkSO3futLzbg0e6IZtBAiRAAiRAAiRAAiRAAhcRWLRoEV588UU0atQIL7/8Mgl5hADFBI8kkmKCejFBdJ3Dhw9rw7SKFi2K48ePIz09HbfddptHehWbQQIkQAIkQAIkQAIkQAKxEdi8eTMqV66sVZ45cyZuvfVWjkiIDaVra1FMcG1qoguMYoIzYoIxSxkZGWjZsiXEPLDLLrsMEyZM0D4+e/asJjoUK1YMl1xySXSJZWkSIAESIAESIAESIAEScCkB8Zx75swZFCpUSIvwl19+wYABA7B+/Xr06NEDzzzzjEsjZ1gyCFBMkEHRBTYoJjgvJujd4OTJkxCr0zZu3Fg79ccff6BevXooXLiwpsi+99572vnvvvsOTZo00f4t/v/NN9/wPDmwP/C64H2A9wHeB3gf4H2A94G4uA8MHToUOXPmxFVXXYXx48drMYtRuvv379eeg/Ply+eCtySGYCcBigl20lVom2KCe8QEhWmnKxIgARIgARIgARIgARIgARJwhADFBEewy3dKMYFigvxeRYskQAIkQAIkQAIkQAIkQAIkEJwAxQSP9AyKCXLFhKzM88iRM5dHegebQQIkQAIkQAIkQAIkQAL2EOBzsz1c48EqxYR4yJKJGCkmWBcT/snYh6O/Dcex7bNx7tQBZJ47YYI8i5AACZAACagikK94JWQc2qLKHf2QAAmQAAmYIJArb2HkTkpG4dS7UKRGP+ROKmGiFot4gQDFBC9kEeJF+masXHaHR1oTWzPq1J+Hlct+jKmyEBJ2zauDfJccReGihZCUPykmO6xEAiRAAiRAAiRAAiRAAolG4PSp0zh25DhOnS2CcneuoqCQIB2AYoJHEk0xwdrIhIMrn8H5PZORUibZIz2CzSABEiABEiABEiABEiABtQT27T6AXJd2QnKtMWod05sjBCgmOIJdvlOKCdbEhD8+uxxlUjKRlC+v/OTQIgmQAAmQAAmQAAmQAAkkAIHTGWewe19OVLh/RwK0lk2kmOCRPkAxIXYxQSwas+XTIqhcKcUjvYHNIAESIAESIAESIAESIAFnCGzZsh9XPnSEi5k7g1+pV4oJSnHb54xiQuxigsjKxg9yoOpVl9uXIFomARIgARIgARIgARIggQQgsHHDDlTtnJUALWUTKSZ4pA9QTJAgJlQt75HewGaQAAmQAAmQAAmQAAmQgDMENm78k2KCM+iVe6WYoBy5PQ4pJkgQEyqXsyc5tEoCJEACJEACJEACJEACCUJg4+a/KCYkSK4pJngk0RQTJIgJV17qkd7AZpAACZBA/BGY/O0pLP71LMZ0K4J8eXNoDTh4NBNPjz2KwQ8XwoGjmZj0zSnf5xlnstBj/FGtnF5HP9fwmkvQvkn++IPAiEmABEjAAwQ2bv2bYoIH8mimCRQTzFCKgzIUEySICRXLxEGmGSIJkAAJeJPA5G8zsHjtWYx5qrC/mPBmtpggjsGfHMe4Z4oguUjObKHhzaPIygKGdCqEKpfl9p37//buNbapMg4D+NOddOvKLsp9yy64sFUZicK+YBYTgSmfdCpqgG2MyMXhLaJkLJDJjA4hRGoMcldB6CIioCHBmLgxIEtAvMWw5XTL2IRxmQwYZWvP1p7NnFOzuSiynnZd2/OcT13z/t/zvr//+bIn55wq45W/eVCAAhSgQPAFxOarDBOCzz4qZ2SYMCrsgT8pw4QAhAkPTAp8YzgjBShAAQoMS8BWrYQJblhXxg+GCQ4lMHCgYnEc0iYKWLX9DoryTMidHo26872o+a1XnTsjSUDB3FjYL3nw6XcuvFscNzDHsE7OQRSgAAUoEDABsaWdYULANEN7IoYJod2fYa+OYUIAwoT0CcP25kAKUIACFAisgK1awunzblhLBoOAG0qYsLULFUVm9U4DZYxyFMw1DXyeMllQQ4XygjHqdxeuyepnHhSgAAUoMDoC4h/XGSaMDn3Qz8owIejkI3NChgkBCBPSxo9MczgrBShAAQrcU8BWI6FwU9e/xj2cIeDgWu9jC3X1buyv7kHlEjM2feXC0nkxGJ8YhXV7nep3245JmPOIEbnZxnuejwMoQAEKUGBkBMSLHQwTRoY25GZlmBByLfF9QbIsY8lLi7B/30zfiyOooqj4F+z9rAqCIPi8K3GPAQ+mjPW5jgUUoAAFKBAYAVtND07Xe2BdYR76mMM2JyoKY2FJEaDcqbBunwtvPWvCwVO9WD3fpJ58/QEXFj0ejaraXjVgUMbyoAAFKECB0REQ224yTBgd+qCflWFC0MlH5oTzX5iPj6zZSE3R562dl9q68eaqehw+dFgTsBomJN+nqZZFFKAABSjgv4DtRK83TFgeOzRM2O5CRYFpICCwfiNhTIwB7Z39KF/oDROU2rhYA35vkbH6uRi+L8H/dnAGClCAApoFxCudDBM064VXIcOE8OrXXVdbtnYNnnyiB3Nm6/MXCX6ovoKaE7HY8P5GTR1Vw4SkRE21LKIABShAAf8FbLVKmCDDusw0NEzYIaFi0eDdBsq4Y2c9eP2paORO8/5iQ12DB9+ecat/58/iIw7+d4MzUIACFNAuIF69zTBBO19YVTJMCKt23X2xn+/9AlLPSax8OStCduTbNj7Z1oi4+NkoLir0rfDv0WqYMMn702M8KEABClAg+AK2WjdON8iwLh28s+CGox+v7ZRQsVAJE6LURdnb+vDGbgkfL1fuVvB+p4wr2OJC+YsxyJ3GRxyC3z2ekQIUoMCggNh+h2GCTi4IhgkR0uiz587h5KkqlL49OUJ25Ns2Nm2+hrw5i5GTM8O3wn+GCRP0+YiIJjAWUYACFKAABShAAQpQ4D8ExOvdDBN0cmUwTIigRld+UInp2R3If1pfgcKRo1fQ2JSMstI1mrup3pkw3qy5noUUoAAFKEABClCAAhSgACB2OBkm6ORCYJgQYY3OmzcPRw49hoQEfTwzeutWDxYUnMH3x4/71Uk1TBjrfZEXDwpQgAIUoAAFKEABClBAm4B4U2KYoI0u7KoYJoRdy/5/wS2trfhwSxkq38tGYmJ0hO1u6HaUIKF8fQNKV29GWlqq5r3298loPnA/ppp7NM/BQgpQgAIUoAAFKEABClAAaHJGY2phJwxRfIdNpF8PDBMisMMtrS1YUVKCV1dm4pl87f9khzLNkaMXsXN3M3bv2Im0tHS/l9ryZSqScA0mweD3XJyAAhSgAAUoQAEKUIACehRwefrQbkjGlAUX9bh93e2ZYUIEt3zDxvUQhMuIj5NhsSQiKysBqSnh+ZLBS23dsNtvw253oKsrCv1IR1npOwHr3o26EsjNuzAxxvtmcB4UoAAFKEABClCAAhSggG8Cf0p9ELJewbhHt/pWyNFhKcAwISzbNvxFn/vpZ9Q3/Aq7XURj4wWYzUY0Nl0d/gQhMDIrMwlOpxsWSwYslocwfdoM5OTMDOjKPFIHLn+dCbOnE/FGA0zMFALqy8koQAEKUIACFKAABSJXQOoDHJ5+OIWxSH2+EYJpXORuljsbEGCYoLOLQZZlCEJ4Pb8UrDXLUgc665bhTvuPcLsdkN3dOrs6uF0KUIACoS0wJmEKuh2tob1Iro4CFKCAzgQEYxyMxgQkTJ6FxNxdEGIYJOjlEvgL3EbvmeZd7Fw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1428750" y="685949"/>
            <a:ext cx="3352560" cy="200293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7150" tIns="28575" rIns="57150" bIns="285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Rectangle 132"/>
          <p:cNvSpPr/>
          <p:nvPr/>
        </p:nvSpPr>
        <p:spPr>
          <a:xfrm>
            <a:off x="2276424" y="2021025"/>
            <a:ext cx="2360166" cy="186983"/>
          </a:xfrm>
          <a:prstGeom prst="rect">
            <a:avLst/>
          </a:prstGeom>
          <a:solidFill>
            <a:srgbClr val="FFC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CPSW_LLD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601830" y="1453271"/>
            <a:ext cx="608862" cy="75473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TI-RTOS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601829" y="2361481"/>
            <a:ext cx="3034761" cy="18698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Main Domain </a:t>
            </a:r>
            <a:r>
              <a:rPr lang="en-US" sz="700" dirty="0" smtClean="0">
                <a:solidFill>
                  <a:schemeClr val="tx1"/>
                </a:solidFill>
              </a:rPr>
              <a:t>R5</a:t>
            </a:r>
            <a:endParaRPr lang="en-US" sz="700" dirty="0">
              <a:solidFill>
                <a:schemeClr val="tx1"/>
              </a:solidFill>
            </a:endParaRPr>
          </a:p>
        </p:txBody>
      </p:sp>
      <p:grpSp>
        <p:nvGrpSpPr>
          <p:cNvPr id="137" name="Group 136"/>
          <p:cNvGrpSpPr/>
          <p:nvPr/>
        </p:nvGrpSpPr>
        <p:grpSpPr>
          <a:xfrm>
            <a:off x="2276425" y="1760723"/>
            <a:ext cx="2363142" cy="186983"/>
            <a:chOff x="2209990" y="2232590"/>
            <a:chExt cx="2363142" cy="186983"/>
          </a:xfrm>
        </p:grpSpPr>
        <p:sp>
          <p:nvSpPr>
            <p:cNvPr id="146" name="Rectangle 145"/>
            <p:cNvSpPr/>
            <p:nvPr/>
          </p:nvSpPr>
          <p:spPr>
            <a:xfrm>
              <a:off x="2209990" y="2232590"/>
              <a:ext cx="1071314" cy="186983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 err="1">
                  <a:solidFill>
                    <a:schemeClr val="tx1"/>
                  </a:solidFill>
                </a:rPr>
                <a:t>Config</a:t>
              </a:r>
              <a:r>
                <a:rPr lang="en-US" sz="700" dirty="0">
                  <a:solidFill>
                    <a:schemeClr val="tx1"/>
                  </a:solidFill>
                </a:rPr>
                <a:t> I/F</a:t>
              </a: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382506" y="2232590"/>
              <a:ext cx="1190626" cy="186983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Data I/F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2288275" y="1453271"/>
            <a:ext cx="2351292" cy="234133"/>
            <a:chOff x="2221840" y="1870398"/>
            <a:chExt cx="2351292" cy="234133"/>
          </a:xfrm>
        </p:grpSpPr>
        <p:sp>
          <p:nvSpPr>
            <p:cNvPr id="143" name="Rectangle 142"/>
            <p:cNvSpPr/>
            <p:nvPr/>
          </p:nvSpPr>
          <p:spPr>
            <a:xfrm>
              <a:off x="2221840" y="1870398"/>
              <a:ext cx="1065417" cy="234133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Switch </a:t>
              </a:r>
              <a:r>
                <a:rPr lang="en-US" sz="700" dirty="0" err="1">
                  <a:solidFill>
                    <a:schemeClr val="tx1"/>
                  </a:solidFill>
                </a:rPr>
                <a:t>Config</a:t>
              </a:r>
              <a:endParaRPr lang="en-US" sz="7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Utility</a:t>
              </a: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4031397" y="1870398"/>
              <a:ext cx="541735" cy="234133"/>
            </a:xfrm>
            <a:prstGeom prst="rect">
              <a:avLst/>
            </a:prstGeom>
            <a:solidFill>
              <a:srgbClr val="CAF9BF"/>
            </a:solidFill>
            <a:ln w="6350">
              <a:solidFill>
                <a:srgbClr val="66FF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NDK</a:t>
              </a: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406930" y="1870398"/>
              <a:ext cx="570888" cy="23413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Forward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I/F</a:t>
              </a:r>
            </a:p>
          </p:txBody>
        </p:sp>
      </p:grpSp>
      <p:sp>
        <p:nvSpPr>
          <p:cNvPr id="139" name="Rectangle 138"/>
          <p:cNvSpPr/>
          <p:nvPr/>
        </p:nvSpPr>
        <p:spPr>
          <a:xfrm>
            <a:off x="2328914" y="1123866"/>
            <a:ext cx="734475" cy="238125"/>
          </a:xfrm>
          <a:prstGeom prst="rect">
            <a:avLst/>
          </a:prstGeom>
          <a:solidFill>
            <a:srgbClr val="00B0F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smtClean="0">
                <a:solidFill>
                  <a:schemeClr val="tx1"/>
                </a:solidFill>
              </a:rPr>
              <a:t>HW-routing</a:t>
            </a:r>
          </a:p>
          <a:p>
            <a:pPr algn="ctr"/>
            <a:r>
              <a:rPr lang="en-US" sz="700" dirty="0" err="1" smtClean="0">
                <a:solidFill>
                  <a:schemeClr val="tx1"/>
                </a:solidFill>
              </a:rPr>
              <a:t>InterVLAN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3124595" y="1123866"/>
            <a:ext cx="736600" cy="238125"/>
          </a:xfrm>
          <a:prstGeom prst="rect">
            <a:avLst/>
          </a:prstGeom>
          <a:solidFill>
            <a:srgbClr val="00B0F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Traffic Classification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53934" y="912270"/>
            <a:ext cx="2268046" cy="499403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50" tIns="28575" rIns="57150" bIns="28575" rtlCol="0" anchor="t"/>
          <a:lstStyle/>
          <a:p>
            <a:pPr algn="ctr"/>
            <a:r>
              <a:rPr lang="en-US" sz="800" b="1" dirty="0" smtClean="0">
                <a:solidFill>
                  <a:schemeClr val="tx1"/>
                </a:solidFill>
              </a:rPr>
              <a:t>Classification and Forwarding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2576748" y="704408"/>
            <a:ext cx="814313" cy="196208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900" dirty="0"/>
              <a:t>Demo Apps</a:t>
            </a:r>
            <a:endParaRPr lang="en-US" sz="1000" dirty="0"/>
          </a:p>
        </p:txBody>
      </p:sp>
      <p:pic>
        <p:nvPicPr>
          <p:cNvPr id="148" name="Picture 14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" t="9604" b="9426"/>
          <a:stretch/>
        </p:blipFill>
        <p:spPr>
          <a:xfrm>
            <a:off x="2114299" y="2995273"/>
            <a:ext cx="2000261" cy="763201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3510634" y="2811198"/>
            <a:ext cx="609141" cy="226985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dirty="0"/>
              <a:t>J7 EVM</a:t>
            </a:r>
          </a:p>
        </p:txBody>
      </p:sp>
      <p:cxnSp>
        <p:nvCxnSpPr>
          <p:cNvPr id="150" name="Straight Arrow Connector 149"/>
          <p:cNvCxnSpPr>
            <a:endCxn id="148" idx="1"/>
          </p:cNvCxnSpPr>
          <p:nvPr/>
        </p:nvCxnSpPr>
        <p:spPr>
          <a:xfrm flipV="1">
            <a:off x="1428750" y="3376874"/>
            <a:ext cx="685549" cy="2612"/>
          </a:xfrm>
          <a:prstGeom prst="straightConnector1">
            <a:avLst/>
          </a:prstGeom>
          <a:ln w="3492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218198" y="3886983"/>
            <a:ext cx="1222490" cy="226985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/>
          <a:p>
            <a:pPr algn="ctr"/>
            <a:r>
              <a:rPr lang="en-US" sz="1100" dirty="0" smtClean="0"/>
              <a:t>Linux PC</a:t>
            </a:r>
            <a:endParaRPr lang="en-US" sz="1100" dirty="0"/>
          </a:p>
        </p:txBody>
      </p:sp>
      <p:pic>
        <p:nvPicPr>
          <p:cNvPr id="153" name="Picture 3" descr="C:\Users\a0875134\AppData\Local\Microsoft\Windows\INetCache\IE\36OAZCM7\lenovo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844" y="2972475"/>
            <a:ext cx="1232042" cy="84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4" name="Straight Arrow Connector 153"/>
          <p:cNvCxnSpPr/>
          <p:nvPr/>
        </p:nvCxnSpPr>
        <p:spPr>
          <a:xfrm flipV="1">
            <a:off x="4119775" y="3376874"/>
            <a:ext cx="804410" cy="5224"/>
          </a:xfrm>
          <a:prstGeom prst="straightConnector1">
            <a:avLst/>
          </a:prstGeom>
          <a:ln w="34925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5016353" y="3773491"/>
            <a:ext cx="1098457" cy="226985"/>
          </a:xfrm>
          <a:prstGeom prst="rect">
            <a:avLst/>
          </a:prstGeom>
          <a:noFill/>
        </p:spPr>
        <p:txBody>
          <a:bodyPr wrap="square" lIns="57150" tIns="28575" rIns="57150" bIns="28575" rtlCol="0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dirty="0"/>
              <a:t>Linux PC</a:t>
            </a:r>
          </a:p>
        </p:txBody>
      </p:sp>
      <p:grpSp>
        <p:nvGrpSpPr>
          <p:cNvPr id="156" name="Group 155"/>
          <p:cNvGrpSpPr/>
          <p:nvPr/>
        </p:nvGrpSpPr>
        <p:grpSpPr>
          <a:xfrm>
            <a:off x="183496" y="1912181"/>
            <a:ext cx="1148986" cy="776699"/>
            <a:chOff x="117061" y="2420748"/>
            <a:chExt cx="1148986" cy="776699"/>
          </a:xfrm>
        </p:grpSpPr>
        <p:sp>
          <p:nvSpPr>
            <p:cNvPr id="157" name="Rectangle 156"/>
            <p:cNvSpPr/>
            <p:nvPr/>
          </p:nvSpPr>
          <p:spPr>
            <a:xfrm>
              <a:off x="117061" y="2420748"/>
              <a:ext cx="1148986" cy="776699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00">
                <a:solidFill>
                  <a:schemeClr val="tx1"/>
                </a:solidFill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00422" y="2831120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Generator</a:t>
              </a: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92484" y="2514239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Demo  Packet Streams</a:t>
              </a:r>
            </a:p>
          </p:txBody>
        </p:sp>
      </p:grpSp>
      <p:sp>
        <p:nvSpPr>
          <p:cNvPr id="160" name="Down Arrow 159"/>
          <p:cNvSpPr/>
          <p:nvPr/>
        </p:nvSpPr>
        <p:spPr>
          <a:xfrm>
            <a:off x="729016" y="2746127"/>
            <a:ext cx="115094" cy="315332"/>
          </a:xfrm>
          <a:prstGeom prst="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57150" tIns="28575" rIns="57150" bIns="28575" rtlCol="0" anchor="ctr"/>
          <a:lstStyle/>
          <a:p>
            <a:pPr algn="ctr"/>
            <a:endParaRPr lang="en-US" dirty="0"/>
          </a:p>
        </p:txBody>
      </p:sp>
      <p:grpSp>
        <p:nvGrpSpPr>
          <p:cNvPr id="161" name="Group 160"/>
          <p:cNvGrpSpPr/>
          <p:nvPr/>
        </p:nvGrpSpPr>
        <p:grpSpPr>
          <a:xfrm>
            <a:off x="4965825" y="1872684"/>
            <a:ext cx="1148986" cy="776699"/>
            <a:chOff x="4899390" y="2381251"/>
            <a:chExt cx="1148986" cy="776699"/>
          </a:xfrm>
        </p:grpSpPr>
        <p:sp>
          <p:nvSpPr>
            <p:cNvPr id="162" name="Rectangle 161"/>
            <p:cNvSpPr/>
            <p:nvPr/>
          </p:nvSpPr>
          <p:spPr>
            <a:xfrm>
              <a:off x="4899390" y="2381251"/>
              <a:ext cx="1148986" cy="776699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00">
                <a:solidFill>
                  <a:schemeClr val="tx1"/>
                </a:solidFill>
              </a:endParaRP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4982751" y="2791623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Capture</a:t>
              </a: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4974813" y="2474742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verifier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Application</a:t>
              </a:r>
            </a:p>
          </p:txBody>
        </p:sp>
      </p:grpSp>
      <p:sp>
        <p:nvSpPr>
          <p:cNvPr id="165" name="Up Arrow 164"/>
          <p:cNvSpPr/>
          <p:nvPr/>
        </p:nvSpPr>
        <p:spPr>
          <a:xfrm>
            <a:off x="5470377" y="2688084"/>
            <a:ext cx="139882" cy="276709"/>
          </a:xfrm>
          <a:prstGeom prst="up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57150" tIns="28575" rIns="57150" bIns="28575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6" name="Up-Down Arrow 165"/>
          <p:cNvSpPr/>
          <p:nvPr/>
        </p:nvSpPr>
        <p:spPr>
          <a:xfrm>
            <a:off x="3019185" y="2699040"/>
            <a:ext cx="152280" cy="28359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57150" tIns="28575" rIns="57150" bIns="28575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7" name="Content Placeholder 13"/>
          <p:cNvSpPr>
            <a:spLocks noGrp="1"/>
          </p:cNvSpPr>
          <p:nvPr>
            <p:ph sz="half" idx="2"/>
          </p:nvPr>
        </p:nvSpPr>
        <p:spPr>
          <a:xfrm>
            <a:off x="6507259" y="704408"/>
            <a:ext cx="2534726" cy="2964574"/>
          </a:xfrm>
        </p:spPr>
        <p:txBody>
          <a:bodyPr/>
          <a:lstStyle/>
          <a:p>
            <a:r>
              <a:rPr lang="en-US" sz="1200" b="1" dirty="0" smtClean="0"/>
              <a:t>Demonstrate</a:t>
            </a:r>
          </a:p>
          <a:p>
            <a:pPr lvl="1"/>
            <a:r>
              <a:rPr lang="en-US" sz="1050" dirty="0" smtClean="0"/>
              <a:t>Packet classification</a:t>
            </a:r>
          </a:p>
          <a:p>
            <a:pPr lvl="2"/>
            <a:r>
              <a:rPr lang="en-US" sz="1000" dirty="0" smtClean="0"/>
              <a:t>L2 header: </a:t>
            </a:r>
            <a:r>
              <a:rPr lang="en-US" sz="1000" dirty="0" err="1" smtClean="0"/>
              <a:t>addr</a:t>
            </a:r>
            <a:r>
              <a:rPr lang="en-US" sz="1000" dirty="0" smtClean="0"/>
              <a:t>, </a:t>
            </a:r>
            <a:r>
              <a:rPr lang="en-US" sz="1000" dirty="0" err="1" smtClean="0"/>
              <a:t>EtherType</a:t>
            </a:r>
            <a:r>
              <a:rPr lang="en-US" sz="1000" dirty="0" smtClean="0"/>
              <a:t>, VLAN, priority, port number</a:t>
            </a:r>
          </a:p>
          <a:p>
            <a:pPr lvl="2"/>
            <a:r>
              <a:rPr lang="en-US" sz="1000" dirty="0" smtClean="0"/>
              <a:t>L3 header: SA/DA</a:t>
            </a:r>
          </a:p>
          <a:p>
            <a:pPr lvl="1"/>
            <a:r>
              <a:rPr lang="en-US" sz="1050" dirty="0" err="1" smtClean="0"/>
              <a:t>InterVLAN</a:t>
            </a:r>
            <a:r>
              <a:rPr lang="en-US" sz="1050" dirty="0" smtClean="0"/>
              <a:t> routing</a:t>
            </a:r>
            <a:endParaRPr lang="en-US" sz="1050" dirty="0"/>
          </a:p>
          <a:p>
            <a:pPr lvl="2"/>
            <a:r>
              <a:rPr lang="en-US" sz="1000" dirty="0" smtClean="0"/>
              <a:t>Wire rate, up-to 4 routes</a:t>
            </a:r>
          </a:p>
          <a:p>
            <a:r>
              <a:rPr lang="en-US" sz="1200" b="1" dirty="0" smtClean="0"/>
              <a:t>Differentiation</a:t>
            </a:r>
          </a:p>
          <a:p>
            <a:pPr lvl="1"/>
            <a:r>
              <a:rPr lang="en-US" sz="1050" dirty="0" smtClean="0"/>
              <a:t>Ethernet sharing across multiple cores / VMs</a:t>
            </a:r>
          </a:p>
          <a:p>
            <a:pPr lvl="1"/>
            <a:r>
              <a:rPr lang="en-US" sz="1050" dirty="0" smtClean="0"/>
              <a:t>HW packet header inspection/classification</a:t>
            </a:r>
          </a:p>
          <a:p>
            <a:pPr lvl="1"/>
            <a:r>
              <a:rPr lang="en-US" sz="1050" dirty="0" err="1" smtClean="0"/>
              <a:t>InterVLAN</a:t>
            </a:r>
            <a:r>
              <a:rPr lang="en-US" sz="1050" dirty="0" smtClean="0"/>
              <a:t> routing in HW at line rate</a:t>
            </a:r>
          </a:p>
          <a:p>
            <a:r>
              <a:rPr lang="en-US" sz="1200" b="1" dirty="0" smtClean="0"/>
              <a:t>Timeline: </a:t>
            </a:r>
            <a:r>
              <a:rPr lang="en-US" sz="1200" dirty="0" smtClean="0"/>
              <a:t>SDK 1.1</a:t>
            </a:r>
            <a:endParaRPr lang="en-US" sz="1200" dirty="0"/>
          </a:p>
        </p:txBody>
      </p:sp>
      <p:grpSp>
        <p:nvGrpSpPr>
          <p:cNvPr id="7" name="Group 6"/>
          <p:cNvGrpSpPr/>
          <p:nvPr/>
        </p:nvGrpSpPr>
        <p:grpSpPr>
          <a:xfrm>
            <a:off x="2433571" y="4059044"/>
            <a:ext cx="1363699" cy="995395"/>
            <a:chOff x="2596131" y="4089524"/>
            <a:chExt cx="1363699" cy="995395"/>
          </a:xfrm>
        </p:grpSpPr>
        <p:sp>
          <p:nvSpPr>
            <p:cNvPr id="44" name="Rectangle 43"/>
            <p:cNvSpPr/>
            <p:nvPr/>
          </p:nvSpPr>
          <p:spPr>
            <a:xfrm>
              <a:off x="2596131" y="4089524"/>
              <a:ext cx="1363699" cy="995395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7150" tIns="28575" rIns="57150" bIns="2857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984308" y="4130165"/>
              <a:ext cx="587345" cy="269115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 smtClean="0">
                  <a:solidFill>
                    <a:schemeClr val="tx1"/>
                  </a:solidFill>
                </a:rPr>
                <a:t>VM1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(</a:t>
              </a:r>
              <a:r>
                <a:rPr lang="en-US" sz="700" dirty="0" smtClean="0">
                  <a:solidFill>
                    <a:schemeClr val="tx1"/>
                  </a:solidFill>
                </a:rPr>
                <a:t>A72)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778910" y="4447699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Capture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778910" y="4747028"/>
              <a:ext cx="998141" cy="250911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Packet verifier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Application</a:t>
              </a:r>
            </a:p>
          </p:txBody>
        </p:sp>
      </p:grpSp>
      <p:sp>
        <p:nvSpPr>
          <p:cNvPr id="61" name="Up-Down Arrow 60"/>
          <p:cNvSpPr/>
          <p:nvPr/>
        </p:nvSpPr>
        <p:spPr>
          <a:xfrm>
            <a:off x="3043069" y="3745185"/>
            <a:ext cx="152280" cy="28359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57150" tIns="28575" rIns="57150" bIns="28575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924694" y="1123866"/>
            <a:ext cx="540625" cy="238125"/>
          </a:xfrm>
          <a:prstGeom prst="rect">
            <a:avLst/>
          </a:prstGeom>
          <a:ln/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dirty="0" smtClean="0">
                <a:solidFill>
                  <a:schemeClr val="bg1">
                    <a:lumMod val="50000"/>
                  </a:schemeClr>
                </a:solidFill>
              </a:rPr>
              <a:t>SW Routing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Picture 3" descr="C:\Users\a0875134\AppData\Local\Microsoft\Windows\INetCache\IE\36OAZCM7\lenovo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22" y="3081779"/>
            <a:ext cx="1232042" cy="84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75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/>
          <p:nvPr/>
        </p:nvGrpSpPr>
        <p:grpSpPr>
          <a:xfrm>
            <a:off x="3534421" y="861563"/>
            <a:ext cx="5538083" cy="3164112"/>
            <a:chOff x="5442992" y="2237503"/>
            <a:chExt cx="8928992" cy="5062579"/>
          </a:xfrm>
        </p:grpSpPr>
        <p:sp>
          <p:nvSpPr>
            <p:cNvPr id="5" name="Rectangle 4"/>
            <p:cNvSpPr/>
            <p:nvPr/>
          </p:nvSpPr>
          <p:spPr>
            <a:xfrm>
              <a:off x="5787728" y="3731664"/>
              <a:ext cx="1440160" cy="64807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Code Composer Studio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86944" y="5371772"/>
              <a:ext cx="1440160" cy="64807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PCAN PC Tool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783392" y="2939576"/>
              <a:ext cx="1440160" cy="79159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Used to Load and Run Application on DRA80xM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788720" y="4579684"/>
              <a:ext cx="1440160" cy="7920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Send &amp; Receive </a:t>
              </a:r>
              <a:r>
                <a:rPr lang="en-US" sz="700" b="1" dirty="0">
                  <a:solidFill>
                    <a:srgbClr val="000000"/>
                  </a:solidFill>
                </a:rPr>
                <a:t>MESSAGE</a:t>
              </a:r>
              <a:r>
                <a:rPr lang="en-US" sz="700" dirty="0">
                  <a:solidFill>
                    <a:srgbClr val="000000"/>
                  </a:solidFill>
                </a:rPr>
                <a:t> - </a:t>
              </a:r>
              <a:r>
                <a:rPr lang="en-US" sz="700" b="1" dirty="0">
                  <a:solidFill>
                    <a:srgbClr val="000000"/>
                  </a:solidFill>
                </a:rPr>
                <a:t>CAN</a:t>
              </a:r>
              <a:r>
                <a:rPr lang="en-US" sz="700" dirty="0">
                  <a:solidFill>
                    <a:srgbClr val="000000"/>
                  </a:solidFill>
                </a:rPr>
                <a:t> &amp; DRA82xM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78616" y="3754760"/>
              <a:ext cx="1440160" cy="64807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UART console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80392" y="2962672"/>
              <a:ext cx="1440160" cy="7920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For console O/P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421528" y="5325429"/>
              <a:ext cx="1440160" cy="64807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Network Apps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423304" y="4551885"/>
              <a:ext cx="1440160" cy="77354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000000"/>
                  </a:solidFill>
                </a:rPr>
                <a:t>Receive &amp; Send </a:t>
              </a:r>
              <a:r>
                <a:rPr lang="en-US" sz="700" b="1" dirty="0">
                  <a:solidFill>
                    <a:srgbClr val="000000"/>
                  </a:solidFill>
                </a:rPr>
                <a:t>MESSAGE</a:t>
              </a:r>
              <a:r>
                <a:rPr lang="en-US" sz="700" dirty="0">
                  <a:solidFill>
                    <a:srgbClr val="000000"/>
                  </a:solidFill>
                </a:rPr>
                <a:t> -</a:t>
              </a:r>
              <a:r>
                <a:rPr lang="en-US" sz="700" b="1" dirty="0">
                  <a:solidFill>
                    <a:srgbClr val="000000"/>
                  </a:solidFill>
                </a:rPr>
                <a:t>Ethernet</a:t>
              </a:r>
              <a:r>
                <a:rPr lang="en-US" sz="700" dirty="0">
                  <a:solidFill>
                    <a:srgbClr val="000000"/>
                  </a:solidFill>
                </a:rPr>
                <a:t> &amp; DRA82xM</a:t>
              </a: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13312716" y="5592940"/>
              <a:ext cx="987259" cy="2274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700" dirty="0">
                <a:solidFill>
                  <a:srgbClr val="FFFFFF"/>
                </a:solidFill>
              </a:endParaRPr>
            </a:p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MCU0 R5 </a:t>
              </a:r>
            </a:p>
            <a:p>
              <a:pPr algn="ctr"/>
              <a:endParaRPr lang="en-US" sz="700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0077041" y="5600082"/>
              <a:ext cx="2188584" cy="5068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700" dirty="0">
                <a:solidFill>
                  <a:srgbClr val="FFFFFF"/>
                </a:solidFill>
              </a:endParaRPr>
            </a:p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Main Domain</a:t>
              </a:r>
            </a:p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R5</a:t>
              </a:r>
            </a:p>
            <a:p>
              <a:pPr algn="ctr"/>
              <a:endParaRPr lang="en-US" sz="700" dirty="0">
                <a:solidFill>
                  <a:srgbClr val="FFFFFF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405372" y="4711977"/>
              <a:ext cx="700573" cy="500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9144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CAN Driver</a:t>
              </a: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2325458" y="5583098"/>
              <a:ext cx="921280" cy="237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700" dirty="0">
                <a:solidFill>
                  <a:srgbClr val="FFFFFF"/>
                </a:solidFill>
              </a:endParaRPr>
            </a:p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M3 DMSC</a:t>
              </a:r>
            </a:p>
            <a:p>
              <a:pPr algn="ctr"/>
              <a:endParaRPr lang="en-US" sz="700" dirty="0">
                <a:solidFill>
                  <a:srgbClr val="FFFFFF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77041" y="4036508"/>
              <a:ext cx="267517" cy="1518452"/>
            </a:xfrm>
            <a:prstGeom prst="rect">
              <a:avLst/>
            </a:prstGeom>
            <a:solidFill>
              <a:srgbClr val="FF9933"/>
            </a:solidFill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lIns="9144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SYSB</a:t>
              </a:r>
            </a:p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I</a:t>
              </a:r>
            </a:p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OS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155193" y="4711977"/>
              <a:ext cx="1090112" cy="5004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9144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Network Driver</a:t>
              </a:r>
            </a:p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CPSW9G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325458" y="4443472"/>
              <a:ext cx="921280" cy="109571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DMSC Firmware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405374" y="3754760"/>
              <a:ext cx="1839931" cy="57805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tlCol="0" anchor="t" anchorCtr="0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Demo Routing Application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405374" y="5245904"/>
              <a:ext cx="1839932" cy="289959"/>
            </a:xfrm>
            <a:prstGeom prst="rect">
              <a:avLst/>
            </a:prstGeom>
            <a:solidFill>
              <a:srgbClr val="69FF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CSL FL/RL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907488" y="2530624"/>
              <a:ext cx="4464496" cy="3648771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12325458" y="5847749"/>
              <a:ext cx="1974518" cy="2640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700" dirty="0">
                <a:solidFill>
                  <a:srgbClr val="FFFFFF"/>
                </a:solidFill>
              </a:endParaRPr>
            </a:p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MCUSS</a:t>
              </a:r>
            </a:p>
            <a:p>
              <a:pPr algn="ctr"/>
              <a:endParaRPr lang="en-US" sz="700" dirty="0">
                <a:solidFill>
                  <a:srgbClr val="FFFFFF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1155193" y="4371717"/>
              <a:ext cx="1090112" cy="302331"/>
            </a:xfrm>
            <a:prstGeom prst="rect">
              <a:avLst/>
            </a:prstGeom>
            <a:solidFill>
              <a:srgbClr val="FF9933"/>
            </a:solidFill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9144" rtlCol="0" anchor="ctr"/>
            <a:lstStyle/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NDK</a:t>
              </a:r>
            </a:p>
          </p:txBody>
        </p:sp>
        <p:cxnSp>
          <p:nvCxnSpPr>
            <p:cNvPr id="37" name="Elbow Connector 36"/>
            <p:cNvCxnSpPr/>
            <p:nvPr/>
          </p:nvCxnSpPr>
          <p:spPr>
            <a:xfrm rot="5400000" flipH="1" flipV="1">
              <a:off x="8227609" y="3525879"/>
              <a:ext cx="807463" cy="4248635"/>
            </a:xfrm>
            <a:prstGeom prst="bentConnector3">
              <a:avLst>
                <a:gd name="adj1" fmla="val -96257"/>
              </a:avLst>
            </a:prstGeom>
            <a:ln w="952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/>
            <p:cNvCxnSpPr>
              <a:stCxn id="11" idx="2"/>
              <a:endCxn id="19" idx="2"/>
            </p:cNvCxnSpPr>
            <p:nvPr/>
          </p:nvCxnSpPr>
          <p:spPr>
            <a:xfrm rot="5400000" flipH="1" flipV="1">
              <a:off x="9540368" y="3813620"/>
              <a:ext cx="761120" cy="3558641"/>
            </a:xfrm>
            <a:prstGeom prst="bentConnector3">
              <a:avLst>
                <a:gd name="adj1" fmla="val -134155"/>
              </a:avLst>
            </a:prstGeom>
            <a:ln w="952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6811144" y="6563072"/>
              <a:ext cx="864096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rgbClr val="FFFFFF"/>
                  </a:solidFill>
                </a:rPr>
                <a:t>PCAN Module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762114" y="6955372"/>
              <a:ext cx="1419651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Ethernet Cable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374619" y="6502096"/>
              <a:ext cx="1244836" cy="541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Cable for CAN 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98695" y="6176701"/>
              <a:ext cx="810898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RJ45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76440" y="6178815"/>
              <a:ext cx="656664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USB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073854" y="6178799"/>
              <a:ext cx="813711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DB9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638821" y="6154805"/>
              <a:ext cx="737943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RJ45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954506" y="2577249"/>
              <a:ext cx="1526317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rgbClr val="000000"/>
                  </a:solidFill>
                </a:rPr>
                <a:t>DRA82x EVM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442992" y="2530624"/>
              <a:ext cx="3744416" cy="36590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11052" y="2564412"/>
              <a:ext cx="1526317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rgbClr val="000000"/>
                  </a:solidFill>
                </a:rPr>
                <a:t>PC/Laptop</a:t>
              </a:r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10755660" y="4036507"/>
              <a:ext cx="944589" cy="1175873"/>
              <a:chOff x="10755660" y="4178215"/>
              <a:chExt cx="944589" cy="1034165"/>
            </a:xfrm>
          </p:grpSpPr>
          <p:cxnSp>
            <p:nvCxnSpPr>
              <p:cNvPr id="61" name="Straight Connector 60"/>
              <p:cNvCxnSpPr/>
              <p:nvPr/>
            </p:nvCxnSpPr>
            <p:spPr>
              <a:xfrm flipH="1" flipV="1">
                <a:off x="10771584" y="4178215"/>
                <a:ext cx="1" cy="1034165"/>
              </a:xfrm>
              <a:prstGeom prst="line">
                <a:avLst/>
              </a:prstGeom>
              <a:ln w="2222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 flipV="1">
                <a:off x="11695857" y="4178215"/>
                <a:ext cx="4392" cy="975592"/>
              </a:xfrm>
              <a:prstGeom prst="line">
                <a:avLst/>
              </a:prstGeom>
              <a:ln w="2222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10755660" y="4178215"/>
                <a:ext cx="944589" cy="0"/>
              </a:xfrm>
              <a:prstGeom prst="line">
                <a:avLst/>
              </a:prstGeom>
              <a:ln w="22225"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Elbow Connector 68"/>
            <p:cNvCxnSpPr>
              <a:stCxn id="7" idx="0"/>
              <a:endCxn id="51" idx="0"/>
            </p:cNvCxnSpPr>
            <p:nvPr/>
          </p:nvCxnSpPr>
          <p:spPr>
            <a:xfrm rot="5400000" flipH="1" flipV="1">
              <a:off x="8429405" y="651317"/>
              <a:ext cx="362328" cy="4214194"/>
            </a:xfrm>
            <a:prstGeom prst="bentConnector3">
              <a:avLst>
                <a:gd name="adj1" fmla="val 200947"/>
              </a:avLst>
            </a:prstGeom>
            <a:ln w="95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>
              <a:stCxn id="10" idx="0"/>
              <a:endCxn id="26" idx="0"/>
            </p:cNvCxnSpPr>
            <p:nvPr/>
          </p:nvCxnSpPr>
          <p:spPr>
            <a:xfrm rot="5400000" flipH="1" flipV="1">
              <a:off x="9904080" y="727016"/>
              <a:ext cx="432048" cy="4039264"/>
            </a:xfrm>
            <a:prstGeom prst="bentConnector3">
              <a:avLst>
                <a:gd name="adj1" fmla="val 254029"/>
              </a:avLst>
            </a:prstGeom>
            <a:ln w="95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9920929" y="2237505"/>
              <a:ext cx="812778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JTAG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1325339" y="2237503"/>
              <a:ext cx="1230894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</a:rPr>
                <a:t>USB/UART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08" y="96478"/>
            <a:ext cx="8000913" cy="514323"/>
          </a:xfrm>
        </p:spPr>
        <p:txBody>
          <a:bodyPr/>
          <a:lstStyle/>
          <a:p>
            <a:r>
              <a:rPr lang="en-US" sz="2100" dirty="0"/>
              <a:t>Gateway Demo: CAN </a:t>
            </a:r>
            <a:r>
              <a:rPr lang="en-US" sz="2100" dirty="0">
                <a:sym typeface="Wingdings" panose="05000000000000000000" pitchFamily="2" charset="2"/>
              </a:rPr>
              <a:t> </a:t>
            </a:r>
            <a:r>
              <a:rPr lang="en-US" sz="2100" dirty="0"/>
              <a:t>Ethernet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1" y="656054"/>
            <a:ext cx="3427739" cy="1893731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t"/>
          <a:lstStyle/>
          <a:p>
            <a:pPr marL="228584" indent="-228584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Demonstrates Latency and CPU Load for routing application</a:t>
            </a:r>
          </a:p>
          <a:p>
            <a:pPr marL="228584" indent="-228584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Shows early CAN response</a:t>
            </a:r>
          </a:p>
          <a:p>
            <a:pPr marL="228584" indent="-228584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AUTOSAR MCAL driver </a:t>
            </a:r>
          </a:p>
          <a:p>
            <a:pPr marL="228584" indent="-228584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RTOS driver for CAN + Linux for ETH: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5507" y="2376972"/>
            <a:ext cx="428627" cy="31275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3" tIns="45717" rIns="91434" bIns="45717" rtlCol="0" anchor="ctr"/>
          <a:lstStyle/>
          <a:p>
            <a:pPr algn="ctr"/>
            <a:r>
              <a:rPr lang="en-US" sz="600" dirty="0">
                <a:solidFill>
                  <a:srgbClr val="000000"/>
                </a:solidFill>
              </a:rPr>
              <a:t>CAN Driver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5509" y="2720860"/>
            <a:ext cx="428627" cy="194870"/>
          </a:xfrm>
          <a:prstGeom prst="rect">
            <a:avLst/>
          </a:prstGeom>
          <a:solidFill>
            <a:srgbClr val="69FF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" tIns="45717" rIns="91434" bIns="45717" rtlCol="0" anchor="ctr"/>
          <a:lstStyle/>
          <a:p>
            <a:pPr algn="ctr"/>
            <a:r>
              <a:rPr lang="en-US" sz="600" dirty="0">
                <a:solidFill>
                  <a:srgbClr val="000000"/>
                </a:solidFill>
              </a:rPr>
              <a:t>CSL FL/RL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75212" y="2009201"/>
            <a:ext cx="165924" cy="949032"/>
          </a:xfrm>
          <a:prstGeom prst="rect">
            <a:avLst/>
          </a:prstGeom>
          <a:solidFill>
            <a:srgbClr val="FF9933"/>
          </a:solidFill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9143" tIns="45717" rIns="91434" bIns="45717" rtlCol="0" anchor="ctr"/>
          <a:lstStyle/>
          <a:p>
            <a:pPr algn="ctr"/>
            <a:r>
              <a:rPr lang="en-US" sz="600" dirty="0">
                <a:solidFill>
                  <a:srgbClr val="000000"/>
                </a:solidFill>
              </a:rPr>
              <a:t>SYSB</a:t>
            </a:r>
          </a:p>
          <a:p>
            <a:pPr algn="ctr"/>
            <a:r>
              <a:rPr lang="en-US" sz="600" dirty="0">
                <a:solidFill>
                  <a:srgbClr val="000000"/>
                </a:solidFill>
              </a:rPr>
              <a:t>I</a:t>
            </a:r>
          </a:p>
          <a:p>
            <a:pPr algn="ctr"/>
            <a:r>
              <a:rPr lang="en-US" sz="600" dirty="0">
                <a:solidFill>
                  <a:srgbClr val="000000"/>
                </a:solidFill>
              </a:rPr>
              <a:t>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5507" y="1971301"/>
            <a:ext cx="428628" cy="3612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" tIns="45717" rIns="91434" bIns="45717" rtlCol="0" anchor="t" anchorCtr="0"/>
          <a:lstStyle/>
          <a:p>
            <a:pPr algn="ctr"/>
            <a:r>
              <a:rPr lang="en-US" sz="600" dirty="0">
                <a:solidFill>
                  <a:srgbClr val="000000"/>
                </a:solidFill>
              </a:rPr>
              <a:t>Early CAN response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1" y="2679238"/>
            <a:ext cx="3368040" cy="113099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t"/>
          <a:lstStyle/>
          <a:p>
            <a:pPr marL="228584" indent="-228584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Routing SW using just R5F – Cortex A free for other application usage</a:t>
            </a:r>
          </a:p>
          <a:p>
            <a:pPr marL="228584" indent="-228584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&lt;100us driver routing latency</a:t>
            </a:r>
          </a:p>
        </p:txBody>
      </p:sp>
    </p:spTree>
    <p:extLst>
      <p:ext uri="{BB962C8B-B14F-4D97-AF65-F5344CB8AC3E}">
        <p14:creationId xmlns:p14="http://schemas.microsoft.com/office/powerpoint/2010/main" val="1983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Deep Dive – Ethernet Firmware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31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CPSW Integration</a:t>
            </a:r>
            <a:endParaRPr lang="en-GB" dirty="0"/>
          </a:p>
        </p:txBody>
      </p:sp>
      <p:sp>
        <p:nvSpPr>
          <p:cNvPr id="27" name="Content Placeholder 26"/>
          <p:cNvSpPr>
            <a:spLocks noGrp="1"/>
          </p:cNvSpPr>
          <p:nvPr>
            <p:ph sz="half" idx="1"/>
          </p:nvPr>
        </p:nvSpPr>
        <p:spPr>
          <a:xfrm>
            <a:off x="333378" y="717947"/>
            <a:ext cx="5076822" cy="3690939"/>
          </a:xfrm>
        </p:spPr>
        <p:txBody>
          <a:bodyPr/>
          <a:lstStyle/>
          <a:p>
            <a:r>
              <a:rPr lang="en-US" sz="1400" dirty="0" smtClean="0"/>
              <a:t>Integration into app:</a:t>
            </a:r>
          </a:p>
          <a:p>
            <a:pPr lvl="1"/>
            <a:r>
              <a:rPr lang="en-US" sz="1100" dirty="0" smtClean="0"/>
              <a:t>CPSW configuration parameters: ALE, MAC, Host, MDIO</a:t>
            </a:r>
          </a:p>
          <a:p>
            <a:pPr lvl="1"/>
            <a:r>
              <a:rPr lang="en-US" sz="1100" dirty="0" smtClean="0"/>
              <a:t>DMA configuration parameters</a:t>
            </a:r>
          </a:p>
          <a:p>
            <a:pPr lvl="1"/>
            <a:r>
              <a:rPr lang="en-US" sz="1100" dirty="0" smtClean="0"/>
              <a:t>Print/tracing functions</a:t>
            </a:r>
          </a:p>
          <a:p>
            <a:pPr lvl="1"/>
            <a:r>
              <a:rPr lang="en-US" sz="1100" dirty="0" smtClean="0"/>
              <a:t>CPSW </a:t>
            </a:r>
            <a:r>
              <a:rPr lang="en-US" sz="1100" dirty="0" err="1" smtClean="0"/>
              <a:t>init</a:t>
            </a:r>
            <a:r>
              <a:rPr lang="en-US" sz="1100" dirty="0" smtClean="0"/>
              <a:t> and open</a:t>
            </a:r>
          </a:p>
          <a:p>
            <a:pPr lvl="1"/>
            <a:r>
              <a:rPr lang="en-US" sz="1100" dirty="0" smtClean="0"/>
              <a:t>Resource Manager attach</a:t>
            </a:r>
          </a:p>
          <a:p>
            <a:pPr lvl="1"/>
            <a:r>
              <a:rPr lang="en-US" sz="1100" dirty="0" smtClean="0"/>
              <a:t>IOCTLs and helper functions</a:t>
            </a:r>
          </a:p>
          <a:p>
            <a:pPr lvl="1"/>
            <a:r>
              <a:rPr lang="en-US" sz="1100" dirty="0" smtClean="0"/>
              <a:t>MAC/PHY configuration</a:t>
            </a:r>
          </a:p>
          <a:p>
            <a:pPr lvl="1"/>
            <a:r>
              <a:rPr lang="en-US" sz="1100" dirty="0" smtClean="0"/>
              <a:t>Close sequence</a:t>
            </a:r>
          </a:p>
          <a:p>
            <a:r>
              <a:rPr lang="en-US" sz="1400" dirty="0" smtClean="0"/>
              <a:t>NDK integration C-file template</a:t>
            </a:r>
          </a:p>
          <a:p>
            <a:r>
              <a:rPr lang="en-US" sz="1400" dirty="0"/>
              <a:t>CPSW LLD examples: loopback, sanity, </a:t>
            </a:r>
            <a:r>
              <a:rPr lang="en-US" sz="1400" dirty="0" smtClean="0"/>
              <a:t>NIMU</a:t>
            </a:r>
            <a:endParaRPr lang="en-US" sz="1400" dirty="0"/>
          </a:p>
        </p:txBody>
      </p:sp>
      <p:sp>
        <p:nvSpPr>
          <p:cNvPr id="2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png;base64,iVBORw0KGgoAAAANSUhEUgAABBMAAAJ5CAYAAAD8eXhbAAAgAElEQVR4XuydB3QUVRfH/wJC6KE36V1QFELvSBFEAqKUj16kg6B0DFVQioAYRHpXQKSJdJAelC41gBA6odcQ+nfuxLdOJrvZ3dlpu3vnHI5k57377vvdGcz9733vvfbq1atX4IsJMAEmwASYABNgAkyACTABvyWwZs0a7N+/H1euXMHVq1dx7do16b8ZM2bEvn37/JYLT9w5gaCgIFy/fh1ZsmRB5syZpf9mzZoV9Hnt2rWdG+AWXkvgNRYTvDZ27DgTYAJMgAkwASbABJgAE1BF4Pbt21i1apXtT61atVC6dGlJPFAmhYkSJVI1BnfyDwLPnz+PI0LduHEDYWFh2LhxI+rVq2f7kyZNGv+A4iezZDHBTwLN02QCTIAJMAEmwASYABNgAnv27MH06dOxYsWKWElewoQJGQ4T0JwACQ1y0apBgwbo2LEjSpUqpflYbNB4AiwmGM+cR2QCTIAJMAEmwASYABNgAoYSCA8PR79+/RAZGYkJEyagTJkyho7PgzEBIrBr1y58/vnnyJYtG0aPHo38+fMzGC8mwGKCFwePXWcCTIAJMAEmwASYABNgAvERoLXs/fv3x+7du6XkLTg4mIExAdMJLF++XBK3KlWqJD2X6dKlM90ndsB9AiwmuM+MezABJsAEmAATYAJMgAkwAcsT2LRpEyZOnIiGDRuiTZs2lveXHfQ/AjNnzsSyZcvQu3dvVK1a1f8AePmMWUzw8gCy+0yACTABJsAEmAATYAJMQEmAljLQCQ20AZ4/XTdn7cL5dvOQ9n+lkHN6CyRIllia/vObD3GmbihSVimAbN98FOezTL1rSvcf/XkuDi65LWFfNFKOIx9L2Mrcr5ZtTNHvcv9luDZ6PZT3hJ9KP5KXzo18q7shUfoUPhnOatWqoX79+ujRo4dPzs9XJ8Vigq9GlufFBJgAE2ACTIAJMAEm4JcE2rZti8DAQIwfP96v5v8y6inOfzoft3/6C4lzpkX+tT0QUDiLS2KCEBiosRAMCm79AikqF7AxJAHg9qK9NrtivCf/3IiV6FO7pxfvSGIGtSdxQ25LLhgoRQJnoofcT18L7meffYaoqChpg1C+vIMAiwneESf2kgkwASbABJgAE2ACTIAJOCVApeItW7b0y2UN0Seu4nTtSUhd5y3cW3MEWQbXRfq25TURE4RtuU0yrPxcCAwPd52JJWbIA/dw2ymEV/lWqkqg6gR7QoO8gkLYJBvyagunD4MXNpgxYwaWLl2KdevWeaH3/ucyiwn+F3OeMRNgAkyACTABJsAEmIAPEiAhoXPnzmjUqJEPzs75lKii4Orw1ci7tBMiJ2ySOojk251v/O1VJjiqVlDalVdH0PjK6gb6jCoXHmw9hVxzWiOi9RyHSy/sLcfw5coEEeGFCxdizpw5frdEx/kTbr0WLCZYLybsERNgAkyACTABJsAEmAATcIsALW2oWLGiX1YkECjlt/e0vICEBbHUQQsxQW5PBMde1YCoVnh6/rbUTL6vgtIPISyI/RAc7Zlgb98Ftx4QL2tMSx327t2LadOmeZnn/uUuiwn+FW+eLRNgAkyACTABJsAEmICPEaDNFi9evOh3eyTIw6hcbqD8WQsxQbn3AY1vz65c3KD9G+jKObOltORCLHEQFQvKn+2JDbQUQvT3sUc33unQZoz58+dH9+7d/WnaXjVXFhO8KlzsLBNgAkyACTABJsAEmAAT+I8AHf84evRovy8JF6cjKJ8NscEhnepAmzMmzp7G7mkOzjZgdHXPBOX4ol/aJiWlPRzEBpHKdqJ6gSod5KdOCHHh2bV7Dvdg8OX3gZbuDBkyBFWqVPHlaXrt3FhM8NrQseNMgAkwASbABJgAE2AC/kzg+vXroOUNq1ev9mcMtuqAJHkzxNqgULnPgfI0BmVVgIAY32kO8g0TRaJP/cQyBbl4QAKFXIRIUTaPtEEkCQty8ULuV6IMKeMcYSn88belDiIederUwYIFC5A2bVq/fs6tOHkWE6wYFfaJCTABJsAEmAATYAJMgAk4IeDv+yQIPEIUUC4FUCb2ys0Rqb+95QOOxARqL+6JseX7ISj9ET8LEcCRXbn/gfWKxRET5H7b29DR118U3j/BuhFmMcG6sWHPmAATYAJMgAkwASbABJiAXQLh4eEIDg7GyZMnmRAT8HkC+fLlw/r165E3b16fn6s3TZDFBG+KFvvKBJgAE2ACTIAJMAEmwAQA1K9fXzq5gQQFM66Ht+7h8O+7cePsVUQ/iML9O/fNcCPOmKkCUyJpquTIkC8bin1QDsnTpLSEX0onnj95hv0rd+D6qYu4ffUmnjx+Yhk/kyRNgrRZ0yNTgRwoUb8iEr6eyHTffv31V/z8889YunSp6b6wA/8RYDGBnwYmwASYABNgAkyACTABJuBFBPbs2YNevXohLCzMFK8Prw3D4VW7kDVhAJInSoTkiV5HotcSmOJLnCT95Us8fPEMj54/w5UXT1C8fkW8Vau0JXwTTpza+Td2zF2DHEmSI1nCGH6JEyS0jI9PX77Aw+fP8PjFC5yPfoDKbeoif/m3TPevZMmSmDJlCoKCgkz3hR2IIcBiAj8JTIAJMAEmwASYABNgAkzAiwi0a9cOn376KcqUKWO413sXbUbk3nDkSZTM8LHVDPjP8yhkLV0YJRpVVdNd8z5Hfw/D6Y37UDCJNSsm7E04/OlDFHy/FN6sVUpzHu4Y3LlzJ+bOnQvaQ4EvaxBgMcEacWAvmAATYAJMgAkwASbABJiAUwK3b99G/vz5cevWLadttW5weN0eXNx0EHle9w4hQcz/n2ePkKtmEN6qaW4yTBUJx37djoIB3iMkCIYnH9/H202qIl+Zolo/Vm7ZS506NS5evIhUqVK51Y8b60OAxQR9uLJVJsAEmAATYAJMgAkwASagOYE5c+Zg27ZtmD17tua24zNIeyQsHzITQanTGzquVoPtvXMDDUd2MG0PBdojYW63b1EuY1atpmS4nZ2Rl9H2x75ImMi8JRktWrRArVq10Lx5c8PnzwPGJcBiAj8VTIAJMAEmwASYABNgAkzASwh89NFHoISqQYMGhnq8e+EGPD5wFlmTpjB0XK0Guxz1EMlL5kXZpjW0MumWnb3LtuJB2ClkSeJdVR3ySV5+GoXAcoUQVL+SW3PXsvEvv/wC+rNkyRItzbItlQRYTFAJjrsxASbABJgAE2ACTIAJMAGjCSRKlAhPnjxBwoTGfju8cvhsZHz0EoFJAoyesibj3Y2OxvWUCREc0loTe+4aWf31fKS58wRpA5K629Uy7W8/foy76QPwQT/zqgLo2aelDtHR0Zbh4s+OsJjgz9HnuTMBJsAEmAATYAJMgAl4DYE1a9Zg8uTJ+P333w33eVHvUBRNFohECaxxaoO7AJ6/fIljUXfReFw3d7tq0n5u12/xbtqMSGywCKSJ8/8aefriBQ7duYGWoZ9radZtW7TM4YsvvkDNmjXd7ssdtCXAYoK2PNkaE2ACTIAJMAEmwASYABPQhcDw4cMlu4MHD9bFfnxGp7UdhUq5chs+rpYDbo84hw6zBmpp0mVbvsCPJmsmQwF7yJAhCAgIwIABA1zmzw31IcBigj5c2SoTYAJMgAkwASbABJgAE9CUQOfOnVGsWDF06tRJU7uuGJOS4dx5XWlq2Tbbz/1jrpjg5fwkMcFEhuLBouqcEydOIDQ01LLPmr84xmKCv0Sa58kEmAATYAJMgAkwASbg1QTq16+PNm3aIDg42PB5kJhQOW8+w8fVcsBt/5wxVUzwdn4UCzMZimdh+fLlmD9/PpYtW6bl48G2VBBgMUEFNO7CBJgAE2ACTIAJMAEmwASMJlCmTBl89913KF26tNFDQxIT8uc3fFwtB9x2+rS5YoKX85PEBBMZimdhz5496NWrF8LCwrR8PNiWCgIsJqiAxl2YABNgAkyACTABJsAEmIDRBHLmzIkdO3YgR44cRg8dIyYULGD4uFoOuC38lLligpfzk8QEExmKZ+H8+fOoXLkyIiIitHw82JYKAiwmqIDGXZgAE2ACTIAJMAEmwASYgNEESpYsKX0bS8dDGn2RmFClUEGjh9V0vK0nw00VE7ydHwXDTIbiYXj+/DnKli2LvXv3avp8sDH3CbCY4D4z7sEEmAATYAJMgAkwASbABAwn8Nprr+HVq1eGj0sDSmLCm4VNGVurQbceP2GumODl/CQxwUSG8ufAzHdBq+fRF+ywmOALUeQ5MAEmwASYABNgAkyACfg8ATMTKElMKPqmVzPeevS4uWKCl/OTxAQTGbKYYL3Xj8UE68WEPWICTIAJMAEmwASYABNgAnEImC0mVH27iFdH5Y+/j5kqJng7Pwq+mQxZTLDe68digvViwh4xASbABJgAE2ACTIAJMAHriQnFinp1VP44fNRcMcHL+UligokMWUyw3uvHYoL1YsIeMQEmwASYABNgAkyACTAB64kJ777t1VH54+Df5ooJXs5PEhNMZMhigvVePxYTrBcT9ogJMAEmwASYABNgAkyACVhOTKhWophXR2XL/sOmignezo+CbyZDFhOs9/qxmGC9mLBHTIAJMAEmwASYABNgAkzAemJCyXe8Oipb9h4yV0zwcn6SmGAiQxYTrPf6sZhgvZiwR0yACTABJsAEmAATYAJMwHpiQql3vToqW/46aK6Y4OX8JDHBRIYsJljv9WMxwXoxYY+YABNgAkyACTABJsAEmIDlxIT3yhT36qhs3nPAVDHB2/lR8M1kyGKC9V4/FhOsFxP2iAkwASbABJiAZQm8evkc967uwpP75xB97yxePHuAJw+vWNZfsxxLkjwLEiZOhYDUeRCQKg9SZSmP1xIkNMsdaVx/j50VY+LuA2H20ZDvlQty12WErl6IiSvnxen3bbt+CC5TTbqfPX0W6e/7zxzDirDNGNS4IwISJ3F7LGcdNu/eZ66YoIKfszkZfd9MhiwmGB1t5+OxmOCcEbdgAkyACTABJsAEADyI3Itrx2YgeersSJI8PQKSZ0JAisxImCgx81EQePH8CaIfRiL6Ef25iah7F5G5aAekzFjCFFYcO8BqMVHzIJguJlQo6bbbob8tlPp0+7CZ3b50P3uGzAgu8x72nyYxYRMGNemkj5iwc6+5YoIDfiv3bMYX00fH4dOzfiuJG92/eOOa9HdnjJS2vv2URJv3XI6bPB72Om02kSGLCS6H0bCGLCYYhpoHYgJMgAkwASbgvQSuHPoOL57eQvbCwd47CRM9f/XqJS6dWIWEARmRtVh3Qz3h2NnHbWZM1D4AZosJ1SuWctv10FULYsSEes3j9F0ZthmfT/9G+nz8p/3xRvpMWB62CSkCkmP6uiWoVDQI4zsMQJoUqdwe116HTTv+MlVMcMSPOOw9fQRfNulsV0Sh+xdvXJUY7j99VGJkry21IzFGMLvz8D4+n/Y16petjuCyrgkKFK/sGbI4bG8mQxYTNHkNNDXCYoKmONkYE2ACTIAJMAFfI/AKF/d+hZSB2RGY+S1fm5zh87lz9TAe3b+GN4IGGjA2x84VyMbGxBWPHLcxXUyoXNrtCYSu/FdMCI4rJpAxup89Y0zySolyo5E9sWTQRBTJmR9f/TwFmQPTo5uDvu46s2nbn+aKCQ74SWLCqSP4smlcMUEwobn2atAaZd98B8t3k+CSDNPXLkGlt4IwvuNASXCxx1rYrlOyMtbs3SaNQRexLVngLYn72asX8d2KeShdqBhC5k6MEXc6DrArKJjJkMUEd594/duzmKA/Yx6BCTABJsAEmIDXEqBvtZMmT400LCRoFsM7Vw/h8eMo3SsUOHauh8yomLjukf2WposJVcu6PYXQFfMxYdnsWP0K58iLSV0HI0+W7KD7kphQrjr2nzqK0JXzMb7TQKRJmRord2/CxetX0a1+C7fHtddh0x9h5ooJDvjRPPeGH8GXzbrYr0yQcSBGjb7qgSVfTkKRXPnx1cIfkDlNeomRuNe06odxbN15cA/fLp2FLz5uK6GhvxP/tu9/LPULO35QsiGPh9UYspigyWugqREWEzTFycaYABNgAkyACfgOgQfX/sLdC6t5aYMOIb14fDkCczVAykz67KHAsXM/aHrHxH2P4vYwXUx4r5zb0whdHrP5YrcGLe32pfvZM2ZFcHkSE45g+c6N+LJ5VympXrmLxIQrDvu668ymzbvNFRMc8KN5fj5lZJzpLBk8CSUKvBWLAzGihH9850ExgouCUfTTJ/hqwWT8vOU3yV7Tah9KPOmizxtUqCH1O3ruFC5EXkGz6sFYuGklyhZ5VxpLHg+7YoKJDFlMcPeJ17+9JcWEESNGSDMPCQmxEQgPD8fQoUMRGhqKdOnSaUrm1q1b6Natm2S/YMGCDm272s6eAZrT4MGD0bFjR0yYMAFJkybVdA7xGdOTnWGT4IGYABNgAkzAUAK08/+ZrV2Rv2QHQ8f1l8Fovf6Z/TORr3IoXkuQSNNpc+zU4dQzJuo8itvLbDGhRvXybk/l+3/FhO4OxAS6n4MqE8rXwL7wI1ixSy4mbMSF61fhqK+7zmzctMtUMcERv5W7NsZUJvwroijnRfcFB3cZyfmTHXFlS58Zf589iTJvvotVuzehUeU6yJM1B+TxsMfXTIYsJrj7xOvfnsUEAK6KBK62U4bt8ePHGDJkCNq1axevWKF/uHkEJsAEmAATYAKuEbh7eRuirm1H1gJ1XOvArdwmcDl8NVJkfQ+ps1Zwu298HTh26nHqFRP1HsXuabqYUNP9Z/X7ZXOlSXT/qJVdDHQ/B1UmVPhXTNixAV+27BZTmbCTkugrDvu6y3Xjhp3migkO+NE895782zbvOGKCjIMkJthh9GndJpj4yyw0qvqBJAqIS97+ys1IbD20R7pV5Z0yOHI2HFFPonH+2iX0/KStxFweD7tigokMWUxw94nXv73Xignim35CNHz4cFsVA30L37hxYxw+fBi1atXCwoULpUqGXbt2Se0iIyNRpkyZWNUBcpEgR44c6NWrF7JlyyZVEgj7vXv3lj6fOnUqihUrhsWLF0O0pc/o2rlzJ8qXLw/yoUePHtJnL1++lGzNnRvzDym1KVSoEJo1a4b169fb7IsqDPJF3JP772he8keEmOTJk0fqTxfN/ezZs2jUqFGsqg76vHnzmE1wxFziq8jQ/zHkEZgAE2ACTMBqBCKPz0aiBE+QLpv7R8FZbS5W9efW5b/w/FVSZCrcWlMXOXbqceoVE/Uexe5pupjwfiW3p/L9r3MwYcnMOP16NWqH7g1bY+WODegVOgITuoUgW8YsWLF9Pb5s1T1GTNixIUZMaKjNO7Jx3XZzxQQH/Giekpjw77yVsOQcJHHAASOlHWnJw9zvkSlteomhtG/Coul4EPUQQ9v2kn6e9fsSlCz0NoIr1pSGpXhJ4s6/Pyt9MZOh3Bcz3wW3XwIf7uCVYsLJkycxf/58SRCgS3zrnz59eimRpsScknpKri9fviy1O3DgALp27SqJAMrE2Z6YQHaV/ci+fDmEfDkGiRXCPvUlQWPy5MmSH1SZQEJEixYtULx4cenvFStWlHwVwsOkSZNs4gS1o35CDOjSpYvDecmXS5APci5iTPJbLBEhduS3EFnsLSnx4eedp8YEmAATYAIuEji/ZzDSZ3sXyQP/+4bLxa7czEUCj+6ex80rh5Cz9HAXe7jWjGPnGid7rfSKiXqPrCUm1KxTWaupmGJnw5ptpooJjvhRpUGvSXH/HfhfjWCEtOqBo+fC8UlIF3zeuD3KFi2O5dvXS58HJEkiVSlcjLyC7h/HCC5KW9RH3JPEgqVzpHb0GYkJQ2ZOkKoS8mSL+bde9J/QYzDq2xEUzGTIYoIpr028g3q9mKBMpuWJsnyvAGUSLadiT0wQyb78nlxMUAoXcsGA7lFlAgkEJFzI75FI4Ghs+tzevhAkEjial3z/CLkwIbd18+ZNh/tNCMFCvj+F9R5T9ogJMAEmwASMJnB2R0/kLNoYCRMlNnpovxnvxfOnOH90CfJUjPlyRKuLY6eepF4xUe9R7J5mfhs7re0o1PygilZTMcXOht+3mismeDk/CpqZDFlMMOW18T0xgRJoean+ggULpG/uKemuUCH2Wi5Rxk8JtfjWXrn5oT0xQVQHOBMTxFIFQZl8CQoKipW8K8UEpZ9yH+WigbAZ37zkVRbycSIiIqQlDiQSyEWVZMmS2ZZrCPvyZSLWe0TZIybABJgAEzCDwIm1jVG4Ql8zhvarMU/sHIPCtRdrOmeOnWc49YiJZx7919t0MeHDqlpNxRQ7G377w1wxwcv5SWKCiQxZTDDltfE+McHet+XKb+fFrOQJNH3mSDCQLwHQSkxwdAKE8vQEuY9ivwSxFEMuVpD/jioTHM1LGV3Bjj6vVq2abQ8HYXfdunXYsWOHbc8Irkyw3kvJHjEBJsAErECAE1JjoqBH4sqx8yx2esTEM4+sIybUCq6m1VRMsbN+5RZTxQRv50dBM5MhiwmmvDbeJybI9x+QLxOgjQwpCZcnwPKTEpRLD6gdJeH0X/k+C1qICeSXfL8BsUEi7ZMg36OAqijiExPIt7Fjx0p7OdjznxL/L7/8Eu3bt7ftBSGfl/KYTOFH5syZbfsiyMUNuZgQFRUlVXTQ0gte5mC9l5M9YgJMgAmYSYATUmPo65G4cuw8i50eMfHMIwuJCQ2qazUVU+ysX77JXDHBy/lJYoKJDFlMMOW18T4xgTxWlvbLS/FFci5OURDLHKif/NQD+UkFWlQmiNMb9uzZY/c0B+FHfJUJYmNFcZoCzYE2hxTLKhyd2uBoXsroCjZCeBFMRGUC/Sw/LaJz585Yu3ZtrNMtrPeYskdMgAkwASZgNAFOSI0hrkfiyrHzLHZ6xMQzjywkJnxUQ6upmGJn/bKN5ooJXs5PEhNMZMhigimvjXeKCdZDxR4xASbABJgAE/AfApyQGhNrPRJXjp1nsdMjJp55ZB0x4f2PY44P9NZr3dINpooJ3s6P4m4mQxYTrPfmWfI0B+thYo+YABNgAkyACfgXAU5IjYm3Hokrx86z2OkRE888spCY0KiWVlMxxc66JevNFRO8nJ8kJpjIkMUEU16beAdlMcF6MWGPmAATYAJMgAmYToATUmNCoEfiyrHzLHZ6xMQzjywkJjSprdVUTLGzbtFac8UEL+cniQkmMmQxwZTXhsUE62Fnj5gAE2ACTIAJWJsAJ6TGxEePxNXM2C1cvBbNPw1Bx7YfYcLXnyNp0gAJZPjpCDRuPRCHj5yKBXbB9BFo1rg2RoyegcEjf5Tu1apeFgtnjEC6tIHGBEExih4x0WoiZh8NWbtpHa2mYoqdtT+vMVVM8HZ+FDQzGbKYYMprw2KC9bCzR0yACTABJsAErE3AzITU2mS09U6PxNWs2D1+HI1eA8Zj6qxlKPZWASyeMwoF8+eKA0y0i7hwVRINTp6KQIWa7bFzwwwUL1ZIspEtS0aE9GuvLWwXrekRExeHdtrMdDGh2QdOfbRyg7ULfzdXTPByfpKYYCJDFhOs93ZZapkDHXlIRyFOmDAB4vjGW7duoVu3bqDTCOg4RnHRsYyXL1+O01acVCBH3bFjR6ndhQsX0LhxYxw+fDhOJOQnQshvKk+OqFWrlu3IRWpHPouTGeT9du7cKR25qLzkR0GK+Tiao7Kvq+3UPGbEM0+ePNJJD3wxASbABJgAEzArIfU38nokrmbFTlQf1KxWBhu27EGfHi2kqgPltWvPIZt4UL7MO3HuU5XCrj8Pm1adoEdMtHquTRcTWtTVaiqm2Fk7f7W5YoKX85PEBBMZsphgymsT76BeKSbQMYkkDtDVq1cvm8hAyTYlwyEhIbZEXogBFStWjJUo2xMu7CXvZI+ObRRJNh0x2bVrV+loSBID7NmhNpSc07106dLFMivEB/lRl66KBK62U/OYsZighhr3YQJMgAn4LgGzElLfJWp/ZnokrmbFjpY4jJ00H3OmDMGPs36VJixf6kA/i6oEe/foMyFIlClZNE5fo54NPWKile9miwl1Wn2o1VRMsbNm7m+mignezo+CZiZDFhNMeW18T0yghFxcZ8+elcQDuuyJCfQ5tZe3E58pqyCUpOz1U9pzp5pCPm5ERIRN9FCKBMpqCKpyKF68uCScTJ06FcWKFZOqIagdzV05bxIz5s+fH6caQ15VQeLBsWPHJFGEqjKIj6hMILGGKjgmT55st7rCeo8xe8QEmAATYAJaEzArIdV6Hla3p0fiakbslCLBslV/SMKCcqmDEAvsVS3cun0XzdqHYP2mMIi9FMyInx4x0WoeposJrYO1moopdtbMWWmumODl/CQxwUSGLCaY8tr4lphACfSQIUPQrl07pE+fHoMGDcLIkSOlCgAtKxNEQk9VCcrlCvLKg3Xr1sVZmuGsMoES92rVqtkS/qioqFhLOSjRp4uEAnklBM1XLPmg+zNnzsSwYcOk5RvEpGnTpggODpbEE7ref/99qaJCVFbIl4aMGzcu1jIRUZkQFBQkLSkJDQ2NU1VhvceXPWICTIAJMAG9CJiRkOo1Fyvb1SNxNSN2SpHAkWggqheUIoN8vwXl5o1Gx0+PmGg1BzPFhEX9pqB0rXJ4PfHrWk3HUDvPnj7Dn+t3ocnoLoaOKwab12MCytetjCTJYjYl9cYrOioau1dvR8tJPU1338x3wfTJW8gBr1vmQN+aiySa9lWgJJgSc0r4hZiwfv36WIjlSwrEDWfLHOITE8gHkXCTmKDcM4EqB8QyCGWsRbVD7969pUoDWn5BSb8QCUgwkC/VkPtRqFChWO1En5s3b4L+/P333+jSpQtGjx4tiS10yYUB8rtHjx6YNGkSlixZIt0XVR3EMUWKFPjrr7/i7E9hoeeVXWECTIAJMAGDCJiRkBo0NUsNo0fiakbs5KcxyAHLT2aIb4mD6G/2SQ7kux4x0eqhMzOBWjlyLnIVzI30WTNoNR1D7dy8fB3nT59HvalvUs0AACAASURBVIEtDR1XDPb72IXImiMrMmbPbMr4Wgx6/cI1XLl0FR/0/p8W5jyyYea74JHjPtbZ68QEexseCrFAWZkgT57lmzdSDLUUE+TLJeRVBfaeFfnSCSFKUHUBVRZQ4i/EBKUgQksR5KIDzUcIKSQAVK1aFb/99pu0PGH8+PFStcbJkydj7d0gX05BYoJ8w0WyRVUQtBQiY8aMvBGjj73oPB0mwASYgLsEXE1IxWZ6wr6yPJ2SxDy5stmO/xN/d9cfR+3tJbHxnSSg1bjCjnx+amzrkbi6Gjs1/trrI5Yn5MqRJdY+B+KYSDqlgTZaFO3Kly4W66QG8QwZGbf45q5HTLRibWYCteunDXj16Clyv5VPq+kYaufs36eRKGVSlG1a3dBxxWB7l23Dk1sPvJYfzYMYJs2YGkH1K5nCUD6ome+C6ZO3kAOWEhPka/3FaQ5yQUD5rT1xlCfI9u5T8k77Byg3Q3QmJgjBQbnXgvJzpR0haMg3bZTHW7kPg1h6cO/ePZuYYO/0CuVcSUwgXrTvQWRkpFSRMG/ePCRPnlz6mSoO5BUUtAxEWZmgFBPoZ6VgYaFnlV1hAkyACTABAwm4kpBSsjh/8Rrbrvvim2f5sX5GiAmERX6MIPm1I+ygIRv4sZgACDFAKSSJpQ4N61WT4uNITLAnCJlZocBigv1/aB7deYBfh8zEe83qGPgvkXZDbVqwGp981RHJUifXzqgbll48e47ZXcahdvuP3OhlraZrpv2KdtP7IUGCBKY7xmKC6SGQHLCUmGBv4z/5Ov8DBw7EOSVBflqD2CPA6qc52Ns08tq1a7alEfLqBjkT+TIHEhPoHlU05MiRQ9o7gfh8//336N69e6xlH472TLAnJtASC0cbT1rjkWUvmAATYAJMwAgCzsQESgy79R6DoQM6oGD+XDaX5J/vO3ACzT+N2SSZEs2zEZeRIkVSrN+8R9pkb/igTjYRQL5mntqLb7MpUR0+egYir9+GvR3+KRFVigmUxA79ehpCx/VFurSBtmSX2snX41NfpT9UOUE+K78llye8ImkW37yL+dExiPbaxRcvPRJXZ7Ez4vnx5jH0iIlWPMxOoI5s+AuXj5zD25WKazUlQ+wc3rYP2d/Jj6LVgwwZz9Egp8OO4OSWAyhRs5ypfqgZfN+63ShSMwh5SxdR013zPma/C5pPyEsNWkpMIIYieT58+LCEtGPHjtKpBGJ/BOkXhn9PbxDMRfWBSKTlYgK1UR7nSJ+5UplA7ZQnK8hPRHBkR/TJli2bXV+V1Q5K/5Rj0hIHSvLF53v27JGEBxIRxL4LdF9ZiaDkqTzNwZGYEN9+EV76nLPbTIAJMAEm4CYBZwkpJfnzF61xePRfxbLvxlnaQIn2rj8PS5UMN2/dRePWAzH5275SCbxcFCDbXb8YI50EQO3E3+WihZiOPTFBXplw4dI19Og7DpPG9EaONzKj14DxEJUT9vwR36LL7corMOz5LZZuKMeVz88Rfj0SV2exc/NR8LvmesREK4hWSKAOrNqJyFMXUaxqSa2mpaudQ5v/RNYiufHOB9ZI4E9sPYBTO/5GyToVdJ23lsb/+n0nCld9BwUrvqOlWY9sWeFd8GgCPtLZcmKCj3DlaTABJsAEmAAT8GoCzhJSR2ICTdrR0gZ5gi4qEVo0qYNCBXJJRwKG9G0nCQvye5K9MTNtSymUUJ2VyCuXPMj9HjdpgWROlODLKy2oH1VS0D3lUgb5PMS9j+pVlYQKIaIoObCY4D2vA4sJzmN1dNM+HPxtJ/IUL4SUaVIhdaa0ljnlgU5tuBd5Gw/u3Mc/+0+gRP1KKFKthPNJGdjizJ5j2DrzNxQs8xZSpk2FVBnSICB5UgM9iH+o6EePce/GHTy8fR8nd/+Nah2Ckbf0m5bxjxxhMcEa4WAxwRpxYC+YABNgAkyACViKgF5igvgW356YQEsf5BctJ8iVM4vdCgjRzp5AIU/o5UsRRB+xHv+H6Uttm0Mql20IMaF3j+ZxRAJ7QoMQE6bOWhZrDvKlHPYCrEfi6ix2lnrQLOiMHjHRappWSqBoD4UjG//CjbNX8PhBFO5evaXVND2yQ8JGssAUyJA7C96uVca0PRKcTeLF8xc4uHoXIs9cwq0L1xH9MMpZF8PuB6RMhnTZMyFTvmwoXq+CJfZIUE7eSu+CYYGx4EAsJlgwKOwSE2ACTIAJMAGzCThLSF3ZM4GWJTiqUlCKCfb2XyAG8VVA0H3lMgex6Z9YPiFP/JVM5b45EhPcrUygSguqrnD10iNxdRY7V33z13Z6xEQrlr6cQP3000949OgRPv30U61w+ZWdp0+fSsvDZ8yYgYQJE/r83H35XfCm4LGY4E3RYl+ZABNgAkyACRhEwJWE1JPTHORignLPBLkgQNO1tzeDwODOnglC3Lh89bq01wMtcxCVEvGJCWr2TIh6HC0t3WjRuI60d4SjS4/ENb7YOTrpQhkPPR4zcZqDWM4ixpB/vmXbPltM5D44Eq/c8dOZMCVs6RETd/yMr60vJ1C0P9qLFy9ASTFf7hMYPnw4vvnmG+lPjx493DfgZT18+V3wplCwmOBN0WJfmQATYAJMgAkYRMAVMYFcEccCCreUxwOKZQbiNAd7yxzk+ySIZQLCjrME0J6YIJJTkcjLfZQfOehqZQLNzdEpDfL5KU9zcLbEgezqkbiqERMMeqziVJKIZyi+fTGoDYsJMRHy1QSKNlunE8pISKCN1AcNGmTUI+kz4yROnBjPnj2Tjol/+PChz8zL0UR89V3wtsCxmOBtEWN/mQATYAJMgAkYQMBVMcEAV3x6CKuICfLKhPTpAqWjNVOnSgEh7oijOuUCjHKjTHkFiaPlJSTsKIUDextaBhUvLJ3CQdfLly+RLWtGzF242nZk55Jlm2wVDMqqCqXAJT9mNL4qF/Gg6RETrR5iX02gkiVLJp1aRhclxU+ePNEKmV/YoaqEUaNGSdxSpkyJr776yuerE3z1XfC2B5bFBG+LGPsbhwD9kpEgQQLLk6HSPX9Yw2b5QBjgoLc8k69evZK+5eKLCdgjwGKCMc+FHomrmsoEpZhAx1r26dHCdrynvaUhyiSeBAS63q9RFrS5JW1emTRpQCyQyqUOyooDIVaQmCA/WtNRO6oGUfoujgKlZS3yZR0HDp+Md8kMiwnGPPPKUURVwoMHD6RbSZIk4eoEN0MhqhJEN3+oTmAxwc2HRKfmLCboBJbN6kfg0uUrWL9+A06ePIHTp07htdde4Urkbf0G1MhygVxZEfXkOQoULIiChQqjYYNgST220vXX3n2gP+EnjuPChQu4dsP6XIlf8SL5cP/RExQoVAiF3yyCRh9/ZChWEop+XrQEJ08cx6lTp5AqWWIcOXXeUB/UDBaYMjleT5wYBQvkQ4GChVGlciUULFhAjSnu44MEWEwwJqhWFRPkCbnyOM34lqoMGTUNh4+ewuB+7R1uRCmvblAuY5GLCXIfXBUTlJtfyu2zmGDMM+3uKPKqBNGXqxNcpyivShC9/KE6gcUE158RPVtaSkyIjo7G3LnzcPzYEZw6cw63797Xc+5sOx4CaQNToWD+PHizSFG0bt1aKjmzwkUJ24Y1K1GmQAYUypYS+bOlQdZ0Kazgmks+XLzxAKcu3Ub4lYdYtfs0unbrig/rfuBSX70bjR07Fs/vXkG21K+hYNZUKJg9LQJTxP5GSW8fPLF/+vIdie3ley+xdNsxjPnma7zzTjFPTLrUd9PmLQgZMgwtar2LfJmSocAbaZArU2qX+lqh0fU7jxB+6Q5OXX2Ao5ceoWjxMmjXrq0VXGMfTCbAYoIxAbCqmEDLHELH9UW6tIGxTtSQb1ppb9NGZ3tcEFXRZuTgLhg0/AfIj/KUiwlyH9wRE+T7W9B4Hdt+JG24yWKCMc+0O6NQVcLAgQOlCtPcuXNLXc+dOyeV6w8bNoz3TnAB5uuvvy79nk4CwvXr15E+fXrpVAyqPoyKss5xky5Mxa0mLCa4hUu3xpYRE9auW4+vvxmDznXfln4Rp1/I06VKqtvE2XD8BG7df4zwS7dx4fp9hK48hJBBA1CrVk1TsfXr0xuZA6LRq/7bpvqh5eAjFu1HQLqc6NN/oJZm3bL1/PlzfFivPtrWKopPKuRxq69VG999GI2+s/9E46bN8F6tOrq5OXvGVJw+shejWpbSbQyjDU9ddwJhp25jzty5Rg/N41mMAIsJxgTEm8UEe0sWSBwomD8nMqZP6/AUCzqtg6oOurT/BIt+XW8TLYi4GjFB7odkY8xMLJwxIo4QwmKCMc+0O6OUKlUKOXPmBIkKM2fOlBLg9u3bo1evXvjnn39w4MABd8z5Xdu1a9fif//7HyZPnozGjRtLS0To97p58+ZJDJcsWYL33nvPJ7mwmGCNsFpCTPht+S/YuXkNRrcpaw0q7EUcAn1nhaFKrXqoU6+BKXS6d+uKSnmS4JPKhUwZX89Bp6/5G+ejU+GrkaP0HMah7WrVa2L25zWQ04u+TXcVVL+ZO1G88gfS/2C1vsaNHYPX7vyDLxqW0Nq06fY2HziPOdsuYP6C+ab7wg6YR4DFBGPYe6OYIPZPoOS8Qs32kG/OWK1yEIoXKwRa7tCuZT3QvgXKS1Q00OaOyhMv3BET7PkhFxOSJQ1ArwHjpeG5MsGY59ndUe7fv49UqVJJ3agSgcSEoUOHSj/L77lr11/ay/c+oiWXQkzwh/mzmGCNKJsuJqxduw7bfl+Mb1hIsMYTEY8XfWbuQo0GLVCzRnVDfV326zKc2rsB/T8pbui4Rg7Wf84e1KzfHNXeq2bksBgxfDjeSf8YH5aOKS30xavukFWYNWsWMmbMqNn09u8/gBmh4zClWxXNbFrN0I9rjiFxtrfRtm07q7nG/hhEgMUEY0CbISY0/zQk1uRoGcCowV0xcPhktGhSB+I0B3vLHKIeR6NZ+xCs3xSGPp+1xP0HD6U+Eeev4mzEZYT0ay/ZpuoD+TIFJU1xpKYQIsR9R2KCECD27D2KxXNGST7a84OEDBIQSKgo9lYBDBvY0Vb9cPJUBG/AaMxjrWoUpZigyogfd2IxwY+Db+LUTRUTaI+Emu9/gO3fav+toYlMfXro8r1+xtbNG0Drs4y4aO1XSP8vMLVrRSOGM3WMFt9uwYzZcyVV2Yhr+/Yd2L12Mfp/7DvLRuxxO3PlDqb9cQ1jxk/QBCv9z7pj+7b4rn0pJA8w5j3QxHEVRr6Y+Sc6fT4A+fPlU9Gbu3g7AbPFBEpGaTf/w0dO2da808kA8mP/xFp4+pyS0GMnz2LxrxuwYPoI2ykEg0f+KIVCfEZ/l9uoVb2srSTejJgZLSaYMUdvG1OPmGjFwJe/jWUxwbOnhMUEz/hxb3UETBUTpk2bgVQPw9Gkcn513nMvwwks3HoaUYFv4tN2bQwZe/nyFTi5+zcMaFLakPHMHKT/zB2o+Ul7VKta2RA3hg8djOIZnqBumbyGjGfmIHUHr8Ss2bM1qU44cPAQpk38Bj/2MLaKxAx+U347hIAcJdCGqxPMwG/6mGaKCa4cFyi+gc6WJaP0bTiJCaLsncQF+ZGAFy5dsx0zWKhALnTrPQZDB3SQSvDFcYZ0xKAZlx6Jq5mxM4Oh1mPqEROtfGQxQSuSvmeHxQTfi6k3zMhUMeGzzz5Dk6A0KPtmVm9gxT7StznHLmPpgfuYMFGbb3mdQf161EgUSn4HDSr4/nF1s9cfQXSaIujcuZMzLJrcb/a//2Fok2LSiRi+fvWevgP1mnVEpYoVPJ7qokVLcOXvTfi8YZDHtqxuYMuhC9hwMhrfjB1ndVfZPx0ImJmQOjoRQPk5/Sw22/th+lKJAgkLoiTe3ikB79coG0tM0AGdWyb1SFzNjJ1bk7doYz1iotVUWUzQiqTv2WExwfdi6g0zMlVMqF2nLhb0qcGnNnjDk/Kvj3TKQ/OxG7F2zWpDvG7TujV6f1gARXKlN2Q8MweJEWruYsLE73R3gzbsKVO+Mv78vrnuY1lhgBlr/8bLjMXQocOnHrszdMgQlMr8BHVK+cbJF/EBuXzzAbr9uAvLly/zmBsb8D4CZiak8qoCqjIQl/Jz+bp8EhPy5MomLW+Qb/AnJy82+3O0hMKMKOmRuJoZOzMYaj2mHjHRykcWE7Qi6Xt2WEzwvZh6w4xMFRNKl6vkN8mMNzwMrvpYuvsC/Ll7u6vNPWr38ccfY0qXCsiQOplHdryh85nLtzFy+UnMnj1Hd3evX7+BTp0+xbJB+h2bqPsk3Bhg9Z4zOPogLfr37+9GL/tNe/b8DM1Kp0XJAlk8tmV1A8+ev0CdkJXYuGGd1V1l/3QgYGZCqrYyQSkm0MaA5cu8Ey8dEijkGwfqgDJek3okrmbGzmh+eoynR0y08pPFBK1I+p4dFhN8L6beMCMWE7whShbz0Ugx4cMPgzHzsyrImCa5xSho787pS7cxbMkRLFi4UHvjCovXb9xA29ZtsHp4Pd3HssIAq8JO48jdQAz6cpDH7nTr2hUty2VEqUK+LyY8ffYc1fotxc5tWzzmxga8j4CZCSlVDvToOw6TxvSW9jWg/RDoavRRddveB/b2TBBiArWVVzGIEwhaNK6DoOKFY50ywHsmxDybxGHspPnSSQniOEfl3hWOnuL4Tm4QpzbI+8o3zlTaFFUlrghBer1VLCboRTZ+u7wBo2fcWUzwjB/3VkeAxQR13Py6F4sJ+oSfxQR9uJJVFhPUsWUxQR03X+llpphADB2d2hDfaQ5yMYFskAghTnMQSxxE4iyOR4wvsTUilnokrmpiJ5J+OSetxIQdYQcx4evPIZasKDfLNIKzO2PoERN3xo+vLVcmaEXS9+ywmOB7MfWGGbGY4A1RspiPLCboExAWE/ThymKCeq4sJqhn5ws91SSkvjBvo+egR+KqJnaikiPiwlWE9G0nLQ9RignKvSh2bpgBOh2jWfsQrN8UBnvHbNrb/4LsUh8aR1SY3L33UDrWc/NvP2DJ8k1o1KC69F95hQKJEEIwcueIUHdjqkdM3PXBUXsWE7Qi6Xt2WEzwvZh6w4xYTPCGKFnMRxYT9AkIiwn6cGUxQT1XFhPUs/OFnmoSUl+Yt9Fz0CNxVRM7sXdEtcpBmL9ojVRJQMtD5MdoiuUmdGIGJfNdvxgjLYuga+jX0xA6ri/SpQ2MhdDRZppCGPioXlX0GjAe4ohP+TKHiPNXbftZyIUNGkAsg8nxRuZY/bWoetAjJlo9V74uJty5cwe9evXSCpfmdqzMn8SE/Pnzg/7rD5eVY+EP/MUcWUzwp2hrNFcWEzQCqTDDYoI+XFlMUM+VxQT17Hyhp5qE1BfmbfQc9Ehc1cROiAm9ezSXknM6VlN+jGb6dIG2agKqWpAn/XTPUzFBHOMpt0uxEEd/njwVYRM5lq36A/KlE/INO8dNWiCFkAQPtZceMVHri7KfLydQhw8fRu3atZE4cWKtcGlq5/Hjx1KiniJFCk3tammsUqVKmDdvnpYmLWvLl98Fy0K34xiLCd4ULYv4ymKCPoFgMUEfriwmqOfKYoJ6dr7QU01C6gvzNnoOeiSuamInP9VCbKg4bGBHDBk1FUMHdIAQE2g5g/xaMH1EnE0t5fftVSYIwYAEBFGZIJYzyMUEWkIhKiOWLNtkW+Jgb1NHscRCfkSo2ljqERO1vviTmKAVI73sfPfddxgyZAju3r2r1xBs1w0CLCa4AUvHpj4lJoyY8TsG/7jKhmvnjD4o/04+l/CFR1zD0GmrEdq3CW7efWj7e7pA++qjvL2jNvKBdx06gwrtx9o+WjCiLZrVLu2Sb44aifm2Cy4vNWnzYTmX5+vJwCwmeELPcV8WE/ThymKCeq4sJqhn5ws91SSkvjBvo+egR+KqJnbKIzLFcoF79x/axAT5kgc5J2enOSg3YLS3Z4I9MYEqIMiPTBnT4szZS2jXsp500kR8x3nK91VQG0s9YqLWFxYTtCLnuR0WEzxnqKUFFhO0pKnels+ICZRYX75+FxM+/wRJAxKDkv3GA6djct+mbifYrggFrrQRYSEhoeuYn7F41KcomCszHkc/Ra/xv6Diu/lUCwpkY8i039CuXnnJppEXiwn60GYxQR+uLCao58pignp2vtBTTULqC/M2eg56JK5qYqdM0EXCfy3ylu24SPmeCSQgNG49EJO/7StVLbizzEG+rwHxpmUVjsQEsdGi/NQNe0eHXr56XdrngZY5KE/1cDemesTEXR8ctecESiuS7tthMcF9Znr24HdBT7qu2/YJMcFRck4CA115sqXH2cs3EdL+A9y6+xDNQmYhpF0dSWSgRH/+mj/R+eNK+GbOegzv9CG6j12M9WHHUKtsESwc0VayQX3kn4nqhVJFcuHzCb+gWIE3bGKBHL8j35RihLxyoeNHlSRRRPof7PhfkC1joK3iYnineujdvIb0+dRl26U2m3/oiSWbDqBFndK2OYkqCGovF1lcfzQct2QxQQuKcW2wmKAPVxYT1HNlMUE9O1/oqSYh9YV5Gz0HPRJXNbGz922/fJNFqghQnuZASxyaNa4tnfpApzPQtXDGiFibMNpbkiAXBuTLGpR7MYgTJch2i8Z1pLHEJT/NQX6KBFcmGP0E+/Z4VapUwaNHj7B3717IxYQpU6ZISx5+++03lC7tWaWxbxPUb3YsJujH1h3LPiEmSP/zWvsnmofMAiXPJBrIL0rcZ67ahWEdPsSFa7elb/Sb1iqJ4MrvSP3oCiqc0+4yh2QBiaXEXSTq1J6EiUbVS0iVD31a1JSqC5SVEWJ8GrvHuMWY1LuxwwoCeRVF8UI5bAKCEA3IFokLB05esFU45Mic1uaX6EM+FsqV2SaWiM9Ff6rY0OJiMUELiiwm6EPRvtVVYadx5G4gBn05yONhu3XtipblMqJUoSwe27K6ARYTrB4hff1Tk5Dq65FvWreKmOCbdNXNSo+YqPMkbi9OoLQi6Zqdvn37YuzYmGXKuXPnRmRkpPT3qKgoUCxevnzpmiFupTkBfhc0R6rKoM+ICTR7UXVAFQR0CWGBPu82ZhGGdqgr7Ydw895D/H36Mrp8XBmj562XlgrQZW/PBEf7JyhFAlHhIJZZiGi4shxC2Zd+HjFzDWZ82QJfzVxjWw4hn4cjMYHGpUoL4Ycjv1Q9Lf92YjHBE3qO+3Jlgj5cySqLCerYspigjpuv9GIxwZhI6pG4cuw8i50eMfHMo/96cwKlFUnX7SRKlMjucYt9+vTBmDFjXDfELTUlwO+CpjhVG/MpMUFOQbm8gCoHqgUVxF/HIlA1qCB+2/E3GtcIwviFmzCyS3CsTRflAsLJiGtSYk/LHeQbLdpbpiBP4uVigrPKBKp22HHwTKz9HkjYGPtZQ0lMEFURrogJEVdvxbLFYoLqd8Pwjiwm6IecxQR1bFlMUMfNV3pxQmpMJPVIXDl2nsVOj5h45hGLCVrxU2OnX79+cUSDhAkT4vnz52rMcR+NCLCYoBFID834hJhASfagH1ZKooA84RdLEmjZAyXVx85eReTt+1JFwrzf9yB50iTSz3Tf0WkO8VUmiEoGGtNR0u5ozwS5zyRYKKsJ5JUJ7ogJ9DxwZYKHb4VJ3VlM0A88iwnq2LKYoI6br/TihNSYSOqRuHLsPIudHjHxzCMWE7Tip9aOsjqBqxLUktSuH4sJ2rH0xJJPiAkEQGy2KPZLEEseKBGnPQ1ILKC9Emh5AO2dQPsPfL/kD3RvVFXatNCRmEC25Rs2iioCsWEjHSUZn5hA/R2d5kAbKwohQ5w8YW/PBHfEBN4zwZPXwdy+LCbox5/FBHVsWUxQx81Xep3d/hlyvtUYCRMl8ZUpWW4eL54/wfkji5Gn0nea+saxU49Tr5io9yh2T06gtCLpnh15dQJXJbjHTq/W/C7oRdY9uz4jJghBYfCPq2wEFoxoazt6UVkhoFymIP9ZCAj0X1reQNUJlOwfPnXJdsKDsmLB2XIC+WkNZFe5UWR8pzm4IyaIEyroNAc6YaLLx1Uk4US5l4N7j0ns1rxngif0HPdlMUEfrmSVxQR1bFlMUMfNV3qd3zMY6bO9i+SBOXxlSpabx6O753HzymHkLD1MU984dupx6hUT9R6xmKAVO0/tiOoErkrwlKQ2/VlM0Iajp1Z8SkzwFIYv9ldWbGgxR28VE4SgJCpCtGChpQ2riAn2hDWxqamYr71TU+wJevSZo2NT3WFHzzEd8UpVRmous8QEccqM0mclP/mJLiQIistef3s8iY8QUpX3XTlRxhFTFhPUPG2+0yfyxBwkei0a6bKV9J1JWWwmty79hedIhkyFW2nqGcdOPU69YqLeIxYTtGLnqZ1hw4ZJeyfQUZF8mU+AxQTzY0AesJhgjTho5oVISqiKgq6OH1XStCqBbHqrmCCqR2gOyv01NAuAB4asLCaEtKsjLQeiS4gyomJGPmV74pVyg1E1iLxZTJBvrupo7oIb3ZcfbWuPnbwKitrT0bVygUwpTLCYoOaJ4z5E4N7l7Xh4bRuyFajDQHQicDn8d6TIWg2ps1bQdASOnXqcesVEvUfWExPuXr2FfSu248qJ84h+GKXV1NiORQkEpEiGbG/mQlCDSkidKa1lvGQxwRqhYDHBGnHwKi+8VUwQJ3ps2Rce61tukZylShGAsfM22Jay0F4Y1CdF0iRYv+c46Nt5+TfK8qUptcoWiXPih7tB9RYxgeblKLm3JybYW1KkXDZkb98RsYEqVSQ0D5kl4RRLl+JbFnT3YRQWb9iHnTP62AQQMysTnIkJYjPWz5tVx5Cpv0lH2BbMlVmarz0xQc5TuXmreObkgsOFa7fh7EQZR88qVya4+xb7VvtXL1/gzNYuyBfUHq+9lsC3JmeB2bx8+RxnD8xB3sqheC1BQk094tipw6lnTNR5FLeX2QnUzYirWD/pF7xdtSSSp06BgORJtZoa27EogehHj/Ho3gMc2rIXdXo1QbocmSzhqdnvgiUgWMAJFhMsGNAKJQAAIABJREFUEARvc8EbxQT56Rm038XMVbukjTiTBiSWNsikPSZEoipPiOnvv245gMWjPkX6wBS2zThpo8tuYxbZEj9K+uhSW4ZPfb1FTBCbm8qrFcQz7KwyISr6qcRQbIxK7S9fvytVz9DeHvKTSOSnscjFC/k37bShqvhmvnfzGnG+pRd+WVlMoOePBC6qSFA+R/bEBPln4xZstLv8Q86IGLCY4G3/ylrH3weR+3A3YiWyv1nfOk75iCcXji1D2jwfI0XGd3WZEcfOfax6x8R9j6wlJlBFwuqxC1G1yftaTIVteCGBP35ei3oDWiJVxjSme89igukhkBxgMcEacfAqL7xRTJAnbFSmTyd7tKtXXvoGmO7RUZy02SZ9Qy7/5veHpduk2IjSc5Hg0vGicjFBiwBaWUxQ7pkg39xUPnf52n3xubxqw16Vgkh0SeRxRUxQJtjiW/hRXYMxcPJKVHw3XxxRx0wxQVRVyDnJqyZExYw4VUYudNnbM0HO01GFCAk+4vlkMUGLt9O/bVw5HIqkyZIhTeZi/g1Cw9nfvnIQT54+RZa3umhoNa4pjp3reI2Kiese2W9pZgK1ecpyZMiUAemypPd0GtzfSwncvHIDt27cQrVO5gvMZr4LXho+Xdz2GzFBuZcA0dRiYzhPoyL/Zpa+JfeGyxvFBHtJrrxkXp7EKsUE+cZ/8m/L5c+UFntTWFlMsFeFYO9ZlVcmKE9QofZK4Uae9LojJigTdEqwZ3zZAl/NXCNVPcg3MaRxzRQT4lvmIKo85GKN/N8lZ/tNsJjgDf9i+oaPl/aNQvJUmZAmyzu+MSETZ3H7ygE8fngL2Ur0N8QLjp1zzEbHxLlHjluYmUDN6zEB5etWRpJkAZ5Mgft6MYHoqGjsXr0dLSf1NH0WZr4Lpk/eQg74lZigLPWlxKbrmJ+lEnaxRtnI2FAyOuGnzdKQvf73nik+qJmvt4kJ9jagU647l1cmyBNeZWWCo9Mx5CKDGqbUx9fEBJqTvc0Ah05bjdC+TWxVII4qE5TLTYSo44h1fBtDWlVMcLSM4ezlm7ZlD/GJEY6OpOU9E9S+hdwvPgJXDn+PF9GReKNwMO+hoOJRofX4l06swuvJsiLL211VWFDfhWNnn52ZMVEbTTMTqGltR6FOq3pqXed+PkJgzdxV6DBroOmzMfNdMH3yFnLAr8UEioO9b1KnLtsuhUiUIovEs1SRXPh8wi9SRcPkvk2l0njlpnzyb6udbcon1kfTWCJ5EAkYJVzy8YTgEd9mgUY9V94mJthL2OTr/okb7Zkg4q1MYncd/kdaAkEXrfenb+lp/wR5UuxPeybE95x5umeCEPfE/hTli+WVkmpHeyaQCCiqe8QyB2+pTLBXuUFs5WLWurBjiE9MsHfcKZ/mYNS/hP45zoPr+xF5bAaSpsyEgBSZEJCc/psFCRN5R2WdkVF78fwJoh9eQ/TDSEQ/ikTUg0hkKdoBKTLos0eCs7lx7ACrxcRZzOzdNzOBIjGhdvO6atzmPj5EYO2C1Swm+FA8PZ2K34sJ8m/waDMzuih5kVct0Ge0+3yfFjWltdjyTfnonvhmVSRA9jaXUy5hkK/bp36DflhpO65QJAMNqxWP8+0kbVLnaLNATx8GV/t7k5jgKGETQhJt/teoeglMX7FTmv6iDXtjHadJsX4QFY0Ne46DjtuU7xUgX8/Oyxxinh57YoIQbsR7EZ/gJpajkBBXq8ybePj4ie0doKUN9k5zEKJdsoDE0gaMVhMT7O2ZQM9L548roe+kZZjUu3GsqiQ5L2Lq7DQIwX3wj6ukGCiXb3myxItPc3D1X0X/avfq5XPcvxaG6LunEX0/Ai+ePcCTh1f8C4ILsw1IngUJkqRGQKpcCEidD6kyl9P81AYX3IjVxN9jZ8WYuBtD08WEprXddZnb+xiBtT+vZTHBx2LqyXRYTDh0Rtr07ct2ddD+q/nSt8603lpeMk3JvnyJhLzMWrnRmaMSbuUyCvoFX77RmnITNvl4ynXljjYLpM0Djbi8SUxwhYejUnGRpMn3THDFnto2VlnmoNZ/K/cza5mDlZm44huLCa5Q4jZWIRAREYGqVavi3LlzVnGJ/bBDgOPk2WNhtpjwfqNank2Ae3s9gXVL1rOY4PVR1G4Cfi8miBJ4ISbY27U+qHDOOCXtYllCfIm+/J5STLC3S/vwTvWkb2GVO97Ht0mdsq12j4ZjSywm6EOZxQR9uJJVFhPUsWUxQR037mUOgdatW2Pu3LmYPXs26O98WZMAx8mzuJgtJtRqWMOzCXBvryew/teNLCZ4fRS1m4DfiwmiLDu+o/6UCbunlQny9fpi1/n4jnKTbyBIO9472iyQKxO0ezHMsMRign7UWUxQx5bFBHXcuJfxBOjb7ty5c0sD58qVi6sTjA+BSyNynFzCFG8j08WE+u95Pgm24NUE1q/YzGKCV0dQW+f9WkxQnuYgX+8t38TM3mZ79ioTXN0zQXk8HoVUvrafKiHkezTINxAUeybY2yxQ20fDsTVfq0wwipuzcVhMcEZI/X0WE9SxYzFBHTfuZTwB8W23GJmrE4yPgSsjcpxcoRR/G7PFhJp1q3o+Cbbg1QQ2rP6DxQSvjqC2zvuVmEAJOm2iJy7lRmUioRenOYjN3lytTKClDK6c5hDf8YK0f8OwDnUx8ectSJ0iKcgX+akQJESELtkqTUG5WaC2jwaLCUbxFOOwmKAfcRYT1LFlMUEdN+5lLAH5t91iZK5OMDYGrozGcXKFkvM2posJtSs7d9KDFtFPn2DE3EnInCYDun/833Kls1cuYOjsiRjapifyZM1hG+H7pXOQPVNWvJ23ELpNGIwT58/EGX1C98GoX7Gm9Dm1H79khvT3wjnzIbTX8Fj2aBy5nf/VCEZIqx4ISJzEZteRj3ce3EPPScOx/fCfsXyQ21DaV/pGHeXzpp+F3e4NWyGo0NuxbK/YsQG9vh/ucDwPQuGw64a121hM0AOsl9r0GzHBm+IT3z4I8W0WaNQcuTJBH9IsJujDlayymKCOLYsJ6rhxL2MJiG+78+TJg7NnzyJ9+vS4efMm751gbBicjibilDdvXvzzzz8cJ6fE7DcwW0yoUbOCSs9d67Yv/AgoQabri8btkSZlaunvlIQPmzsJQ1r1iC0mLJuLHBmzIrjCf3s5rNy5EXtP/o0vW3aziQAkAHw1LxSZ0qZH949a2Wx2nzQMw9r0RFDBt6Qx5D9To++XzUXk7ZuxbDnykZL+XqFfodtHLSV7dIlxSxZ6G7VKVcLEX2ahUdUPpDko50RjSWLCv/4JYvbsinv25mrPZ9fou9Zq44adLCa4hsovWrGYYMEws5jwX1A+/DAYMz+rgoxpklswUtq6xGKCtjzl1lhMUMeWxQR13LiXcQTk33bXr18fK1asQIcOHTBt2jTeO8G4MDgdSR6nhg0b4tdff0X79u0xY8YMjpNTerEbmC4mvFfOTY/da/798nkoW+RdhB07GCMSlK8ek/hfvYBh877HkJbdkSeLrDJh+bxY7ajtyl2bsDf8b3zZvKtNTNh36ghW7NwY6zNqK//8aMQphK6YjwmdB/0nYtgZ15GPUtI/ZSS61W+BoAIxYoLw58L1K+jeoGUsGJLQsGAyShZ8W5on2aVL2c6RXUdzja+9e9Gw33rj5t0sJmgB0kdssJjgI4E0chpcmaAPbRYT9OFKVllMUMeWxQR13LiXcQTEt92tWrXCixcvsGDBAunPoEGDcP78ea5OMC4U8Y4kjxM1pFM36M/gwYM5Tm7GyGwxoXqVMm567HrzOw/v4duls/DFx21x58F9LNm+Fj0btJIEgbNXL2L4glAMbt4NebJktxkNXTkf2TNkQXC5GNFBSrB3b8LeU0fw5f+62MQEe+2ordxumpSp8PmPX+PGvduY1CUk1jjCdnw+0j3q361ec5QoUFTqIgkGP/2AkgXeiuUj3VO2Jx/p6hbcIhY0e3bjmyvdczRf16PhuOWmrXtYTNACpI/YYDHBRwJp5DRYTNCHNosJ+nAlqywmqGPLYoI6btzLGALyb7vPnTuHkJAQm5jw7NkztGnThr/1NiYU8Y6ijNPQoUNtYsLLly85Tm7GyGwx4b2Kpdz02PXm+08fRdiJQ1IyTkn4dyvm4ZOK70tJPSX9I36ajJD/dY0tJqxaECMmlP3vlImVYZux7/QRDGrS+T8xwU67mIT+PoYtCEWP4BY2u9T/i+nfSI4Xzp4X33UaZLsXn49k6/NpX2PH0X2xJt2zfitpTsordNWCGPHg33vKn0V7Ybfbh81QIn+MSCEue3Ole2RLycX1SMTfcvOOv1hM0AqmD9hhMcEHgmj0FFhM0Ic4iwn6cCWrLCaoY8tigjpu3MsYAocOHULPnj0lwWDOnDlo0aKFTUxo1qyZ9HmVKlUwceJEBAYGGuMUjxKHgDJOokqBKhNatmzJcXLzmTFdTCgX5KbHrjcPXb0QE1fGlPqL69t2/RBcphrOXruIET9PQUjTzsiTWVaZsHohsqfPIrWxJdh7tmDf6aMY1Ljjf2KCnXbUXhITfpqMHvWax7IrbO0/cwyhq3/C+Pb9kCZFKsTno5T0zxiNbnX/hxL5ijj0WUr2Vy9E5J1bcXyke93qNovFQGlXfnOlnbmSEDNy8VQE5S8ai4vrkYi/5ebd+1hM0AqmD9gxVUyoXacuFvSpgXSpkvoASv+Yws17j9Hy241Y8/tqQybMeybog/n6jRto27oNVg+vp88AFrPKYoK6gLCYoI4b9zKHgFJMMMcLHtUZAaWY4Kw9349NwGwxoVrp4rqE5Oy1SxixZApCGpFY8IY0Bn32/eoFGNyki/Tz8EU/oHtdSvpj7ktJ8y/TUDJfEdQr/Z+YsOrPLdh75hgGfdLBJiaQKLDizy2xPiMb8s83HNwl2ZXbokRejEv3nPn4xawx6FqnqSQm0EW+0Ljftu0riRHC58yB6dD1g//FYjn595+kn5Wfkw9Ku6KjvbnG116L4G358wCLCVqA9BEbpooJPT/7DI2CAlHuzWw+gtP3p7Hr6GUsPXgPEyZONGSyLCbog5nFBPVcu3XtipblMqJUoSzqjXhJTxYTvCRQ7KZEgMUE73gQWEzwLE6miwlBxTybgIPeq/ZujREAGra3CQBSUjxnHLrWboIi2fNi5K8zICXhtZtIVvb/cxzDFk/BxHb9kCdTjMAgJfB2bElJvKL/2chL6DlzNIY07owSed8E/Tzil6kI+aSjzR7ZksSA1r2x48SBeH0kH4S/ZI8uMa4keJSsgslrF8UIBv/OQY7D0T05B2E3vrmSnWt3b8ViqWXQtuw7zGKClkC93JapYsK0aTOQ6v5xNKlayMsx+o/7CzcfR3S6t9GuXVtDJs1igj6YWUxQz5XFBPXsuCcT0JMAiwl60tXONosJnrE0W0yo+u5/pxR4NpP/elPCPWr5TATlfRP1gqrEMjt53WJE3ruFgQ3aSZ9Tu0W71kl/L5QtNya27hNLSJDEhH1bse+f41If2rwxVsK+bjG+W7PQYX9JYJgzFicvn5PaVCxcHONafo6krydx6mOXmo0waFEoutRqhBJ5YsQEuvafPY5hv0zF8Ead8f26RZIoIb/IPs2b5ip8E/c/q9MM/6tYG73njY/T7+ee3+Dy7evSPfnVpPz7dueuVbz+OHiExQStYPqAHVPFhKdPn6Ja9VrYOaGpD6D0jymU7bEQO7dvQcKECQ2ZMIsJ+mBmMUE9VxYT1LPjnkxATwIsJuhJVzvbLCZ4xtJ0MeGtmPJ9vvyXwB9HjrGY4L/hjzNzU8UE8mb9+vXYtPJnjG2n77m1HHPPCXwxfSdqf9wS1av/d/yO51bjt8Bigj6EWUxQz5XFBPXsuCcT0JMAiwl60tXONosJnrE0W0yo8mZhzybAvb2ewNbjJ1hM8PooajcB08UEmsrvK3/F1rXLMPbTytrNjC1pSuCLqX+gZr3GqFW3vqZ2nRlr07o1+tUvhELZ0zpr6vX3/zx5FT/9eRPfTfpe97nQeeyVq1b3m6qg2euP4Gn6t9Gxw6cesx0yeDDKZX2GWiVze2zL6gau3X6ELj/swLLly6zuKvvHBHjPBC95BlhM8CxQZosJlQsW9GwC3NvrCWwLD2cxweujqN0ELCEm0HQ2bNyEYcNHosuHxZArc2opeeRTHrQLtLuW6NSG8Iu3EXH9HkJXHMSIYYNRvfp/Z/i6a09t+5EjR6JoqnsILpdPrQmv6Td341E8TFkYXbt2NsTnpk2a4qtm7yJvVt8/Mq3vzF2o07gdqlSu5DHbhT8tws3jW/FZA312tPbYQQ0NbPv7IlYff4yxY8dpaJVNMQF9CHBlgj5ctbbKYoJnRE0XE/Ll92wC3NvrCWw7c5rFBK+PonYTsIyYQFN69uwZ5s6dh2NHDuPk6bO4ffe+djM10NLtWzfxOOoR0qRNj2TJkxs4snZDpUuTCgXz50XRom+jdZvWhu2RoJzB0mXLcfavdej7SQntJmdRSwPnhKFa/Rao/t5/xxvp6erQIUNQKvMT1CmVR89hLGE7eNhv+HHadGTJnNljf/bt249ZP4zHD119v5Jq6u9/I9EbQWjXtrXH3NgAE9CbAIsJehPWxj6LCZ5xNFtMqJTb939n8CxCvt97+7mzLCb4fphdnqGlxASXvbZ4w+bNm2PhwoWYP38+6O98qSdw/sJFfDd2JMa39v1vgTv9uAffjB2PwEBjKgU2bdqC42Fr0aOOb3/LcOnmQ0xYdwHfTtDmONPnz5+jU4cO+LFTKSRKmED9w+0FPUMWHUGjVp3wVlHecMsLwuX3LrKY4B2PAIsJnsXJTDFhbtdv8W7ajEhs0CbcnpHi3noQePLiOQ7fuYmWoZ/rYd4tm2a+C2456uONWUzQIcAsJmgLdeHCn3HzVBg+q1dUW8MWsjbs5wMIqloPH3xQx1CvBg4chGp5EqD6u9kNHdfIwT4ZtQ7jxk9Ezpw5NBt2164wLF0wHRPal9HMptUMzd18Cg+T50HXrl2s5hr7wwTsEmAxwTseDBYTPIuTmQnUpklLkeLiXaQOCPBsEtzbawncjX6MqJxp8V63hqbPwcx3wfTJW8gBFhN0CAaLCdpDbd+uPRqVzoiaJXJpb9xki4u3hWPv5dcw7ltz1qWXq1gFG7/5BMkDXjeZhPbDD1vwJ3IWq4TWrVtpbnzEiBHIiEh0rPO25rbNNnjwTCRGLj2Cpb8sMdsVHp8JuEyAxQSXUZnakMUEz/CbmUDdi7yNVcNmIygwg2eT4N5eS2DvnetoMKI9UqY3poo2PlBmvgteG0AdHGcxQQeoLCZoD/XVq1fo3KkjSuVKgbY1C2k/gEkWJ638G9efp8RXo742yQPg8eNo1KhVG4Obl0PNEjlN80PLgel56TMrDOWr1UaDjxtraTqWrQljx+DJrQj0/+Qd3cYw2vDi7aexeMdZLF36CxIk8O1lHEaz5fH0JcBigr58tbLOYoJnJM1OoG6euojfx/6E/CkCkSxhIl7y4Fk4vaL30xcvEPX8GU4/uoe6A1siXe4slvDb7HfBEhAs4ASLCToEgcUEHaD+a/LHKVNw7EAYKhZOjwJvpEXBN9IiaZJE+g2oseUHUU8Rfuk2Tl26gxV7IlCvQUPL7Kvx5aBByJDoAXJnCPiXbRrQP9Tect24F4VTF+/g8s0H+PbXfRjzzUhUrlRRd/eXLVuO6dOnoUW1gsiXNQ0KvJEGgSm8pwT0ybMXOPXvM3no/H0EZiuAL3r31p0bD8AEtCbAYoLWRPWxx2KCZ1ytkEDdv34Hfy7ciKtnLiL68RPPJsS9LU8gIGkSZM2fHaWb17RERYIAZoV3wfLBM8BBFhN0gMxigg5QZSaPHz+BNWt+x6nwcISfOYccWTMg8uZdTQelb7a1TqRzv5EJZy5cRcF8eVCgYEF88kkjZMuWVVO/PTW2ecsfCNu9E6fCT+Pilat4PZH2Qg2d2vL669ouqSiSPwdORVxBgX9PIGnXrq2nKNzqf+v2bfy08CeEnzyBU2fOoWDurAg/d9ktG84a6/FMpk6RDNdu3kGBvLlRoEB+VH2vOkqVDHLmCt9nApYkwGKCJcMSxykWEzyLEydQnvHzpHfVqlWxdetW6U/lyr5/opMnrIzoy++CEZSdj8FignNGbrdgMcFtZB51uHPnruaJf5UqVbBy5UqkTp3aI9/knV++fIG0adNqZs8IQ3fv3tN0mClTpuDevXvo37+/pnapgELLWHnq3O07d5DgNe2WCFy8eBH169fH/v37PXUtVv9Xr14iTZo0mtpkY0zALAIsJphF3r1xWUxwj5eyNSdQnvHzpDeLCZ7Q074vvwvaM1VjkcUENdSc9GExQQeoBpqcM2cO2rRpgyFDhmDo0KEGjuzbQ929exe5c+eWJnnu3DnDjsD0Baril+/Zs2eD/s4XE2ACcQmwmOAdTwWLCZ7FiRMoz/h50pvFBE/oad+X3wXtmaqxyGKCGmosJuhAzTomc+XKhfPnz0vJLie92sWFhJlhw4ZJBlmocZ1rRESETYShZ5OeSb6YABNgMcFbnwEWEzyLHCdQnvHzpDeLCZ7Q074vvwvaM1VjkcUENdRYTNCBmjVMiqoE4Q0nvdrERVQl0H/pYqHGda7iF2/Rg6sTXGfHLf2LAFcmeEe8WUzwLE6cQHnGz5PeLCZ4Qk/7vvwuaM9UjUUWE9RQYzFBB2rWMCmqEoQ3nPRqExd5VQILNa4zlVcliF5cneA6P27puwRoA7R33nkn1nIpR2ICtaWL9sLhy1gC9uLkSEygf+9IcKa48uWYACdQ5j0dLCaYx97eyPwuWCMeLCboEAfeM0EHqAaYVFYlcNKrDXRlVQInxa5zVVYliJ5cneA6Q27pmwQoSaVNSXv16oXPPvtMEhWUYgK1oaVVBw8eBCWq1IYvYwnYi5NSTKDYUJyWL1/OcXIhPJxAuQBJgyb0JQgJkHIR0p6YQL/jfPfddwgODmYhTAPu7pjgd8EdWvq1ZTFBB7YsJugA1QCTyqoEMSRXJ3gG315VAifFzpnaq0pgIcY5N27hPwTol/xt27ZJIkHPnj1x/PhxLFmyBIMGDcKuXbuk49vo4uVq5j4TyjiFh4fj559/xrhx43D06FGQkM9xcj1GnEC5zsqTlvTvB4kH9PzSvyH0X7mYUKxYMUlEmDhxIujv4t8bT8bkvu4R4HfBPV56tWYxQQeyLCboAFVnk46qEsSw/MuougA4qkrgpNg5T0dVCSzEOGfHLfyDgPhlX8w2ceLEePr0aazJ05GxXJVg7vPAcdKWPydQ2vKMz5oQwqgN/Z1+pzl06JB0qtKKFSukn+n6448/eBmVcWGxjcTvggnQ7QzJYoIOcWAxQQeoOpt0VJUghuXqBHUBiK8qgZNix0zjq0pgIUbds8i9fJOA/Jd9ezNkIdgacec4aRcHTqC0Y+nMklIIs9e+cuXKXJXgDKRO9/ld0Amsm2ZZTHATmCvNWUxwhZJ12sirEuhbrLJly2LdunWoXr06Tp8+LR0TSRf/UupezJRVCU2bNpVKW5MnT46goCCpPJku3lAwLld5VULOnDmRI0cO7NixA/Xq1ZO43bt3T+rEeye490xya98jEN8v+1yVYJ14c5y0iwUnUNqxdMWSMyGMqxJcoahPG34X9OHqrlUWE9wl5kJ7FhNcgGShJpTMUuJLa27pz9y5c6X/9ujRQ1oPR2IDfcNOCdy5c+d4Ey8XYyeqElq1aiXxo+qONGnSgH7BJ970yyV9TskxJ8X/QRVVCSQiEB8SFtq1a4dZs2ZhxowZaNiwobRGk/4QT3om+WIC/kzA0S/7LABb66ngOGkTD06gtOHoqpX4hDCuSnCVoj7t+F3Qh6u7VllMcJeYC+1ZTHABkkWa0Jo3Wv9G4oHY6ZsEBLmYIFwVm0RRcsdX/ARILKBEmDiSWEMXfSYXE4QF+h81sRV8/Z0tcSNm8udMLibQ3wVPEhToGDXa1Z4vJuCvBOz9ss9VCdZ7GjhO2sSEEyhtOLpjxZEQxlUJ7lDUvi2/C9ozVWORxQQ11Jz0YTFBB6gGmnQkJhjogk8O5UhM8MnJajwpe2KCxkOwOSbg1QSUv+xzVYI1w8lx8jwunEB5ztBdC/aEMK5KcJei9u35XdCeqRqLLCaoocZigg7UrGOSxQR9YsFignquLCaoZ8c9/YOA/Jd9rkqwbsw5Tp7HhhMozxmqsaAUwrgqQQ1Fbfvwu6AtT7XWWExQSy6eflyZoANUA02ymKAPbBYT1HNlMUE9O+7pPwTEL/tclWDtmHOcPIsPJ1Ce8VPbWy6EcVWCWora9uN3QVueaq2xmKCWHIsJOpCzhkkWE/SJA4sJ6rmymKCeHff0HwL0yz7tH0KbmIo9cPxn9t4zU46TZ7HiBMozfp70FkIYVyV4QlG7vvwuaMfSE0ssJnhCz0FfrkzQAaqBJkNDQ9G9e3d06dIFkydPNnBk3x7q2rVryJIlCzJlygT6O1+uE6ATMebNm8enXriOjFtqTODGqcV4eH0fXkv4Oh7f/Udj6/5jLllgXrx88QwpMpVEhvyNNJ/4rXO/48G13Xj18hmi78cca8yX+wQCUuXEawkSI1Xmckibu477BnTswQmUjnCdmBanUNF/+TKfAL8L5seAPGAxQYc4sJigA1QDTS5cuBAUw+rVq2Pjxo0GjuzbQ8mPPKS/8+U6gXLlyiEsLAx0+khwcLDrHbklE9CAwJk/uiD9GyWRJEVGBCTPBPoFji91BF69eonoh9cR/SgSNy/tR/6q2gnWEWGDkDJNTiRNmQkBKTIjQYJE6pzkXpLgE/0wElEPruLR/avIWXqYZahYIYG6e/UW9q3YjisnziP6YZRl2LAj+hAISJEM2d7MhaAGlZA6U1p9BlFh1Qrvggq3fa4Liwk6hJTFBB2gGmhy/fr1eP/996Vv0a9cuWLgyL49FIsJ6uObIkUKPHr0CDt27ECFChXUG+JL6wH1AAAgAElEQVSeTMBNAqf/6IKs+Wsgeeocbvbk5s4IPLxzDpHntiFv5e+dNXV6n4SEwAwFEJipqNO23MA9Anev/Y17t84iZ5kR7nXUqbXZCdTNiKtYP+kXvF21JJKnToGA5El1mimbtQqB6EeP8ejeAxzashd1ejVBuhyZLOGa2e+CJSBYwAkWE3QIAosJOkA10OSNGzeQMWNGacQHDx6AEjm+PCfAYoI6hmJ5CP1P886dO6Cd6vliAkYQuHHmFyR69RhpMhcxYji/HOPOtSN48VpKpM/XUPX8b51bDTy5jHTZglTb4I7xE7h58S+8liwn0uUyf8mDmQkUVSSsHrsQVZu8z4+MnxL44+e1qDegJVJlTGM6ATPfBdMnbyEHWEzQIRgsJugA1WCTpUqVwt69exESEoLhw4cbPLpvDsdigrq49u/fH6NHj0bFihWxfft2dUa4FxNQQeDczj7InLcKkqbIrKI3d3GFwOMHV3Ht3A7kLj/aleZ220SEDUTGHKWRLNUbqm1wx/gJRN27iOsX9yFX2a9MR2VmArV5ynJkyJQB6bKkN50DO2AOgZtXbuDWjVuo1qm+OQ7IRjXzXTB98hZygMUEHYLBYoIOUA02uWjRIjRt2lRaG0wb7VSqVMlgD3xvOBYT3I8piQe0e/SrV6/wyy+/4OOPP3bfCPdgAioJRIQNQM4iDXmPBJX8XOlG7/b5o8uQq9woV5rbbXNuVx/kLPox75GgmqDzjrSHwvljvyJ3+bHOG+vcwswEal6PCShftzKSJAvQeZZs3qoEoqOisXv1drSc1NN0F818F0yfvIUcYDFBh2CwmKADVBNMli9fHrt370bSpEmlCoUBAwaY4IXvDMlignuxnDt3Lvr164fIyEjQBoy7du1yzwC3ZgIeEjixtjEKV+jroRXu7ozAiZ1jULj2YmfNHN7nOKlG51ZHT+Pk1mDxNDYzgZrWdhTqtKqn1VRMs7P3yEF81L2lbfxJg75Ggxp1pZ//uXAOXYb3wfEz4bH8i69N83qfYEjXmH8rh00eg49qfIiSb70r/SzGWvb9vFiffTd/Kr4f9A3SpA40jYPagdfMXYUOswaq7a5ZPzPfBc0m4QOGWEzQIYgsJugA1QST9+7dkzZi3LNnjzR6rly58M0336BEiRLIly+fCR5595AsJjiP35kzZ3Do0CEMGzYMR48elToUL14cmzdvRmCg9/3C4XzG3MLKBIxOUm/dvotm7UOwflOYhKVj248w4evPkTRpAJT3BLfhgzohpF976Udlm1rVy2LhjBFIlzYQI0bPQJ5c2dCscW2pbfjpCDRuPRB9erSI9VmPvuMwaUxvFMyfy7DQeJqkcpyMCZWncdLKSzMTKBITajePSbq99dp79CBCJn2NySFjkDd7LkQ/icawH8ai1FvF0aD6B/jnYgSGhH6DYd36S/fpunPvLkK+/xq9WnWWfu46oi9G9BiAkkVjBAMSBq7dvI4hXfpg6pK5yJHlDckWXcs3/Y5NYdtQIFdefNaio+2zC1cv2X72NpZrF6xmMcHbgqajvywm6ACXxQQdoJpocuzYsfjqq69w//79WF688cYbyJkzJxIl4uO3EiZMKG1aSSdgZMuWDcSGkuD8+fPbmDkSE06fPo0DBw7g4sWLuHz5Mq5evYrr16/j5cuXJkbduKGfP38OYkNzl1+08SdVwwwcaL76bxwNHslKBIxMUoUQ0KJxHVtyv3DxWuwIOygJClGPoyWhIaRvO5Qv846E6fHjaPQaMB4tmtRBoQK5pPvK/vMXr5EEhXUbw3A24rJNeNi15xCGj56BYkULYNjADpJgQZ/NX7TGJmAYFQtPk1SOkzGR8jROWnlpupjQNEaQ88ZLEg5+/Balir6LBu/9t5kmCQgT5k/FiG79cPveXQz5YSyGdeljExNEv4/+FQgmLZyOSf1HIk2q/7N3LnA2lP8f/6yUO+tS7vcKUXIplXuF/JNE4ZdIKHIrJaXcFSVRiBRRqFDy20pU7oRSqF8XuSeUsIvF5rb/13e2WbPjnD1zzs4zZ2bOZ14vL7vnPPN9vt/3d87seT7zfZ4nTeTXBIh/zzlyLAkLvvoMQ3s8qb037t03ULvq9UhYsUSzL+e8Nuct3HL9Dbihatq9zGvH5+9/TjHBa0lT6C/FBAVwKSYogOoCkzNmzMAXX3yhTX34/fffXeCR+12QbQxHjRqlLR7466+/okqVKqhUqZL285dffqktbrlmzRr3B+KQh6VLl9amNDRp0gT333+/NsWGBwlEi4CTg1SjcCADezkCiQVGMUHa6BUHtWtWgbmqQBco5JwiheMxbPSbmDR2QHqlwnXVrsIHHy3BsIGPaJUI4oMcevWCU9yzOkhlnpzJVFbzZJeX0RYT7mjbzK5QHLez44/dGDZlLIY92h8VSwWuPgrUxvhaofzxeGzMYPydeBiTBo66yE7isSS8/M5kPPVgTy0++blP+66YkTAX7Zq1hJw/ZPIYPP7AI0F9cBxMmB0unreEYkKYzPzcnGKCguxSTFAA1WUmT548iT/++EN7gi5PlmP9OHfuHPbs2aM9YZf/f/jhB61cXz+mTp0K2SGjRo0aqF69Om644QZMmzYt/X0ZQIvIIFNJpNpDBtXZsmWLCaxS2VK0aFGtoiN37twxETOD9AYBpwapumhQ/+YaQQfyRmFAr0wwvlazemWtSmHq2wuw5otp6dULOmnpY+ioN9G1U0uUKVUs/ed5C77CrQ1rQz9fqhx0+05lKauDVObJmUxlNU92eRltMaFZmyZ2heK4nR1/7MGr772FET2eQsH8gbdZljZ9XnoWP+/alsG/D8e8hdrXVE9/beGKxXh87BDt92vKX4WJT4uwUFabNjFy2qu4p3FaBcfXP2xE3/ZdIe3luPbKKpj3RQL6dXgYOXN4cyHLJR99STHB8avXvR1STFCQG4oJCqDSpOcILFq0SCvTF2FBDllMULY4LFCgAGQ9CjluuukmjB07FrLYJQ8SIAF3EXB6kJrZQD7Ymgmz3xqZQYCQqQr1mqatoSCHUVgwVjFMfzdBm97w/ZZfsWzlRvR8+F48N2IyXhjSU6tccPLI6iCVeXImW1nNk11eRl1MaHWbXaE4bmfHvj0Y/tY4DH34CVQsWTZg/1bamE/c+MsWTJw7A68+MVwTKRauTBMO5Ch1RXHUrlId0ubrH77DLdfV0v7v266L4/Hb1eGShUspJtgF0wd2KCYoSCLFBAVQadKzBPr3749XXnnlIv9Hjx6NZ555xrNx0XES8DsBpwep4VYmhOIviywapz6I0CDCgVQi7N5zQBMhpI0IC/ff1wzvzV+Svn5CKNt2vp/VQSrzZGc2gtvKap7s8jLaYkLTFo3tCsVxOyn//IORM1/DDVWqo1WDC9M1Eo8fxdj3pqL//d0h0xSGTR+PYV37oUIAwWHhqiWa3+bzh057BY+37aqds3PfHnz29TIknzqJdre10F6TPmYvXoAi8YVwVenyqF35Osfjt6vDLz5dTjHBLpg+sEMxQUESKSYogEqTniYgizFu2rQpPYbbb79dWzOBBwmQgHsJODVIFQKB1kyQ16WaQAb/+gKL5jUTdHq6UKDv7CCvG9dckKkLUt0w+a0PcTz5JO6+s4E2nUHajJ0wG7J+QnLyScfXSxA/szpIZZ6c+QxlNU92eRl1MaF5Q7tCiYqdjb/+gCHTx2FSvxGoUKIMUk7/g5HvTECxgpejz72dsXP/7xg241UMe+hx7X3zEej9hau/wMerluDVvkNQMF8BTTgY+8GbyJsrD/q17Yqcl+XQ+nkr4X3N3APN7tHaefX44vOVFBO8mjwFflNMUACVYoICqDTpaQKy4OJ1112HM2fOQHZ+kJ0bZOcHHiRAAu4l4OQgNdhuDvpuDELJvJuDkVygNRVEYOj15BjMnTlKW2BRXzfh2PHkDNMZxr8+B8nJp9C29e2Obgmp+5/VQSrz5MxnKKt5ssvLaIsJTZrWsyuUqNnZuPVHtB3WO73/fvd1QZ/WD2q/i1gw/J0JGPpg34Bigt6mz4Th+GXPdu2cBtfdiPG9B2UQCCYueEd7T7crP/93zZf49tcfMKhTb01g8Orx5RdrKCZ4NXkK/KaYoAAqxQQFUGnS8wSuvPJK7NixA7Ll4fHjxz0fDwMgAb8TcHKQKizN6yI0u/1mbVtHWcMgkFhg5m8+v/q1V6cLCXrbQBUQIjqMHDM9vS+n85rVQSrz5EzGsponu7yMuphw2y12hUI7HiXw5dKvKSZ4NHcq3KaYoIAqxQQFUGnS8wQqV66MrVu3Il++fDh27Jjn42EAJOB3Ak4PUv3OM1h8WR2kMk/OXDlZzZNdXkZbTLi90U12hUI7HiXw1Yr1FBM8mjsVblNMUECVYoICqDTpeQJVqlSBTHeIj49HYmKi5+NhACTgdwIcpDqT4awOUpknb+TJLi9la+V169ZBthV2+nizyyjcVv9Gp7tlfy4jsHT1N1EXE2Rb9ptvvhnffvuty+jEnjsUExTknGKCAqg06XkCemVCoUKFcPjwYc/HwwBIwO8EOEh1JsMUE5zhnNVespqnrPavn1+2bFmsXr0aZcpcvDigXX0Es6OJCbfUVt0N7bucwNKvN0ZdTNizZw8aNmyI3bt3u5yW/92jmKAgxxQTFEClSc8ToJjg+RQygBgjQDHBmYRndZDKPHkjT3Z5edNNN+G1115DnTp17DJp2Y6ICbfWqWm5PRv6k8CyDd9HXUxYv349+vXrp1Xp8IguAYoJCvhTTFAAlSY9T4BigudTyABijAAHqc4knGKCM5yz2ktW85TV/vXzW7VqhYceegh33323XSYt29HEhNrVLbdX1TDh2xV4cubYdPMfPDEGtSpeE3F3sm3jCx9NwwdrPkenRnfhyPGjGNK2BwrmzR+WzWB+6fZb3dhYsznxs/cisi/OJCYfw4h5b6DPnfejQtFSYflnV+NlG7dEXUxYsGAB5syZg48++siusGgnQgIUEyIEl9lpFBMUQKVJzxOgmOD5FDKAGCMQqZggOyY88PDgdFprvpiGujddHzE92dKx38BxmPr2AvTt0R4HDx3BpLEDtF0ewjmC+aXb79j+/1CkcDyGjX4zIvvii+wo0bv/GAwb+IjlbSazOkhlnsK7DqKVp3Cu1czaPvroo6hevTp69Ohhl0nLdkRMaFzjWsvtVTRM2LgC//12BcZ2egIF8+RH4olj6P/uOPRs1ha1KkQmKIiN8Z/ORr8WD2g2Izky86tqqYoY9fF03H1Do4h91H0SX0fMn4o+zf8TNTFh+aYfoy4mvP766/jll18wadKkSNLFc2wkQDHBRpi6KYoJCqDSpKcIdOvWDbLi9FtvvZXudzAxQdrKMW3aNE/FSGdJwO8EIhmkyoB91txFYW3pGIqjDNCfGzEZLwzpGbaAoNvOzK+a1StrYoWICVkRPaI1SGWeQl1BF78fDdEnfC8DnzFy5Ejt7+ugQYPsMmnZjiYmXFvVcnu7G2rCwezx6Nm0LWqVr5Ju/rtdv+C/G1fg2VZdtNdGLXwbH6xbov38fp/RWtudB/dh4pIPkC9n7gzvVbiipGZz9dZNqFyiPJ68syMWblyOIa0f1oSFhO9Wov+c8dp79Spdjzw5cqFX07YZQgvl1xN3PoBxn83G3bUbaTbFD92++P6fiQM1e+1vbpYhhqIFCuO1xe9p7z12x/3o2vju9NjEn1c79Yf47/Sx/Mefoi4mDBs2DDly5MDAgWnseESPAMUEBewpJiiASpOeIiAL45QrV05bbbpz586aqGAWE0REeOeddyAr8soCOrKoFA8SIAH3EAh3kCoDtA7dBmPwgK4ZBuVr12/GrA8WYfzoJ7Tg9CoD+VmvWti6bbdWEVAgf16tAkF/r/LV5TSbS75ah+rXXo0Xh/XCO+9/ll45oFcbyHtNb70J+fLmxuCn0wRK/Qjl16ghvfDsiNc1McFcmSC+12uaZq97l9YZYihZ/AoMeeEN7b0Rz/VA/74PpMcm/sydOcpSdYLTlQmheDBPgT+DWc2TXZ/szz//HBMnTsSiRYvsMmnZjogJja65MIi3fKJNDWXgPWXpfLz8n34omCdfQKuTv5qPv44exsCWD+GnP3ZixMK3ML7Dk2n3njmvoGvDVmhZswGM7U6dPo2RC99C7ybttHaTvpyLwa0e1qoeXvjvdDx3d1dNBHjq/fGoWa4Ket5+X4a+Q/mVcuYfjE6YgZY1G2p2AtkvUbCI1kYEhC4NW2o/y2GOQ87XfY2GkCA+rfj5l6iLCU2bNsVTTz2FJk2a2HR10UykBCgmREouk/MoJiiASpOeI9CoUSOsXLlS81tEhTx58uDo0aO47LLLcP78eU1EkENW412xYoXn4qPDJOB3AuGKCTLwHjlmenpVQiA+I1+ahn0HDmqD8u+3/IpeT47RBt1ytOv8LJ7q2xEd2jWHsd3JUynpUweknT4N4dDhJPQdMBYTxvTXRAARHerWqX6RmBDKr2DTHIz2y5QqpgkFIiDoooH4Yo5D/HD7NIdQPCQu5uniq9ctYoJ4dumll+LUqVOObw8pYkLDSpWiduv7fvev+O+mlRjYojNyXprjIj+0QfunM3F3jYaoWa4y9N9rl6uCaqUq4vmEtzGoZReUv7wkjLZETHg+YRp6355WcTDpq3kY1LIb1vy2CXuPHETP2+7VXv9k06oMv+sOhOOXiCBG+xt3/5Iej26nX7P7MX7JexC/76rRAIknjqf7F587f/rPEkc0jpVbt0ZVTEhJSUHBggW1zwCP6BOgmKAgBxQTFEClSc8R0KsTQjnOqoRQhPg+CUSHQCRigl6BkCtXzoucNg7aZTqB/nv9m2ugds0q6cJApavKwVjNEExMWPzlOuzcvS9dPJAqBePvugNGW6H8MlYmiP3V6zZpgoGcp9vRKxnEbxE+jCXzXhETmCfnRR87P8Vt2rRBhw4d0Lp1azvNhrSliQlXXhWynaoG3+/5FZOXf4SX2/ZFwdwXVyYknjyOp+ZNQM/GbVCzbGXNjcnLP0TpgkVRrWRFTFo2H4Pu6qKdK7b+u3k1Bv7fgzh15h88/8nb6H1rWsWB3u79DWlTJXo2/ldM2LwaexP/Sv89XUwI4VfKmdMYvegd3H19fRTMnT/d/prfNuOp+RMz4Kp3VXU8f08PTFmxQGsvcUhcun/xefKl/1z+8hKqUGdqd+X2bVEVE+bNm6ctvDh37tyoxM9OMxKgmKDgiqCYoAAqTXqSgLE6IVAArErwZFrpdIwQiERMyKwyIVB5vTwBr1CupCYmGBc+tCImTH7rQy0T+rSGzMSEzPwKVpkgYoJxIUnpq9ntN2PapEF4fsz09DUWvCgmME/eFhNkiuDy5csxc+ZMR+9GIiY0KF/B0T6NnSWJWPDhJDzaqDVqlrlQIbHr0H589N1ydKt/N1796gO0lEF4mUqQQfyLn7+LWmUro1rJCpi0/CMMvrMz4kVM+H0rEjavxjPNO2kVDCM/m4nejdukiQn/tlu9bQv+SDyo9SfHJ1vWZPhd9y0cv0TICGZft6f7rcch9nX/5Hz95/JFoiMmrNq1M6pigoyzmjdvrglqPKJPgGKCghxQTFAAlSY9SSBUdQKrEjyZVjodIwTCFROCzcWX9RCmv5uAZ/o9mL42QaDKhHDFBKuVCeH4Za5MCFTpYK6w8JqYEA4P5unCh91N0xwSExNRsWJFHDlyxNG70Tu9XkGNQlfgsksucbRfY2ef/LAWCT+swcute2qigDaQXzAZLa+rh7uuq4spKz/GX8cT8UyzB/DzgV0YuWgmxt3bJ00kWLkAg5s/eEFM+GGt1k4TEz5/B70bpokGejupCHhh8bt47o5OWjWD9FOz9NV4tOE9F8WfmV9NqtyAF5fMRsvr6mp2AtkXYUD3/fFb2+LVZfO09iKKaGLCv/5pYsK/P0dDTPjn3FlsSTyETpPS1sCJxpE/f37s27cP+fIFXjcjGj7Fcp8UExRkn2KCAqg06VkCwaoTWJXg2ZTS8RghEK6YIFiC7ZrQsd3/XbQWgnnNhHDFBKtrJoTyq3XLxum7ORjFBKN9mXqhryNgXLBRBtteExNC8TCvWcE8pX3g3SQmiD9du3ZFly5dULduXcfuSF9N+BB59yahQM6LpzE55oRUCPz4NZ7+75T0Ll+6+1Hcde0t2u/aU/0v52De98u032c/OFgTAHYdPoDXVy3AoGad0sSEvb8h4ce1eKZJB01MeH7Ju+jVIE1MMLbT+6pX4VrUrXgdTp5OwaP1WwUMN5hfuk8tr00TE8x+PPDOSM2e9DGm1aPaehASg7QX30VM0P0rnr+w9t4P+7bjlda9Ub5wcSfRIynlFE6WLYTbeqdVcTh9rFq1CrNnz8abb77pdNfsLwgBigkKLg2KCQqg0qRnCQSrTmBVgmdTSsdjhMCedQNRpmprxMVlCytifYcF/aTZb43UhAQ59Kf6xh0bZECu7+YwaewAbftHK9McpJ3el0w/aHbbTUhOPnXRAoy6H8H8CjbNQfdD381B+pgzbSRy58qZYStJo5igL9S4/tv/WdrNITX1PH7/6WOUvTltEcpIjkhEH+mHeRoHq3kSXm4TE7755hv06dMHGzZsiOSyieico38dQcLwGagdf3lE53v5JE0QWPoeapW6GndVSxMuYvH4NvEg7hnZDfmKxEcl/Fq1amk7hNWsWTMq/bPTiwlQTFBwVVBMUACVJj1NwFydwKoET6eTzscIgV1rn0Kx8o2QK18x10dsXMxRFy5c77SIK8cP4M9dq1C+7piI3d21pj/KVrsX2S65NGIbTp3o1TydP3cGe/73EcrXe9kpVJb6kQUYO3bsiHvuubjs3pKBCBod+m0vPnv5PVyVNx65L8ke1SkPEbgf1inf/7ENHd+7IPT1rncPHr2lZVg2/ND49LlzOHn2DLadOIoWz3ZC4fLOVkPoDOfPnw/5Jwsw8nAPAYoJCnJBMUEBVJr0NAFzdQKrEjydTjofIwT+3jYf2VOPo2Dx6q6MWKoX9KoBcXDEcz2CViW4MgAAiQc241y2eBS5MvKS4d3rnsMVpW9E7gKlXBmmH/J08uheHNy7EeVuft5VjLdt24Y777wTv/32m6N+HTuYiA1zvsSB7XuRcuofR/tmZ84TyJkrB0pcVRp1HmgatYoEibpChQpYunQpypcv7zwE9hiUAMUEBRcHxQQFUGnS8wSqVauGn376CYULF8ahQ4c8Hw8DIIFYILB9RW8Uq9AIeQvyy5vd+T5+eAcO7lmLig1fy5LpI7s+w/mUP1CkVO0s2eHJwQn8vfcbXJK7HAqVS5uu46ajW7duuPnmm7U1FHioJSAPQoYNG+b4Lhpqo/KG9alTp2LTpk144403vOFwDHlJMUFBsikmKIAaRZOpqamIi4uLogf+6HrixIno27cvWrRogU8++cQfQUUxCl6XUYQfY13vWNkHhUrUQs48RZAzbzHeD7OQf1kjISX5L6Qk/40jf25GxQZZExJ0V/ZsGIoChcohvth1WfCOpwYicOTAZiQn7UOZG4e4EtDhw4fRqVMnfPbZZ670z09Ode7cGbIt565du1CuXDk/heb6WGQryPfffx/x8dFZq8H1gKLoIMUEBfApJiiA6rDJ9+fOwzfr12Hb9h04c/oMko6fcNgD/3V34kQy/jqwDwULFUbBQkX8F6DDERWJz4+4S7Lh6quuRJ2bbka7tvc57AG7iyUCh7Z/jON/rUdctktwKmlHLIVua6y5C1bE+XPnka/YTShSMfCK8JF2uGf9YOTJXxy585fQRB8vrKEQaayqz5M1ElKS/8SJo3/gVPJhlKkzVHWXWbK/fPlyjBw5EsuWpe1gwMN+AlKVoJfXP/jgg6xOsB9xUIsNGjTACy+8gPr16zvYK7uySoBiglVSYbSjmBAGLJc1PXr0KHr16o0WtUqgdKGcuKpkPK4omMdlXtIdEkgjcDDxBH7bl4i9h1OwePNfmPT6JO67zIsjZgkkJSXhoYcewscffxyzDA7v+hTH/1yH1PNnkHJsT8xyyGrguQqUBeIuRf7it6BQuTuzas6R8ydMmIAdO3bgtdfsqXZxxGkPdaJXJeguszrBmeT16tULVatWRc+ePZ3pkL2ETYBiQtjIQp9AMSE0Ize2OJp0BE8/2Q9PtKyCq0sVcqOL9IkEghL45ffDeO3TX/Hy+InIlz8/SZFAzBGQuczDhw+HPKWVHWR4uJOAPOFt3LixVirOw14CDz/8MOrUqQNZR4GHfQSMVQm6VVYn2Mc3mCVZH2HLli2YMmWK+s7YQ8QEKCZEjC74iRQTFEB1wKTkbch91SgkOMCaXaghIILCiwu34p13ZqrpgFZJwKUEpCpBSpDlfxESRFDg4U4C+hPeGTNmQH7mYS+BO+64Q9suskOHDvYajmFr5qoEHQWrE9RdFHJ/+Oijj/Dpp5+q64SWbSFAMcEWjBmNUExQAFWxSVnUJe7AZrRvWFFxTzRPAmoJvLdyB7KXrIm27dqp7YjWScBFBPSqBN0lVie4KDkGV4xPeGUBO1YnqMlTkyZN0LZtW0ilAo+sEQhUlaBbZHVC1tgGO1sqEkREoJCghq/dVikm2E0UAMUEBVAVm+z3WB/cW7MQ6lYrqbgnmicBtQRW/bgXCVuOYex4zptVS5rW3ULAWJUgW8/K6vasTnBLdjL6YX7Cy+oEdXl65JFHkDNnTshaCjwiJxCsKkG3yOqEyNkGOlPWSDh//jynNtiLVak1igkK8FJMUABVsckWd7XE24815mKLijnTvHoCfyWeQLfXluOTTxLUd8YeSMAFBPSqhCuuuAIHDx5E7ty5cfLkSa6d4ILcGF0I9ISX1QlqkyRbMi9YsIDTfiLEnFlVgm6S1QkRwg1wmuza0L59ey62aB9SRyxRTFCAmWKCAqgKTaampqJ58zux+AV7t+lS6DJNk0CmBJo99zEWf74IcXFxJEUCviZgrEq4/S6scewAACAASURBVPbb8dVXX+Gee+7RdnRgdYK7Uh/sCS+rE9TmacWKFRgzZoz2ueC0h/BYG6/ZsmXLapUeW7duRbNmzbBkyZJ0Y6xOCI+rufXUqVOxcOFCPPvss9z+MWsoo3I2xQQF2CkmKICq2GSdWxpgw8QHFPdC8yTgDIE6fWZjw9ernOmMvZBAFAnoVQkNGzZEqVKlMGfOHMh826effhqy1S/XTohicgxdZ/aEl9UJ6nN05MgRPPPMM1i2bBleeukltGnTRn2nHu9Bv2ZFRJD7jAgLIlCuXLlSu6/IdSuvv/POO2B1QmTJnj9/vnavbtq0KV588UXEx8dHZohnRZUAxQQF+CkmKICq2CTFBMWAad5RAhQTHMXNzqJEwFiVIF/up02bpokJs2bNwvbt27VtIlmdEKXkmLoNNe+c1QnO5GnHjh3a4G3Pnj0YP3486tWr50zHHuxFhAIRDIw7jhjFBH37WREdpK3e3oOhOu7yqlWr0K9fP1SsWFETt2QnHh7eJUAxQUHuKCYogKrYJMUExYBp3lECFBMcxc3OokRAymKldFuqEqSU2/i3t0WLFtpAQI7Nmzen/xwlV2O6Wyvzzlmd4OwlsnHjRkhp+bx589CyZcv0fzly5HDWEY/1FkhM8FgIUXE3JSUFCQkJ6f9kXYQePXqgZs2aUfGHndpLgGKCvTw1axQTFEBVbJJigmLANO8oAYoJjuJmZ1EkIANVqVC4/vrrL/rbKwKDvM7S2SgmCNCe7EopuBxSMl6yZEl8/fXXaNWqlVYuLtNR5GB1gvN5OnbsWIZBnghzN910E2Qx0xIlSqB48eLaP8lZ9uzZnXfQZT1STAiekLNnz2Lfvn04cOAA9u/fr/3/999/a5/11atXZxCt8uXL57LM0p2sEKCYkBV6Qc6lmKAAqmKTFBMUA6Z5RwlQTHAUNztzCQH+7XVJIgxuBJp33qlTJ20qiggM8lT81Vdf1f4VLFgQspAdj+gR+OKLLyBVCzIY1AeEMii8/PLLtdd5kEAwArVr19bEAxGfdCFK1rGpVasWmjRpQnA+JkAxQUFy+YVGAVTFJikmKAZM844SoJjgKG525hIC/NvrkkQY3Ag079woJsjPckh1iQgKUkkiFQs8SMCNBFiZ4Mas0KdoE6CYoCAD/EKjAKpikxQTFAOmeUcJUExwFDc7cwkB/u11SSJCuBFITPCG5/Qy1glQTIj1K4DxByJAMUHBdcEvNAqgKjZJMUExYJp3lADFBEdxszOXEODfXpckgmKCNxJBL8MmQDEhbGQ8IQYIUExQkGR+oVEAVbFJigmKAdO8owQoJjiKm525hAD/9rokERQTvJEIehk2AYoJYSPjCTFAgGKCgiTzC40CqIpNUkxQDJjmHSVAMcFR3OzMJQT4t9clibBBTJgzZw527tyJwYMHY+vWrWjXrh22bNmSwfLs2bPRoUOH9NfkHLkG9GPNmjWoW7euN6DQS08QoJjgiTTRSYcJUExQAJxfaBRAVWySYkJkgLfu/hPtnn0LT3Vsig7N66QbGTntM1QoWUR7bc7nG/DA4LczdNC9dQOMf+I+5Mp5mfa6tJdjcLc7M9j4aNn3mDvqYVQqVywyB2P0LIoJMZr4GA+bf3u9cQFYWTPBLCb07dsXEyZMQKVKlbQgDx8+jN69e0MWeJTXpL3sECH/Fy5cWHtfhAYRIygoeOO68IKXFBO8kCX66DQBigkKiPMLjQKoik1STIgMsC4mFCtcAHNGdkHh+Lzp4oBRTFi9aftF4sG+g0npr5nFBPnd+H5k3sXuWRQTYjf3sRw5//Z6I/t2iAmnTp1Cv3790LFjR1SuXDmgcLB27VpNYBg/fjxy5crlDTj00tUEKCa4Oj10LkoEKCYoAM8vNAqgKjZJMSEywCImDHvzUxTImwslr4hPrywwVyaYxYTDScnoMPhtDO76f6h7/ZUZKhOkksHcPjLvYvcsigmxm/tYjpx/e72RfTvEBJn6oFcrHDp0CCNHjkyvSvAGBXrpRQIUE7yYNfqsmgDFBAWE+YVGAVTFJikmRAZYFxOGd78LQ6d+gmGPtNCmJIQSE6Q3Yxu9MkGqGWYt2pChyiEyz2L7LIoJsZ3/WI2ef3u9kflIxIRAayboayKwAsEbefeDlxQT/JBFxmA3AYoJdhMFtAWA9Pl7xsWAFHRFkzYRoJgQGUhdTJg0oD0Wr/spvaJg7OwvM6yZEKjSwCwmDHkjQXOi2c1VKSZElo70sygmZBEgT/ckAf7t9UbaIhETzGsmGCMVMYGVCd7Ivde9pJjg9QzSfxUEKCYooMovNAqgKjZJMSEywEYxIXfOy9Bv3Hx0/L86WLZxa6ZiwqmU01rb+jWu1BZpFGFh7ZYdmogw+cOVXC8hsnRQTMgiN57ubQL82+uN/NktJgRbbFGmQkyfPh3Dhw/nmgneuDRc7yXFBNeniA5GgQDFBAXQ+YVGAVTFJikmRAbYKCbI4otrN2/HyOmLUK544XShINAaCJmtmWAWGiLzLLbPYmVCbOc/VqPn315vZN5uMUGiDrabgyzQaNw+0huE6KVbCVBMcGtm6Fc0CVBMUECfX2gUQFVskmJCZIDNYoJYkSoDmbIwe2SX9K0hw93NQd8l4vUB/9EWaOQRHgGKCeHxYmt/EODfXm/kUYWYoAsKxqmls2fPppDgjUvCM15STPBMquiogwQoJiiAzS80CqAqNkkxITLAgcQEvepApjvIFAapTHhg8NsZOujeusFFW0VKg8Hd7kxvp5+3ZtpTFBTCTA/FhDCBsbkvCPBvrzfSaEVM8EYk9DLWCFBMiLWMM14rBCgmWKEUZht+oQkTmAuaU0xwQRLogm0EKCbYhpKGPESAf3u9kSyKCd7IE728mADFBF4VJHAxAYoJCq4KfqFRAFWxSYoJigHTvKMEKCY4ipuduYQA//a6JBEh3KCY4I080UuKCbwGSMAKAYoJViiF2YZfaMIE5oLmFBNckAS6YBsBigm2oaQhDxFw699eWRxw586dGDx4MGSHgXbt2mHLli0ZyJrn98s5xvn/a9asQd26dT2UjeCuUkywJ428ruzhGI4VViaEQ4ttY4UAxQQFmXbrFxoFofrGJMUE36SSgQCgmMDLIBYJuPVvr3nQ17dvX0yYMAGVKlXS0iRbG/bu3RvDhg3TXgu2M4GIEX4QFCgm2PPp5HVlD8dwrFBMCIcW28YKAYoJCjLt1i80CkL1jUmKCb5JJQOhmMBrIEYJuPVvb6hB36lTp9CvXz/INoaVK1fWdiAwCwdr167FrFmzMH78eOTKlcvTGaaYYE/6eF3ZwzEcKxQTwqHFtrFCgGKCgky79QuNglB9Y5Jigm9SyUAoJvAaiFECbv3bG2rQJ1Mf9GqFQ4cOYeTIkVp1QuHChX2ZSYoJ9qSV15U9HMOxQjEhHFpsGysEKCYoyLRbv9AoCNU3Jikm+CaVDIRiAq+BGCXg1r+9Vua262si+KkCIdhlSDHBng8oryt7OIZj5cYbb8S3334L+Zzecsst4ZzKtiTgWwIUExSk1q1faBSE6huTFBN8k0oGQjGB10CMEnj44Ycxbdo0bT2CPn36uIZCqCfIRkdlkMLKBNekztWO8LpyPj358uVDcnIyfvnlF21KEg8SIAGAYoKCq4BiggKoik1STFAMmOYdJcAFGB3Fzc5cQmDAgAF4+eWX8dhjj+HVV191iVfQpiwYd3MwL8BodFQWYwy0ZoJMhZg+fTqGDx/u+TUTevXqhcmTJ2v/Hn30UdfkyWuO8LpyNmNHjhxJn3p08OBBXH755c46wN5IwKUEKCYoSAzFBAVQFZukmKAYMM07SoBigqO42ZlLCIwePRrPPvssWrRogU8++cQlXoUnJojTwXZzkAUaRWjw+vHCCy9g0KBBGDJkiCaO8IiMQDhiQixcV5FRtH7WN998gzp16qBQoULaDiw8SIAE0ghQTFBwJVBMUABVocnU1FTceeddWDSypcJeaJoEnCNw55AEfPJJArJly+Zcp+yJBKJMICEhAXfffTeqVKmCn3/+OcreXOg+3EGfPvCT7xL6MXv2bF8ICRLPjBkz0KVLF3Tv3h1vvPGGa/LkNUd4XTmbMakomjhxIu69917Mnz/f2c7ZGwm4mADFBAXJoZigAKpiky3uaom3H2uMKwrmUdwTzZOAWgJ/JZ5Atwkr8EnCf9V2ROsk4DICJ06cQHx8PM6ePYsff/wR1apVc5mHdEcILF68GM2bN0erVq3w8ccfEwoJuJ7A9u3btTUSzp07hw8//BBt2rRxvc90kAScIkAxQQFpigkKoCo2+US/fmh9fT7Uq1ZKcU80TwJqCaz6cS8SfjiBsePGqe2I1knAhQTkS/6CBQvQuHFjLFu2zIUe0qUffvgB1atX1+af//nnn8iePTuhkICrCTRt2hRffvklSpUqhT179rDqz9XZonNOE6CYoIA4xQQFUBWbnDt3Ls7vXY//NK6iuCeaJwG1BGYv/QmXlauHtm3vU9sRrZOACwno85rFtc8//xx33HGHC72MbZekcqRs2bLYv38/3n//fbRv3z62gTB61xKQa1Sm5CxZskQTEL744gvcdtttrvWXjpFANAhQTFBAnWKCAqgOmHzwgQ54pk01VClT2IHe2AUJ2E/gf7sPYVzCL3j7nVn2G6dFEvAIgaFDh2LEiBEoUKAARo0ape0YEBcX5xHvY8PN119/Hb1790aDBg2wcuXK2AiaUXqCwKlTp7Br1y5NjBw8eDDkdzlkfQ9Z54MHCZBARgIUExRcERQTFEB1wOTx48fx1OO98ViLyhQUHODNLuwlIELCpEVb8cqEyciTh2t/2EuX1rxGQF8sTfy+4YYb8Pzzz6NYsWLamgryL3/+/F4LyVf+nj59WisZ//vvvyFber744ouOCD5SubJu3Trs2LEDBw4cwKFDhyCLMPMgARENdu/eDdn20XiUKFECM2fORJMmTQiJBEggAAGKCQouC4oJCqA6ZFIEBXla0qx6UZQqlAOVShVCUS7K6BB9dhMuAVlscesfR/D7oRQs++kQJk6aRCEhXIhs71sCUkIvFQq//vqrb2OMxcBKliwJ+Xfttdfipptu0hZzlN+DHbJ43muvvaYNCJOTk2MRGWMOk8A111yjbQN55513crHFMNmxeewRoJigIOcUExRAddjk3Pkf4tv167B123ac/uc0ko6fcNgDdkcCmRMoHJ8Pl2TPjkpXXYk6N9fFffe2JjISIIEABNavX49Vq1Zh7dq1Wvmy/kSasPxDQLYEFcFA1mIwHrJdaIcOHdJFhPr16+Pqq69GuXLltH8iQnAKjH+ug6xEkiNHDq16qXz58lkxw3NJIOYIUExQkHKKCQqgRtGklEDyy0bWE5CUlIQaNWpg06ZNWpkxj6wROH/+PFeUzhpCnk0CJOACAlJWLlUDsmXktm3b8Mcff0TkVdGiRTXRSMQCOWTOuzxZlr/hpUuX1vq49dZbI7LNk0iABEiABAIToJig4MqgmKAAKk16nsCwYcMwfPhwyOJo8jMPEiABEiABEgiXwG+//abNbZcqExEP3nvvvXQTst3kzz//DNkxQkSFEydOaLtFzJgxAzlz5gy3K7YnARIgARIIQYBigoJLhGKCAqg06WkCUpUgpYPyv1QlyJdAVid4OqV0ngRIgARcQWD16tXo2rWrVtUgR+3atbXF8kaPHo0iRYpg586dyJcvnyt8pRMkQAIk4DcCFBMUZJRiggKoNOlpAnpVgh4EqxM8nU46TwIkQAKuIyAL5sluDXLIbh3Hjh3TKhI6d+7sOl/pEAmQAAn4hQDFBAWZpJigACpNepaAsSpBD4LVCZ5NJx0nARIgAVcSkF07qlatCllPRo5s2bLhzJkzXFvGldmiUyRAAn4hQDFBQSYpJiiASpOeJWCuStADYXWCZ1NKx0mABEjAlQS6dOmiVSPIUa1aNfz444+u9JNOkQAJkIBfCFBMUJBJigkKoNKkJwkEqkrQA2F1gidTSqdJgARIwLUERDy47rrrNP9kJ4dPP/3Utb7SMRIgARLwAwGKCQqySDFBAVSa9CSBYFUJejCsTvBkWuk0CZAACbiSwLlz55A9e3bNtzZt2uDDDz90pZ90igRIgAT8QoBigoJMUkxQAJUmPUcgs6oEPRhWJ3gurXSYBEiABFxNQMQEERXatm2LuXPnutpXOkcCJEACXidAMUFBBikmKIBKk54jYKxKKFu2LGrUqIGFCxeiVatW2LRpE/bs2aPFxOoEz6WWDpMACZCAawnkypULKSkpaN68ORYtWuRaP+kYCZAACfiBAMUEBVmkmKAAKk16ioBelVCgQAGIqCBbcw0fPlz7Wf6JgDBz5kzt56NHj2LXrl2QKgUeJEACJEACJJAVAnnz5sWJEydw6623YunSpVkxxXNJgARIgARCEKCYoOASoZigACpNeoqACAVyGPf3NosJekCB2noqWDpLAiRAAiTgGgIUE1yTCjpCAiQQAwQoJihIMsUEBVBp0vMEgokJng+MAZAACZAACbiGAMUE16SCjpAACcQAAYoJCpJM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FIGZM2ciLi4ODz74YLrfwcQEaStH586dPRUjnSUBEiABEoguAfn7Ua5cOTRq1CjdkWBiQqC20fWevZMACZCA9wlQTFCQQ4oJCqDSpKcIJCUlaV/wChYsiGHDhmmigllMkC928lpiYiJ2796N+Ph4T8VIZ0mABEiABKJLQP52lC9fXhMThg4dqv1vFhP0vzWpqana3xoeJEACJEAC9hGgmGAfy3RLFBMUQKVJzxEQEUHEAjlEWLj++uuxcOFCtGrVCps3b07/UidfAKUtDxIgARIgARIIl4AICCtXrtROk5/Xr1+PlJQUVKlSBadOnUr/WzN27Fg8+eST4ZpnexIgARIggUwIUExQcHlQTFAAlSY9R0CvTjh69GhQ3wsUKMCqBM9llg6TAAmQgHsIzJ8/H23btg3pkFQm8CABEiABErCXAMUEe3lq1igmKIBKk54kYKxOCBQAqxI8mVY6TQIkQAKuIpA/f34cP348qE/169fHqlWrXOUznSEBEiABPxCgmKAgixQTFEClSU8SyKw6gVUJnkwpnSYBEiAB1xEIVZ3AqgTXpYwOkQAJ+IQAxQQFiaSYoAAqTXqWQLDqBFYleDaldJwESIAEXEcgWHUCqxJclyo6RAIk4CMCFBMUJJNiggKoNOlZAoGqE1iV4Nl00nESIAEScCWBYNUJrEpwZbroFAmQgE8IUExQkEiKCQqg0qSnCZirE1iV4Ol00nkSIAEScCUBc3UCqxJcmSY6RQIk4CMCFBMUJJNiggKoNOlpAsbqBFYleDqVdJ4ESIAEXEvAXJ3AqgTXpoqOkQAJ+IQAxQQFiaSYoAAqTXqegF6dwKoEz6eSAZAACZCAawno1QmsSnBtiugYCZCAjwhQTFCQTIoJCqBG0aQ82YiLi4uiB/7oWqoTrr/+emzevBnx8fH+CCqKUai4LlNTzyMuLlsUo7rQ9fnU88im0Bc3xSpRx1q8qmN2W35d8aGKESf06gRWJcRIwgOEqfp+GrtkGTkJXEyAYoKCq4JiggKoDptcumw5Vi5fht+2bUOBPDmx+ZedDnvgz+7+SUlBjpw5/Rmcw1HVqFIRSSdOodLVV6PRrbejcaMGEXmw6fc1+O2vH/DXsb3IfkkOHE4+EJEdu08qnLc4zp47jaL5S+HqotVRo0zdLHfh1lglsFiLV0XMbs5vli9eGgiLQOJfx1GwaL6wzmFj/xBQcT/1Dx1GQgL2EqCYYC9PzRrFBAVQHTQ56LlnER93DNVK5cPVpQqiQnE+RXcQP7sKg8DOA0nY+scR/Pj7cSRnK4gRzz9v+exz589i9vpXkT/35cibIx4FchdB3pzuutaTU5KQdPJvnEhJwvGUI+hQ5zFcku0SyzHqDb0Qq/gaa/HaFbNX8hv2hcsTSIAEIiZg1/00Ygd4oqsIjBwJDBmS0aVmzYA5c4DCha27evgw0Ls3MGwYUKmS9fOstFy7Fpg1Cxg/HsiVy8oZwKlTQL9+wNSpQPfu4Z1rrYfQrSgmhGYUdguKCWEjc8cJqefxWK/uaF79ctxRu5w7fKIXJGCRwGff7MLSnxMxbuIUAJlPyzl7/gxmrH0ZVxatgaIFyljsIbrN/jy6Bzv/2oyH6g7AJdmyW3bGi7FKcLEWb6QxezW/li9gNiQBEsgygUjvp1nu2GTgx2eBA4uA04eBU3/Ybd3d9nKVBC4rAhS/E7j2Bed9FTFBjsGDL/QtQsLOnRlfC+WZ28QEYwwSY4UKQIcOoaKw932KCfby1KxRTFAA1QGTUpFQrwwoJDjAml2oIfDphp3Y+OelGDbi37+aQbp55+uxKFOkqmeEBD0M+UK47/BWdLy5n2WAXo1VH1zHUryRxOzl/Fq+iNmQBEggywQi+fuR5U7/NZC0BVh6I5AKIPW0XVa9aSfuMkCWQ7r9G6DAtc7FEEhM0CsBRo0Cnn0WSEoC5s4F1qwBata88MRfvDS/Vr16WtsyZS5uV/ffWZkiPMjAfskSwFgFsXUr0K4dsGVLxteNlQnffw/Uq5fGJ7MKCooJzl1DjvZEMcFR3LZ0tvSrpdi04mP0v+c6W+zRCAlEi8CYj7bgxib3oVHjRgFd+H7PKuxO3InKxW+IlotZ6vfX/d+gQuGrcb2FNRS8HquAirV4w4nZD/nN0oeBJ5MACYRFIJz7aViGM2m8ZzbwXXfg3Em7LPrDziW5gVpvAWXvdyaeQGKC/lr//mmCQMmSF6oU5L19+9KmDcjAvlevNPGgSJGM0xyCtdNFho4dAREX9EF/z55pAoO8Lv+bz5dpDoMGAU89dWEqhZwrR6CKA12wkHXN5V84UyTsIs/KBLtIGuxQTFAAVbHJIc8NxC2lgTtuKK+4J5onAbUEFn2zE9/svwTDRgauI3z/m0kokq80Sha6Uq0jiqz/cWQbEpP3o90NPUP24PVYJcBYizecmP2Q35AXMRuQAAnYRiCc+6ldnX6Yg9UIwVhmywm0OWUX6cztBFozQV9jQM4UMaF+/bQBu74OgS4E6L/L+3fccUFMMAsGxna1a6eJAZMmZVyTQaoSjK/L7337AhMmAIcOpa2ZYBYTMotMqhmkgkGvlLB7HQcr2aGYYIVSmG0oJoQJzAXN27dvj1EP1ORiiy7IBV3IGoEd+5MwaM73eP+DDwIaem3pQNx8ZQvXLbZoNWpZVGv99s/Q97ZRIU/xeqwSYKzFG07MfshvyIuYDUiABGwjEM791I5O/zcE+GU0gLN2WPOfjUvyAJWeAqoOVR9boMoEvVezeKA/7Zf1FfQpC/p6BEYxQaoURHwI1K5cubSqA/MCjzL4N75uXINBFxOkuuD33y9MhQi2sKJxWsSCBWlChPgiAoZZxFBJmGKCAroUExRAVWhS9qLu0e0hTO15i8JeaJoEnCPQffLXeGPaDMTFZVyIMTX1PKasHI5GVdo654yCnlb8Mh89Gg5BNpl4GeTwS6wSXqzFayVmP+VXwUeEJkmABIIQsHI/tQvel7WApO/tsuZPOwVrAbdvVB9bOGJCtCsTzFMVgi0UaV5wUa++mD3b2UUYKSYouH4pJiiAqthknVsaYMPEBxT3QvMk4AyBOn1mY8PXqwJ2NvLT7mhzQ19nHFHUy0ffTsDgFlNDWvdDrBJkrMVrNWa/5DfkhcwGJEACthGwej+1o8NPSgMpMbZrQ7jccpUCWuwN96zw24cjJoj1rK6ZYK5aEEFg9eq0KQzdumW+ZsKjjwIvvnihuiDYmgnmrSSl3QMPACNGhLdDRfg0M55BMSGrBAOcTzFBAVTFJikmKAZM844SoJiQhtsvg02rX379Ei/FBEdvF+yMBGKKgNX7qR1Q5me+S7MdXfjCxn2yzYXiI1wxQa9OmPrvcwvZzUGmPOivr18fejeHYLs2WNnNQaYtiDAgR7BpDvKeLiDo7V54AXjuuTSxQp+ioRgtKCYoIEwxQQFUxSYpJigGTPOOEqCYQDHB0QtOQWdWvvD7STxRgJAmSYAEuejIzQAAIABJREFUAhCwcm+xCxzFBGsknRATrHnCVpEQoJgQCbUQ51BMUABVsUmKCYoB07yjBCgmUExw9IJT0JmVL/wUExSAp0kS8DkBK/cWuxBQTLBGkmKCNU5ubUUxQUFmKCYogKrYJMUExYBp3lECKsWEKePewME/D+Lp4QOQM1dOfPrRp/huw/fpv+uB6q93f/wRDHlyKNYuX5vOoFLVSnhl6liUvzKyrVitfhn0y2Az1uKVC8VKzH7Jr6M3B3ZGAjFOwMq9xS5EFBOskaSYYI2TW1tRTFCQGYoJCqAqNkkxQTFgmneUgCoxYdf2XXj3zVlaLJ0e6aiJAfLa6EGjMfD5geniQMqpFLw0dAxq1amJeo3rYUCvp9GjXw/UvLGGdm4wAcIqJKtfBv0y2Iy1eCkmWP0ksB0JkEC4BKzeT8O1G6g9xQRrFCkmWOPk1lYUExRkhmKCAqiKTVJMUAyY5h0loEpMEBFAP/bu+QOPPtEDRuGgRZsW2ttGgaFgoYIXiQny/uSxk/HcqOcQXyg+bDZWvwxSTAgbrWtOsJJjv+TXNdDpCAnEAAEr9xa7MFBMsEaSYoI1Tm5tRTFBQWYoJiiAqtgkxQTFgGneUQIqxAQRDV5/+XW0vr81RCB47cUJeOyZvpoYYK40kN91sSHpSFLAygT9/UjAWP0y6JfBZqzFK9eElZj9kt9IPgM8hwRIIDICVu4tkVm++CyKCdZIOiEm6LswlCyZ9W0TZTeGYcPStm789Vdg1ixg/HggVy5r8eqtDh8GevdOs1WmDNCvn7O7MITnbfDWFBPsImmwQzFBAVTFJikmKAZM844SUCEmSDXBgvcWoNdTvbS1EmTthDr16mhTF4yVBvKeTHG46967tPd0McG4ZkLdxnUx5vWXIqpKsDrQlHZ+GWxa/fLrl3it5thP8Tp6g2BnJBDDBKzeT+1ARDHBGkUnxIS1a9MG/XLI9omFC1vzLVAro5iQFTtGMaFSpcj9ifaZFBMUZIBiggKoik1STFAMmOYdJaBCTJBqg6d7PZMhjt4DemeY6iACghxvjH8jXSwIVJkQaJ2FcABZ/TLol8FmrMVLMSGcTwPbkgAJhEPA6v00HJvB2lJMsEbRCTFh5Ejg1luBZcuAChWADh3SfNNFhvz5gZdfBpo1A+bMAXLnTqsUqFkTmDwZ2LIFmD077bzMKhOknyFD0myvWQPUrQuIaCDnLVmS9vqIEUD//mn2p04FqlcH3nkHmDLlQmWC9NGuXVq/uk8iXIi/UhEhxwcfpJ07dy4gYoS8V69e2nvGc6xlIfJWFBMiZxf0TIoJCqAqNkkxQTFgmneUgN1iQiBBQF574dkX0LN/T23hRalU0I/SZUtBXz8h0Ln6Ogt69UK4cKx+GaSYEC5Z97S3kmO/5Nc91OkJCfifQKh7y//+9z9Uq1bNFhAUE6xhVC0myGD+uefSKhIOHQKmTweGD0+blqAPwHWhQMQAOfTB/u7daeKCnNe3LzBhQtr7gaY5LFgA7NyZNo1CFxxEoHj+eaB+/QtChG6nSJHA0xwqV05r27Fj2v/i0759aVMpvv8+TTAQoUKEDhEkZOpGz54XbImwID7LoYsm1jIRWSuKCZFxy/QsigkKoCo2STFBMWCad5SA3WLC999sylBtIMGYF16UNh1bdoR520c3VSaI4DFpTJqkPythVvruEvK7/p7Rfz3Gee/O085p26ntRVtgmhMrdoxiiv6+VGM82b0/Bo0elKFfed9c9fHS6y+mizHyfqgvv3ofdg2udV+79Hwogx96bLf/3+3aVJYt3225aItPPRZzDOF+AKzEbFe84foW7fbmqUPG6zLQtCLxV68ikp/NbYzTjszXb6BrIVRlkfl6Nn/WwuVn/Bx26NYBiYeORLx4azh9G6dvJR5JzNKisYH6Nd6PAt2TwvGVba0TCHZv+fzzz9GvXz8kJibir7/+CmnwzJkz+Pjjj9G2bdugbSkmhMSoNVAtJohgIBUJMsiXtROGDgW6dr3wNF8G6zL4lif/wUQA8VPaSVVD7doXiwmjRgHPPht6zQPj1IZgYoK8rosVuk+6ACGihtFf8VsEDLOYYI28Pa0oJtjDMYMVigkKoCo2STEhPMBbd/+Jds++hac6NkWH5nXSTx457TNUKFlEe83489rN21Gv28sY0aMlBne7M7394aRkdBj8tvb7nJFdcCgpGX3HzsWE/u1QqVyxgHbD8zQ2W9stJuhVB7J7g/GQQUPCh59oUxrkkC0gS5YumWHAHWxwk5UBhpWBpvaH/9PuaHNDX8034yKRB/YdyLCdpfG9n3/8JV04WbN8jXauVFkE2rXCfHXpg4NAA2lj5YaRo5GhLGap82p5713pA/lI4s3Kla8PIItcUSTD2hZmMeH40WNo1LRRup/6Ip1bf96Klve1zCBEhOuPlZhjUUwIdH0Yr1/JgXkrVmMlUIUry2vvG68v4zUo17xxcVRNSBw3BZWuqZS+Xoq89smHnwQU1oJdz8atYcO9FiRm44Kv4Z4fafus7jqTWb/yWTr458F0hpmJjZH6z/MCEzDfW0REePLJJzUB4dixYxgxYgQGDhxoCV+RIkVw+PBhPPPMMxg9evRF50RDTKg6Aqj8NJDtsozuHPsZWFIVuOJW4MZ3gRyXA7++BPz0b0m+tG74FXDFbcDBpcDK2y0hsKWRajHBOPVAd1ivRNCnOegLKJrFBKkOkKkK2neKTMSEQYOAbt3SBAu9vd6XcfqBvKZPTQgmJuh96QKHUYAQMcG44KMuJujVEPrUiO7dI1sUMpKEUkyIhFqIcygmKICq2CTFhPAA62JCscIFNBGgcHzetBttJmLCiGmfoVD+PJg0oH16exEZjK9TTAgvD8Fa2y0m2OOVfVasDDS169EgJhgFEXO1hPFpbKBKCt1z864V+uv6YO2KYldoL5krE/TB0IPdO2k7YuhTQ6RtIKHG3E8k8WaFtj6Iyps/HyQmXfwwiwnXXFsFv+/6PX2QqS/SKX1LhYc+1SUSX6zEHItiQqBrMJBYYB6867mrWr1qBiFNcmO85gsWis/wBF7Oq3TN1fh84efp162+Raw5v8E+O0bxQfqTqha92kcXFY3XnPE9XfyQBVzlmur33ONImJeQXpmgV0HIe3Ub3oLcefPgoUc7X7QIrD4lS/ofPejfQV9cnCaW7dy+S6uq0g/xydivVG706t8Ls9+ald6vXokl5+iVIXps8pnRK6CMFSHm+0WtOjUvqvyRNsYtdwNxMvpfpVoVXFX5ynQ7xp10dIFi609bYaw+0QWiQ38fRvVa1UNWW0Xy+XXzOfq9xSgiHDlyRHM5R44cSElJsez+3Llz0aVLF5w/f147zywqREtMuPpx4LdXLwgFZTsCNV8H9s4Dfn8vTUy4JCeQtPmCaCAiQ+230kSGI9/4R0wQcUB/qq8vcmhe88D4pF8G/vL7tGkZpyfou0HIdIVwKhP09RJ0kcGOyoRgYoLxwjWKDJYv6AgbUkyIEFxmp1FMUABVsUmKCeEBFjFh2JufokDeXCh5RXx6tUFmYsKsRRuQP29O3N2gOupef6XWobQvWig/lm/cqokMFBPCy0Ow1hQT0sgYB5vGqRpSsixfyAc+PxDFSxbPMPDIrAIhWIWGMQ+BpjlI3xvWbNAGCeaBmD4oyWwKhZWBtTnerFxJ+sBOdu4wih9mMaH+rfUCDjLlyXagqR7h+GQl5lgTE6xUxwRb30SvVhABSB/MB6oOMm4BK58NfTvYxQlLtN1b9PMDrXcSaDqUOefGJ/JSBfT8wOe1qTJyyDQgfWqNsZ34ZBQDJo+drA3qjZ9j2a5WYqxxQ42QYoJxupF5yoa5gsnYl/Fn3YbOQwQEXcSQWJ4ePgDG+GRdGeOhiyCBxAZpZ7zXCFczJ326VCChRnKjiyG6qBSMu9mvcD6jXm0r95aDSy7D22+/jZMnT2YIo2jRoihYsKDl0E6fPq1Ni5B/cuTMmTNdVBg0aBAW5c1j2ZZdDaUywSwmiO1mPwEpB4BfRqWJCSf3ADmLARsfBg4uA+S8sv8uSnhil3/EBBlUr16d8Sm9cYAvbPQ1CKSiwLxmgrwvVQu//x56zYSxabey9DUTRMSQtRlkyoIuJog/so6CLJoY6ZoJgcQEmW1jnBrBNRPs+kRFyQ7FhCiBz0K3FBPCg6eLCcO734WhUz/BsEdaaNMSQokJNSuXwV9Hjmnig0xxeG7yf9Hx/+pg0rwVFBPCS0GmrSkmpOExDzb1gbvxKZ158BVswGZloKQPAswDafM2msYtNuWcUGszWBlYB4o30kvKWN4tZe/fbfheGxzNmDJTEwn0NRNk0CIiif6aceBJMSFS+sHPs7JwabBpReapN8Yn69KjUVgwVjHo16oMjCXX/+ncPuiUg8ymPxivc12IMH7WzBUTRlvBxATzlAz9qbyVygQREgMNpI39ynSoQGKCVDIYp3no94aRr4zAG69OhV5xYF6k1pxZc650YSHYPUm4SeWILoSK/0YxROzr/oqPxl11jJ9p83v2X6nutij3007XPqtVESQkJGQQFCpWrIhPP/3UcgDbtm3DQw89pE11MB4iKshYoOm0tyzbsqthIDEhUGVC4vdA4ZuBHVPSKhhkioMcOYuniQ5+mOZgrCYwL0SoL2oog/C3/k2T7I6gTw8QFvrihubdGYLt5qCfIzs0yKHv5iAD+wceSHtN3pNFFGX6hL6A4vr14e3mEKwywdgPpznY9YmKkh2KCVECn4VuKSaEB08XE6SaYPG6n7B603aMf+I+jJ39ZdA1E6QyoUebBnjpnSWacPDr7j+xbONWtL29llblwMqE8HKQWWuKCWl0rExzMD9pDSQmGJ8MhnqSZ65MCDS4My9Sac6luQIimmJCzlw50ys3jMKBPN3WtwKV1+9o2Sx9IPP+zA9YmWDfxzndUqSVCaFcMT+d1ytppBJh/959Wgm9PoXlztZ34rMFn6VPbTHaDiW4BaqaMAoX+kBY1g6xIibIdSaHPg3Hqphg7EfONy+EqFcJBRMTjAKbfD70gXr/If01MUEXS0KJCUZ2xtzWa1xPq7KQqR3GQwQhEV2M/hsFJsmVvt6FWSwSO/p9J/FIUtA1L0JdK35433g/3b9/v7Zegi4qFCpUCHPmzMEdd9xhOdT4+HgcPXpUa58nTx6tOmHs2LHo3LkzojXNIdCaCfo6CPqaCX8uThMT9GoFmeKwZw5Qqo1/xAQrSTSvmaCfowsRxjUTrNiLxTac5qAg6xQTFEBVbJJiQniAjWJC7pyXod+4+VqFgYgDwRZgFDHhhZ5346V3l6Bry7qY99V3WtvaVcpSTAgPf8jWFBMyignBBjH6QCSzNRPMC8qFgm8WEwLNcTcOevSn+UaRwvyEN5pigj6wk6ecsrimPHU1ViZIObUsjleuYjmcPHFSG9gF29EiFDvj+1ZijrVpDsIn2LodevWLubzdzNw45UZ/z1zxIJ8XGaifTD6Bxnfcqu0+Im2kMkXWT5A8B1oPI9iaCboQ0bVPV7w2ekL6YNtcmRCumGC1MiHY03vjtS1rJ5hFjEgrE0KJCcEWlNTvC1L9Ydx215jDQItC6udJOxGAJF+ZVYmEqiAJ53PqxbaB7i26qCC7MxQrVgy7ZT9AC8fUqVPxxBNPIC4uLoOIoJ8aLTHBOM2h9jSgdFvg+17AnlkXFmAUMUEOERT++Aio+Ciw5Qmg8jMUE4QLxQQLH4B/m1BMsM7KckuKCZZRuaYhxYTwUmEUE2TxRVlIceT0RShXvDDq17gy4G4OIiZI9cKC5Ztw8MhxfPPTbm16hBx6ZYL83HvMB+nTJrQbesppTazQ7YbnaWy2ViEmZLaNmfk9oW58+m5cCMyYkUi3D7Qy0JR+QlUm6CvaB9vNIZJyYONA2sqUCfNTTuNijvoT10jizcqVH2jAYtypwigmBJqDTzEhK/QzPzfYbg7mXVWC7Z4QaMBvrrzR101ITj6Bx57pqw2y5Xhn6ruakCBVKMEqdELtTpLZmgnhigmh1kzQFw8Vn96ePCN9bQZzP/p0AL0KR2KVaT3BxATpN7M1E0KJCWLfXH1kzqvxfeNOD+YFMsVWoN1XzHk25sU8TUPd1epOy5ndT0VUmD9/Prp166ZVGYQ6ChcujNTUVIwbN06rRDAfbhATxCdZL+HSAsA3ndI8lDUTREz4eyVw7Wgg5a+0BRlltwd9bQU/THMIlT++bw8Bign2cMxghWKCAqiKTVJMCA+wWUzQBm7TPsOQNxIwe2SXTMWE73/9XdsmsnvrBpq48PufR9LFBL3KwbioowgVvca8j7mjHs6wXWR4HsdWa7vFhFDbmIXakcC8FaNkI5wSYHP2Ihlcm9clMC98pg+WjSJIIJFEL4H+atFXGbbQ0300DqTN5eN6G/PAQV+MTX/f7Fsk8Wblig8kJhh9NooJ8hTUPICkmJAV+qHPNU+dyWwNkEDWzOcHmnYTqAIi1DQGvS/z9WwUDc2fQ/NuDrKwotVpDtJO70sY1G1UN706xihgDhg+AP/b9KO2G4UcgaYJyK4JwqH3U720RUXFDzlkuoEc4ezmYEVMEJvm+0tmnPT3An02AwmQYt/IwJhjViZMwOAW/05qD/1xy7TFmjVrUE9W7wtyuEVMCLRmgogJ+s4OuUoCu6YDG7tRTMjiJRGTp1NMUJB2igkKoCo2STEhPMCBxARZULHD4Le16Q4dmtfJsBijCAJ6ZcLJlNMZ2plt6ZUIUxes0pyqfnUpCgnhpQd2ignBnq4bBYRAYoLxS6/xCaL+RNPKYnLBwnZ6cB0mftubx1q8AtBKzLE4zcH2i8snBq2sJ+GTUBlGFglYubdksYv0090iJohDssBioRuB7a8DIi6ImCDigf66Pg2ClQl2ZT927FBMUJBrigkKoCo2STFBMWCad5SAnWKCOB7ONmZ6oOYt1owrkEubYE/trYCy+mXQL4PNWIuXYoKVTwHbmBcZDLbNIkmRgJGA1fupHdSiISbY4bfTNu5LdbpH9mcnAYoJdtL81xbFBAVQFZukmKAYMM07SsBuMUGcD7aNmbwXaDqAsfQ62JoJgfa5twLK6pdBiglWaLqzjZUc+yW/7swAvSIBfxKwcm+xK3KKCdZIUkywxsmtrSgmKMgMxQQFUBWbpJigGDDNO0pAhZhgDMBcUmyc5hCo3DgrVQiBwFn9MuiXwWasxSs5txKzX/Lr6M2BnZFAjBOwcm+xCxHFBGskKSZY4+TWVhQTFGSGYoICqIpNUkxQDJjmHSVgp5gQahszfStACVDffcC4+rgs0EcxIWvpt/rl10+Daysx+ynerF0hPJsESMAqASv3Fqu2QrWjmBCKUNr7FBOscXJrK4oJCjJDMUEBVMUmKSYoBkzzjhKwU0wQx8PZxkwPNNSaCVkBYvXLoF8Gm7EWr1wbVmL2S36z8lnguSRAAuERsHJvCc9i8NYUE6yRpJhgjZNbW1FMUJAZigkKoCo2STFBMWCad5SA3WKCLihMGjMpPQ7jNmaBdnMwbiVYtXpVmBdgzAoQq18G/TLYjLV4KSZk5dPBc0mABDIjYPV+agdFignWKFJMsMbJra0oJijIDMUEBVAVm6SYoBgwzTtKQIWY4GgAITqz+mWQYoKbshaeL1Zy7Jf8hkeGrUmABLJCwMq9JSv2jedSTLBGkmKCNU5ubUUxQUFmKCYogKrYJMUExYBp3lECFBPScPtlsGn1y69f4pXcWYnZT/E6eoNgZyQQwwSs3FvswkMxwRpJignWOLm1FcUEBZmhmKAAqmKTFBMUA6Z5RwlQTKCY4OgFp6AzK1/4KSYoAE+TJOBzAlbuLXYhoJhgjSTFBGuc3NqKYoKCzFBMUABVsUmKCYoB07yjBIKJCedTz+ONlSPQqMp9jvpjd2crf5mP7g2HIFtctqCm/RKrBBhr8VqJ2U/5tfvzQXskQALBCVi5n9rFL6E48M+fdlnzp50cRYGWZOTp5FJMUJA+igkKoCo0mZqaike7dcEbPW9W2AtNk4BzBHpMWYcpb72NuLi4izqdsPRZ3HTlncibM945h2zsKTklCRu2f4Y+t40KadXrsUqAsRZvODH7Ib8hL2I2IAESsI1AOPdTOzpdci1w7H92WPKvjQLXAU23+De+WIiMYoKCLFNMUABVscn27f+DUQ/UQIXi3hxgKcZD8x4isH1/Ioa8/wPee29OQK/nfTsZ8XlLoFShqzwU1QVX/ziyDUkn/kTb2j1C+u/1WCXAWIs3nJj9kN+QFzEbkAAJ2EYgnPupHZ1ufhLYNs4OS/61cfUAoPpL/o0vFiKjmKAgyxQTFEBVbHLo0GG4qXgKmt9QQXFPNE8Cagl8tmEHNv6dB0OHDgnY0ea9a7Hn8A5cVbyWWkcUWd964FtUKFwJ1UuHriTyeqyCMNbiDSdmP+RX0ceEZkmABAIQCOd+ahfADy8DUs/YZc1fdrLlBNqc8ldMsRgNxQQFWaeYoACqYpPLV6zEt199jAH3XKO4J5onAbUEXlzwE25p3hYN6tUN2tGsdeNRqnBlFC1QRq0zNlv/M2k3DiRtR4c6j1m27NVYJcBI4y1ZuBKKFShrmZGbGoYbs+TXy/G6iT19IQE/Ewj33mIXi8TvgeX1gXMn7bLoDzvZ8wK3rgcKVPVHPLEcBcUEBdmnmKAAqgMmhwwejDolzuLOG8s70Bu7IAH7CSSs24FNh3Nj6NChmRo/d/4cZqwdgwpFq3tm0HkgaRd2HfwBXeo9k+nCi+bAvRirxJCVeN9e+xIqFr3eM7nVcxZJzJJfr8Zr/x2AFkmABAIRiOTeYifJxM3AspuA8//YadW7tqQi4bZvgPhrvRsDPb9AgGKCgquBYoICqA6ZfKJ3D9xapQBa3FTRoR7ZDQnYQyDh621Yvf0EXn5tsiWD58+fw5wNE5AnZzzy5iyI+NyXu25RRlksK+nk30hOScTJf47i/jp9wxISdBBeiFV8jbV47YrZK/m19MFkIxIgAVsI2HU/tcWZf41sfAQ4tBo4cwxI2W+nZffbylkcuLQAUKQBUHuq+/2lh9YJUEywzspyS4oJllG5suGwIYOR++wRVCudD5VKFULFElyU0ZWJolOQxRa37j2CH38/jn9yFMHQ4SPCprJl79fY+tcP+PPo78h+yWU4nHwgbBsqTiictzjOnjuNYgXKoFLR6pbWSAjlh1tjFb9jLV4VMbs5v6GuTb5PAiRgHwEV91P7vKMlEvAXAYoJCvJJMUEBVIdNLl+5CiuXL8XWrb8hf+4c2PzLToc9YHckkDmBGlUq4tjJf1Cp0tVofFsTNKgffI0EqyzPp56P6Mm/0f7EiRNRunRptGrVymq3AdvZ4UtmDthh/9y5c+jatSumTp2KHDly+D5eCXDMmDGoUaMGmjRpkqV45WQ7chDMCZW2sxw4DSglsG/fPrzwwguYPNlalZZSZ2g8KgT4+Y8KdnYaowQoJihIPMUEBVCjaDI1NRVxcXFR9MAfXZ88eRIfffQR2rdvj0svvdQfQUUxCjdel+JTtmzZUKhQIRw+fDiKdJzpWoSTp59+WvsXap0KZzxS20tiYiKKFy+Oyy+/HHv37lXbGa2TQIQEOnXqhAULFuC9995Dy5YtI7TC00iABEiABKwQoJhghVKYbSgmhAmMzWOCwJQpU/DEE09gzpw5aN26dUzEHGtByqB6woQJyJ49O1577TV06dLF1wjy5s2LEydOaPGeOeP/vb969OiBd999VxNXZ82axc+xr69ubwb3999/o0yZMkhJScFVV12F3377zZuB0GsSIAES8AgBigkKEkUxQQFUmvQ8gQIFCuDYsWMoVaoUn2p6PpsXB6BXJejv+L06QaoSnnvuORw/flyb4jBw4EBfVydIVUKJEiW0QZoc/Bz78EPsg5CkKkGELjkKFy6Mt99+m9UJPsgrQyABEnAvAYoJCnJDMUEBVJr0NAGpShgwYACSk5ORO3duPtX0dDYDO69XJeiDTXlq7+fqBL0qQafh9+oEvSrh1KlTWsj8HPvwQ+zxkIxVCXoorE7weFLpPgmQgOsJUExQkCKKCQqg0qSnCehVCXoQfKrp6XRe5Ly5KkFv4NfqBGNVgh6rn6sTjFUJEuc//6Rtls7Psb8+x16PxliVIOvyyNQjVid4Pav0nwRIwO0EKCYoyBDFBAVQadKzBIxVCXoQfKrp2XQGdFyqEsaNG4dLLrlEm6csx549e3D69GltRXW/rZ2QJ08eLUb5XxaalAUJZbqDDLLPnj3rr+QC0KsSZPeKypUrQ8QjWYBRFlV9//33uXaC7zLuvYCkKkHELakYio+P16rgZD0TuVaLFSuGHTt2eC8oekwCJEACHiBAMUFBkigmKIBKk54lIFUJUvouA8vLLrtM+3InC7hdccUVXDvBs1nN6LgMMOvUqYNXXnlF25KtbNmyaNGiBR577DFtwLl8+XKfRAosW7YM9913H8aPHw95EipPQKX0f968eejdu7e2wGjz5s19E6/kr2bNmtpWkKNHj0afPn3QsGFD1K5dG3379tUGbwkJCb6Jl4F4k4CIli+99BJEvK5UqRKaNWuG7du3awvCynW7ePFiVK9e3ZvB0WsSIAEScDEBigkKkkMxQQFUmvQkgQ8//FAbeMnidLJYXdGiRXHw4EHt9zfeeANffvklGjRo4MnY6PQFAvIEUH9a369fP01MePzxx7UGR48ehQhKfj10MUHWTJDDjVt2ZpW9VFzI9AY5HnroIU1M6Ny5s/Z7UlKS9iSYBwlEk4CIXlLxJodUIehiQjR9Yt8kQAIkEAsEKCYoyDLFBAVQadKTBGTOqgy25JABp4gJUn4qhzzNzZUrlyfjotPBCZjFBL+zMosJfo/XLCb4PV7G5z0CFBO8lzN6TAIk4F0CFBMU5I5iggKoNOl5AmYxwfMBMYCABCgm+PvCoJjg7/z6ITqKCX7IImMgARLwCgGKCQoyRTFBAVSa9DwBigmBNiz7AAAgAElEQVSeT6GlACgmWMLk2UYUEzybuphxnGJCzKSagZIACbiAAMUEBUmgmKAAKk16ngDFBM+n0FIAFBMsYfJsI4oJnk1dzDhOMSFmUs1ASYAEXECAYoKCJFBMUACVJj1PgGKC51NoKQCKCZYwebYRxQTPpi5mHKeYEDOpZqAkQAIuIEAxQUESKCYogEqTnidAMcHzKbQUAMUES5g824higmdTFzOOU0yImVQzUBIgARcQoJigIAkUExRApUnPE6CY4PkUWgqAYoIlTJ5tRDHBs6mLGccpJsRMqhkoCZCACwhQTFCQBIoJCqDSpOcJUEzwfAotBUAxwRImzzaimODZ1MWM4xQTYibVDJQESMAFBCgmKEgCxQQFUGnS8wQoJng+hZYCoJhgCZNnG1FM8GzqYsZxigkxk2oGSgIk4AICFBMUJIFiggKoNOl5AiImXHHFFViwYIHnY2EAwQlMmTIFZ86cwS233BITmAYPHgy552fLli0m4l21ahVy5cqFEiVKKI+3Q4cOKF68uPJ+2IG/COzfvx/Dhw/H7t27/RUYoyEBEiABFxKgmKAgKRQTFEClSc8TOH/+PGTg9d1333k+FgYQnEBycjJ++eUXxMXFxQSmkydP4uzZszERqwQpn2P5p/pITU3VumjWrJnqrmjfZwTk+rz33nvxyCOP+CwyhkMCJEAC7iNAMUFBTigmKIBKkyRAAiRAAjFDoHLlyti6dSt0USFmAmegJEACJEACJOAhAhQTFCSLYoICqDRJAiRAAiQQMwQoJsRMqhkoCZAACZCAhwlQTFCQPIoJCqDSJAmQAAmQQMwQoJgQM6lmoCRAAiRAAh4mQDFBQfIoJiiASpMkQAIkQAIxQ4BiQsykmoGSAAmQAAl4mADFBAXJo5igACpNkgAJkAAJxAwBigkxk2oGSgIkQAIk4GECFBMUJI9iggKoNEkCJEACJBAzBCgmxEyqGSgJkAAJkICHCVBMUJA8igkKoNIkCZAACZBAzBCgmBAzqWagJEACJEACHiZAMUFB8igmKIBKkyRAAiRAAjFDgGJCzKSagZIACZAACXiYAMUEBcmjmKAAKk2SAAmQAAnEDAGKCTGTagZKAiRAAiTgYQIUExQkj2KCAqg0SQIkQAIkEDMEKCbETKoZKAmQAAmQgIcJUExQkDyKCQqg0iQJkAAJkICvCaxatQoNGjTQYjSLCUlJSYiPj/d1/AyOBEiABEiABLxGgGKCgoxRTFAAlSZJgARIgAR8TSB79uw4d+4cOnfujHXr1mHr1q3Yu3cvrrrqKqSkpODzzz/HHXfc4WsGDI4ESIAESIAEvESAYoKCbFFMUACVJkmABEiABHxNoHXr1vj4448DxpgtWzZNaOBBAiRAAiRAAiTgHgIUExTkgmKCAqg0SQIkQAIk4HsCcXFxAWOcNGkSevXq5fv4GSAJkAAJkAAJeIkAxQQF2aKYoAAqTZIACZAACfieQKDqBFYl+D7tDJAESIAESMCjBCgmKEgcxQQFUGmSBEiABEggJgiYqxNYlRATaWeQJEACJEACHiRAMUFB0igmKIBKkyRAAiRAAjFBwFidwKqEmEg5gyQBEiABEvAoAYoJChJHMUEBVJokARIgARKIGQJ6dQKrEmIm5QyUBEiABEjAgwQoJihIGsUEBVCjbPJ8aiqyBVkYLMqusXsSIAES8B2Bxo0bY/Xq1Th79qzvYmNAJEACJOBWAvy+69bMuNcvigkKckMxQQHUKJhcvH43dh04jn2HkpEK4FjyP1Hwgl2SAAmQQGwSuDx/dvx9jGJCbGafUZMACUSDQMG8OXEeqShZJC/Kl8iPO+qUjYYb7NNDBCgmKEgWxQQFUB00+fOuw3gz4X+oW6M88ufJicsL5kG+PDkd9IBdkQAJkAAJkAAJkAAJkIDzBI6dSMGhxBM4lpyCr7fsxiMtq6FKuULOO8IePUGAYoKCNFFMUADVIZNbth3CFxv3okXDash+STaHemU3JEACJEACJEACJEACJOAuAmfPnkPCyv+h+Y1lcN2VRdzlHL1xBQGKCQrSQDFBAVQHTP606zA+W/877rn1Ogd6YxckQAIkQAIkQAIkQAIk4H4CC77agpZ1y7FCwf2pctxDigkKkFNMUADVAZOPv7YS3e+7hRUJDrBmFyRAAiRAAiRAAiRAAt4gcObsOUxbsB7j+jTwhsP00jECFBMUoO7YsSNmz56Nd999F/IzD/cTWLxhD06cjsN1V5d0v7P0kARIgARIgARIgARIgAQcJLBl6x8okBNociMXZXQQu+u7opigIEU9e/bElClT8NJLL2HAgAEKeqBJuwm8sfBHlC9dFBVKFbbbNO2RAAmQAAmQAAmQAAmQgKcJ7Nh7CHv2/Y3ud1fzdBx03l4CFBPs5alZe+655zBq1Cg88sgjmDp1qoIeaNJuAoPeWofWt13HXRvsBkt7JEACJEACJEACJEACnicguzwsXPoDRj58s+djYQD2EaCYYB/LdEszZsxAly5dcNttt+Grr75S0ANN2kngfGoqBk9bj84tb7TTLG2RAAn4mMDr457Ha2OGZYjwsQHD0OuJQRle27l9Kx7vfj9+/WlLUBrvJ6xErRvrXvR+oHPrN26Ksa/PQsFCaVVUiUcOo3+vjli9/Au07/QInh3+CnLmyqW9l3LqFEYNfRIfvPum9rvZP6P9QL5bSZ8VH812Ej56D/17dQrJLlj/gdgHamtmZSUeO9ro/pnzYYdtu23ovkaLld3x0B4JkIBaAu988i1GdK2DbHFxajuidc8QoJigIFU//fQTqlWrhnLlymHXrl0KeqBJM4GZM2eiVatWiI+PjwhOn/Er0Pf++hGdy5NIgARih0AocaBy1ep4dep7qHBlJQ1KqPY6ubGvv4uWbe5PBxlqwKwLEEbBwDwgNPdtHtx+981a/KdlQ61Pc/9WMmrVR92WUfjIyuA/VL+67WgNkCkmWLl62IYESMCLBCa8txoT+zXyouv0WREBigkKwJ4/fx558+bFqVOnsHLlSjRowJVPFWDOYFLEhH79+uHxxx/HY489FraoQDFBdYZonwS8T8CqMGActFs9xzjwtXKOsb0+eDULGeYKgGDvm1+3kqlwfRSbgSoSzH1ZqZCgmGAlQ9basDLBGie2IgESSCNAMYFXgpkAxQRF10SPHj209RKkOuHnn39Grn/LThV1R7OAxnrPnj2akBCuqEAxgZcQCZBAKALGQaz5Kb95cK1XDhhfNz/9N09D0M8xDrqN5wRrb6wwME6ZCDToDvR+JE/ww/XR6Htm1RuR+BJqQByoIiKzXEhu/9PpETz9WNf06SnhVG5EUplgFlqMooqRnVlsMb6XWeWJXNuBpl2EYhfqM8H3SYAEYosAxYTYyreVaCkmWKEUQZt9+/bhmmuuwbFjx/DAAw/gzTffpKAQAcdwTpHqhIceeij9lHBEBYoJ4ZBmWxKIPQKZrU2g05BB/fCBfYNOcwg0IA0kBOgDy0AVA4HEiUBrHxj9HTh8LNas+EJbV0EfjBrft1INYM54uD5mNugV25nZC3W1ZTYgNvI12zEOrs1CTaA+rXIKR0zIrF+jsKLzyWwqSyghSWIyX1MUE0JdXXyfBEjASIBiAq8HMwGKCQqviaVLl6Jp06aQaQ9ly5aFLMzYuHFjhT3StF6dYCRhRVSgmMBrhwRIIDMCmVUYRHpesEqDUGsdmPsLNFDfv+/39IUfZZC5fs1ybcFIfQBtfD+cp+563+H6aBQMdBuR9BuIdbABsVEwMQ7CA60VEWyxyswqKoLlPRwxIZCIYvRbZ2TkbRQNAokMgQSqYNUNFBN43yMBEgiHAMWEcGjFRluKCYrzvHjxYrRv3x5Hjx7VemrYsCGuvvpqlC9fXivLL1asGFJTU7X35H/9Xzi/h9M2q32Zz3db35s2bcLChQsDZjUzUYFiguIPAs2TgMcJBJtKECosK2sLiA3zE+fM1hcINAg3DwpXL1+i7Zig29V/159MJx45pC2+GMl6CXrM4fqY2VP4rPgRbECcWc7M5+TKlTt954vMnv5bEUCsigmZTV/Q2erijzDXd+bQKyRCCQTBpj0EWm8jkukloa59vk8CJOA/AhQT/JfTrEZEMSGrBC2cv3v3brz66quYPn06kpOTLZzBJioJSJXIihUrNDFHPygmqCRO2yTgfQKqxYRA20NmJkRktpjiS69Nx/vvvqltCakPPM1PtvVKhawOIsPx0YoIEcl2isHEhMyeupsrAkqULJM+WM9si02dZ6D1KHShwaqYEGp3C7PIZK5CEEFI33Y00O4ewT51xmuHlQnevzcxAhJwkgDFBCdpe6MvigkO52nDhg1Yt24dduzYgf379+Pw4cOaB3Fxcen/wvk9nLbSh53t7bQVrm/B+v7hhx+QkJAQMKsFChTQFmaUf+YtJCkmOPxBYHck4DECkW6jGKoyIZzBvHkAG2zXCOMaCfoA1/gUu1vP/khOPqaJDZEM3jNLXWY+BjrPyuKIoS6VSMQEszhU9dqaFz351/sNNI1k+pRXtGkjxkOFmGAc+JsFoX1792SoPilYqDCsrP0gPuviA8WEUFcX3ycBEjASoJjA68FMgGICrwlfEQi0ZkJmIoIePMUEX10GDIYEbCdgZQFGfbA3dPQE1LqxruZDuGsthFqoUGwGmicfaFAebLG9eo2a4NDfB7WdCqyU7ZthRuKj8Sl6oD4zK/kPlcxIxAS3VSZYWdwxmCAUbOcHK0IRxYRQVxffJwESoJjAayAzAhQTeH34hoB5NwcrIgLFBN+kn4GQgHIC4WwNGWjhPKsDd2M/5kFmsEUFAz2RNlc9BNrZIND0Cisgw/VRbPbv1VHbUUIOc79G36wMrI0++mHNBCsDf6OQZIzfzDIcgSCctlauC7YhARLwNwFWJvg7v5FERzEhEmo8x5UE9KqEcEQEigmuTCWdIgFXEgg1ZUF32jiID7cyQWxktp2hEYx5AGpeENE8KDf7H84UC3NCIvEx0DoDgRJtVXTRz3Xrbg6ZXcR67r5Y9LE2VeH/2TsTeJuq9o//TLnm4XIR6UqGRJrMqUh4FSoVJVIpSSl/QyFTEqH0iuZB5OVmVpQGKvNVbySzRJJ5Hq4h9/4/a993H/scZ9jn7LXX3mef3/58+uTus9bzPOv7rL3P3r+zBnHo7Q43CiZwBEqwHAYTZoxiExdgdOXthUGRQFwQoJgQF2lSGiTFBKW46cwuAmJUgr4eQrA1ESL55TSHSIT4OQmQgCAQSVAInFoQi5gg/ITbKUF8Hmz3g8AX/MCX8sDRC2Z/DQ+V+WhjNDOfP5aYwv26Hk70MPoyE5vZERNmRJNguzQEcg61w0W4USGBAkuw3BlHMnBkAu9rJEAC0RCgmBANrcQoSzEhMfLs+VaK7SBvvfXWixZWNNtwiglmSbEcCZCAIBDshTHYy2asYkI44SLUS63xV2srL6LRZDiUuBLuxTuUCGF1ykWokRbBhIJwQot40X+g4xN4/tnHtHUlxBHNaIloxISkfPk0+4F1wo0aMbuzSCDnYH2CYkI0vZ1lSYAEKCawDwQSoJjAPkECACgmsBuQAAmQQOISMLOoZOLSYctJgARIIJsAxQT2BIoJ7AMkEIQAxQR2CxIgARJIXAIUExI392w5CZCAeQIUE8yzSpSSHJmQKJlmO8MSoJjADkICJJDIBCKtf2BkY3btgHjiSTEhnrLFWEmABJwiQDHBKfLu9Usxwb25YWQKCVBMUAibrkiABFxHgGJCBl4Z1BNTJ76HWBaBdF1CGRAJkAAJ2ECAYoINUOPcJMWEOE8gw5dDgGKCHI60QgIkQAIkQAIkQAIk4E0CFBO8mVcrraKYYIUe63qGAMUEz6SSDSEBEiABEiABEiABErCBAMUEG6DGuUmKCXGewGjDz8zMRM6cOaOt5mj58+fPI1euXLbGQDHBVrw0TgIkQAIkQAIkQAIkEOcEKCbEeQJtCJ9igg1Q3WRyZfoqrF+/AZs2r8OWLVuRP39ubN6y200hRoylcqUyOHXqH1SqdCWqVL4aV19dDbVr3RixXjQFKCZEQ4tlSYAESIAESIAESIAEEo0AxYREy3jk9lJMiMwobksMHTYESUn7UbDgaVSpXBCVKhXGZeUKxGV7dv51Elu2HMOmzSdw4ngSzp4rhf59B0hrC8UEaShpiARIgASwbesmPNflQWxct0ajMWXuD7ihdoOLyASWC4YusO7P6UvxQKtbwtplCkiABEiABOQToJggn2m8W6SYEO8ZDBL/tm2/o3OXJ9Hj2avQ8s6yHmwhMGfuX3hz/Ga8/+47qJBawXIbKSZYRkgDJEACJOAjELg7RKjtJM2ICcLo6PET0arNg5p9ignsaCRAAiTgDAGKCc5wd7NXigluzk4MsW3blo4xb7yG4a/UQMGCeWKwED9Vjh07h34v/oqe/9cbFVJrWQqcYoIlfKxMAiRAAj4CpzMubLOon6x6dU288e5/cMWVVfxImRUTGjZqitHjJ6FY8WSKCexrJEACJOAQAYoJDoF3sVuKCS5OTiyhNb79dsyddYvnhQSdzdGjZ3Fv26X45quvYsHlq0MxwRI+ViYBEiABHwGjQND5qV5Y8sM32nQH4+gCvbCxbODngaKEPt0h1MiEw4cOole3Dli86GtfLEYRgikiARIgARKwRoBigjV+XqxNMcFDWR06bACurXkYLe+8zEOtityU2XN2Yv2Gkuj3wqDIhUOUoJgQMzpWJAESIAE/AvoUB/EiP+y19/DWG69g6sT30K7jE+g35DUk5csXVHgIJjYEEw6CnQs3wiHUqAimjQRIgARIIDoCFBOi45UIpSkmeCTLYteGHxd/it49L/VIi6JrxqujdqFxo4dR68Yboqv4v9IUE2LCxkokQAIk4EfAODpAXydBFxeCvdTLGpkw/vWX8e+Rg2EciRAsFqaLBEiABEggdgIUE2Jn59WaFBM8ktmPJ0zE6TPL0LWL9cUI4xHJW2//gfwFbkKnjg/FFD7FhJiwsRIJkAAJ+BGINGogcCFGWWsm6GKCCCbUzhFMFQmQAAmQgDUCFBOs8fNibYoJHsnqC/36oentp9C4URmPtCi6Zny3cDe+/S4/hg97JbqK/ytNMSEmbKxEAiRAAn4Ego0QEAVCnTcrJhgFgmCCReDuEXpQoXaRYNpIgARIgASiJ0AxIXpmXq9BMcEjGW5z3714Y0w1XFaugEdaFF0zdv51Es/1WI8Z06ZHV5FiQky8WIkESIAEAgkEWwAxGCWjMBBJTAi2gGKoBRiNoxMC/QZbj4EZJAESIAESiI4AxYToeCVCaYoJHshyZmYmHn6kLSZ9cqMHWhN7Ezo8/DMmfDQFuXLlitoIRyZEjYwVSIAESMCPgPElPxwa40KM4dZMCGUjlJiglw8WB3d1YGclARIgAesEKCZYZ+g1CxQTPJLROvVvxspld3ikNbE1o079eVi57MeYKlNMiAkbK5EACZCAj0C4kQFGTMaFGO0QE4y+wi3+yNSRAAmQAAlER4BiQnS8EqE0xQSPZJliAkAxwSOdmc0gARKIOwJGUSDUOgXGEQP6tAMZYsLVNa7HK4N6attPBo5ACLVWQ9wBZsAkQAIk4AICFBNckASXhUAxwWUJiTUcigkUE2LtO6xHAiRAAlYJGBdADLWbgnFNBf2l//ChA3iuy4PYuG4NzK5rEGnHiGBtMWvbKgfWJwESIAEvE6CY4OXsxtY2igmxcXNdLYoJsYsJmVlZGPxhOjq0TOw1J1zXqRkQCZBAXBA4nZERcmRAYAMCt3AsVryEFDFB+Am2AKRxSkVcwGSQJEACJOBiApPmrsLgznWQM0cOF0fJ0FQSoJigkraNvigmxC4miLQMeH857rrtGhQukGRjlmiaBEiABEiABEiABEiABOKPwLETpzF70a8Y2rle/AXPiG0jQDHBNrRqDVNMsCYmvD17La64rBSuKJesNnH0RgIkQAIkQAIkQAIkQAIuJ/D7zgPYsWs/urSu7vJIGZ5KAhQTVNK20RfFBGtiwoKV23HsTE5cW6WsjVmiaRIgARIgARIgARIgARKIPwK/bPgLRfMDTWtfHn/BM2LbCFBMsA2tWsMUE6yJCSJbPcb+iCfa1EXu3LnUJo/eSIAESIAESIAESIAESMClBM6e+wcfzU7Ha083dGmEDMspAhQTnCIv2S/FBOtiwvo/DuKL5Ttw9201JWeH5kiABEiABEiABEiABEggPglM/2Y17m5YAVUvLx6fDWDUthGgmGAbWrWGKSZYFxNExtb+ni0otG5UHXk4QkFtJ6Y3EiABEiABEiABEiAB1xAQIxLmfr8OLRtcjuoVuK6YaxLjokAoJrgoGVZCoZggR0wQOdi44xDem/sb6l5zuba7Q8niBbnLg5XOybokQAIkQAIkQAIkQAJxQUDs2rD/8AmI/6/87U880ao6qpQvFhexM0j1BCgmqGdui0eKCfLEBD1BC9J34I+/j+Ov/ceRBeDYiTO25I5GSYAESIAE/Al8/n5f/P37anQZ8SXRkAAJkAAJKCJQrFASspCFsiUL4YoyhdG0dnlFnq27mTwZ2LYNGDAgvC2z5QKtbNoEtG0LrFkDLFkCNGhgPeZgFoYOBa64Amjf3h77sq1STJBN1CF7FBPkiwnGVGZmZSFnjhwOZZduSYAESCCxCBQsWBAnT55EVpaQcnmQAAmQAAmoIBDPz7tmRQKz5QJ5L10KLFwYWaywmieKCVYJsn5MBCgm2CsmxJQUViIBEiABEoiJAMWEmLCxEgmQAAkkLAGjSCBe/MeNy0YxdSpQsyaQlgYcOADcdFP2+ZdeyhYGRFn9XJcuwJgxQL58gHipX7cuu97AgdnlxaGXmTkTeOih7HO6/SpVsv8WseifffrphVEGwqawJQ7jeWPSjGLCwYPZdRcsuBBzr15Ajx5Ahw4XRkeIOo0bZ/9tpj2hfMfSeTgyIRZqLqxDMYFiggu7JUMiARIggZgIUEyICRsrkQAJkEDCEggUE4RAIKYjXH999st32bLZ4oGxnJi60L07MHYsUL68fznxgr5r1wVxQbykT5qU/fd//5stNghbycnZ/xaHLk7o5U6dAp5+Ghg8GPjpJ2Dx4uz6f/6ZPWVi/PiLp0voYsI992TH07BhtqBgjFXY0qd0CMGhf39g2LBsscRse2R1FIoJskg6bIdiAsUEh7sg3ZMACZCANAIUE6ShpCESIAESSAgCgWKC8WXf+Fngv/UXfDEawSgYjB59QSAQ/zJ+JsoaD6PNYNMUMjL8hQFRN9R0hlDnhWigCxOi/ocfAkOGZAsb+vQLEYfZ9sjqFBQTZJF02A7FBIoJDndBuicBEiABaQQoJkhDSUMkQAIkkBAEAsUEfXSAePEPJybo0xF0SM2aZZd/6y3/hRCNYoIoK0YNvPvuBbRiGoQ+BUEfTaB/qosJxvLiM32qhTFBRjHBOGVBlNGnU4hRFIMGAY89Bnz22YUpDsbpFZHaI6tTUEyQRdJhOxQTKCY43AXpngRIgASkEaCYIA0lDZEACZBAQhCIVUwItQNE4AgBo5gg1kswjgAwOzLBuM5BqKTofps3z57eIKZOiLUQjCMTxNoMwue+fdnTH8QUBzHdItziknYt7EgxwSOXF8UEigke6cpsBgmQAAmAYgI7AQmQAAmQQDQEYhETjOsQiBd04zoJYpqDcYvGUGKCWBdBvPSLF359TQZdaNA/E+e3b78gQOjnhbgQuAVkKDFBtG/UqOwFIUWs+laVbdpc2GEimvZEwzZcWYoJskg6bIdiAsUEh7sg3ZMACZCANAIUE6ShpCESIAESSAgCZsUEfepAsN0c9CkO+qKKocQEXQwQuyyIOl27Al9+6b8TRLBdG4y7OQSb4iASZRxBYJy2IKZIiPUR9NEN+tSJwNEOxqkR4dojq1NQTJBF0mE7FBMoJjjcBemeBEiABKQRoJggDSUNkQAJkAAJeJCAGIUgdokQW2AK8cOpg2KCU+Ql+6WYQDFBcpeiORIgARJwjADFBMfQ0zEJkAAJkIDLCeijD8TWl2J6hZMHxQQn6Uv0TTGBYoLE7kRTJEACJOAoAYoJjuKncxIgARIgARIwRYBigilM7i9EMYFigvt7KSMkARIgAXMEKCaY48RSJEACJEACJOAkAYoJTtKX6JtiAsUEid2JpkiABEjAUQIUExzFT+ckQAIkQAIkYIoAxQRTmNxfiGICxQT391JGSAIkQALmCFBMMMeJpUiABEiABEjASQIUE5ykL9E3xQSKCRK7E02RAAmQgKMEKCY4ip/OSYAESIAESMAUAYoJpjC5vxDFBIoJ7u+ljJAESIAEzBGgmGCOE0uRAAmQAAmQgJMEKCY4SV+ib4oJFBMkdieaIgESIAFHCVBMcBQ/nZMACZAACZCAKQIUE0xhcn8higkUE9zfSxkhCZAACZgjQDHBHCeWIgESIAESIAEnCVBMcJK+RN8UEygmSOxONEUCJEACjhKgmOAofjonARIgARIgAVMEKCaYwuT+QhQTKCa4v5cyQhIgARIwR4BigjlOLEUCJEACJEACThKgmOAkfYm+KSZQTJDYnWiKBEiABBwlQDHBUfx0TgIkQAIkQAKmCFBMMIXJ/YUoJlBMcH8vZYQkQAIkYI4AxQRznFiKBEiABEiABJwkQDHBSfoSfVNMoJggsTvRFAmQAAk4SoBigqP46ZwESIAESIAETBGgmGAKk/sLUUxwj5hw/vx55MqVS+s0zz77LP766y/88MMPWLNmDUaPHo033nhD+0z8X3wujh49evA8ObA/8LrgfYD3Ad4HeB/gfYD3gbi7D3Tt2hVbt25FgQIFMGLECFStWtX9L0+MUAoBiglSMDpvhGKCs2KCEBAmTpyo/TdmzBhce+21WqdYvHgxSpUqheTkZO0/HiRAAiRAApEJcGRCZEYsQQIkQAJuIXDixAns3LkTmzdvRvXq1VGxYkUttAT9ub0AACAASURBVD59+qBatWro2LEjcubM6ZZwGYdEAhQTJMJ00hTFBGfFhJYtW2oCwm233YZbb73Vya5A3yRAAiQQ9wQoJsR9CtkAEiABEsDatWuRlpaG4cOH4++//9Z+YOPhLQIUEzyST4oJ6sWE6dOn49577/VID2IzSIAESMA9BCgmuCcXjIQESIAEZBA4cuQIihYtqokKl156qQyTtOECAhQTXJAEGSFQTFAnJoj1DwYNGoR+/fqhadOmMtJHGyRAAiRAAgYCFBPYHUiABEjAmwT279+Pq666CjNmzMAtt9zizUYmUKsoJngk2RQT1IkJd999t7Y2QqFChTzSe9gMEiABEnAXAYoJ7soHoyEBEiABmQQOHjyIRx55BK+88oq2xgKP+CVAMSF+c+cXOcUEdWKCR7oMm0ECJEACriVAMcG1qWFgJEACJCCNwKZNm1ClShVp9mhIPQGKCeqZ2+KRYoK9YkL37t0xduxYW3JHoyRAAiRAAv4EKCawR5AACZBAYhA4c+YMdu/ejdTU1MRosMdaSTHBIwmlmGCfmNCzZ0+0bdsWtWvX9khvYTNIgARIwN0EKCa4Oz+MjgRIgARkEkhPT8cLL7yAhQsXyjRLWwoIUExQAFmFC4oJ9ogJQ4YMQcOGDdG4cWMVabTNxz///IPz58/bZp+GYyfA3MTOTmVN5kklbWi/UJ06dUrbt5yHtwjkypULuXPn9lajPNga5klOUt3IMW/evHIaJ9nKnDlz8PHHH2P27NmSLdOcnQQoJthJV6Ftign2iAkKU2ibqxMnTuD222/HL7/8YpsPGo6dwNmzZ5GVlRW7AdYkARIgARIgARJwJYEcOXLgkksucU1smZmZmD9/Ppo0aeKamIyBCBFZ/PjFRc5dmZ6gQVFMiJ9chY2UYgLFhFAdZO/evahZsyb27Nnjkd7unWasW7dOm0Lz22+/eadRHmwJ86Q+qfyFSj1zVR5LliyJDRs2oESJEqpc0k8MBC677DIsX74c5cqVi6E2q+gEKlSogEWLFrlmPQAx4lb8gDF48GAmiQSkEKCYIAWj80YoJsgVE66//nr8+OOPEPN24/2gmODeDPIl1b25MUbGPKnPE8UE9cxVeaSYoIq0NT8UE6zxo5gQO7/Tp09j8uTJeOyxx2I3wprKCFBMUIbaXkcUE+SJCSNGjECxYsXQpUsXe5OmyDrFBEWgY3DDl9QYoDlQhXlSD51ignrmqjxSTFBF2pofignW+FFMsMbv9ddfx8mTJzFgwABrhljbdgIUE2xHrMYBxQQ5YsLRo0fRqVMnzJo1S03iFHihmKAAcowu+JIaIzjF1ZgnxcABUExQz1yVR4oJqkhb80MxwRo/ignW+RUtWhQ7duxAkSJFrBujBdsIUEywDa1awxQT5IgJarOmxhvFBDWcY/HCl9RYqKmvwzypZ04xQT1zVR4pJqgibc0PxQRr/CgmWOe3b98+nDlzBqIv8nAvAYoJ7s1NVJFRTKCYEKrDUEyI6lJSWpgvqUpxx+yMeYoZXcwVKSbEjM71FSkmuD5FWoAUE+TkiQswyuFIK+4lQDHBvbmJKjKKCdbFhFWrVmH//v1o0aJFVOzdXphignszxJdU9+bGGBnzpD5PFBPUM1flkWKCKtLW/FBMsMZPr00xQQ5HWnEvAYoJ7s1NVJFRTLAuJtx2220YOHAgbrnllqjYu70wxQT3Zogvqe7NDcUEZ3NDMcFZ/nZ6p5hgJ115tikmyGFJMcEax++++w7Dhw/Ht99+a80Qa9tGgGKCbWjVGqaYYE1MECvGlipVCidOnFCbOAXeKCYogByjC4oJMYJTXI15UgycCzCqB67QI8UEhbAtuKKYYAGeoSrFBOscmzVrhhkzZnhiu3brNNxngWKC+3ISU0QUE6yJCZs2bcLatWtx7733xsTfzZUoJrg3O3xJdW9ujJExT+rzxJEJ6pmr8kgxQRVpa34oJljjp9emmGCdY6tWrfDUU0+hefPm1o3RgnQCFBOkI3XGIMUEa2KCM1lT45VighrOsXjhS2os1NTXYZ7UM6eYoJ65Ko8UE1SRtuaHYoI1fhQT5PCjFfcToJjg/hyZipBiAsWEUB2FYoKpS8iRQnxJdQR71E6Zp6iRWa4wb948TJs2DRMmTLBsiwbcRYBigrvyESoaigly8uSGkQk7duzA5ZdfrjVoyJAhyMrKwuDBg7W/jZ/JaTGtJBoBigkeyTjFBGtiwujRo9GxY0ekpKR4pEdcaAbFBPemlC+p7s2NMTLmSX2eODJBPXNVHikmqCJtzQ/FBGv89NpuEBNq1KihCQjjx4/H999/r/27UaNG6NatG3LkyKFN83XzIeLNyMhA/vz53RxmwsZGMcEjqaeYYE1MqFKlClauXImiRYt6pEdQTIiHRPIlNR6yBDBP6vNEMUE9c1UeKSaoIm3ND8UEa/zcJCZ88sknePLJJ5GUlKT9J47Tp09r/7399tvo1KmTnMbaZEVs23711Vdj3759NnmgWSsEKCZYoeeiuhQTrIkJefLk0VTP3LlzuyirckLhyAQ5HO2wwpdUO6jKt8k8yWcaySLFhEiE4vdzignxkTuKCXLy5IaRCaIl4ro7cOCAX6OSk5MvOien1XKt/PPPP7j22mvx22+/yTVMa1IIUEyQgtF5IxQTrIkJaWlpaNu2rfOJtCECigk2QJVkki+pkkDabIZ5shlwEPMUE9QzV+WRYoIq0tb8UEywxk+v7RYxQYxOENMaxFbo4ihQoADGjRvn+lEJOkfxjC6e1Xm4jwDFBPflJKaIKCZYExNigh4nlSgmuDdRfEl1b26MkTFP6vNEMUE9c1UeKSaoIm3ND8UEa/zcJiaIeIyjE+JlVIKcLNCKnQQoJthJV6FtigkUE0J1N4oJCi/EKF3xJTVKYA4VZ57Ug6eYoJ65Ko8UE1SRtuaHYoI1fm4UE/TRCSK2eBqVICcTtGIXAYoJdpFVbJdigjUx4YEHHsCUKVMUZ02NO4oJajjH4oUvqbFQU1+HeVLPnGKCeuaqPFJMUEXamh+KCdb4uVFMEDEVL15cC+3QoUNyGqjIyqZNmyAWS+fhPgIUE9yXk5giophgTUwQW+OIrWe8eFBMcG9W+ZLq3twYI2Oe1OeJYoJ65qo8UkxQRdqaH4oJ1vjJEhPEs6l4RpV1LF26FJmZmWjYsKEsk9rzs8wYgwXm5ed0aYlwyBDFBIfAy3ZLMYFiQqg+RTFB9tUmzx5fUuWxtNMS82Qn3eC2KSaoZ67KI8UEVaSt+aGYYI2fFTHhv5v3Yc3WA/hr3wkk5c2DP/cclROMTVYuL10EGWfO4bKUQriuUgnUrFRSuieKCdKRSjNIMUEaSmcNUUywJiZwNwdn+2+ieudLanxknnlSnyeKCeqZq/JIMUEVaWt+KCZY4xermPDhF+uQI2dulEwujJJFCyC5aAE5gdhs5eCRk9h/+CT2HTqGHFnn8egd1aR6vOqqq7BhwwapNmlMDgGKCXI4Om6FYoI1McHxBNoYAEcm2AjXomm+pFoEqKg686QItMENxQT1zFV5pJigirQ1PxQTrPGLRUz497Q1qFg+BVVSU+Q4d8jK+j/24s9dB/BMm2scioBuVRKgmKCSto2+KCZQTAjVvSgm2HjhWTTNl1SLABVVZ54UgaaYoB60Ax4pJjgAPQaXFBNigBakSoUKFbBo0SKkpqaGNShGJKSUKIaqFUrJceywlfXb9uLQ4SN4pIXcEQoON4vugxCgmOCRbkExwZqYwN0cPHIhxFkz+JIaHwljntTniSMT1DNX5ZFigirS1vxQTLDGT69tRkz4ZdM+/LLtMBpef6Ucpy6x8uNPW3BD5eK4tpL1kRbczcElSaWY4N5EWI2MYoI1McHLC7twZILVq8u++nxJtY+tTMvMk0ya5mxRTDDHKR5LUUyIj6xRTJCTJzNiwkfz1qOkGJUQ59MbAolt2LYXBw8fxSMtrrIM08vP6ZbhOGyAIxMcToAs9xQTKCaE6ksUE2RdZfLt8CVVPlM7LDJPdlANb5NignrmqjxSTFBF2pofignW+Om1zYgJQyek4/Z6VeNmsUWzZMSijN8s34gBnWqbrRKyHMUEywhtM0AxwTa0ag1TTLAmJnA3B7X9ld6yCfAlNT56AvOkPk8UE9QzV+WRYoIq0tb8UEywxs+smJCVlYXXpv6C1o1rynHoMiuzF/6KXu2uhRADrBzczcEKPXvrUkywl68y6xQTrIkJyhLlgCOOTHAAukmXfEk1CcrhYsyT+gRQTFDPXJVHigmqSFvzQzHBGj+zYoIo98yY79H9wYZyHLrMytj/LMabPW51WVQMRyYBigkyaTpoi2ICxYRQ3Y9igoMXZgTXfEl1b26MkTFP6vNEMUE9c1UeKSaoIm3ND8UEa/woJmQToJggpx+52QrFBDdnJ4rYKCZYExO4m0MUnY1FpRHgS6o0lLYaYp5sxRvUOMUE9cxVeaSYoIq0NT8UE6zxsyomzJ3xH/Tq1tEviClzf8CunTvwwVuv4Y13/4MrrqyC8a+/rJV5sFNX9OrWAYsXfe2r067jE6h5XW307dHZz86zfQaj2/+9eFEDA32K+v2GvIav58/CTyuXaP9OypfP57PuTY0wpG93Xyyi/pzpn2L0+EkoVjxZqpjA3Rzk9Ec7rFBMsIOqAzYpJlgTE7y8sAtHJjhwQZp0yZdUk6AcLsY8qU8AxQT1zFV5pJigirQ1PxQTrPGTISYYX+B1e/oLvy4IBIoJT/XojxtqNwgqFOzcsS2oiGC0rfsU514Z1BM31rlJ+ziYmPBY155amVKlL/WJGa3vfQit2jzo8y9rZIKXn9Pl9DTnrFBMcI69VM8UEygmhOpQFBOkXmpSjfElVSpO24wxT7ahDWmYYoJ65qo8UkxQRdqaH4oJ1vjZLSZUvbqmNiLgy7nTNFf6yARZYkJGxiltpIOwJ0ZDBBMTxOiGbVs34eUXn0PVajVx4sQx3+gFvf0UE+T0IzdboZjg5uxEERvFBGtiAndziKKzsag0AnxJlYbSVkPMk614gxqnmKCeuSqPFBNUkbbmh2KCNX4yxATjNIeGjZpq0wcWL1qgvdgXLFgYBQoW9AUZbJrD6PETfaMExIgGMyMTjD6N0xwCp1wYp0qI0RH/HjkYYhpG4KgIWWICd3OQ0x/tsEIxwQ6qDtikmGBNTHAgZcpccmSCMtRRO+JLatTIHKnAPKnHTjFBPXNVHikmqCJtzQ/FBGv8ZIgJoaY5iPMPdHwCzz/7GDauWwPxYi97ZIJYG0E/hBARamSCKPNz+lK8NWaY31oJel1ZYoKcbNCKHQQoJthB1QGbFBMoJoTqdhQTHLggTbrkS6pJUA4XY57UJ4BignrmqjxSTFBF2pofignW+NktJugLI4oRAxQT5OSKVmIjQDEhNm6uq0UxwZqYwN0cXNelEyIgvqTGR5qZJ/V5opignrkqjxQTVJG25odigjV+ZsWErKwsvJa2Gq0bXePnMNxuDvooAX1dg+tr1Q+5m4O+A4PZaQ7hRkME7uag7wgRbmTCnIW/ome7ayEWULRycDcHK/TsrUsxwV6+yqxTTLAmJnh5lViOTFB2GUbtiC+pUSNzpALzpB47xQT1zFV5pJigirQ1PxQTrPEzKyaIci9PSEeTelWRXLSAHKcusXLgyEksXLEJ/R+uZTkiLz+nW4bjsAGKCQ4nQJZ7igkUE0L1JYoJsq4y+Xb4kiqfqR0WmSc7qIa3STFBPXNVHikmqCJtzQ/FBGv8ohETJszfgOTiRVG1QoocpxGsiJEED7S6xa+Uvtiica0Eq8Fs2LYXR44eRcfmV1k1pY1sEKM4eLiPAMUE9+UkpogoJlgTE7ibQ0zdjpUsEuBLqkWAiqozT4pAG9xQTFDPXJVHigmqSFvzQzHBGr9oxITVW/bjv1sOoeENV8px6hIrP/68FbWrJKNGxRKWI+JuDpYR2maAYoJtaNUapphgTUxQmy213jgyQS3vaLzxJTUaWs6VZZ7Us6eYoJ65Ko8UE1SRtuaHYoI1ftGICaLsx/PWo4QYnXBFKTmOHbaybuseHD12DA//y/qoBIebQvcRCFBM8EgXoZhAMSFUV6aY4N6LnC+p7s2NMTLmSX2eKCaoZ67KI8UEVaSt+aGYYI1ftGKCKP/m9F9Rvmwyql1RWo5zh6wIIeGvvQfx9D3+i0o6FA7d2kyAYoLNgFWZp5hgTUzgbg6qeir98CU1/voAxQT1OaOYoJ65Ko8UE1SRtuaHYoI1frGICaLOx/PX43xWLqQUL4SU4gXjZlFGsdji/kMnsPfgMeTJlYVOkkckcDcHOf3RDisUE+yg6oBNignWxAQvL+zCkQkOXJAmXfIl1SQoh4sxT+oTQDFBPXNVHikmqCJtzQ/FBGv8YhUTRL01W/dj9ZYD2LnvOJIuyY0de47JCcYmK5eXLoLTZ//BZSkFcV3lkrhGwhoJgaF6+TndprQoM0sxQRlqex1RTKCYEKqHUUyw99qzYp0vqVboqavLPKljrXuimKCeuSqPFBNUkbbmh2KCNX5WxASjZ7GDgXiRlnU8+eSTuO6669ClSxdZJrVdFmTGGCwwignS0iXdEMUE6UidMUgxwZqYwN0cnOm3ie6VL6nx0QOYJ/V5opignrkqjxQTVJG25odigjV+ssQEOVFcsPLUU0+hRo0a6Nq1q2zTttrjbg624rVknGKCJXzuqUwxwZqY4J5Myo+EIxPkM5VlkS+pskjaa4d5spdvMOsUE9QzV+WRYoIq0tb8UEywxs+tYsLTTz8N8WLerVs3OQ2klYQnQDHBI12AYgLFhFBdmWKCey9yvqS6NzfGyJgn9XmimKCeuSqPFBNUkbbmh2KCNX5uFROeeeYZVKlSBUJU4EECMghQTJBB0QU2KCZYExO4m4MLOnEChsCX1PhIOvOkPk8UE9QzV+WRYoIq0tb8UEywxs+tYsKzzz6LihUronv37nIaqMgKd3NQBDoGNxQTYoDmxioUE6yJCV5b2OXMmTPImzev1lU5MsFdV+yJEydQsGBBLSi+pLorN8ZomCf1uTl8+DCKFSumOQ4UE/755x/kzp1bfVD0KJ1AoJhw9uxZXHLJJdL90KA1AoFiwunTp5GUlGTNaILU3rZtG6644gqttRUqVMCiRYuQmpoK8WyWkZGBokWLKiWxceNGVK1aVfP53HPPaTEJUUEca9eu1dZQcPvhted0t/OOJj6KCdHQcnFZigkUE4zd85NPPkHv3r3x9ttv46abbkLNmjWxZ88ejB8/HoMGDcK8efNQp04dF/do74Y2evRovPnmm3jnnXdQvnx5tG3bFr/99hteeukljBs3Dt9//z2qVavmXQBx0jLmSX2iHnnkEfz88894//33tfvVxx9/DLE47gsvvIBZs2bhp59+QokSJdQHRo+WCKxYsQJ33HEHXn75ZW3RN11MEC9YYjG4N954A+3bt7fkg5WtExDXXrNmzbRnBDEUXhcTVq1apeVN5K9z587WHXncgviRoF69erj11lsxatQoNG/eHF999ZX2nT927Fjt+1/0e5WHEDZy5cqF119/XRM2RG6LFCmiCQrVq1fH8uXLVYYTky+KCTFhU1KJYoISzPY7oZhgTUzw2m4OQv3Onz+/9iuC+MI4deoUMjMztf8KFCigjVbg4QyBXbt2aUMMRR7ErxPiV4oDBw5owVSuXFkTFng4T4B5Up+DH374AS1atNBGIJQqVUp7+N26dau25VirVq0wffp09UHRoxQCQkAQ9zqRU/E9JEZnHTt2DOLXbvF9xVEnUjBbNnLppZdqeRGHGC0iniGOHj2Kc+fO4dChQ75RdZYdedxA/fr1tRd08fyVJ08eiFFXoo+Lvi9G4qg+PvjgA21ag3guFDGIfIojZ86cmDlzJm677TbVIUXtj7s5RI1MWQWKCcpQ2+uIYoI1McHe7DhjvUePHtrIBPGgph/ii+TDDz9Eu3btnAmKXjUCgr8QsIyHEBamTZuGJk2akJJLCDBP6hMh9j9fvXq1n2Px4imG4ophwjzik8DkyZO1fe1Pnjzpa4CYiicWgROjgHi4g8CMGTPQsWNH7QcI/RCCghiRIH5R52GOgBjlIUYmiOly+iHEmRdffBEDBgwwZ0RyqeTkZE0QMh5iVIK4t/IgASsEKCZYoeeiuhQTKCYEdkchIohfv8+fP+/7qHTp0ti9e7eLem5ihiJ+9RajEIwPbPxSd19fYJ7U50SMTmjdurX2a6h+tGnThqMS1KdCukcx2mTfvn0+u+JXUY5KkI7ZssFy5cpB3PuML8EHDx7kqIQoyeqjE/RqYoSCE6MSdP8TJkzQxDtd0BPr00yZMkWb2sKDBKwQoJhghZ6L6lJMsCYmeHU3B+PoBI5KcNEFGzA6gaMS3JUbYzTG0QnMk5o8GUcncFSCGuYqvBhHJ3BUggrisfkwjk7gqITYGIpaxtEJTo9K0FuRkpKC/fv3a3+KaQPr16+PvYGKa3I3B8XAo3BHMSEKWG4uSjHBmpjg1YVdjKMTOCrBXVew8VdvjkpwV26M0TBP6nNjHJ3AUQnq+dvpUR+dwFEJdlK2blsfnSBegjkqIXae+ugEp0cl6C3QBT0h5omFuu+8887YG6e4plef0xVjtMUdxQRbsKo3SjGBYkKoXidGJ4hVhMXK6FwrQf21Gc6jyMfnn3+ubYPHtRLclRtjNMyT+tyI0QnilyjxyxnXSlDP3y6P4mVGzL/v1q0b10qwC7IEu2J0wkMPPcS1EiyyFKMTGjRogP79+zu2VkJgE8SOOGLE1/bt2y22Tm11iglqeUfjjWJCNLRcXJZigjUxwWu7ORi76pEjR7St1YSgwMNdBMSXudgqSmzXxMO9BJgn9blZuXIlvv76a9c8gKsn4F2PYiFGsWVe4cKFvdtID7RMCD5DhgzhdqwWcpmVlYUvv/wSt9xyi7aGlRsOIdKKkUGVKlVyQzimY+BuDqZRKS9IMUE5cnscUkywJibYkZV9q1bij8+mIjMjA8cSfCvGwimlkLNAflRo+yBSbrjRDtxR2WRuLuByW26MiWSe1OdJMN8+dw4yz57B0W3borquvFi4SIUrkDNvXqTedY8r7l1mGPO6UX/dmMlLYBnmiXmKpd84WcfNzwtOckl03xQTPNIDKCa4S0zY/fVX2J42BZdecgny5cmt7ZOeyEdmVhZOn/sHf589i9SHOqJMI+f2NGZu/Huim3JjjIx5Up+n3Yt/wM55n6NCg4YoULIkcubKlci3La3tmefP4+T+/di2+AdNUChV/yZXM+F1o/66iaVDME/MUyz9xuk6bn1ecJpLovunmOCRHkAxwZqYIHM3h70rluOPD9/DlYULeaR3yW3GlqPHULFLV6TUqiPXsAlrzE14SE7mxhgZ86Q+T3tXrsCOmdNxzV13m7iSErPImlkzUOH+B5ByYy1XAuB1o/66iaUjME/MUyz9xm11VD8vcDcHt/WAC/FQTHBvbqKKjGKCNTFB5sIuK5/vidKnM1Agb96ocpgohU+eOYO9+Qqg9ohRypvM3IRH7mRujJExT+rzlP5iX6Redz0KlSql/LqMF4fH9uzBn7+uQa2XhrkyZF436q+bWDoC88Q8xdJv3FZH9fOCzOd0t7GM93goJsR7Bv8XP8UE94gJy595ClcWzI+cCT61IdSlJYbJbT2ZgXpjxyu/+pib8MidzI0xMuZJfZ5W9P4/1Gj+L05tCINeTHlY+9WXqDvKnQum8rpRf93E8iXGPJnI04lTqPfmW7HglVaHeTKRJ4XPchQTpHVt6YYoJkhH6oxBWWLCpk370bbtf7BmzW6tIS+9dDsGDPCf3z506HcYOPAbX0OXLHkSDRqk+jV86dLt6NZtDtLSHkSVKiV9n4m64gi0KYNanfrzsHLZjzGZkrmbw4L77saNVavGFEeiVPpp40Y0mzZLeXOZm8jIncqNMTLmSX2eBPOGT3aN7DjBSyx+521H7l1msPO6iUyJ97fIjNxQgnlyQxYix6AyT9zNIXI+nCpBMcEp8pL9yhATggkA4uV/165jGDPmTuTLlweBf+viw/jxrX2CQkbGOQwalC021KxZBu3bX+d6MUFmOsQDXa3qV8s06Tlbq35b58gDOXMTuSs5lZtAMYHXUPhcyc6TJiZ0fiJyB0nwEos/eM+Re5cZ7Ly/RaYk+7qJ7PHiEsxTZGrMU2RGbijhhjy5gUOix0AxwSM9wKqYIASAHj2+QIcO1/mNMjCev/76slqZhg1TwwoEQmD48MNVePDBa/Hqqz9g3LhWSE7O3l/XrSMTZHYD7UGhZk2ZJj1na9WaNY48kDM3kbuSU7m5SEzgNRQ2WbLzJK6Nmx55NHIHSfASSz7+yJF7lxnsvL9FpiT7uonsMYSYwPub0vsb8xQLgch13HA9RY6SJewmQDHBbsKK7FsVE4QAMHjwt34v/nroRgFg8uRf8NBDaUGnP+jlRRlxiBEJom7jxhV9AoVbxQSZuzmIB7raN9ygKPPx6Sb9558deSBnbiL3F6dyEygm8BoKnyvZedLEhA4dI3eQBC+xZNJER+5dZrDz/haZkuzrJrLH4GIC729q72/MUywEItdReT1xN4fI+XCqBMUEp8hL9munmCDEgW3bDvnWOTh48CTat0/DggWbtVYY11XQpzg89lgtba0EMXVi4cLffXXdKibIXNhFe6CrXVtyhr1lLj093ZEHcuYmcj9yKjcXiQm8hsImS3aexLXR4MH2kTtIgpdY+p/Jjty7zGDn/S0yJdnXTWSPIcQE3t+U3t+Yp1gIRK6j8nqS+ZweuWUsEQ0BignR0HJxWZVighGDPg1Cn/oQuICjKNusWWVMntxWm+qQKGJCnfr1XdxbnA9t5bJljjyQi4dt5iZ8/p3KTaCYwDypzZMmJtzf1vmbg8sjWPpZmiP3LjNYeH+LTIn3t8iM3FCCeXJDFiLHoDJPFBMi58OpEhQTnCIv2a9VkIbTBQAAIABJREFUMcHMmglVq5ZE//5fY9iwpr41EEQzjCMXgokF4twVVxT3TXsQdby+m0OdhjdLzvAFc1v27sOjn0zEb7v+9p2sXvZSfPRwR1QqlYKMs+fQf9ZsrNqxw3dOLzjtp5/xxKTJeK9De9x344WpGCu2/YHe02dcVN6uRqxc/KMjD+Taw7aJ3Oic9PZ/+ewzqHtFBe3PUQu+xivzv/JDc1vVKniv40PYvHcf/vXvN4Ni020E5u+R+vUw7O67kO+SPGFxC7/i6N2sqV+5QydP4omJn6JXs6a+GPUCkfpKMIdO5eYiMcFEngLj1/t+maJF/DgJDi/MnIUR99ytXSPGIzDX+mf9WjS/iHWgv1A5idaf2T5g9C87T+LaqN+mjV8Tt/y9G30+mYSRD3dApUvL+D57deZspKakoO1NF0RTcW7YtBlamRqXl8eE7k/71RG2Oo0dh7U7/tTKPHpbYwzvmD0Sou/Eyfjou4UXdUdRpvc9rfHMux/g21/X+n3e/742eP6eu3znAu0Hfp62ZBkeH//2RT6+HjwAdatUhjF+Y6Em19TAB093RfFChbTTy2bMcOTeFfbm8L8Pzd7fzNgKVkZ8T4j7W+C1od+DRB1xHyxeIHuNpFDXo2473H021hgj1ZN93UTyF+xz2XkK5Kh/vwe7/+vxGJ8BxH1s95Gjvu+hYN9xop7+PSfyG8pnLDyC1fFinozXhJnns2B5MF574rrrM30mnm/ezPe9pl9zHy9brmE15kxWbox2VOaJuznYkUE5NikmyOHouBWrYoJogNndHERZXQzQpzyIhRubN6+sTX8YMKCx3yKOQmxYvHi7tiPE6NHZWze6TUyQmUDxoFC3USOZJv1sbdm7F89Pm4lX77sHlUqV0j5b8fs29E6bjo8eexjlihVDvxmzcDQjA81rVMf9tW7834PdWQyf96UmQrSrU+ui86JQ9XJlfedta4CId9EiRx7IzeTms1U/IW3lKrzfqSOKFyyAQydO4vEJE9H7X81Qt+IVGPnlAg1Nn3818yESdbYfOOh3Llg5kbtHP/wEo9req9kShyi3+8gRvNLmbuS75JKQ2IPZE4UD4zMaiNRX9P5jrONUbowxmMlTMFDiOkhLX5V9j2l5p5Y/cQTjoNcXuVu+9feI/IP5C5WTaP2Z7QN25kkTE1pfeDnXuO3ejT6TJmNkh/aoVMYgJsyeky0m1K+HjLNn0XfyFJQpVhTP39U6m/fu3eg07m289nAH1K1c6aK/RZlXZ8/B7sNHMLz9A75+H8zfoeMn0Pntd9HnrlaaLXHoPts1qK+dW7F5C3p+MgkTnu7qizPQftqy5Vi+abOfP1Fv5Oy5+KBrFxQvVFCzHcyfkfuyObMduXeZuR/Het2YsS3KiOtL9NVi+fNj1P33+q6vcOeDXY/CVqT7rNmYoi0Xz/e3YG0NxbGt4Tte5x3sPifuVW8t/F4z/VTjW33PFOG+W8z6jDY3dt7fYonFjutJ3LvMPp8Ffr/odcsULao9a4jv/t6fTccLdzTX8qY/Cxhzb3w2DPZ9HwsXt+XJahtY3zoBignWGbrCggwxQTQkcJqCcT0EvaFipMHAgdlbP4rj00/baqMOhBgxdOhC35QG/XPj9pFi/QRjXVEmmI9YoNapPw8rl2WLFU4e2hdQk9ttC2HLnr14/rNpePX++1CpdLaYII6R877U/v/M7beh37QZqFn+Mmzbvx9977xDe1gX9SYtW6aVqV62HO6vU0v7t37+vlq18MaCrzGq3f0oXjD7wdquY8W33zjyQB4pN4dOnMDjH01A7xb/Qt0rK/qav2Lr70hbmY5X7muDN7/5Tjvf545/Bf1cFwT0fASWGzX/S7z/aCcf41D5DGQfzJ4oEypmPbfh+ooxNt2fU7kxtjdSnkL1S8Ho5iqV8eOmzUgtUcKvjwfjIOx8tnIVlm/dquU2nJgTzGeonITLaTB/4XIYqq2y8ySY17vzTj93W3bvQZ/JUzCy/QOoVKb0hXvNnM+RmlIS99erixVbtmLqsuUY/kBbP37G82t2/ImRcz/HB10ev9Dvg9gO5k+w6fzu++jTqiXqVrryohha3nA9+k5JQ7v69fw+1wQHw/nPlq/Ass1b/OIUtntN+g/63tXK175Q/nTHy7/4wpF7l5l7cazXjRnboox+HyyULwktrrnGd48U10FK4UJYvGmz3/dHqOvRzH022mvRdBsc+u6RcX8zew8Kdo8JdZ8T5/Vj+4EDft9rofIU7L5n5T4arF2y729m+4ddedLtaoKAyeezYJyN3y3JBQug99TP8MKdd2jPgiIHgTnUv+OCnY+FSWAdN+RJRjtowxoBignW+LmmtiwxwTUNiiEQK2KC7N0c6jW/8KIZQ1PCVtmyZw/6TEnDyAfaolLpCw/4K7ZuxdTlKzHw7tZ4adYc3F79asxY9RP6trpTK/fZipWa3e37DyC1ZAncX7eO9rd+Xvw98vN5uPmqKqh75YWHdtnxC3vLv/rSkQdy7YUpTG4Ew5Gfz8cHjz8aUlARjMTRp+UdPjRmz2kvKu9/hH3HjuLjLo/75S8S52A+RB3dZp+WLS7KW6S+MrztfRe9QDuVm8CHuGivIcFB9HvR/w+eOIFJi5eib+uW/xPSgl8zev9ftmUrgrGINSehuIfzJ/JrvC4j+Zadp2DXRqh2GGMNFbexbnLBgqb6fTB/wfq38ZywPXzuFxj9YLuLrlnjNSPuc4F5Dna9h7uenLx3ReoP4vNI9zczNsKV0b9japYvj/3Hjmn3QP26a1evDt5b+L0vD+GuRzP3Wauxhqov+7qJJU6ZeRIsm40YhUduuTnsPSxY/xcvtsPnfI4ODRtAXEf6/VP/MSHUtWDWZyxs9Dpey5PeLk3kTJtm6vks2He+Xl9cb5VLl0av/0zVnvHKFS+u2RXnA5/f7LzeVOaJuzlYuaLsrUsxwV6+yqxTTACsiAkyF3YJ9gufzI4Q6tdC/ZfAgW3uxkszZmm/1P24foP2C6L49W74rDnocHNDzEpf5ftVUXuY+N958cujsCHq9GndUmbIF9ly6te9SLkJ9SursQEj53yOYbPm+LXpkUa3XPTLrCiniQ5BWIpfSR9/9wPt8xrlL8PHXbv4/fIbDH4oe+F+SY3UVwJ/TdZellzwy2ukPAXjY+y7gf06FAft5d6QC6PdBf1f8PulO5qcRPIX+Au5sC3yq//ab+bik52nYL9qi1/BHv3gQ6z9a9dFIb33SCdt5If49cw4CkQvKPql8VczjfXKVXji4wnZ/b5cWXzU+TG/0VXBRnTov45+t36DXwy6f1FnxBfzgo6oMv5SZ/StGwoWQ6RRIm7+JS6W68ZMX9PL6PfHRxvdgjfmfYXRHR7E5t17tO+Mu2vXwvDZc7Vz4mU03PVo5j4bTVzRlJV93UTjWy8rO0/6KJyPF/2guQj2fRRsZI64T036cTH63t1aE13FPejmalf57nvhvlvM+IyFjV7Hi3kSbTOOmIr0fBbsO99Yv3KZ0r6RVeWSiwcdoSV8ijwbr00reQmsqzJPMp/TZTKgLYBigkd6AcUEd4kJgXOPZXazUPOY9TnBA+9rg5emzYCYTyyOH9avxz11amP4zNkY3bED3v/uO998Z31u89o/sxdFE0eTGjX85hDLjF235dS842Dzwo3tCzaHOrD9Yi62OPT54aH4mC1nxqfwEcpeuDnekfqKcb6607kxcoyUp2DMBZ9hM2b5ffR+1y7avP5QHEThYHPpzfb5UDmJ1p++BkC9KpW1eM0csq+hYPODQ639IObyppZI1tZXMf7bGHfgfN7ANom5vKO+XOBbm0R8HsxfuDVB9Doj5n3lN4df92VcyyRwbYxY1iARdt0w5z5U/4jlujHT1/Qy4l41dekyDLy3DcbMm4eOt9yMmSvTte+T6yuk+r5jxPoT4a5Hs/e8aGIzW1b2dWPWr9X7WzR+gt2Xgt3nxLnH337Xz3T/Nnf7vtsirR9irGj2+85sO7yaJ+N6L4JFuOezYEyNOalcpgx6TZyEvvfchXLJydraNfo6MkbO4vtIf/7T14Yxm4dI5VTmiWJCpGw49znFBOfYS/VMMcGamJCWloa2beVsixZsVXSZyQ63wrrw0/3OFtrq6O0aNkDlS8vgpbTp2qrqJ06f1lY/N67ELv4tDuOq6MFWapcZv7Dl1IrokXJz6PhxdB73Nvrcc5e2wrt+COYTF/2Afvfdg7FfzL+IWTA+wdiKFeXFYVwFX/jsNWEi+ra5x2/1+0CbweyJMqFiFp9F6ivGvOv+nMrNRQ/bATsLhOuDwdopzg2fMROjO3XEweMngu5KIGyKnCzfuEnbWSDaedqhchKKeyh/4XIYqt2y8xRshflQu1KIVcZTk5O1HWHECv/iRT1wRxLj+S9+/VVrhnEHmWArkQfzF263EmFTX71cCBv6jivBzovV55f/vs0Xp263ba0bL4or1O4owq7K1cujve9Gur9Fay+w/IpNmzF18VLtWpmb/hMOHDuGn3//Xbt3iSPc9Wa8HkXZSPfZaK9Fs22Tfd2Y9Wvl/hbKh3gxfWXaTHRsdIvfd4cxTzrHwPtcsHtO4HdRsDLR+IyFTTx/D5lpryYmWHg+M363JBcq6PfsIHK8fd8+v+c5/Tsn2Hkz8UYqo/J64m4OkbLh3OcUE5xjL9UzxQRrYoLMZIgHOjv3a9/899/o8/EnGPnIw6h86aVa6OJlqOeHH2NCj+64rEQJvPDJRLRr2BDXXlFB+/dH33yHr18ajHpVq+DV6TORWioFTa6tic5jx6FPm3u08/qRtngJlm3ciBEPd4z65cosR6f2ajeTG9H+qT8uxgfdn0ZyoUI4KASGsePQ7uaGaNvwJo2fOJ6/N/sBOtQRrFyw3AX6i8aeKKvHF5hH8VmkvqL3H6NPp3IT+LAdzTUUrM8auSQXLnTRNSOjv4fqC8G4h/Mn7Px9+FBU15zsPGliQv0LWz2KeLfs24cXZs3FiLtboVLKhS01R339LVKTi+O+G65Hxrlz6D/7c5QpUhi9mzbRminqPTpxMka1uRt1K6QGtTPt5/8i7af/4r2HHvBtJRjMn/bS/+kU9GraRLMV7Fjxx3b0njELH3Vs74tTxLj76DEMu6sl8uXJA+Fv+bbtvr+FHVFv9Nff+sUQyZ/KfdXN3k/1cmbub9HaNJYX3zNTFy/W+unqbX+g6cDBePT227S/dx44gOHTZmD0o53w7eo1F32HBN6nIt1nrcQZrq7s6yaWOGXmKfDeJ15WxXf+pcWK+31HBZYTuRw5Y6bve060Q69bv2pV7bsu1HeLWZ+xsNHreC1Pert0xpGez4I9awTmVuSn10cT0Pe+NtqzYOCzivBpfDYM9n1vJUeirhvyZLUNrG+dAMUE6wxdYYFigsvEhAez90+349i8axc6vfYG1m7f7jNfIzUVE3o+h8plyyLjzBm88PEnaHfLzah3VVWk/bgYU7//ER/06K69HL86bTpSS5VC+ZIlMXLaDN953Zhu/7XHH9Pq23Es/c9kxxZgbGAiN4JZ5zfG+pr+wXPd0fbmhtrfgp84nr/v3rBoQpULzF+Ta6+9KAfBDAt7L09J8/voxQfaonPzZug8Ziy+Xb3a77Ovhw2FeIkO11eC+XEqN8ZYtIdtE3kSdfT+Xr/aVb4c6bYEs78PHkLnZk3R5c3xQa+ZX37f5pdrve6jTW/HiEceRr68eUPmOVRO7q5fLyT3YP7M+AoMQnaeBPPatWv7udmybz/6zv0Cw8UiriklfZ+N+nYhUosXx33XX+t3bvjX32p/Vy9TBh+2b+dXR9h6bPJU/LZ7t1amceVKeO+BtiheIL/PRjB/h06ewhNT0tC7SWPUSb08ZC4C7fdt2kSrox/T/rsay7dvx7CWd2jigtZ3hBDy+TyUKVzYVzaSv/T0dEfuXWbuw9FcN2bsBZZZvmEjpv7wo3ZdnDp7VrvvtLv1Zu26E/e14WnT8PLDHbTvlXDXo35dhbvPxhKfmTqyrxszPgPLyM5TIEfxvRD4/STKLFu/wXdPC/X9ZHxeEHGLHPe5r81FzwJmfMbCRq/jxTwZv68iPZ+JayrU94ueW01MeP9D9G17n/bsZ7T/0dfZO66Zfb6INVduyFOssbOePAIUE+SxdNQSxQRrYoLs3Rxu6tDR0f7gdudLJk105IFcPMQxN+F7h1O5MUbFPEW+gmXnSRMTbrghsuMEL5H+88+O3LvMYOd1E5mS7OsmsseLSzBPkakxT5EZuaGEyjxxNwc3ZDx4DBQT3JubqCKjmGBNTJC5sIv2oPDIo1HlL9EKL/n4I0ceyN2cm+Xr1+P23i8E7QovPtQeLzwgZ02PSH3NqdxcJCa44BoaMSUNL386OSiyb0aNQL1q1SLhtO1z2XkS10atmjVti9crhletWePIvcsMPzff38zEr6KM7OsmlpiZp8jUmKfIjNxQQmWeZD6nu4Gdl2KgmOCRbFJMcJeY0LDzEx7pWfY0Y/EH7znyQC4e4pib8Dl1KjeBYgLzpDZPmphQ/Wp7LngPWV312zpH7l1mEPL+FpkS72+RGbmhBPPkhixEjkFlnigmRM6HUyUoJjhFXrJfignWxATZuzk0fLKr5Ax7y9zid9525IFce9hmbsJ2Jqdyc5GYwDwpzZO4Nm6sas8aKV66e/20caMj9y4zDHl/i0yJ97fIjNxQgnlyQxYix6AyT9zNIXI+nCpBMcEp8pL9UkywJibITMfyXj1wzb9aIGeuXDLNesZW5vnz+HX+PNR77Q3lbWJuwiN3MjfGyJgn9Xla1q0LKhUuhJw5cii/LuPFYWZmFracOIH6495xZci8btRfN7F0BOaJeYql37itjlueF9zGJRHjoZjgkaxTTHCPmJA+oB9Sr7sOhVJKeaR3yW3G8b17sGPtWtQaPFSuYRPWmJvwkJzMjTEy5kl9ntL79kHpUyeQP8zuFSYuMU8XOXnmDPYVLIxaw0a4sp28btRfN7F0BOaJeYql37itjlueF9zGJRHjoZjgkaxTTLAmJsjczWHfzz/hj7T/oObdbTzSu+Q2Y83M6aj4YAeUuO56uYZNWGNuwkNyMjfGyJgn9XkSzH9/9y1UKlTQxJWUmEU2HzuOyk8948i9ywxxXjfqrxszeQkswzwxT7H0G7fVUf28wN0c3NYDLsRDMcG9uYkqMooJ1sQE2Qu77FmyGDtmz0CFm29BwZRSCT/lIfOff3Bi/35s+34RUu+7H6XrNYiqf8sszNz403RTboyRMU/q8/T311/hj4kTULZQQeTLk4dTHgBkZmUh49w57Dp+AhUfeRSlb2sq83Yk3RavG/XXTSxJZJ6Yp1j6jdN1nHxekP2c7jRLL/mnmOCRbFJMcJeYILrV/p9/wvY5s3H+TAaObtvmkZ4WWzOKVLgCufLlQ4W77nHFr3rMzYU8ui03xh7GPKnPk2C+LW0KMk+dxLG9e2O74D1Uq3BKKeQqWBBXtHvQFfcuM2h53ai/bszkJbAM88Q8xdJvnKzj5PMCxQQnMx/eN8UE9+YmqsgoJlgTE2Tu5hBV4liYBEiABEiABEiABEiABEggJAHu5uDezkExwb25iSoyignWxISoYLMwCZAACZAACZAACZAACZAACSQ4AYoJHukAFBMoJnikK7MZJEACJEACJEACJEACJEACcUCAYkIcJMlMiBQTrIkJMndzMJMvliEBEiABEiABEiABEiABEohMgLs5RGbkVAmKCU6Rl+yXYoI1MYELu0jukDRHAiRAAiRAAiRAAiRAAhII8DldAkSbTFBMsAmsarMUEygmqO5z9EcCJEACJEACJEACJEACdhOgmGA34djtU0yInZ2ralJMsCYmcDcHV3VnBkMCJEACJEACJEACJEACGgHu5uDejkAxwb25iSoyignWxISoYLNwXBPIzMxEzpw547oNDJ4ESIAESIAESIAEnCTA5ykn6bvHN8UE9+TCUiQUEygmWOpAHq986vhp/LZ0C7b9uhMnj2fgbMZZj7eYzSMBEohnAiXLJmP/roPx3ATGTgIk4HECSfnzIl+hJFSsUR7VG1ZCvgJ5Pd5iNi8YAYoJHukXFBOsiQl27+Zw4uBanNr/K04f+x1nT+7GudOHPNLzQjejQLErcf6fs8hbuAKSilyJ4pc3daTNQkj44t3vUahwIZQqm4LCRQs5EgedkgAJkAAJkAAJkICXCBw7fBx7d+3D8ePH0bJrI9sEBe7m4N5eQzHBvbmJKjKKCdbEBDsXdtmz7kNknTuCPHnzI6lASSQVLIXcefJHld94LZxxYg/OnNyHc2dO4+i+tSh3Qx8kFU5V2pz0+Wtx8K9jqHR1RaV+6YwESIAESIAESIAEEoHAlt9+R4nLC6NW8xq2NNfO53RbAk4goxQTPJJsignuExOyMs9j6/dPIblcbRQvc61HelrszTh7+ij+2jgXpap2QoGS6nhMHTkfla+uxBEJsaeONUmABEiABEiABEggJIFjR45j87otaNenhS2UKCbYglWKUYoJUjA6b4RigjUxwY7dHDZ/+xjKV79PG43A4wKBP3+bjiLlW6BI2Ya2YxGLA00YNAs3N29guy86IAESIAESIAESIIFEJfDjgmXoNPguWxa55m4O7u1VFBPcm5uoIqOYYE1MiAq2icK7f30LSfnyo1hpe4Z7mQjB1UU2LnsdlZt8jJy5LrE9zrd7TcHtdzey3Q8dkAAJkAAJkAAJkECiEvhm1iJ0Hf1AojY/YdtNMcEjqaeY4B4x4fien3D87+9waaUmHuld8ptx8uhOHDnwB8pe20O+8QCLFBNsR0wHJEACJEACJEACCU6AYkJidgCKCR7JO8UEa2KCzN0c/l4zFvkLFEbRUhyVEO7y2rhsDCrf9gFy5k6y9SqkmGArXhonARIgARIgARIgAdgpJnA3B/d2MIoJ7s1NVJFRTLAmJshc2GXb4p649MrbtF0beIQmsP3XKUip9jjyF6tiKyaKCbbipXESIAESIAESIAESsFVMkPmczlTJJUAxQS5Px6xRTHCPmLDhy7a46qY+jvWFeHG85/fvcEmxa1D88ua2hkwxwVa8NE4CJGAgMH7CGO2vbp0uTOHa9udWvPnRaxjYYxiKFSkektfPv6Zj9oLp6N99CNZtWot2T7XGVVdejcfbd0P66uXa+aS8+UzxFrbGfzIGrw0cH9anKWMsRAIkQAImCNg5MoFigokEOFSEYoJD4GW7pZhgTUyQtZvDudMH8efKQah4/SOyU+w5ewd3pSMzZzGUrNzO1rZRTLAVL42TAAlIEhOMIOd+PUP7s1XTNjHxpZgQEzZWIgESsEDATjGBuzlYSIzNVSkm2AxYlXmKCdbEBFl5+uf0Ifyx7HlUqvWkLJOetXPwr5U4n7MIUqq0t7WNFBNsxUvjJEACUYgJh48e0kYpFCxQCFPnTNJqTn1rDm64pjb0kQk1q12PvsOzRzY817kP6l7fwDdiQZwbNnbQRXXFeTEC4rmBT2LD1nVavZ/XpnNkAnsnCZCAMgJ2ignKGkFHUROgmBA1MndWoJhAMcGdPTN0VBQT4i1jjJcESCASgUjTHISYIF74Oz/YVRt1IMrv2b/bN7VBn+bw9Q/zsfPvP7XpEsbpDx9OeUcLQT8/5PV+eOOld7SpDD1f6oa7mt3rs0sxIVK2+DkJkIBMAhQTZNKMH1sUE+InV2EjpZhgTUyQtZsDRyaYv6AoJphnxZIkQALxQcCMmDD0jQEY8NxQXFH+Sj+hQKyTEE5M6Pbwc+j3ak90e7iHNpLh9JkMbZSCEBCKFS3uty6D2XUa4oMqoyQBEogHAnaKCdzNwb09gGKCe3MTVWQUE6yJCbIWdqGYYL7bUkwwz4olSYAE4oOAGTHBuBhj4KKLZsSExSu/94Px2sBxKFv6Mr8FFykmxEd/YZQk4CUCdooJsp7TvcTbLW2hmOCWTFiMg2ICxQSLXUh5dYoJypHTIQmQgM0ExMKJ+vQE3ZVxMUR9zQR9Z4doxYRX3xqKZx7tqY1qMB6B4gHFBJsTTfMkQAIXEaCYkJidgmKCR/JOMcGamCBrNweOTDB/QVFMMM+KJUmABOKDgBAH9HUMxAu/PhWhdMky2joHgS/50YgJYmtI45oJ+oKLg/7vFVxdpYY25aFWzTpcMyE+ugqjJAHPEbBTTOBuDu7tLhQT3JubqCKjmGBNTIgKdpjCFBPMk6SYYJ4VS5IACcQPASEQtHuqtS9gsbOCEBLEYVVMEDaMuzmIKQ769pHG3Rz6PTNE8/V/T7ygLc7IgwRIgATsJmCnmGB37LQfOwGKCbGzc1VNigkUE1zVIU0EQzHBBCQWIQESIAESIAESIIE4IOAmMWHoUGDgwAvQliwBGjQID3HTJmDwYGDcOCA5OXRZUa5tW6BuXWDMGCBfvuyyGRlAjx7AihVAWhpQpYr5pE2eDCxe7G8vsLbZ+Mx7lVOSYoIcjo5boZhgTUzgbg7quzDFBPXM6ZEESIAESIAESIAE7CBgp5gQzW4OQkjYtevCi7n+8j9+fHhBwezLuijXvTtQrBgwZMgF0UCcHzQIOHwYGDuWYoIdfYw2bSRAMcGamCBrlVhOczDfyVWICZmZmfhkyGw0bFrffGAsSQIkQAIkQAIkQAIkEBWBxQuW4eHBdyFnzpxR1TNT2Oxzuj46oGFDoH37C5aFwCCOXr2yRw906JAtLBw8CDz9dPaIBHGI/9euDfzf/wE1awYfYaCLDqJcSsoFP2J0wb59QHp6th0xMkEXMtasAZo1A0QZfdTD0qXATTdl+2naFDh2DHjlFaBfv/Dx6SMn9Poi7i5dLognxvOBPs2wjrYMRyZES8yl5SkmUExwadcMGZYKMUE4nzpyPipXq4TCxQrFGyLGSwIkQAIkQAIkQAKuJ3D08DFs3bAVbXu3sCVWs2KCcC5e2B96CHjpJWDAAP9wdLEhlJggpi+0aZNdL9TUA11MaNcO+PLL7Jd4cYjkygs+AAAe40lEQVRRCa1bZ0+TEGJCiRLZQoPwJf5vHDHx55/ZUyXEaInrr88WOMRhVkw4cCB7dIQYAVG+fHb9smWBp566II4IMUO0QRxGYUV2gigmyCbqkD2KCdbEBO7moL7jqhIT0uevxcGdx1CpekX1jaRHEiABEiABEiABEvA4gc2/bUXJy4uiVvPqtrQ02t0cxIgD8QK9YEF2OLqwEElM0F/QxYu4cdSCcf0DXUwQUxyEgKCPavjww+wX/N69/Uc66CMJ9OkRQgAQYsCkSf6jCcTfZsWEr77yX2NBjEYQ9V988YL/aNZssJI0iglW6LmoLsUEa2KCrFRymoN5kqrEhIyTZzB33EIULloYpcqloHBRjlAwnyWWJAESkEng8NFD6PlSNyxe+b1mtl3rDhBbPiblzV7BK/DzhnVuxWsDx2s7MuifdXu4B264prbMsGiLBEiABGIiIEYk7N21D8ePHkfrbo2RVCBvTHbsrGSc+nDPPZGnOegv/5HEBFHurbeAxo2B7duBbdv8RwYIwUCMRtCnNhjt/fRTcDEgGjFBjL4wHvqUBuFXjHoQUyuM0x/sYkwxwS6yiu1STKCYoLjLWXanSkwQgQpBYfW3G7F94y6cOpGBsxlnLcdPAyRAAiQQDYETGccxYf541K52E2pfdZNWNX3DEmz9axPuvbUDzv5zxvf5nU1aY9+ug9rn6euXoFOLblp5Uf9fde9GxbJRLBMeTZAsSwIkQAImCSTlz4t8BZNwedWyuO62qq4QEsQLe//+wLBh/jsyiBd68bIfuGaCcbSAaLZxZILxs2AjE4SYsHEjMGdO9noHYjpD1aoXr8FgZWRCYHz6bhNiZIJoT+A0jsDU6e2OVM5kyoMWo5hghZ6L6lJMsCYmcDcH9Z1ZpZhgbJ1YlNGOxYHUE6RHEiCBeCIwefJkLF68GGPGjEG+/+0llpGRgR49eqBDhw4oUaIEunfvjrFjx6LK/55cDx48iPbt22PAgAGoWrWq798NIu1xFk9gGCsJkEBcElD5PBXtbg4CqP4CrU95EC/7+sgEsb6Avi7CqFHZCy2KQ/yiL6YpiCkSkdZMECKBPgqgdOkL6xPoCzqGWzPh1KlsHyKGYGsmhIpPFxOMayaIrwt9PYauXYERIy5sb8k1E+Ly0nImaIoJ1sSEaBZ2CZdhM9McNm3Zju59RmPsyF6oUinVZ27oqx/gitSyaN/2XxD/HjjsHT9XL/V/EgOe76ydEzbaduqHurWqY8zw/0O+fEna+YyM0+jR93WsWPUb0ia8cpH9Xbv3+ZUPbIvwq92A/+dH//zgoSNo33kABvR5DA3qXutXTY9lzdrNvvM1a1S+yH+gL6fEBGeuUHolARJIZAK6aNCwYUNNEAh26GXeffddLFmyBIGCgVFYoJiQyL2JbSeBxCMQ7XO6eLkeOPACp08/vbAIoXGHhddfv7D7giht3M0h1E4Ixi0k8+e/sPihEAYCp0aY2c1B+H33XWDr1uytJvXFGcU0hWDxBdvNwRirvgClsMtpDol3rcTcYooJ3hMTjC/1ukhQtkyK9qKvCxLFihbGkH5P+EQDcX7QK+/h8JFjfmKFOD9m/H+0/tWj24N+IoOx08UqJgSKI0tXrEa3niPDCgoUE2K+3FmRBEggzggYRyBEEgKWLl2Km8R+Yf87dGGBYkKcJZ3hkgAJSCMQrZggzTENRSTAaQ4REcVHAYoJ1sQElbs5mB2ZYBQTxL+N9TT1dPh7qH3D1UgpUVwbzSCOyWlfYt+BQ0j/eR0G970gMojz+rFt+66LRh7on8kSE4S9ULZ0XxQT4uPewihJgASsEzAzMiGYFzG0V5/6IKZB6FMeIgkS1iOmBRIgARJwD4Fod3NwT+Tej4RigkdyTDHBmpggqxvInOYQKCbooxM6tGuBEslFNTGhXZtm+PKbpdrUBXGIUQmt77gZ4977zCcmiHri/GMdW2n1+r/0FoYNfArJxYte1GyZYoIYnTBp6vyQ0yooJsjqdbRDAiQQDwSCrZmgCa9Dh6KxWA4cwMKFC7X1EfTDOKKBaybEQ5YZIwmQAAkkFgGKCR7JN8WExBQThvTrgkGvvKsJB+L4cOJcdH+yLXoP+LdPTBAjGsR5MR1CrK0gBIPGt9x40doH2kNtjGsmBFsDgmKCR24ubAYJkIAUAvo0BbHYor5ughAYJk2aBPF/cQSOPBBTHrp16wYxeo4jE6SkgUZIgARIgAQkEqCYIBGmk6YoJlgTE1Tu5hDrNAfjIoj6yIRxo/vgrfena+LA9h27IaYwPPX4vXi610ifmCCmODz0+IVfukQ/NS7maOy3MsUE4Xfx8l84MsHJGwN9kwAJuIqALigsWLBAi6tZs2aakJCcnKz9Hfh5zZo1NSFB7O4Q+JnesGCLNbqq0QyGBEiABCwSiGY3B4uuWD1KAhQTogTm1uIUE6yJCbIWdjEzzUGIAsaXfdGn9CkMDetd59vNQZw37qoQbM0EISZs3Lwdc+b9iGPHT0BMgahaOdVnX4gOgbswBPOv92uZYgLXTHDr3YJxkQAJkAAJkAAJkED8EJD1nB4/LY6fSCkmxE+uwkZKMSF+xITAnRlEYgN3Pwh8EQ+2m4NYM0GICQcOHtG2iSxdKhmTPxiq9RNdrBCfDR35oXZeXyMhULgwdixZYoLbdnNQuReyR24pbAYJkAAJkAAJkAAJhCSg8tmKYoJ7OyLFBPfmJqrIKCZYExNU7uYgEqu/0L/70UwtzzVrVPbbRlG81A8c9o5fHzBOTRCjFHQxIX++JPTo+zr0bSONIw8+m/mtZsM4wkH8LaYgTEqb7ycyiPOh/IqpE2KEw4Jvl/vFtOTrD7RFHYWYsWbtZt9nge0J1pntXoDx1PHTWLdsC7at3YmTxzJw5tTZqK4pFiYBEiAB1QRy5MyBrMws1W7pjwRIgASiJpBUIC/yF0pCxWvK4+oGlZCvQN6obZitwN0czJJSX45ignrmtnikmGBNTJCVFDPTHGT5inc7dooJQkiY9/73KFKiEMqkpmj/50ECJEACJEACJEACJCCPwNEDx7H7j304evA47uzSyFZBQV7UtCSTAMUEmTQdtEUxgWKCg90vJtd2ignpC9biyN5jqHpjxZhiYyUSIAESIAESIAESIAFzBDas+h3FyxRGraY1zFVgKc8QoJjgkVRSTLAmJqjczcEjXc5yM+wUE6aOmo+r61TiiATLWaIBEiABEiABEiABEghPQIxQWLdyC9r1bmELKu7mYAtWKUYpJkjB6LwRignWxARZC7twmoP5a8EuMUEsCDRh8Cw0adfAfDAsSQIkQAIkQAIkQAIkEDOBb6cuQ6fBdyFnzpwx2whVUdZzuvTAaBAUEzzSCSgmUEyIt65sl5ggOLzdawrueLRRvCFhvCRAAiRAAiRAAiQQlwTmfbQIXUc/YEvsFBNswSrFKMUEKRidN0IxwZqYoHo3B+d7jPMRUExwPgeMgARIgARIgARIgARkELBTTOBuDjIyZI8Nign2cFVulWKCNTFBVsI4zcE8SYoJ5lmxJAmQAAmQAAmQAAm4mYCdYoKb253osVFM8EgPoJhAMSHeujLFhHjLGOMlARIgARIgARIggeAEKCYkZs+gmOCRvFNMsCYm3HPPPZg4cSIKFixoqUdwZIJ5fBQTzLNiSRIgAXsJ/P7HVgwePgCD+w5FxQpX+pyNfXsMyl9WHnfd2SZkAKLuG2+9hpf6D0O+pHx46dVBmPzZJDzSvjMOHj6gnS9WtLipBhw+cgjP9umG7k/2wI3X176ojv75D0u/1z5rf38HDHx+CJKS8ml/B35+S4Nb8e+R4zX/4WyLNjzd80ms37TOz2fPp/uge9cepmJnIRIggcQmYJeYcO7cOaxatQr169dPbMAubT3FBJcmJtqwKCZYExNatWqFUaNGoUqVKtGi9ytPMcE8PooJ5lmxJAmQgL0ErIgJxsjEC/uof49A72dfMC0gBNYPJSboYsA9re71iRuzv5iB9J9XaoJCxukMTYgI/Hzm3OmaoCCOULaDtT+SsGFvRmidBEgg3gjYJSasXr0ajzzyCH755Zd4Q5IQ8VJM8EiaKSZYFxMef/xxtGzZ0lKPoJhgHh/FBPOsWJIESMBeApHEhOZNWmgjDkqnlMFr40Zqwei/2usjE/7v6d4YNKw/xKiBalWuxvM9+mHG3Gm+kQk//TcdbTq01uoaRxScPp3hG80gzv+1a2fQkQlG4UAfiaDXvaflvShWrPhFoyuMgkDFK66MSkwQcZoZmWFvZmidBEggXgjYJSbMnz8fc+bMwbvvvhsvKBIqTooJHkk3xQRrYsJff/2FPHnyoFSpUpZ6BMUE8/goJphnxZIkQAL2EjArJogoxCiA39avxYCX+2Hca+9ogenTHLTPh/XHc0/19Dt/6PAh34t+2TJlfcKEmEIgXtj37NvtsysEhxmT5vhNc9BFg9o31Ak55cIoSgTWF8FEmuYQOM2DIxPs7XO0TgJeI2CXmDB16lRkZmbiwQcf9BoyT7SHYoIn0ihepG/GymV3eKQ1sTWjTv15WLnsx9gqS6pFMcE8SIoJ5lmxJAmQgL0EzIoJ+su8eNEOJhqEEhN+WLLINx1BjCoQoxRmfj4dfZ7ti5H/Hg4xskCskWAcaWBcMyHU+WBUjCMgxOe6sBBJTAi2ZsK/Xx0Xdr0Ie7NC6yRAAvFEwC4xIZ4YJGKsFBM8knWKCdZGJsjqBhQTzJOkmGCeFUuSAAnYS8CsmKC/9MciJjz7/NN+jRCLIw7pP0ybGqEvuBhJTAg3MiEYIWO7ihcrbnqagxAkxr4zxrd4o730aZ0ESMALBCgmeCGL0beBYkL0zFxZg2KCdTGhc+fO6Nq1K2644YaYc0wxwTw6ignmWbEkCZCAvQSM4oC+m4NxaoG+ZoIVMeHPnX9etDNCoHgQbgRCsDUTBBUxTaJ+nQYaoGUrl/r5MNqLds0E4/QLfY0Ge7NA6yRAAvFMwA4x4eDBg9iwYQNuuummeEbj6dgpJngkvRQTrIsJYmvI33//HUOGDIm5V2RlZWLT1x1Qtf7/xWwjUSru3bYQeYpUQ/FU+dNz3u41BXc82ihRULKdJEACFgnoL91igUV9K0Tx67y+LoK+zkGsYoJxzQQhVhhf1L/6dr5vCoRYiyHYmgmieaF2cwi3W4OxDdGMTDD6C7VNpUXkrE4CJOAxAnaICeKHvnr16uGxxx7zGC3vNIdigkdySTHBupggFncRizCeP3/eUq/Y9uNzuLRycyQVKGnJjtcr71ibhhJVO6FA8WrSm0oxQTpSGiQBzxMwLmAoGit2ZBALLIqX/8ARA9FOcyhWtLi2ToK+m4OY4iC2axTnA3dzKFiwEJo2aua3AKMOXxcUxI4R4jDaMQoA+ufGNgTW1W2KNRWC7QQhPhejIXSxQsTKgwRIgARCEbBDTLjsssuwc+dOQncxAYoJLk5ONKFRTLAuJgjeGRkZyJUrFy655JJo8PuV3bX63yhYqBiKpFwds41EqLhp+Vhc2eht5MqTX3pzKSZIR0qDJEACJEACJEACJBCSgGwxYcWKFTh06BBatGhB6i4mQDHBxcmJJjSKCXLEhGiYhyp79O8lOH1oNUpdXk+GOU/ayDi5Hwd3r0O567K3T5N9UEyQTZT2SIAESIAESIAESCA0AdliAlnHBwGKCfGRp4hRUkyQJyZs2rQJefPmRWpqakTuoQr89d9RKFzsMhQuUSlmG16uuCX9baQ2GIU8ScWkN1NMV5n40mw0vr++dNs0SAIkQAIkQAIkQAIkcDGBhWnL0HHQXciZMyfxJBABigkeSTbFBHligugSKSkpWLduHUqWjH3dgw1ftkWV+j2RM2cuj/QyOc34a+MXyF+yNoqn/kuOwSBW0kbPR7XalVCkRCHbfNAwCZAACZAACZAACZAAcOTAMWxI34q2vaxPSRBTG1q1aoUlS5YQbRwQoJgQB0kyEyLFBLliwvfff4+hQ4fiu+++M4M/aJnz/2Rg87ePomzlO1G4ZNWY7XilYub5s9i5YS6KXtYURcrZu9PCqgVrcXjPMVStVdEr+NgOEiABEiABEiABEnAlASEkJJctihtvr245vkcffRRiF4f69TnC1DJMBQYoJiiArMIFxQS5YoLI2bZt27TdHcRKslaOv/77GnLnzomkfEWRt2AKkgqUQo4cOayYjJu6504fw+mT+3D29FHs37EY5W7ohYIlatoef8bJM5j79kIULVkYl1ZI4QgF24nTAQmQAAmQAAmQQKIRECMSdm/bh6MHj6PVk42RVCCvJQQzZ87UpkncddddluywsjoCFBPUsbbVE8UE+WKCnrCTJ0+iQIEClvJ3dPcKnNz/X5w59gfOntqLHDlyW7IXD5WTilyOMyd3I6nQ5chXrCpKVLxbadhCUFjz/UZsX78Lp45n4Myps0r90xkJkAAJREsgR84cyMrMirYay5MACZCAcgJCOMhfKAmp1cqi5i1VLQsJyhtAh1IIUEyQgtF5IxQT7BMTVq9ejXPnzqFWrVrSEn3+7HFptlxrKEcO5MpT0BXhiUUZuSCQK1LBIEiABEiABEiABDxAQOaz1apVq6Q+Z3sAb9w0gWJC3KQqfKAUE+wTEwT5O++8E48//jhat27tkR7DZpAACZAACZAACZAACZCAswTmzp2LtLQ0TJ482dlA6D0mAhQTYsLmvkoUE+wVE0TGxfytWbNmJcx6B+7r5YyIBEiABEiABEiABEjAKwRWrlyJSZMmYdy4cV5pUsK1g2KCR1JOMcF+MUF0FX1I1+nTp5GUlOSR3sNmkAAJkAAJkAAJkAAJkIAaAllZWdqPcytWrEDdunXVOKUXWwhQTLAFq3qjFBPUiAl6Zl955RVtUcZnn31WfbLpkQRIgARIgARIgARIgATikMCwYcPQtWtXFC9ePA6jZ8iBBCgmeKRPUExQKyaIbjNixAiMHDkSO3futLzbg0e6IZtBAiRAAiRAAiRAAiRAAhcRWLRoEV588UU0atQIL7/8Mgl5hADFBI8kkmKCejFBdJ3Dhw9rw7SKFi2K48ePIz09HbfddptHehWbQQIkQAIkQAIkQAIkQAKxEdi8eTMqV66sVZ45cyZuvfVWjkiIDaVra1FMcG1qoguMYoIzYoIxSxkZGWjZsiXEPLDLLrsMEyZM0D4+e/asJjoUK1YMl1xySXSJZWkSIAESIAESIAESIAEScCkB8Zx75swZFCpUSIvwl19+wYABA7B+/Xr06NEDzzzzjEsjZ1gyCFBMkEHRBTYoJjgvJujd4OTJkxCr0zZu3Fg79ccff6BevXooXLiwpsi+99572vnvvvsOTZo00f4t/v/NN9/wPDmwP/C64H2A9wHeB3gf4H2A94G4uA8MHToUOXPmxFVXXYXx48drMYtRuvv379eeg/Ply+eCtySGYCcBigl20lVom2KCe8QEhWmnKxIgARIgARIgARIgARIgARJwhADFBEewy3dKMYFigvxeRYskQAIkQAIkQAIkQAIkQAIkEJwAxQSP9AyKCXLFhKzM88iRM5dHegebQQIkQAIkQAIkQAIkQAL2EOBzsz1c48EqxYR4yJKJGCkmWBcT/snYh6O/Dcex7bNx7tQBZJ47YYI8i5AACZAACagikK94JWQc2qLKHf2QAAmQAAmYIJArb2HkTkpG4dS7UKRGP+ROKmGiFot4gQDFBC9kEeJF+masXHaHR1oTWzPq1J+Hlct+jKmyEBJ2zauDfJccReGihZCUPykmO6xEAiRAAiRAAiRAAiRAAolG4PSp0zh25DhOnS2CcneuoqCQIB2AYoJHEk0xwdrIhIMrn8H5PZORUibZIz2CzSABEiABEiABEiABEiABtQT27T6AXJd2QnKtMWod05sjBCgmOIJdvlOKCdbEhD8+uxxlUjKRlC+v/OTQIgmQAAmQAAmQAAmQAAkkAIHTGWewe19OVLh/RwK0lk2kmOCRPkAxIXYxQSwas+XTIqhcKcUjvYHNIAESIAESIAESIAESIAFnCGzZsh9XPnSEi5k7g1+pV4oJSnHb54xiQuxigsjKxg9yoOpVl9uXIFomARIgARIgARIgARIggQQgsHHDDlTtnJUALWUTKSZ4pA9QTJAgJlQt75HewGaQAAmQAAmQAAmQAAmQgDMENm78k2KCM+iVe6WYoBy5PQ4pJkgQEyqXsyc5tEoCJEACJEACJEACJEACCUJg4+a/KCYkSK4pJngk0RQTJIgJV17qkd7AZpAACZBA/BGY/O0pLP71LMZ0K4J8eXNoDTh4NBNPjz2KwQ8XwoGjmZj0zSnf5xlnstBj/FGtnF5HP9fwmkvQvkn++IPAiEmABEjAAwQ2bv2bYoIH8mimCRQTzFCKgzIUEySICRXLxEGmGSIJkAAJeJPA5G8zsHjtWYx5qrC/mPBmtpggjsGfHMe4Z4oguUjObKHhzaPIygKGdCqEKpfl9p37//buNbapMg4D+NOddOvKLsp9yy64sFUZicK+YBYTgSmfdCpqgG2MyMXhLaJkLJDJjA4hRGoMcldB6CIioCHBmLgxIEtAvMWw5XTL2IRxmQwYZWvP1p7NnFOzuSiynnZd2/OcT13z/t/zvr//+bIn55wq45W/eVCAAhSgQPAFxOarDBOCzz4qZ2SYMCrsgT8pw4QAhAkPTAp8YzgjBShAAQoMS8BWrYQJblhXxg+GCQ4lMHCgYnEc0iYKWLX9DoryTMidHo26872o+a1XnTsjSUDB3FjYL3nw6XcuvFscNzDHsE7OQRSgAAUoEDABsaWdYULANEN7IoYJod2fYa+OYUIAwoT0CcP25kAKUIACFAisgK1awunzblhLBoOAG0qYsLULFUVm9U4DZYxyFMw1DXyeMllQQ4XygjHqdxeuyepnHhSgAAUoMDoC4h/XGSaMDn3Qz8owIejkI3NChgkBCBPSxo9MczgrBShAAQrcU8BWI6FwU9e/xj2cIeDgWu9jC3X1buyv7kHlEjM2feXC0nkxGJ8YhXV7nep3245JmPOIEbnZxnuejwMoQAEKUGBkBMSLHQwTRoY25GZlmBByLfF9QbIsY8lLi7B/30zfiyOooqj4F+z9rAqCIPi8K3GPAQ+mjPW5jgUUoAAFKBAYAVtND07Xe2BdYR76mMM2JyoKY2FJEaDcqbBunwtvPWvCwVO9WD3fpJ58/QEXFj0ejaraXjVgUMbyoAAFKECB0REQ224yTBgd+qCflWFC0MlH5oTzX5iPj6zZSE3R562dl9q68eaqehw+dFgTsBomJN+nqZZFFKAABSjgv4DtRK83TFgeOzRM2O5CRYFpICCwfiNhTIwB7Z39KF/oDROU2rhYA35vkbH6uRi+L8H/dnAGClCAApoFxCudDBM064VXIcOE8OrXXVdbtnYNnnyiB3Nm6/MXCX6ovoKaE7HY8P5GTR1Vw4SkRE21LKIABShAAf8FbLVKmCDDusw0NEzYIaFi0eDdBsq4Y2c9eP2paORO8/5iQ12DB9+ecat/58/iIw7+d4MzUIACFNAuIF69zTBBO19YVTJMCKt23X2xn+/9AlLPSax8OStCduTbNj7Z1oi4+NkoLir0rfDv0WqYMMn702M8KEABClAg+AK2WjdON8iwLh28s+CGox+v7ZRQsVAJE6LURdnb+vDGbgkfL1fuVvB+p4wr2OJC+YsxyJ3GRxyC3z2ekQIUoMCggNh+h2GCTi4IhgkR0uiz587h5KkqlL49OUJ25Ns2Nm2+hrw5i5GTM8O3wn+GCRP0+YiIJjAWUYACFKAABShAAQpQ4D8ExOvdDBN0cmUwTIigRld+UInp2R3If1pfgcKRo1fQ2JSMstI1mrup3pkw3qy5noUUoAAFKEABClCAAhSgACB2OBkm6ORCYJgQYY3OmzcPRw49hoQEfTwzeutWDxYUnMH3x4/71Uk1TBjrfZEXDwpQgAIUoAAFKEABClBAm4B4U2KYoI0u7KoYJoRdy/5/wS2trfhwSxkq38tGYmJ0hO1u6HaUIKF8fQNKV29GWlqq5r3298loPnA/ppp7NM/BQgpQgAIUoAAFKEABClAAaHJGY2phJwxRfIdNpF8PDBMisMMtrS1YUVKCV1dm4pl87f9khzLNkaMXsXN3M3bv2Im0tHS/l9ryZSqScA0mweD3XJyAAhSgAAUoQAEKUIACehRwefrQbkjGlAUX9bh93e2ZYUIEt3zDxvUQhMuIj5NhsSQiKysBqSnh+ZLBS23dsNtvw253oKsrCv1IR1npOwHr3o26EsjNuzAxxvtmcB4UoAAFKEABClCAAhSggG8Cf0p9ELJewbhHt/pWyNFhKcAwISzbNvxFn/vpZ9Q3/Aq7XURj4wWYzUY0Nl0d/gQhMDIrMwlOpxsWSwYslocwfdoM5OTMDOjKPFIHLn+dCbOnE/FGA0zMFALqy8koQAEKUIACFKAABSJXQOoDHJ5+OIWxSH2+EYJpXORuljsbEGCYoLOLQZZlCEJ4Pb8UrDXLUgc665bhTvuPcLsdkN3dOrs6uF0KUIACoS0wJmEKuh2tob1Iro4CFKCAzgQEYxyMxgQkTJ6FxNxdEGIYJOjlEvgL3EbvmeZd7Fw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638"/>
          <a:stretch/>
        </p:blipFill>
        <p:spPr bwMode="auto">
          <a:xfrm>
            <a:off x="5496879" y="1070774"/>
            <a:ext cx="2973513" cy="1780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50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PHY Integration</a:t>
            </a:r>
            <a:endParaRPr lang="en-GB" dirty="0"/>
          </a:p>
        </p:txBody>
      </p:sp>
      <p:sp>
        <p:nvSpPr>
          <p:cNvPr id="27" name="Content Placeholder 26"/>
          <p:cNvSpPr>
            <a:spLocks noGrp="1"/>
          </p:cNvSpPr>
          <p:nvPr>
            <p:ph sz="half" idx="1"/>
          </p:nvPr>
        </p:nvSpPr>
        <p:spPr>
          <a:xfrm>
            <a:off x="333378" y="717947"/>
            <a:ext cx="5076822" cy="3690939"/>
          </a:xfrm>
        </p:spPr>
        <p:txBody>
          <a:bodyPr/>
          <a:lstStyle/>
          <a:p>
            <a:r>
              <a:rPr lang="en-US" sz="1400" dirty="0" smtClean="0"/>
              <a:t>PHY abstraction layer as part of CPSW LLD</a:t>
            </a:r>
          </a:p>
          <a:p>
            <a:pPr lvl="1"/>
            <a:r>
              <a:rPr lang="en-US" sz="1100" dirty="0" smtClean="0"/>
              <a:t>State machine based</a:t>
            </a:r>
          </a:p>
          <a:p>
            <a:pPr lvl="1"/>
            <a:r>
              <a:rPr lang="en-US" sz="1100" dirty="0" smtClean="0"/>
              <a:t>PHY-specific drivers can implement their own callbacks or reuse generic implementation</a:t>
            </a:r>
          </a:p>
          <a:p>
            <a:pPr lvl="1"/>
            <a:endParaRPr lang="en-US" sz="1100" dirty="0"/>
          </a:p>
          <a:p>
            <a:pPr lvl="1"/>
            <a:endParaRPr lang="en-US" sz="1100" dirty="0" smtClean="0"/>
          </a:p>
          <a:p>
            <a:pPr lvl="1"/>
            <a:endParaRPr lang="en-US" sz="1100" dirty="0" smtClean="0"/>
          </a:p>
          <a:p>
            <a:pPr lvl="1"/>
            <a:endParaRPr lang="en-US" sz="1100" dirty="0"/>
          </a:p>
          <a:p>
            <a:pPr lvl="1"/>
            <a:endParaRPr lang="en-US" sz="1100" dirty="0" smtClean="0"/>
          </a:p>
          <a:p>
            <a:pPr lvl="1"/>
            <a:endParaRPr lang="en-US" sz="1100" dirty="0"/>
          </a:p>
          <a:p>
            <a:pPr lvl="1"/>
            <a:endParaRPr lang="en-US" sz="1400" dirty="0" smtClean="0"/>
          </a:p>
          <a:p>
            <a:r>
              <a:rPr lang="en-US" sz="1400" dirty="0"/>
              <a:t>Runtime device to driver </a:t>
            </a:r>
            <a:r>
              <a:rPr lang="en-US" sz="1400" dirty="0" smtClean="0"/>
              <a:t>mapping based on PHY ID</a:t>
            </a:r>
          </a:p>
          <a:p>
            <a:r>
              <a:rPr lang="en-US" sz="1400" dirty="0" smtClean="0"/>
              <a:t>Auto-negotiation and manual mode</a:t>
            </a:r>
          </a:p>
          <a:p>
            <a:r>
              <a:rPr lang="en-US" sz="1400" dirty="0" smtClean="0"/>
              <a:t>Clause-22 support</a:t>
            </a:r>
          </a:p>
          <a:p>
            <a:r>
              <a:rPr lang="en-US" sz="1400" dirty="0" smtClean="0"/>
              <a:t>“PHY Integration Guide” document provided as part of CPSW docs</a:t>
            </a:r>
          </a:p>
        </p:txBody>
      </p:sp>
      <p:sp>
        <p:nvSpPr>
          <p:cNvPr id="2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png;base64,iVBORw0KGgoAAAANSUhEUgAABBMAAAJ5CAYAAAD8eXhbAAAgAElEQVR4XuydB3QUVRfH/wJC6KE36V1QFELvSBFEAqKUj16kg6B0DFVQioAYRHpXQKSJdJAelC41gBA6odcQ+nfuxLdOJrvZ3dlpu3vnHI5k57377vvdGcz9733vvfbq1atX4IsJMAEmwASYABNgAkyACTABvyWwZs0a7N+/H1euXMHVq1dx7do16b8ZM2bEvn37/JYLT9w5gaCgIFy/fh1ZsmRB5syZpf9mzZoV9Hnt2rWdG+AWXkvgNRYTvDZ27DgTYAJMgAkwASbABJgAE1BF4Pbt21i1apXtT61atVC6dGlJPFAmhYkSJVI1BnfyDwLPnz+PI0LduHEDYWFh2LhxI+rVq2f7kyZNGv+A4iezZDHBTwLN02QCTIAJMAEmwASYABNgAnv27MH06dOxYsWKWElewoQJGQ4T0JwACQ1y0apBgwbo2LEjSpUqpflYbNB4AiwmGM+cR2QCTIAJMAEmwASYABNgAoYSCA8PR79+/RAZGYkJEyagTJkyho7PgzEBIrBr1y58/vnnyJYtG0aPHo38+fMzGC8mwGKCFwePXWcCTIAJMAEmwASYABNgAvERoLXs/fv3x+7du6XkLTg4mIExAdMJLF++XBK3KlWqJD2X6dKlM90ndsB9AiwmuM+MezABJsAEmAATYAJMgAkwAcsT2LRpEyZOnIiGDRuiTZs2lveXHfQ/AjNnzsSyZcvQu3dvVK1a1f8AePmMWUzw8gCy+0yACTABJsAEmAATYAJMQEmAljLQCQ20AZ4/XTdn7cL5dvOQ9n+lkHN6CyRIllia/vObD3GmbihSVimAbN98FOezTL1rSvcf/XkuDi65LWFfNFKOIx9L2Mrcr5ZtTNHvcv9luDZ6PZT3hJ9KP5KXzo18q7shUfoUPhnOatWqoX79+ujRo4dPzs9XJ8Vigq9GlufFBJgAE2ACTIAJMAEm4JcE2rZti8DAQIwfP96v5v8y6inOfzoft3/6C4lzpkX+tT0QUDiLS2KCEBiosRAMCm79AikqF7AxJAHg9qK9NrtivCf/3IiV6FO7pxfvSGIGtSdxQ25LLhgoRQJnoofcT18L7meffYaoqChpg1C+vIMAiwneESf2kgkwASbABJgAE2ACTIAJOCVApeItW7b0y2UN0Seu4nTtSUhd5y3cW3MEWQbXRfq25TURE4RtuU0yrPxcCAwPd52JJWbIA/dw2ymEV/lWqkqg6gR7QoO8gkLYJBvyagunD4MXNpgxYwaWLl2KdevWeaH3/ucyiwn+F3OeMRNgAkyACTABJsAEmIAPEiAhoXPnzmjUqJEPzs75lKii4Orw1ci7tBMiJ2ySOojk251v/O1VJjiqVlDalVdH0PjK6gb6jCoXHmw9hVxzWiOi9RyHSy/sLcfw5coEEeGFCxdizpw5frdEx/kTbr0WLCZYLybsERNgAkyACTABJsAEmAATcIsALW2oWLGiX1YkECjlt/e0vICEBbHUQQsxQW5PBMde1YCoVnh6/rbUTL6vgtIPISyI/RAc7Zlgb98Ftx4QL2tMSx327t2LadOmeZnn/uUuiwn+FW+eLRNgAkyACTABJsAEmICPEaDNFi9evOh3eyTIw6hcbqD8WQsxQbn3AY1vz65c3KD9G+jKObOltORCLHEQFQvKn+2JDbQUQvT3sUc33unQZoz58+dH9+7d/WnaXjVXFhO8KlzsLBNgAkyACTABJsAEmAAT+I8AHf84evRovy8JF6cjKJ8NscEhnepAmzMmzp7G7mkOzjZgdHXPBOX4ol/aJiWlPRzEBpHKdqJ6gSod5KdOCHHh2bV7Dvdg8OX3gZbuDBkyBFWqVPHlaXrt3FhM8NrQseNMgAkwASbABJgAE2AC/kzg+vXroOUNq1ev9mcMtuqAJHkzxNqgULnPgfI0BmVVgIAY32kO8g0TRaJP/cQyBbl4QAKFXIRIUTaPtEEkCQty8ULuV6IMKeMcYSn88belDiIederUwYIFC5A2bVq/fs6tOHkWE6wYFfaJCTABJsAEmAATYAJMgAk4IeDv+yQIPEIUUC4FUCb2ys0Rqb+95QOOxARqL+6JseX7ISj9ET8LEcCRXbn/gfWKxRET5H7b29DR118U3j/BuhFmMcG6sWHPmAATYAJMgAkwASbABJiAXQLh4eEIDg7GyZMnmRAT8HkC+fLlw/r165E3b16fn6s3TZDFBG+KFvvKBJgAE2ACTIAJMAEmwAQA1K9fXzq5gQQFM66Ht+7h8O+7cePsVUQ/iML9O/fNcCPOmKkCUyJpquTIkC8bin1QDsnTpLSEX0onnj95hv0rd+D6qYu4ffUmnjx+Yhk/kyRNgrRZ0yNTgRwoUb8iEr6eyHTffv31V/z8889YunSp6b6wA/8RYDGBnwYmwASYABNgAkyACTABJuBFBPbs2YNevXohLCzMFK8Prw3D4VW7kDVhAJInSoTkiV5HotcSmOJLnCT95Us8fPEMj54/w5UXT1C8fkW8Vau0JXwTTpza+Td2zF2DHEmSI1nCGH6JEyS0jI9PX77Aw+fP8PjFC5yPfoDKbeoif/m3TPevZMmSmDJlCoKCgkz3hR2IIcBiAj8JTIAJMAEmwASYABNgAkzAiwi0a9cOn376KcqUKWO413sXbUbk3nDkSZTM8LHVDPjP8yhkLV0YJRpVVdNd8z5Hfw/D6Y37UDCJNSsm7E04/OlDFHy/FN6sVUpzHu4Y3LlzJ+bOnQvaQ4EvaxBgMcEacWAvmAATYAJMgAkwASbABJiAUwK3b99G/vz5cevWLadttW5weN0eXNx0EHle9w4hQcz/n2ePkKtmEN6qaW4yTBUJx37djoIB3iMkCIYnH9/H202qIl+Zolo/Vm7ZS506NS5evIhUqVK51Y8b60OAxQR9uLJVJsAEmAATYAJMgAkwASagOYE5c+Zg27ZtmD17tua24zNIeyQsHzITQanTGzquVoPtvXMDDUd2MG0PBdojYW63b1EuY1atpmS4nZ2Rl9H2x75ImMi8JRktWrRArVq10Lx5c8PnzwPGJcBiAj8VTIAJMAEmwASYABNgAkzASwh89NFHoISqQYMGhnq8e+EGPD5wFlmTpjB0XK0Guxz1EMlL5kXZpjW0MumWnb3LtuJB2ClkSeJdVR3ySV5+GoXAcoUQVL+SW3PXsvEvv/wC+rNkyRItzbItlQRYTFAJjrsxASbABJgAE2ACTIAJMAGjCSRKlAhPnjxBwoTGfju8cvhsZHz0EoFJAoyesibj3Y2OxvWUCREc0loTe+4aWf31fKS58wRpA5K629Uy7W8/foy76QPwQT/zqgLo2aelDtHR0Zbh4s+OsJjgz9HnuTMBJsAEmAATYAJMgAl4DYE1a9Zg8uTJ+P333w33eVHvUBRNFohECaxxaoO7AJ6/fIljUXfReFw3d7tq0n5u12/xbtqMSGywCKSJ8/8aefriBQ7duYGWoZ9radZtW7TM4YsvvkDNmjXd7ssdtCXAYoK2PNkaE2ACTIAJMAEmwASYABPQhcDw4cMlu4MHD9bFfnxGp7UdhUq5chs+rpYDbo84hw6zBmpp0mVbvsCPJmsmQwF7yJAhCAgIwIABA1zmzw31IcBigj5c2SoTYAJMgAkwASbABJgAE9CUQOfOnVGsWDF06tRJU7uuGJOS4dx5XWlq2Tbbz/1jrpjg5fwkMcFEhuLBouqcEydOIDQ01LLPmr84xmKCv0Sa58kEmAATYAJMgAkwASbg1QTq16+PNm3aIDg42PB5kJhQOW8+w8fVcsBt/5wxVUzwdn4UCzMZimdh+fLlmD9/PpYtW6bl48G2VBBgMUEFNO7CBJgAE2ACTIAJMAEmwASMJlCmTBl89913KF26tNFDQxIT8uc3fFwtB9x2+rS5YoKX85PEBBMZimdhz5496NWrF8LCwrR8PNiWCgIsJqiAxl2YABNgAkyACTABJsAEmIDRBHLmzIkdO3YgR44cRg8dIyYULGD4uFoOuC38lLligpfzk8QEExmKZ+H8+fOoXLkyIiIitHw82JYKAiwmqIDGXZgAE2ACTIAJMAEmwASYgNEESpYsKX0bS8dDGn2RmFClUEGjh9V0vK0nw00VE7ydHwXDTIbiYXj+/DnKli2LvXv3avp8sDH3CbCY4D4z7sEEmAATYAJMgAkwASbABAwn8Nprr+HVq1eGj0sDSmLCm4VNGVurQbceP2GumODl/CQxwUSG8ufAzHdBq+fRF+ywmOALUeQ5MAEmwASYABNgAkyACfg8ATMTKElMKPqmVzPeevS4uWKCl/OTxAQTGbKYYL3Xj8UE68WEPWICTIAJMAEmwASYABNgAnEImC0mVH27iFdH5Y+/j5kqJng7Pwq+mQxZTLDe68digvViwh4xASbABJgAE2ACTIAJMAHriQnFinp1VP44fNRcMcHL+UligokMWUyw3uvHYoL1YsIeMQEmwASYABNgAkyACTAB64kJ777t1VH54+Df5ooJXs5PEhNMZMhigvVePxYTrBcT9ogJMAEmwASYABNgAkyACVhOTKhWophXR2XL/sOmignezo+CbyZDFhOs9/qxmGC9mLBHTIAJMAEmwASYABNgAkzAemJCyXe8Oipb9h4yV0zwcn6SmGAiQxYTrPf6sZhgvZiwR0yACTABJsAEmAATYAJMwHpiQql3vToqW/46aK6Y4OX8JDHBRIYsJljv9WMxwXoxYY+YABNgAkyACTABJsAEmIDlxIT3yhT36qhs3nPAVDHB2/lR8M1kyGKC9V4/FhOsFxP2iAkwASbABJiAZQm8evkc967uwpP75xB97yxePHuAJw+vWNZfsxxLkjwLEiZOhYDUeRCQKg9SZSmP1xIkNMsdaVx/j50VY+LuA2H20ZDvlQty12WErl6IiSvnxen3bbt+CC5TTbqfPX0W6e/7zxzDirDNGNS4IwISJ3F7LGcdNu/eZ66YoIKfszkZfd9MhiwmGB1t5+OxmOCcEbdgAkyACTABJsAEADyI3Itrx2YgeersSJI8PQKSZ0JAisxImCgx81EQePH8CaIfRiL6Ef25iah7F5G5aAekzFjCFFYcO8BqMVHzIJguJlQo6bbbob8tlPp0+7CZ3b50P3uGzAgu8x72nyYxYRMGNemkj5iwc6+5YoIDfiv3bMYX00fH4dOzfiuJG92/eOOa9HdnjJS2vv2URJv3XI6bPB72Om02kSGLCS6H0bCGLCYYhpoHYgJMgAkwASbgvQSuHPoOL57eQvbCwd47CRM9f/XqJS6dWIWEARmRtVh3Qz3h2NnHbWZM1D4AZosJ1SuWctv10FULYsSEes3j9F0ZthmfT/9G+nz8p/3xRvpMWB62CSkCkmP6uiWoVDQI4zsMQJoUqdwe116HTTv+MlVMcMSPOOw9fQRfNulsV0Sh+xdvXJUY7j99VGJkry21IzFGMLvz8D4+n/Y16petjuCyrgkKFK/sGbI4bG8mQxYTNHkNNDXCYoKmONkYE2ACTIAJMAFfI/AKF/d+hZSB2RGY+S1fm5zh87lz9TAe3b+GN4IGGjA2x84VyMbGxBWPHLcxXUyoXNrtCYSu/FdMCI4rJpAxup89Y0zySolyo5E9sWTQRBTJmR9f/TwFmQPTo5uDvu46s2nbn+aKCQ74SWLCqSP4smlcMUEwobn2atAaZd98B8t3k+CSDNPXLkGlt4IwvuNASXCxx1rYrlOyMtbs3SaNQRexLVngLYn72asX8d2KeShdqBhC5k6MEXc6DrArKJjJkMUEd594/duzmKA/Yx6BCTABJsAEmIDXEqBvtZMmT400LCRoFsM7Vw/h8eMo3SsUOHauh8yomLjukf2WposJVcu6PYXQFfMxYdnsWP0K58iLSV0HI0+W7KD7kphQrjr2nzqK0JXzMb7TQKRJmRord2/CxetX0a1+C7fHtddh0x9h5ooJDvjRPPeGH8GXzbrYr0yQcSBGjb7qgSVfTkKRXPnx1cIfkDlNeomRuNe06odxbN15cA/fLp2FLz5uK6GhvxP/tu9/LPULO35QsiGPh9UYspigyWugqREWEzTFycaYABNgAkyACfgOgQfX/sLdC6t5aYMOIb14fDkCczVAykz67KHAsXM/aHrHxH2P4vYwXUx4r5zb0whdHrP5YrcGLe32pfvZM2ZFcHkSE45g+c6N+LJ5VympXrmLxIQrDvu668ymzbvNFRMc8KN5fj5lZJzpLBk8CSUKvBWLAzGihH9850ExgouCUfTTJ/hqwWT8vOU3yV7Tah9KPOmizxtUqCH1O3ruFC5EXkGz6sFYuGklyhZ5VxpLHg+7YoKJDFlMcPeJ17+9JcWEESNGSDMPCQmxEQgPD8fQoUMRGhqKdOnSaUrm1q1b6Natm2S/YMGCDm272s6eAZrT4MGD0bFjR0yYMAFJkybVdA7xGdOTnWGT4IGYABNgAkzAUAK08/+ZrV2Rv2QHQ8f1l8Fovf6Z/TORr3IoXkuQSNNpc+zU4dQzJuo8itvLbDGhRvXybk/l+3/FhO4OxAS6n4MqE8rXwL7wI1ixSy4mbMSF61fhqK+7zmzctMtUMcERv5W7NsZUJvwroijnRfcFB3cZyfmTHXFlS58Zf589iTJvvotVuzehUeU6yJM1B+TxsMfXTIYsJrj7xOvfnsUEAK6KBK62U4bt8ePHGDJkCNq1axevWKF/uHkEJsAEmAATYAKuEbh7eRuirm1H1gJ1XOvArdwmcDl8NVJkfQ+ps1Zwu298HTh26nHqFRP1HsXuabqYUNP9Z/X7ZXOlSXT/qJVdDHQ/B1UmVPhXTNixAV+27BZTmbCTkugrDvu6y3Xjhp3migkO+NE895782zbvOGKCjIMkJthh9GndJpj4yyw0qvqBJAqIS97+ys1IbD20R7pV5Z0yOHI2HFFPonH+2iX0/KStxFweD7tigokMWUxw94nXv73Xignim35CNHz4cFsVA30L37hxYxw+fBi1atXCwoULpUqGXbt2Se0iIyNRpkyZWNUBcpEgR44c6NWrF7JlyyZVEgj7vXv3lj6fOnUqihUrhsWLF0O0pc/o2rlzJ8qXLw/yoUePHtJnL1++lGzNnRvzDym1KVSoEJo1a4b169fb7IsqDPJF3JP772he8keEmOTJk0fqTxfN/ezZs2jUqFGsqg76vHnzmE1wxFziq8jQ/zHkEZgAE2ACTMBqBCKPz0aiBE+QLpv7R8FZbS5W9efW5b/w/FVSZCrcWlMXOXbqceoVE/Uexe5pupjwfiW3p/L9r3MwYcnMOP16NWqH7g1bY+WODegVOgITuoUgW8YsWLF9Pb5s1T1GTNixIUZMaKjNO7Jx3XZzxQQH/Giekpjw77yVsOQcJHHAASOlHWnJw9zvkSlteomhtG/Coul4EPUQQ9v2kn6e9fsSlCz0NoIr1pSGpXhJ4s6/Pyt9MZOh3Bcz3wW3XwIf7uCVYsLJkycxf/58SRCgS3zrnz59eimRpsScknpKri9fviy1O3DgALp27SqJAMrE2Z6YQHaV/ci+fDmEfDkGiRXCPvUlQWPy5MmSH1SZQEJEixYtULx4cenvFStWlHwVwsOkSZNs4gS1o35CDOjSpYvDecmXS5APci5iTPJbLBEhduS3EFnsLSnx4eedp8YEmAATYAIuEji/ZzDSZ3sXyQP/+4bLxa7czEUCj+6ex80rh5Cz9HAXe7jWjGPnGid7rfSKiXqPrCUm1KxTWaupmGJnw5ptpooJjvhRpUGvSXH/HfhfjWCEtOqBo+fC8UlIF3zeuD3KFi2O5dvXS58HJEkiVSlcjLyC7h/HCC5KW9RH3JPEgqVzpHb0GYkJQ2ZOkKoS8mSL+bde9J/QYzDq2xEUzGTIYoIpr028g3q9mKBMpuWJsnyvAGUSLadiT0wQyb78nlxMUAoXcsGA7lFlAgkEJFzI75FI4Ghs+tzevhAkEjial3z/CLkwIbd18+ZNh/tNCMFCvj+F9R5T9ogJMAEmwASMJnB2R0/kLNoYCRMlNnpovxnvxfOnOH90CfJUjPlyRKuLY6eepF4xUe9R7J5mfhs7re0o1PygilZTMcXOht+3mismeDk/CpqZDFlMMOW18T0xgRJoean+ggULpG/uKemuUCH2Wi5Rxk8JtfjWXrn5oT0xQVQHOBMTxFIFQZl8CQoKipW8K8UEpZ9yH+WigbAZ37zkVRbycSIiIqQlDiQSyEWVZMmS2ZZrCPvyZSLWe0TZIybABJgAEzCDwIm1jVG4Ql8zhvarMU/sHIPCtRdrOmeOnWc49YiJZx7919t0MeHDqlpNxRQ7G377w1wxwcv5SWKCiQxZTDDltfE+McHet+XKb+fFrOQJNH3mSDCQLwHQSkxwdAKE8vQEuY9ivwSxFEMuVpD/jioTHM1LGV3Bjj6vVq2abQ8HYXfdunXYsWOHbc8Irkyw3kvJHjEBJsAErECAE1JjoqBH4sqx8yx2esTEM4+sIybUCq6m1VRMsbN+5RZTxQRv50dBM5MhiwmmvDbeJybI9x+QLxOgjQwpCZcnwPKTEpRLD6gdJeH0X/k+C1qICeSXfL8BsUEi7ZMg36OAqijiExPIt7Fjx0p7OdjznxL/L7/8Eu3bt7ftBSGfl/KYTOFH5syZbfsiyMUNuZgQFRUlVXTQ0gte5mC9l5M9YgJMgAmYSYATUmPo65G4cuw8i50eMfHMIwuJCQ2qazUVU+ysX77JXDHBy/lJYoKJDFlMMOW18T4xgTxWlvbLS/FFci5OURDLHKif/NQD+UkFWlQmiNMb9uzZY/c0B+FHfJUJYmNFcZoCzYE2hxTLKhyd2uBoXsroCjZCeBFMRGUC/Sw/LaJz585Yu3ZtrNMtrPeYskdMgAkwASZgNAFOSI0hrkfiyrHzLHZ6xMQzjywkJnxUQ6upmGJn/bKN5ooJXs5PEhNMZMhigimvjXeKCdZDxR4xASbABJgAE/AfApyQGhNrPRJXjp1nsdMjJp55ZB0x4f2PY44P9NZr3dINpooJ3s6P4m4mQxYTrPfmWfI0B+thYo+YABNgAkyACfgXAU5IjYm3Hokrx86z2OkRE888spCY0KiWVlMxxc66JevNFRO8nJ8kJpjIkMUEU16beAdlMcF6MWGPmAATYAJMgAmYToATUmNCoEfiyrHzLHZ6xMQzjywkJjSprdVUTLGzbtFac8UEL+cniQkmMmQxwZTXhsUE62Fnj5gAE2ACTIAJWJsAJ6TGxEePxNXM2C1cvBbNPw1Bx7YfYcLXnyNp0gAJZPjpCDRuPRCHj5yKBXbB9BFo1rg2RoyegcEjf5Tu1apeFgtnjEC6tIHGBEExih4x0WoiZh8NWbtpHa2mYoqdtT+vMVVM8HZ+FDQzGbKYYMprw2KC9bCzR0yACTABJsAErE3AzITU2mS09U6PxNWs2D1+HI1eA8Zj6qxlKPZWASyeMwoF8+eKA0y0i7hwVRINTp6KQIWa7bFzwwwUL1ZIspEtS0aE9GuvLWwXrekRExeHdtrMdDGh2QdOfbRyg7ULfzdXTPByfpKYYCJDFhOs93ZZapkDHXlIRyFOmDAB4vjGW7duoVu3bqDTCOg4RnHRsYyXL1+O01acVCBH3bFjR6ndhQsX0LhxYxw+fDhOJOQnQshvKk+OqFWrlu3IRWpHPouTGeT9du7cKR25qLzkR0GK+Tiao7Kvq+3UPGbEM0+ePNJJD3wxASbABJgAEzArIfU38nokrmbFTlQf1KxWBhu27EGfHi2kqgPltWvPIZt4UL7MO3HuU5XCrj8Pm1adoEdMtHquTRcTWtTVaiqm2Fk7f7W5YoKX85PEBBMZsphgymsT76BeKSbQMYkkDtDVq1cvm8hAyTYlwyEhIbZEXogBFStWjJUo2xMu7CXvZI+ObRRJNh0x2bVrV+loSBID7NmhNpSc07106dLFMivEB/lRl66KBK62U/OYsZighhr3YQJMgAn4LgGzElLfJWp/ZnokrmbFjpY4jJ00H3OmDMGPs36VJixf6kA/i6oEe/foMyFIlClZNE5fo54NPWKile9miwl1Wn2o1VRMsbNm7m+mignezo+CZiZDFhNMeW18T0yghFxcZ8+elcQDuuyJCfQ5tZe3E58pqyCUpOz1U9pzp5pCPm5ERIRN9FCKBMpqCKpyKF68uCScTJ06FcWKFZOqIagdzV05bxIz5s+fH6caQ15VQeLBsWPHJFGEqjKIj6hMILGGKjgmT55st7rCeo8xe8QEmAATYAJaEzArIdV6Hla3p0fiakbslCLBslV/SMKCcqmDEAvsVS3cun0XzdqHYP2mMIi9FMyInx4x0WoeposJrYO1moopdtbMWWmumODl/CQxwUSGLCaY8tr4lphACfSQIUPQrl07pE+fHoMGDcLIkSOlCgAtKxNEQk9VCcrlCvLKg3Xr1sVZmuGsMoES92rVqtkS/qioqFhLOSjRp4uEAnklBM1XLPmg+zNnzsSwYcOk5RvEpGnTpggODpbEE7ref/99qaJCVFbIl4aMGzcu1jIRUZkQFBQkLSkJDQ2NU1VhvceXPWICTIAJMAG9CJiRkOo1Fyvb1SNxNSN2SpHAkWggqheUIoN8vwXl5o1Gx0+PmGg1BzPFhEX9pqB0rXJ4PfHrWk3HUDvPnj7Dn+t3ocnoLoaOKwab12MCytetjCTJYjYl9cYrOioau1dvR8tJPU1338x3wfTJW8gBr1vmQN+aiySa9lWgJJgSc0r4hZiwfv36WIjlSwrEDWfLHOITE8gHkXCTmKDcM4EqB8QyCGWsRbVD7969pUoDWn5BSb8QCUgwkC/VkPtRqFChWO1En5s3b4L+/P333+jSpQtGjx4tiS10yYUB8rtHjx6YNGkSlixZIt0XVR3EMUWKFPjrr7/i7E9hoeeVXWECTIAJMAGDCJiRkBo0NUsNo0fiakbs5KcxyAHLT2aIb4mD6G/2SQ7kux4x0eqhMzOBWjlyLnIVzI30WTNoNR1D7dy8fB3nT59HvalvUs0AACAASURBVIEtDR1XDPb72IXImiMrMmbPbMr4Wgx6/cI1XLl0FR/0/p8W5jyyYea74JHjPtbZ68QEexseCrFAWZkgT57lmzdSDLUUE+TLJeRVBfaeFfnSCSFKUHUBVRZQ4i/EBKUgQksR5KIDzUcIKSQAVK1aFb/99pu0PGH8+PFStcbJkydj7d0gX05BYoJ8w0WyRVUQtBQiY8aMvBGjj73oPB0mwASYgLsEXE1IxWZ6wr6yPJ2SxDy5stmO/xN/d9cfR+3tJbHxnSSg1bjCjnx+amzrkbi6Gjs1/trrI5Yn5MqRJdY+B+KYSDqlgTZaFO3Kly4W66QG8QwZGbf45q5HTLRibWYCteunDXj16Clyv5VPq+kYaufs36eRKGVSlG1a3dBxxWB7l23Dk1sPvJYfzYMYJs2YGkH1K5nCUD6ome+C6ZO3kAOWEhPka/3FaQ5yQUD5rT1xlCfI9u5T8k77Byg3Q3QmJgjBQbnXgvJzpR0haMg3bZTHW7kPg1h6cO/ePZuYYO/0CuVcSUwgXrTvQWRkpFSRMG/ePCRPnlz6mSoO5BUUtAxEWZmgFBPoZ6VgYaFnlV1hAkyACTABAwm4kpBSsjh/8Rrbrvvim2f5sX5GiAmERX6MIPm1I+ygIRv4sZgACDFAKSSJpQ4N61WT4uNITLAnCJlZocBigv1/aB7deYBfh8zEe83qGPgvkXZDbVqwGp981RHJUifXzqgbll48e47ZXcahdvuP3OhlraZrpv2KdtP7IUGCBKY7xmKC6SGQHLCUmGBv4z/5Ov8DBw7EOSVBflqD2CPA6qc52Ns08tq1a7alEfLqBjkT+TIHEhPoHlU05MiRQ9o7gfh8//336N69e6xlH472TLAnJtASC0cbT1rjkWUvmAATYAJMwAgCzsQESgy79R6DoQM6oGD+XDaX5J/vO3ACzT+N2SSZEs2zEZeRIkVSrN+8R9pkb/igTjYRQL5mntqLb7MpUR0+egYir9+GvR3+KRFVigmUxA79ehpCx/VFurSBtmSX2snX41NfpT9UOUE+K78llye8ImkW37yL+dExiPbaxRcvPRJXZ7Ez4vnx5jH0iIlWPMxOoI5s+AuXj5zD25WKazUlQ+wc3rYP2d/Jj6LVgwwZz9Egp8OO4OSWAyhRs5ypfqgZfN+63ShSMwh5SxdR013zPma/C5pPyEsNWkpMIIYieT58+LCEtGPHjtKpBGJ/BOkXhn9PbxDMRfWBSKTlYgK1UR7nSJ+5UplA7ZQnK8hPRHBkR/TJli2bXV+V1Q5K/5Rj0hIHSvLF53v27JGEBxIRxL4LdF9ZiaDkqTzNwZGYEN9+EV76nLPbTIAJMAEm4CYBZwkpJfnzF61xePRfxbLvxlnaQIn2rj8PS5UMN2/dRePWAzH5275SCbxcFCDbXb8YI50EQO3E3+WihZiOPTFBXplw4dI19Og7DpPG9EaONzKj14DxEJUT9vwR36LL7corMOz5LZZuKMeVz88Rfj0SV2exc/NR8LvmesREK4hWSKAOrNqJyFMXUaxqSa2mpaudQ5v/RNYiufHOB9ZI4E9sPYBTO/5GyToVdJ23lsb/+n0nCld9BwUrvqOlWY9sWeFd8GgCPtLZcmKCj3DlaTABJsAEmAAT8GoCzhJSR2ICTdrR0gZ5gi4qEVo0qYNCBXJJRwKG9G0nCQvye5K9MTNtSymUUJ2VyCuXPMj9HjdpgWROlODLKy2oH1VS0D3lUgb5PMS9j+pVlYQKIaIoObCY4D2vA4sJzmN1dNM+HPxtJ/IUL4SUaVIhdaa0ljnlgU5tuBd5Gw/u3Mc/+0+gRP1KKFKthPNJGdjizJ5j2DrzNxQs8xZSpk2FVBnSICB5UgM9iH+o6EePce/GHTy8fR8nd/+Nah2Ckbf0m5bxjxxhMcEa4WAxwRpxYC+YABNgAkyACViKgF5igvgW356YQEsf5BctJ8iVM4vdCgjRzp5AIU/o5UsRRB+xHv+H6Uttm0Mql20IMaF3j+ZxRAJ7QoMQE6bOWhZrDvKlHPYCrEfi6ix2lnrQLOiMHjHRappWSqBoD4UjG//CjbNX8PhBFO5evaXVND2yQ8JGssAUyJA7C96uVca0PRKcTeLF8xc4uHoXIs9cwq0L1xH9MMpZF8PuB6RMhnTZMyFTvmwoXq+CJfZIUE7eSu+CYYGx4EAsJlgwKOwSE2ACTIAJMAGzCThLSF3ZM4GWJTiqUlCKCfb2XyAG8VVA0H3lMgex6Z9YPiFP/JVM5b45EhPcrUygSguqrnD10iNxdRY7V33z13Z6xEQrlr6cQP3000949OgRPv30U61w+ZWdp0+fSsvDZ8yYgYQJE/r83H35XfCm4LGY4E3RYl+ZABNgAkyACRhEwJWE1JPTHORignLPBLkgQNO1tzeDwODOnglC3Lh89bq01wMtcxCVEvGJCWr2TIh6HC0t3WjRuI60d4SjS4/ENb7YOTrpQhkPPR4zcZqDWM4ixpB/vmXbPltM5D44Eq/c8dOZMCVs6RETd/yMr60vJ1C0P9qLFy9ASTFf7hMYPnw4vvnmG+lPjx493DfgZT18+V3wplCwmOBN0WJfmQATYAJMgAkYRMAVMYFcEccCCreUxwOKZQbiNAd7yxzk+ySIZQLCjrME0J6YIJJTkcjLfZQfOehqZQLNzdEpDfL5KU9zcLbEgezqkbiqERMMeqziVJKIZyi+fTGoDYsJMRHy1QSKNlunE8pISKCN1AcNGmTUI+kz4yROnBjPnj2Tjol/+PChz8zL0UR89V3wtsCxmOBtEWN/mQATYAJMgAkYQMBVMcEAV3x6CKuICfLKhPTpAqWjNVOnSgEh7oijOuUCjHKjTHkFiaPlJSTsKIUDextaBhUvLJ3CQdfLly+RLWtGzF242nZk55Jlm2wVDMqqCqXAJT9mNL4qF/Gg6RETrR5iX02gkiVLJp1aRhclxU+ePNEKmV/YoaqEUaNGSdxSpkyJr776yuerE3z1XfC2B5bFBG+LGPsbhwD9kpEgQQLLk6HSPX9Yw2b5QBjgoLc8k69evZK+5eKLCdgjwGKCMc+FHomrmsoEpZhAx1r26dHCdrynvaUhyiSeBAS63q9RFrS5JW1emTRpQCyQyqUOyooDIVaQmCA/WtNRO6oGUfoujgKlZS3yZR0HDp+Md8kMiwnGPPPKUURVwoMHD6RbSZIk4eoEN0MhqhJEN3+oTmAxwc2HRKfmLCboBJbN6kfg0uUrWL9+A06ePIHTp07htdde4Urkbf0G1MhygVxZEfXkOQoULIiChQqjYYNgST220vXX3n2gP+EnjuPChQu4dsP6XIlf8SL5cP/RExQoVAiF3yyCRh9/ZChWEop+XrQEJ08cx6lTp5AqWWIcOXXeUB/UDBaYMjleT5wYBQvkQ4GChVGlciUULFhAjSnu44MEWEwwJqhWFRPkCbnyOM34lqoMGTUNh4+ewuB+7R1uRCmvblAuY5GLCXIfXBUTlJtfyu2zmGDMM+3uKPKqBNGXqxNcpyivShC9/KE6gcUE158RPVtaSkyIjo7G3LnzcPzYEZw6cw63797Xc+5sOx4CaQNToWD+PHizSFG0bt1aKjmzwkUJ24Y1K1GmQAYUypYS+bOlQdZ0Kazgmks+XLzxAKcu3Ub4lYdYtfs0unbrig/rfuBSX70bjR07Fs/vXkG21K+hYNZUKJg9LQJTxP5GSW8fPLF/+vIdie3ley+xdNsxjPnma7zzTjFPTLrUd9PmLQgZMgwtar2LfJmSocAbaZArU2qX+lqh0fU7jxB+6Q5OXX2Ao5ceoWjxMmjXrq0VXGMfTCbAYoIxAbCqmEDLHELH9UW6tIGxTtSQb1ppb9NGZ3tcEFXRZuTgLhg0/AfIj/KUiwlyH9wRE+T7W9B4Hdt+JG24yWKCMc+0O6NQVcLAgQOlCtPcuXNLXc+dOyeV6w8bNoz3TnAB5uuvvy79nk4CwvXr15E+fXrpVAyqPoyKss5xky5Mxa0mLCa4hUu3xpYRE9auW4+vvxmDznXfln4Rp1/I06VKqtvE2XD8BG7df4zwS7dx4fp9hK48hJBBA1CrVk1TsfXr0xuZA6LRq/7bpvqh5eAjFu1HQLqc6NN/oJZm3bL1/PlzfFivPtrWKopPKuRxq69VG999GI2+s/9E46bN8F6tOrq5OXvGVJw+shejWpbSbQyjDU9ddwJhp25jzty5Rg/N41mMAIsJxgTEm8UEe0sWSBwomD8nMqZP6/AUCzqtg6oOurT/BIt+XW8TLYi4GjFB7odkY8xMLJwxIo4QwmKCMc+0O6OUKlUKOXPmBIkKM2fOlBLg9u3bo1evXvjnn39w4MABd8z5Xdu1a9fif//7HyZPnozGjRtLS0To97p58+ZJDJcsWYL33nvPJ7mwmGCNsFpCTPht+S/YuXkNRrcpaw0q7EUcAn1nhaFKrXqoU6+BKXS6d+uKSnmS4JPKhUwZX89Bp6/5G+ejU+GrkaP0HMah7WrVa2L25zWQ04u+TXcVVL+ZO1G88gfS/2C1vsaNHYPX7vyDLxqW0Nq06fY2HziPOdsuYP6C+ab7wg6YR4DFBGPYe6OYIPZPoOS8Qs32kG/OWK1yEIoXKwRa7tCuZT3QvgXKS1Q00OaOyhMv3BET7PkhFxOSJQ1ArwHjpeG5MsGY59ndUe7fv49UqVJJ3agSgcSEoUOHSj/L77lr11/ay/c+oiWXQkzwh/mzmGCNKJsuJqxduw7bfl+Mb1hIsMYTEY8XfWbuQo0GLVCzRnVDfV326zKc2rsB/T8pbui4Rg7Wf84e1KzfHNXeq2bksBgxfDjeSf8YH5aOKS30xavukFWYNWsWMmbMqNn09u8/gBmh4zClWxXNbFrN0I9rjiFxtrfRtm07q7nG/hhEgMUEY0CbISY0/zQk1uRoGcCowV0xcPhktGhSB+I0B3vLHKIeR6NZ+xCs3xSGPp+1xP0HD6U+Eeev4mzEZYT0ay/ZpuoD+TIFJU1xpKYQIsR9R2KCECD27D2KxXNGST7a84OEDBIQSKgo9lYBDBvY0Vb9cPJUBG/AaMxjrWoUpZigyogfd2IxwY+Db+LUTRUTaI+Emu9/gO3fav+toYlMfXro8r1+xtbNG0Drs4y4aO1XSP8vMLVrRSOGM3WMFt9uwYzZcyVV2Yhr+/Yd2L12Mfp/7DvLRuxxO3PlDqb9cQ1jxk/QBCv9z7pj+7b4rn0pJA8w5j3QxHEVRr6Y+Sc6fT4A+fPlU9Gbu3g7AbPFBEpGaTf/w0dO2da808kA8mP/xFp4+pyS0GMnz2LxrxuwYPoI2ykEg0f+KIVCfEZ/l9uoVb2srSTejJgZLSaYMUdvG1OPmGjFwJe/jWUxwbOnhMUEz/hxb3UETBUTpk2bgVQPw9Gkcn513nMvwwks3HoaUYFv4tN2bQwZe/nyFTi5+zcMaFLakPHMHKT/zB2o+Ul7VKta2RA3hg8djOIZnqBumbyGjGfmIHUHr8Ss2bM1qU44cPAQpk38Bj/2MLaKxAx+U347hIAcJdCGqxPMwG/6mGaKCa4cFyi+gc6WJaP0bTiJCaLsncQF+ZGAFy5dsx0zWKhALnTrPQZDB3SQSvDFcYZ0xKAZlx6Jq5mxM4Oh1mPqEROtfGQxQSuSvmeHxQTfi6k3zMhUMeGzzz5Dk6A0KPtmVm9gxT7StznHLmPpgfuYMFGbb3mdQf161EgUSn4HDSr4/nF1s9cfQXSaIujcuZMzLJrcb/a//2Fok2LSiRi+fvWevgP1mnVEpYoVPJ7qokVLcOXvTfi8YZDHtqxuYMuhC9hwMhrfjB1ndVfZPx0ImJmQOjoRQPk5/Sw22/th+lKJAgkLoiTe3ikB79coG0tM0AGdWyb1SFzNjJ1bk7doYz1iotVUWUzQiqTv2WExwfdi6g0zMlVMqF2nLhb0qcGnNnjDk/Kvj3TKQ/OxG7F2zWpDvG7TujV6f1gARXKlN2Q8MweJEWruYsLE73R3gzbsKVO+Mv78vrnuY1lhgBlr/8bLjMXQocOnHrszdMgQlMr8BHVK+cbJF/EBuXzzAbr9uAvLly/zmBsb8D4CZiak8qoCqjIQl/Jz+bp8EhPy5MomLW+Qb/AnJy82+3O0hMKMKOmRuJoZOzMYaj2mHjHRykcWE7Qi6Xt2WEzwvZh6w4xMFRNKl6vkN8mMNzwMrvpYuvsC/Ll7u6vNPWr38ccfY0qXCsiQOplHdryh85nLtzFy+UnMnj1Hd3evX7+BTp0+xbJB+h2bqPsk3Bhg9Z4zOPogLfr37+9GL/tNe/b8DM1Kp0XJAlk8tmV1A8+ev0CdkJXYuGGd1V1l/3QgYGZCqrYyQSkm0MaA5cu8Ey8dEijkGwfqgDJek3okrmbGzmh+eoynR0y08pPFBK1I+p4dFhN8L6beMCMWE7whShbz0Ugx4cMPgzHzsyrImCa5xSho787pS7cxbMkRLFi4UHvjCovXb9xA29ZtsHp4Pd3HssIAq8JO48jdQAz6cpDH7nTr2hUty2VEqUK+LyY8ffYc1fotxc5tWzzmxga8j4CZCSlVDvToOw6TxvSW9jWg/RDoavRRddveB/b2TBBiArWVVzGIEwhaNK6DoOKFY50ywHsmxDybxGHspPnSSQniOEfl3hWOnuL4Tm4QpzbI+8o3zlTaFFUlrghBer1VLCboRTZ+u7wBo2fcWUzwjB/3VkeAxQR13Py6F4sJ+oSfxQR9uJJVFhPUsWUxQR03X+llpphADB2d2hDfaQ5yMYFskAghTnMQSxxE4iyOR4wvsTUilnokrmpiJ5J+OSetxIQdYQcx4evPIZasKDfLNIKzO2PoERN3xo+vLVcmaEXS9+ywmOB7MfWGGbGY4A1RspiPLCboExAWE/ThymKCeq4sJqhn5ws91SSkvjBvo+egR+KqJnaikiPiwlWE9G0nLQ9RignKvSh2bpgBOh2jWfsQrN8UBnvHbNrb/4LsUh8aR1SY3L33UDrWc/NvP2DJ8k1o1KC69F95hQKJEEIwcueIUHdjqkdM3PXBUXsWE7Qi6Xt2WEzwvZh6w4xYTPCGKFnMRxYT9AkIiwn6cGUxQT1XFhPUs/OFnmoSUl+Yt9Fz0CNxVRM7sXdEtcpBmL9ojVRJQMtD5MdoiuUmdGIGJfNdvxgjLYuga+jX0xA6ri/SpQ2MhdDRZppCGPioXlX0GjAe4ohP+TKHiPNXbftZyIUNGkAsg8nxRuZY/bWoetAjJlo9V74uJty5cwe9evXSCpfmdqzMn8SE/Pnzg/7rD5eVY+EP/MUcWUzwp2hrNFcWEzQCqTDDYoI+XFlMUM+VxQT17Hyhp5qE1BfmbfQc9Ehc1cROiAm9ezSXknM6VlN+jGb6dIG2agKqWpAn/XTPUzFBHOMpt0uxEEd/njwVYRM5lq36A/KlE/INO8dNWiCFkAQPtZceMVHri7KfLydQhw8fRu3atZE4cWKtcGlq5/Hjx1KiniJFCk3tammsUqVKmDdvnpYmLWvLl98Fy0K34xiLCd4ULYv4ymKCPoFgMUEfriwmqOfKYoJ6dr7QU01C6gvzNnoOeiSuamInP9VCbKg4bGBHDBk1FUMHdIAQE2g5g/xaMH1EnE0t5fftVSYIwYAEBFGZIJYzyMUEWkIhKiOWLNtkW+Jgb1NHscRCfkSo2ljqERO1vviTmKAVI73sfPfddxgyZAju3r2r1xBs1w0CLCa4AUvHpj4lJoyY8TsG/7jKhmvnjD4o/04+l/CFR1zD0GmrEdq3CW7efWj7e7pA++qjvL2jNvKBdx06gwrtx9o+WjCiLZrVLu2Sb44aifm2Cy4vNWnzYTmX5+vJwCwmeELPcV8WE/ThymKCeq4sJqhn5ws91SSkvjBvo+egR+KqJnbKIzLFcoF79x/axAT5kgc5J2enOSg3YLS3Z4I9MYEqIMiPTBnT4szZS2jXsp500kR8x3nK91VQG0s9YqLWFxYTtCLnuR0WEzxnqKUFFhO0pKnels+ICZRYX75+FxM+/wRJAxKDkv3GA6djct+mbifYrggFrrQRYSEhoeuYn7F41KcomCszHkc/Ra/xv6Diu/lUCwpkY8i039CuXnnJppEXiwn60GYxQR+uLCao58pignp2vtBTTULqC/M2eg56JK5qYqdM0EXCfy3ylu24SPmeCSQgNG49EJO/7StVLbizzEG+rwHxpmUVjsQEsdGi/NQNe0eHXr56XdrngZY5KE/1cDemesTEXR8ctecESiuS7tthMcF9Znr24HdBT7qu2/YJMcFRck4CA115sqXH2cs3EdL+A9y6+xDNQmYhpF0dSWSgRH/+mj/R+eNK+GbOegzv9CG6j12M9WHHUKtsESwc0VayQX3kn4nqhVJFcuHzCb+gWIE3bGKBHL8j35RihLxyoeNHlSRRRPof7PhfkC1joK3iYnineujdvIb0+dRl26U2m3/oiSWbDqBFndK2OYkqCGovF1lcfzQct2QxQQuKcW2wmKAPVxYT1HNlMUE9O1/oqSYh9YV5Gz0HPRJXNbGz922/fJNFqghQnuZASxyaNa4tnfpApzPQtXDGiFibMNpbkiAXBuTLGpR7MYgTJch2i8Z1pLHEJT/NQX6KBFcmGP0E+/Z4VapUwaNHj7B3717IxYQpU6ZISx5+++03lC7tWaWxbxPUb3YsJujH1h3LPiEmSP/zWvsnmofMAiXPJBrIL0rcZ67ahWEdPsSFa7elb/Sb1iqJ4MrvSP3oCiqc0+4yh2QBiaXEXSTq1J6EiUbVS0iVD31a1JSqC5SVEWJ8GrvHuMWY1LuxwwoCeRVF8UI5bAKCEA3IFokLB05esFU45Mic1uaX6EM+FsqV2SaWiM9Ff6rY0OJiMUELiiwm6EPRvtVVYadx5G4gBn05yONhu3XtipblMqJUoSwe27K6ARYTrB4hff1Tk5Dq65FvWreKmOCbdNXNSo+YqPMkbi9OoLQi6Zqdvn37YuzYmGXKuXPnRmRkpPT3qKgoUCxevnzpmiFupTkBfhc0R6rKoM+ICTR7UXVAFQR0CWGBPu82ZhGGdqgr7Ydw895D/H36Mrp8XBmj562XlgrQZW/PBEf7JyhFAlHhIJZZiGi4shxC2Zd+HjFzDWZ82QJfzVxjWw4hn4cjMYHGpUoL4Ycjv1Q9Lf92YjHBE3qO+3Jlgj5cySqLCerYspigjpuv9GIxwZhI6pG4cuw8i50eMfHMo/96cwKlFUnX7SRKlMjucYt9+vTBmDFjXDfELTUlwO+CpjhVG/MpMUFOQbm8gCoHqgUVxF/HIlA1qCB+2/E3GtcIwviFmzCyS3CsTRflAsLJiGtSYk/LHeQbLdpbpiBP4uVigrPKBKp22HHwTKz9HkjYGPtZQ0lMEFURrogJEVdvxbLFYoLqd8Pwjiwm6IecxQR1bFlMUMfNV3pxQmpMJPVIXDl2nsVOj5h45hGLCVrxU2OnX79+cUSDhAkT4vnz52rMcR+NCLCYoBFID834hJhASfagH1ZKooA84RdLEmjZAyXVx85eReTt+1JFwrzf9yB50iTSz3Tf0WkO8VUmiEoGGtNR0u5ozwS5zyRYKKsJ5JUJ7ogJ9DxwZYKHb4VJ3VlM0A88iwnq2LKYoI6br/TihNSYSOqRuHLsPIudHjHxzCMWE7Tip9aOsjqBqxLUktSuH4sJ2rH0xJJPiAkEQGy2KPZLEEseKBGnPQ1ILKC9Emh5AO2dQPsPfL/kD3RvVFXatNCRmEC25Rs2iioCsWEjHSUZn5hA/R2d5kAbKwohQ5w8YW/PBHfEBN4zwZPXwdy+LCbox5/FBHVsWUxQx81Xep3d/hlyvtUYCRMl8ZUpWW4eL54/wfkji5Gn0nea+saxU49Tr5io9yh2T06gtCLpnh15dQJXJbjHTq/W/C7oRdY9uz4jJghBYfCPq2wEFoxoazt6UVkhoFymIP9ZCAj0X1reQNUJlOwfPnXJdsKDsmLB2XIC+WkNZFe5UWR8pzm4IyaIEyroNAc6YaLLx1Uk4US5l4N7j0ns1rxngif0HPdlMUEfrmSVxQR1bFlMUMfNV3qd3zMY6bO9i+SBOXxlSpabx6O753HzymHkLD1MU984dupx6hUT9R6xmKAVO0/tiOoErkrwlKQ2/VlM0Iajp1Z8SkzwFIYv9ldWbGgxR28VE4SgJCpCtGChpQ2riAn2hDWxqamYr71TU+wJevSZo2NT3WFHzzEd8UpVRmous8QEccqM0mclP/mJLiQIistef3s8iY8QUpX3XTlRxhFTFhPUPG2+0yfyxBwkei0a6bKV9J1JWWwmty79hedIhkyFW2nqGcdOPU69YqLeIxYTtGLnqZ1hw4ZJeyfQUZF8mU+AxQTzY0AesJhgjTho5oVISqiKgq6OH1XStCqBbHqrmCCqR2gOyv01NAuAB4asLCaEtKsjLQeiS4gyomJGPmV74pVyg1E1iLxZTJBvrupo7oIb3ZcfbWuPnbwKitrT0bVygUwpTLCYoOaJ4z5E4N7l7Xh4bRuyFajDQHQicDn8d6TIWg2ps1bQdASOnXqcesVEvUfWExPuXr2FfSu248qJ84h+GKXV1NiORQkEpEiGbG/mQlCDSkidKa1lvGQxwRqhYDHBGnHwKi+8VUwQJ3ps2Rce61tukZylShGAsfM22Jay0F4Y1CdF0iRYv+c46Nt5+TfK8qUptcoWiXPih7tB9RYxgeblKLm3JybYW1KkXDZkb98RsYEqVSQ0D5kl4RRLl+JbFnT3YRQWb9iHnTP62AQQMysTnIkJYjPWz5tVx5Cpv0lH2BbMlVmarz0xQc5TuXmreObkgsOFa7fh7EQZR88qVya4+xb7VvtXL1/gzNYuyBfUHq+9lsC3JmeB2bx8+RxnD8xB3sqheC1BQk094tipw6lnTNR5FLeX2QnUzYirWD/pF7xdtSSSp06BgORJtZoa27EogehHj/Ho3gMc2rIXdXo1QbocmSzhqdnvgiUgWMAJFhMsGNAKJQAAIABJREFUEARvc8EbxQT56Rm038XMVbukjTiTBiSWNsikPSZEoipPiOnvv245gMWjPkX6wBS2zThpo8tuYxbZEj9K+uhSW4ZPfb1FTBCbm8qrFcQz7KwyISr6qcRQbIxK7S9fvytVz9DeHvKTSOSnscjFC/k37bShqvhmvnfzGnG+pRd+WVlMoOePBC6qSFA+R/bEBPln4xZstLv8Q86IGLCY4G3/ylrH3weR+3A3YiWyv1nfOk75iCcXji1D2jwfI0XGd3WZEcfOfax6x8R9j6wlJlBFwuqxC1G1yftaTIVteCGBP35ei3oDWiJVxjSme89igukhkBxgMcEacfAqL7xRTJAnbFSmTyd7tKtXXvoGmO7RUZy02SZ9Qy7/5veHpduk2IjSc5Hg0vGicjFBiwBaWUxQ7pkg39xUPnf52n3xubxqw16Vgkh0SeRxRUxQJtjiW/hRXYMxcPJKVHw3XxxRx0wxQVRVyDnJqyZExYw4VUYudNnbM0HO01GFCAk+4vlkMUGLt9O/bVw5HIqkyZIhTeZi/g1Cw9nfvnIQT54+RZa3umhoNa4pjp3reI2Kiese2W9pZgK1ecpyZMiUAemypPd0GtzfSwncvHIDt27cQrVO5gvMZr4LXho+Xdz2GzFBuZcA0dRiYzhPoyL/Zpa+JfeGyxvFBHtJrrxkXp7EKsUE+cZ/8m/L5c+UFntTWFlMsFeFYO9ZlVcmKE9QofZK4Uae9LojJigTdEqwZ3zZAl/NXCNVPcg3MaRxzRQT4lvmIKo85GKN/N8lZ/tNsJjgDf9i+oaPl/aNQvJUmZAmyzu+MSETZ3H7ygE8fngL2Ur0N8QLjp1zzEbHxLlHjluYmUDN6zEB5etWRpJkAZ5Mgft6MYHoqGjsXr0dLSf1NH0WZr4Lpk/eQg74lZigLPWlxKbrmJ+lEnaxRtnI2FAyOuGnzdKQvf73nik+qJmvt4kJ9jagU647l1cmyBNeZWWCo9Mx5CKDGqbUx9fEBJqTvc0Ah05bjdC+TWxVII4qE5TLTYSo44h1fBtDWlVMcLSM4ezlm7ZlD/GJEY6OpOU9E9S+hdwvPgJXDn+PF9GReKNwMO+hoOJRofX4l06swuvJsiLL211VWFDfhWNnn52ZMVEbTTMTqGltR6FOq3pqXed+PkJgzdxV6DBroOmzMfNdMH3yFnLAr8UEioO9b1KnLtsuhUiUIovEs1SRXPh8wi9SRcPkvk2l0njlpnzyb6udbcon1kfTWCJ5EAkYJVzy8YTgEd9mgUY9V94mJthL2OTr/okb7Zkg4q1MYncd/kdaAkEXrfenb+lp/wR5UuxPeybE95x5umeCEPfE/hTli+WVkmpHeyaQCCiqe8QyB2+pTLBXuUFs5WLWurBjiE9MsHfcKZ/mYNS/hP45zoPr+xF5bAaSpsyEgBSZEJCc/psFCRN5R2WdkVF78fwJoh9eQ/TDSEQ/ikTUg0hkKdoBKTLos0eCs7lx7ACrxcRZzOzdNzOBIjGhdvO6atzmPj5EYO2C1Swm+FA8PZ2K34sJ8m/waDMzuih5kVct0Ge0+3yfFjWltdjyTfnonvhmVSRA9jaXUy5hkK/bp36DflhpO65QJAMNqxWP8+0kbVLnaLNATx8GV/t7k5jgKGETQhJt/teoeglMX7FTmv6iDXtjHadJsX4QFY0Ne46DjtuU7xUgX8/Oyxxinh57YoIQbsR7EZ/gJpajkBBXq8ybePj4ie0doKUN9k5zEKJdsoDE0gaMVhMT7O2ZQM9L548roe+kZZjUu3GsqiQ5L2Lq7DQIwX3wj6ukGCiXb3myxItPc3D1X0X/avfq5XPcvxaG6LunEX0/Ai+ePcCTh1f8C4ILsw1IngUJkqRGQKpcCEidD6kyl9P81AYX3IjVxN9jZ8WYuBtD08WEprXddZnb+xiBtT+vZTHBx2LqyXRYTDh0Rtr07ct2ddD+q/nSt8603lpeMk3JvnyJhLzMWrnRmaMSbuUyCvoFX77RmnITNvl4ynXljjYLpM0Djbi8SUxwhYejUnGRpMn3THDFnto2VlnmoNZ/K/cza5mDlZm44huLCa5Q4jZWIRAREYGqVavi3LlzVnGJ/bBDgOPk2WNhtpjwfqNank2Ae3s9gXVL1rOY4PVR1G4Cfi8miBJ4ISbY27U+qHDOOCXtYllCfIm+/J5STLC3S/vwTvWkb2GVO97Ht0mdsq12j4ZjSywm6EOZxQR9uJJVFhPUsWUxQR037mUOgdatW2Pu3LmYPXs26O98WZMAx8mzuJgtJtRqWMOzCXBvryew/teNLCZ4fRS1m4DfiwmiLDu+o/6UCbunlQny9fpi1/n4jnKTbyBIO9472iyQKxO0ezHMsMRign7UWUxQx5bFBHXcuJfxBOjb7ty5c0sD58qVi6sTjA+BSyNynFzCFG8j08WE+u95Pgm24NUE1q/YzGKCV0dQW+f9WkxQnuYgX+8t38TM3mZ79ioTXN0zQXk8HoVUvrafKiHkezTINxAUeybY2yxQ20fDsTVfq0wwipuzcVhMcEZI/X0WE9SxYzFBHTfuZTwB8W23GJmrE4yPgSsjcpxcoRR/G7PFhJp1q3o+Cbbg1QQ2rP6DxQSvjqC2zvuVmEAJOm2iJy7lRmUioRenOYjN3lytTKClDK6c5hDf8YK0f8OwDnUx8ectSJ0iKcgX+akQJESELtkqTUG5WaC2jwaLCUbxFOOwmKAfcRYT1LFlMUEdN+5lLAH5t91iZK5OMDYGrozGcXKFkvM2posJtSs7d9KDFtFPn2DE3EnInCYDun/833Kls1cuYOjsiRjapifyZM1hG+H7pXOQPVNWvJ23ELpNGIwT58/EGX1C98GoX7Gm9Dm1H79khvT3wjnzIbTX8Fj2aBy5nf/VCEZIqx4ISJzEZteRj3ce3EPPScOx/fCfsXyQ21DaV/pGHeXzpp+F3e4NWyGo0NuxbK/YsQG9vh/ucDwPQuGw64a121hM0AOsl9r0GzHBm+IT3z4I8W0WaNQcuTJBH9IsJujDlayymKCOLYsJ6rhxL2MJiG+78+TJg7NnzyJ9+vS4efMm751gbBicjibilDdvXvzzzz8cJ6fE7DcwW0yoUbOCSs9d67Yv/AgoQabri8btkSZlaunvlIQPmzsJQ1r1iC0mLJuLHBmzIrjCf3s5rNy5EXtP/o0vW3aziQAkAHw1LxSZ0qZH949a2Wx2nzQMw9r0RFDBt6Qx5D9To++XzUXk7ZuxbDnykZL+XqFfodtHLSV7dIlxSxZ6G7VKVcLEX2ahUdUPpDko50RjSWLCv/4JYvbsinv25mrPZ9fou9Zq44adLCa4hsovWrGYYMEws5jwX1A+/DAYMz+rgoxpklswUtq6xGKCtjzl1lhMUMeWxQR13LiXcQTk33bXr18fK1asQIcOHTBt2jTeO8G4MDgdSR6nhg0b4tdff0X79u0xY8YMjpNTerEbmC4mvFfOTY/da/798nkoW+RdhB07GCMSlK8ek/hfvYBh877HkJbdkSeLrDJh+bxY7ajtyl2bsDf8b3zZvKtNTNh36ghW7NwY6zNqK//8aMQphK6YjwmdB/0nYtgZ15GPUtI/ZSS61W+BoAIxYoLw58L1K+jeoGUsGJLQsGAyShZ8W5on2aVL2c6RXUdzja+9e9Gw33rj5t0sJmgB0kdssJjgI4E0chpcmaAPbRYT9OFKVllMUMeWxQR13LiXcQTEt92tWrXCixcvsGDBAunPoEGDcP78ea5OMC4U8Y4kjxM1pFM36M/gwYM5Tm7GyGwxoXqVMm567HrzOw/v4duls/DFx21x58F9LNm+Fj0btJIEgbNXL2L4glAMbt4NebJktxkNXTkf2TNkQXC5GNFBSrB3b8LeU0fw5f+62MQEe+2ordxumpSp8PmPX+PGvduY1CUk1jjCdnw+0j3q361ec5QoUFTqIgkGP/2AkgXeiuUj3VO2Jx/p6hbcIhY0e3bjmyvdczRf16PhuOWmrXtYTNACpI/YYDHBRwJp5DRYTNCHNosJ+nAlqywmqGPLYoI6btzLGALyb7vPnTuHkJAQm5jw7NkztGnThr/1NiYU8Y6ijNPQoUNtYsLLly85Tm7GyGwx4b2Kpdz02PXm+08fRdiJQ1IyTkn4dyvm4ZOK70tJPSX9I36ajJD/dY0tJqxaECMmlP3vlImVYZux7/QRDGrS+T8xwU67mIT+PoYtCEWP4BY2u9T/i+nfSI4Xzp4X33UaZLsXn49k6/NpX2PH0X2xJt2zfitpTsordNWCGPHg33vKn0V7Ybfbh81QIn+MSCEue3Ole2RLycX1SMTfcvOOv1hM0AqmD9hhMcEHgmj0FFhM0Ic4iwn6cCWrLCaoY8tigjpu3MsYAocOHULPnj0lwWDOnDlo0aKFTUxo1qyZ9HmVKlUwceJEBAYGGuMUjxKHgDJOokqBKhNatmzJcXLzmTFdTCgX5KbHrjcPXb0QE1fGlPqL69t2/RBcphrOXruIET9PQUjTzsiTWVaZsHohsqfPIrWxJdh7tmDf6aMY1Ljjf2KCnXbUXhITfpqMHvWax7IrbO0/cwyhq3/C+Pb9kCZFKsTno5T0zxiNbnX/hxL5ijj0WUr2Vy9E5J1bcXyke93qNovFQGlXfnOlnbmSEDNy8VQE5S8ai4vrkYi/5ebd+1hM0AqmD9gxVUyoXacuFvSpgXSpkvoASv+Yws17j9Hy241Y8/tqQybMeybog/n6jRto27oNVg+vp88AFrPKYoK6gLCYoI4b9zKHgFJMMMcLHtUZAaWY4Kw9349NwGwxoVrp4rqE5Oy1SxixZApCGpFY8IY0Bn32/eoFGNyki/Tz8EU/oHtdSvpj7ktJ8y/TUDJfEdQr/Z+YsOrPLdh75hgGfdLBJiaQKLDizy2xPiMb8s83HNwl2ZXbokRejEv3nPn4xawx6FqnqSQm0EW+0Ljftu0riRHC58yB6dD1g//FYjn595+kn5Wfkw9Ku6KjvbnG116L4G358wCLCVqA9BEbpooJPT/7DI2CAlHuzWw+gtP3p7Hr6GUsPXgPEyZONGSyLCbog5nFBPVcu3XtipblMqJUoSzqjXhJTxYTvCRQ7KZEgMUE73gQWEzwLE6miwlBxTybgIPeq/ZujREAGra3CQBSUjxnHLrWboIi2fNi5K8zICXhtZtIVvb/cxzDFk/BxHb9kCdTjMAgJfB2bElJvKL/2chL6DlzNIY07owSed8E/Tzil6kI+aSjzR7ZksSA1r2x48SBeH0kH4S/ZI8uMa4keJSsgslrF8UIBv/OQY7D0T05B2E3vrmSnWt3b8ViqWXQtuw7zGKClkC93JapYsK0aTOQ6v5xNKlayMsx+o/7CzcfR3S6t9GuXVtDJs1igj6YWUxQz5XFBPXsuCcT0JMAiwl60tXONosJnrE0W0yo+u5/pxR4NpP/elPCPWr5TATlfRP1gqrEMjt53WJE3ruFgQ3aSZ9Tu0W71kl/L5QtNya27hNLSJDEhH1bse+f41If2rwxVsK+bjG+W7PQYX9JYJgzFicvn5PaVCxcHONafo6krydx6mOXmo0waFEoutRqhBJ5YsQEuvafPY5hv0zF8Ead8f26RZIoIb/IPs2b5ip8E/c/q9MM/6tYG73njY/T7+ee3+Dy7evSPfnVpPz7dueuVbz+OHiExQStYPqAHVPFhKdPn6Ja9VrYOaGpD6D0jymU7bEQO7dvQcKECQ2ZMIsJ+mBmMUE9VxYT1LPjnkxATwIsJuhJVzvbLCZ4xtJ0MeGtmPJ9vvyXwB9HjrGY4L/hjzNzU8UE8mb9+vXYtPJnjG2n77m1HHPPCXwxfSdqf9wS1av/d/yO51bjt8Bigj6EWUxQz5XFBPXsuCcT0JMAiwl60tXONosJnrE0W0yo8mZhzybAvb2ewNbjJ1hM8PooajcB08UEmsrvK3/F1rXLMPbTytrNjC1pSuCLqX+gZr3GqFW3vqZ2nRlr07o1+tUvhELZ0zpr6vX3/zx5FT/9eRPfTfpe97nQeeyVq1b3m6qg2euP4Gn6t9Gxw6cesx0yeDDKZX2GWiVze2zL6gau3X6ELj/swLLly6zuKvvHBHjPBC95BlhM8CxQZosJlQsW9GwC3NvrCWwLD2cxweujqN0ELCEm0HQ2bNyEYcNHosuHxZArc2opeeRTHrQLtLuW6NSG8Iu3EXH9HkJXHMSIYYNRvfp/Z/i6a09t+5EjR6JoqnsILpdPrQmv6Td341E8TFkYXbt2NsTnpk2a4qtm7yJvVt8/Mq3vzF2o07gdqlSu5DHbhT8tws3jW/FZA312tPbYQQ0NbPv7IlYff4yxY8dpaJVNMQF9CHBlgj5ctbbKYoJnRE0XE/Ll92wC3NvrCWw7c5rFBK+PonYTsIyYQFN69uwZ5s6dh2NHDuPk6bO4ffe+djM10NLtWzfxOOoR0qRNj2TJkxs4snZDpUuTCgXz50XRom+jdZvWhu2RoJzB0mXLcfavdej7SQntJmdRSwPnhKFa/Rao/t5/xxvp6erQIUNQKvMT1CmVR89hLGE7eNhv+HHadGTJnNljf/bt249ZP4zHD119v5Jq6u9/I9EbQWjXtrXH3NgAE9CbAIsJehPWxj6LCZ5xNFtMqJTb939n8CxCvt97+7mzLCb4fphdnqGlxASXvbZ4w+bNm2PhwoWYP38+6O98qSdw/sJFfDd2JMa39v1vgTv9uAffjB2PwEBjKgU2bdqC42Fr0aOOb3/LcOnmQ0xYdwHfTtDmONPnz5+jU4cO+LFTKSRKmED9w+0FPUMWHUGjVp3wVlHecMsLwuX3LrKY4B2PAIsJnsXJTDFhbtdv8W7ajEhs0CbcnpHi3noQePLiOQ7fuYmWoZ/rYd4tm2a+C2456uONWUzQIcAsJmgLdeHCn3HzVBg+q1dUW8MWsjbs5wMIqloPH3xQx1CvBg4chGp5EqD6u9kNHdfIwT4ZtQ7jxk9Ezpw5NBt2164wLF0wHRPal9HMptUMzd18Cg+T50HXrl2s5hr7wwTsEmAxwTseDBYTPIuTmQnUpklLkeLiXaQOCPBsEtzbawncjX6MqJxp8V63hqbPwcx3wfTJW8gBFhN0CAaLCdpDbd+uPRqVzoiaJXJpb9xki4u3hWPv5dcw7ltz1qWXq1gFG7/5BMkDXjeZhPbDD1vwJ3IWq4TWrVtpbnzEiBHIiEh0rPO25rbNNnjwTCRGLj2Cpb8sMdsVHp8JuEyAxQSXUZnakMUEz/CbmUDdi7yNVcNmIygwg2eT4N5eS2DvnetoMKI9UqY3poo2PlBmvgteG0AdHGcxQQeoLCZoD/XVq1fo3KkjSuVKgbY1C2k/gEkWJ638G9efp8RXo742yQPg8eNo1KhVG4Obl0PNEjlN80PLgel56TMrDOWr1UaDjxtraTqWrQljx+DJrQj0/+Qd3cYw2vDi7aexeMdZLF36CxIk8O1lHEaz5fH0JcBigr58tbLOYoJnJM1OoG6euojfx/6E/CkCkSxhIl7y4Fk4vaL30xcvEPX8GU4/uoe6A1siXe4slvDb7HfBEhAs4ASLCToEgcUEHaD+a/LHKVNw7EAYKhZOjwJvpEXBN9IiaZJE+g2oseUHUU8Rfuk2Tl26gxV7IlCvQUPL7Kvx5aBByJDoAXJnCPiXbRrQP9Tect24F4VTF+/g8s0H+PbXfRjzzUhUrlRRd/eXLVuO6dOnoUW1gsiXNQ0KvJEGgSm8pwT0ybMXOPXvM3no/H0EZiuAL3r31p0bD8AEtCbAYoLWRPWxx2KCZ1ytkEDdv34Hfy7ciKtnLiL68RPPJsS9LU8gIGkSZM2fHaWb17RERYIAZoV3wfLBM8BBFhN0gMxigg5QZSaPHz+BNWt+x6nwcISfOYccWTMg8uZdTQelb7a1TqRzv5EJZy5cRcF8eVCgYEF88kkjZMuWVVO/PTW2ecsfCNu9E6fCT+Pilat4PZH2Qg2d2vL669ouqSiSPwdORVxBgX9PIGnXrq2nKNzqf+v2bfy08CeEnzyBU2fOoWDurAg/d9ktG84a6/FMpk6RDNdu3kGBvLlRoEB+VH2vOkqVDHLmCt9nApYkwGKCJcMSxykWEzyLEydQnvHzpHfVqlWxdetW6U/lyr5/opMnrIzoy++CEZSdj8FignNGbrdgMcFtZB51uHPnruaJf5UqVbBy5UqkTp3aI9/knV++fIG0adNqZs8IQ3fv3tN0mClTpuDevXvo37+/pnapgELLWHnq3O07d5DgNe2WCFy8eBH169fH/v37PXUtVv9Xr14iTZo0mtpkY0zALAIsJphF3r1xWUxwj5eyNSdQnvHzpDeLCZ7Q074vvwvaM1VjkcUENdSc9GExQQeoBpqcM2cO2rRpgyFDhmDo0KEGjuzbQ929exe5c+eWJnnu3DnDjsD0Baril+/Zs2eD/s4XE2ACcQmwmOAdTwWLCZ7FiRMoz/h50pvFBE/oad+X3wXtmaqxyGKCGmosJuhAzTomc+XKhfPnz0vJLie92sWFhJlhw4ZJBlmocZ1rRESETYShZ5OeSb6YABNgMcFbnwEWEzyLHCdQnvHzpDeLCZ7Q074vvwvaM1VjkcUENdRYTNCBmjVMiqoE4Q0nvdrERVQl0H/pYqHGda7iF2/Rg6sTXGfHLf2LAFcmeEe8WUzwLE6cQHnGz5PeLCZ4Qk/7vvwuaM9UjUUWE9RQYzFBB2rWMCmqEoQ3nPRqExd5VQILNa4zlVcliF5cneA6P27puwRoA7R33nkn1nIpR2ICtaWL9sLhy1gC9uLkSEygf+9IcKa48uWYACdQ5j0dLCaYx97eyPwuWCMeLCboEAfeM0EHqAaYVFYlcNKrDXRlVQInxa5zVVYliJ5cneA6Q27pmwQoSaVNSXv16oXPPvtMEhWUYgK1oaVVBw8eBCWq1IYvYwnYi5NSTKDYUJyWL1/OcXIhPJxAuQBJgyb0JQgJkHIR0p6YQL/jfPfddwgODmYhTAPu7pjgd8EdWvq1ZTFBB7YsJugA1QCTyqoEMSRXJ3gG315VAifFzpnaq0pgIcY5N27hPwTol/xt27ZJIkHPnj1x/PhxLFmyBIMGDcKuXbuk49vo4uVq5j4TyjiFh4fj559/xrhx43D06FGQkM9xcj1GnEC5zsqTlvTvB4kH9PzSvyH0X7mYUKxYMUlEmDhxIujv4t8bT8bkvu4R4HfBPV56tWYxQQeyLCboAFVnk46qEsSw/MuougA4qkrgpNg5T0dVCSzEOGfHLfyDgPhlX8w2ceLEePr0aazJ05GxXJVg7vPAcdKWPydQ2vKMz5oQwqgN/Z1+pzl06JB0qtKKFSukn+n6448/eBmVcWGxjcTvggnQ7QzJYoIOcWAxQQeoOpt0VJUghuXqBHUBiK8qgZNix0zjq0pgIUbds8i9fJOA/Jd9ezNkIdgacec4aRcHTqC0Y+nMklIIs9e+cuXKXJXgDKRO9/ld0Amsm2ZZTHATmCvNWUxwhZJ12sirEuhbrLJly2LdunWoXr06Tp8+LR0TSRf/UupezJRVCU2bNpVKW5MnT46goCCpPJku3lAwLld5VULOnDmRI0cO7NixA/Xq1ZO43bt3T+rEeye490xya98jEN8v+1yVYJ14c5y0iwUnUNqxdMWSMyGMqxJcoahPG34X9OHqrlUWE9wl5kJ7FhNcgGShJpTMUuJLa27pz9y5c6X/9ujRQ1oPR2IDfcNOCdy5c+d4Ey8XYyeqElq1aiXxo+qONGnSgH7BJ970yyV9TskxJ8X/QRVVCSQiEB8SFtq1a4dZs2ZhxowZaNiwobRGk/4QT3om+WIC/kzA0S/7LABb66ngOGkTD06gtOHoqpX4hDCuSnCVoj7t+F3Qh6u7VllMcJeYC+1ZTHABkkWa0Jo3Wv9G4oHY6ZsEBLmYIFwVm0RRcsdX/ARILKBEmDiSWEMXfSYXE4QF+h81sRV8/Z0tcSNm8udMLibQ3wVPEhToGDXa1Z4vJuCvBOz9ss9VCdZ7GjhO2sSEEyhtOLpjxZEQxlUJ7lDUvi2/C9ozVWORxQQ11Jz0YTFBB6gGmnQkJhjogk8O5UhM8MnJajwpe2KCxkOwOSbg1QSUv+xzVYI1w8lx8jwunEB5ztBdC/aEMK5KcJei9u35XdCeqRqLLCaoocZigg7UrGOSxQR9YsFignquLCaoZ8c9/YOA/Jd9rkqwbsw5Tp7HhhMozxmqsaAUwrgqQQ1Fbfvwu6AtT7XWWExQSy6eflyZoANUA02ymKAPbBYT1HNlMUE9O+7pPwTEL/tclWDtmHOcPIsPJ1Ce8VPbWy6EcVWCWora9uN3QVueaq2xmKCWHIsJOpCzhkkWE/SJA4sJ6rmymKCeHff0HwL0yz7tH0KbmIo9cPxn9t4zU46TZ7HiBMozfp70FkIYVyV4QlG7vvwuaMfSE0ssJnhCz0FfrkzQAaqBJkNDQ9G9e3d06dIFkydPNnBk3x7q2rVryJIlCzJlygT6O1+uE6ATMebNm8enXriOjFtqTODGqcV4eH0fXkv4Oh7f/Udj6/5jLllgXrx88QwpMpVEhvyNNJ/4rXO/48G13Xj18hmi78cca8yX+wQCUuXEawkSI1Xmckibu477BnTswQmUjnCdmBanUNF/+TKfAL8L5seAPGAxQYc4sJigA1QDTS5cuBAUw+rVq2Pjxo0GjuzbQ8mPPKS/8+U6gXLlyiEsLAx0+khwcLDrHbklE9CAwJk/uiD9GyWRJEVGBCTPBPoFji91BF69eonoh9cR/SgSNy/tR/6q2gnWEWGDkDJNTiRNmQkBKTIjQYJE6pzkXpLgE/0wElEPruLR/avIWXqYZahYIYG6e/UW9q3YjisnziP6YZRl2LAj+hAISJEM2d7MhaAGlZA6U1p9BlFh1Qrvggq3fa4Liwk6hJTFBB2gGmhy/fr1eP/996Vv0a9cuWLgyL49FIsJ6uObIkUKPHr0CDt27ECFChXUG+JL6wH1AAAgAElEQVSeTMBNAqf/6IKs+Wsgeeocbvbk5s4IPLxzDpHntiFv5e+dNXV6n4SEwAwFEJipqNO23MA9Anev/Y17t84iZ5kR7nXUqbXZCdTNiKtYP+kXvF21JJKnToGA5El1mimbtQqB6EeP8ejeAxzashd1ejVBuhyZLOGa2e+CJSBYwAkWE3QIAosJOkA10OSNGzeQMWNGacQHDx6AEjm+PCfAYoI6hmJ5CP1P886dO6Cd6vliAkYQuHHmFyR69RhpMhcxYji/HOPOtSN48VpKpM/XUPX8b51bDTy5jHTZglTb4I7xE7h58S+8liwn0uUyf8mDmQkUVSSsHrsQVZu8z4+MnxL44+e1qDegJVJlTGM6ATPfBdMnbyEHWEzQIRgsJugA1WCTpUqVwt69exESEoLhw4cbPLpvDsdigrq49u/fH6NHj0bFihWxfft2dUa4FxNQQeDczj7InLcKkqbIrKI3d3GFwOMHV3Ht3A7kLj/aleZ220SEDUTGHKWRLNUbqm1wx/gJRN27iOsX9yFX2a9MR2VmArV5ynJkyJQB6bKkN50DO2AOgZtXbuDWjVuo1qm+OQ7IRjXzXTB98hZygMUEHYLBYoIOUA02uWjRIjRt2lRaG0wb7VSqVMlgD3xvOBYT3I8piQe0e/SrV6/wyy+/4OOPP3bfCPdgAioJRIQNQM4iDXmPBJX8XOlG7/b5o8uQq9woV5rbbXNuVx/kLPox75GgmqDzjrSHwvljvyJ3+bHOG+vcwswEal6PCShftzKSJAvQeZZs3qoEoqOisXv1drSc1NN0F818F0yfvIUcYDFBh2CwmKADVBNMli9fHrt370bSpEmlCoUBAwaY4IXvDMlignuxnDt3Lvr164fIyEjQBoy7du1yzwC3ZgIeEjixtjEKV+jroRXu7ozAiZ1jULj2YmfNHN7nOKlG51ZHT+Pk1mDxNDYzgZrWdhTqtKqn1VRMs7P3yEF81L2lbfxJg75Ggxp1pZ//uXAOXYb3wfEz4bH8i69N83qfYEjXmH8rh00eg49qfIiSb70r/SzGWvb9vFiffTd/Kr4f9A3SpA40jYPagdfMXYUOswaq7a5ZPzPfBc0m4QOGWEzQIYgsJugA1QST9+7dkzZi3LNnjzR6rly58M0336BEiRLIly+fCR5595AsJjiP35kzZ3Do0CEMGzYMR48elToUL14cmzdvRmCg9/3C4XzG3MLKBIxOUm/dvotm7UOwflOYhKVj248w4evPkTRpAJT3BLfhgzohpF976Udlm1rVy2LhjBFIlzYQI0bPQJ5c2dCscW2pbfjpCDRuPRB9erSI9VmPvuMwaUxvFMyfy7DQeJqkcpyMCZWncdLKSzMTKBITajePSbq99dp79CBCJn2NySFjkDd7LkQ/icawH8ai1FvF0aD6B/jnYgSGhH6DYd36S/fpunPvLkK+/xq9WnWWfu46oi9G9BiAkkVjBAMSBq7dvI4hXfpg6pK5yJHlDckWXcs3/Y5NYdtQIFdefNaio+2zC1cv2X72NpZrF6xmMcHbgqajvywm6ACXxQQdoJpocuzYsfjqq69w//79WF688cYbyJkzJxIl4uO3EiZMKG1aSSdgZMuWDcSGkuD8+fPbmDkSE06fPo0DBw7g4sWLuHz5Mq5evYrr16/j5cuXJkbduKGfP38OYkNzl1+08SdVwwwcaL76bxwNHslKBIxMUoUQ0KJxHVtyv3DxWuwIOygJClGPoyWhIaRvO5Qv846E6fHjaPQaMB4tmtRBoQK5pPvK/vMXr5EEhXUbw3A24rJNeNi15xCGj56BYkULYNjADpJgQZ/NX7TGJmAYFQtPk1SOkzGR8jROWnlpupjQNEaQ88ZLEg5+/Balir6LBu/9t5kmCQgT5k/FiG79cPveXQz5YSyGdeljExNEv4/+FQgmLZyOSf1HIk2q/7N3LnA2lP8f/6yUO+tS7vcKUXIplXuF/JNE4ZdIKHIrJaXcFSVRiBRRqFDy20pU7oRSqF8XuSeUsIvF5rb/13e2WbPjnD1zzs4zZ2bOZ14vL7vnPPN9vt/3d87seT7zfZ4nTeTXBIh/zzlyLAkLvvoMQ3s8qb037t03ULvq9UhYsUSzL+e8Nuct3HL9Dbihatq9zGvH5+9/TjHBa0lT6C/FBAVwKSYogOoCkzNmzMAXX3yhTX34/fffXeCR+12QbQxHjRqlLR7466+/okqVKqhUqZL285dffqktbrlmzRr3B+KQh6VLl9amNDRp0gT333+/NsWGBwlEi4CTg1SjcCADezkCiQVGMUHa6BUHtWtWgbmqQBco5JwiheMxbPSbmDR2QHqlwnXVrsIHHy3BsIGPaJUI4oMcevWCU9yzOkhlnpzJVFbzZJeX0RYT7mjbzK5QHLez44/dGDZlLIY92h8VSwWuPgrUxvhaofzxeGzMYPydeBiTBo66yE7isSS8/M5kPPVgTy0++blP+66YkTAX7Zq1hJw/ZPIYPP7AI0F9cBxMmB0unreEYkKYzPzcnGKCguxSTFAA1WUmT548iT/++EN7gi5PlmP9OHfuHPbs2aM9YZf/f/jhB61cXz+mTp0K2SGjRo0aqF69Om644QZMmzYt/X0ZQIvIIFNJpNpDBtXZsmWLCaxS2VK0aFGtoiN37twxETOD9AYBpwapumhQ/+YaQQfyRmFAr0wwvlazemWtSmHq2wuw5otp6dULOmnpY+ioN9G1U0uUKVUs/ed5C77CrQ1rQz9fqhx0+05lKauDVObJmUxlNU92eRltMaFZmyZ2heK4nR1/7MGr772FET2eQsH8gbdZljZ9XnoWP+/alsG/D8e8hdrXVE9/beGKxXh87BDt92vKX4WJT4uwUFabNjFy2qu4p3FaBcfXP2xE3/ZdIe3luPbKKpj3RQL6dXgYOXN4cyHLJR99STHB8avXvR1STFCQG4oJCqDSpOcILFq0SCvTF2FBDllMULY4LFCgAGQ9CjluuukmjB07FrLYJQ8SIAF3EXB6kJrZQD7Ymgmz3xqZQYCQqQr1mqatoSCHUVgwVjFMfzdBm97w/ZZfsWzlRvR8+F48N2IyXhjSU6tccPLI6iCVeXImW1nNk11eRl1MaHWbXaE4bmfHvj0Y/tY4DH34CVQsWTZg/1bamE/c+MsWTJw7A68+MVwTKRauTBMO5Ch1RXHUrlId0ubrH77DLdfV0v7v266L4/Hb1eGShUspJtgF0wd2KCYoSCLFBAVQadKzBPr3749XXnnlIv9Hjx6NZ555xrNx0XES8DsBpwep4VYmhOIviywapz6I0CDCgVQi7N5zQBMhpI0IC/ff1wzvzV+Svn5CKNt2vp/VQSrzZGc2gtvKap7s8jLaYkLTFo3tCsVxOyn//IORM1/DDVWqo1WDC9M1Eo8fxdj3pqL//d0h0xSGTR+PYV37oUIAwWHhqiWa3+bzh057BY+37aqds3PfHnz29TIknzqJdre10F6TPmYvXoAi8YVwVenyqF35Osfjt6vDLz5dTjHBLpg+sEMxQUESKSYogEqTniYgizFu2rQpPYbbb79dWzOBBwmQgHsJODVIFQKB1kyQ16WaQAb/+gKL5jUTdHq6UKDv7CCvG9dckKkLUt0w+a0PcTz5JO6+s4E2nUHajJ0wG7J+QnLyScfXSxA/szpIZZ6c+QxlNU92eRl1MaF5Q7tCiYqdjb/+gCHTx2FSvxGoUKIMUk7/g5HvTECxgpejz72dsXP/7xg241UMe+hx7X3zEej9hau/wMerluDVvkNQMF8BTTgY+8GbyJsrD/q17Yqcl+XQ+nkr4X3N3APN7tHaefX44vOVFBO8mjwFflNMUACVYoICqDTpaQKy4OJ1112HM2fOQHZ+kJ0bZOcHHiRAAu4l4OQgNdhuDvpuDELJvJuDkVygNRVEYOj15BjMnTlKW2BRXzfh2PHkDNMZxr8+B8nJp9C29e2Obgmp+5/VQSrz5MxnKKt5ssvLaIsJTZrWsyuUqNnZuPVHtB3WO73/fvd1QZ/WD2q/i1gw/J0JGPpg34Bigt6mz4Th+GXPdu2cBtfdiPG9B2UQCCYueEd7T7crP/93zZf49tcfMKhTb01g8Orx5RdrKCZ4NXkK/KaYoAAqxQQFUGnS8wSuvPJK7NixA7Ll4fHjxz0fDwMgAb8TcHKQKizN6yI0u/1mbVtHWcMgkFhg5m8+v/q1V6cLCXrbQBUQIjqMHDM9vS+n85rVQSrz5EzGsponu7yMuphw2y12hUI7HiXw5dKvKSZ4NHcq3KaYoIAqxQQFUGnS8wQqV66MrVu3Il++fDh27Jjn42EAJOB3Ak4PUv3OM1h8WR2kMk/OXDlZzZNdXkZbTLi90U12hUI7HiXw1Yr1FBM8mjsVblNMUECVYoICqDTpeQJVqlSBTHeIj49HYmKi5+NhACTgdwIcpDqT4awOUpknb+TJLi9la+V169ZBthV2+nizyyjcVv9Gp7tlfy4jsHT1N1EXE2Rb9ptvvhnffvuty+jEnjsUExTknGKCAqg06XkCemVCoUKFcPjwYc/HwwBIwO8EOEh1JsMUE5zhnNVespqnrPavn1+2bFmsXr0aZcpcvDigXX0Es6OJCbfUVt0N7bucwNKvN0ZdTNizZw8aNmyI3bt3u5yW/92jmKAgxxQTFEClSc8ToJjg+RQygBgjQDHBmYRndZDKPHkjT3Z5edNNN+G1115DnTp17DJp2Y6ICbfWqWm5PRv6k8CyDd9HXUxYv349+vXrp1Xp8IguAYoJCvhTTFAAlSY9T4BigudTyABijAAHqc4knGKCM5yz2ktW85TV/vXzW7VqhYceegh33323XSYt29HEhNrVLbdX1TDh2xV4cubYdPMfPDEGtSpeE3F3sm3jCx9NwwdrPkenRnfhyPGjGNK2BwrmzR+WzWB+6fZb3dhYsznxs/cisi/OJCYfw4h5b6DPnfejQtFSYflnV+NlG7dEXUxYsGAB5syZg48++siusGgnQgIUEyIEl9lpFBMUQKVJzxOgmOD5FDKAGCMQqZggOyY88PDgdFprvpiGujddHzE92dKx38BxmPr2AvTt0R4HDx3BpLEDtF0ewjmC+aXb79j+/1CkcDyGjX4zIvvii+wo0bv/GAwb+IjlbSazOkhlnsK7DqKVp3Cu1czaPvroo6hevTp69Ohhl0nLdkRMaFzjWsvtVTRM2LgC//12BcZ2egIF8+RH4olj6P/uOPRs1ha1KkQmKIiN8Z/ORr8WD2g2Izky86tqqYoY9fF03H1Do4h91H0SX0fMn4o+zf8TNTFh+aYfoy4mvP766/jll18wadKkSNLFc2wkQDHBRpi6KYoJCqDSpKcIdOvWDbLi9FtvvZXudzAxQdrKMW3aNE/FSGdJwO8EIhmkyoB91txFYW3pGIqjDNCfGzEZLwzpGbaAoNvOzK+a1StrYoWICVkRPaI1SGWeQl1BF78fDdEnfC8DnzFy5Ejt7+ugQYPsMmnZjiYmXFvVcnu7G2rCwezx6Nm0LWqVr5Ju/rtdv+C/G1fg2VZdtNdGLXwbH6xbov38fp/RWtudB/dh4pIPkC9n7gzvVbiipGZz9dZNqFyiPJ68syMWblyOIa0f1oSFhO9Wov+c8dp79Spdjzw5cqFX07YZQgvl1xN3PoBxn83G3bUbaTbFD92++P6fiQM1e+1vbpYhhqIFCuO1xe9p7z12x/3o2vju9NjEn1c79Yf47/Sx/Mefoi4mDBs2DDly5MDAgWnseESPAMUEBewpJiiASpOeIiAL45QrV05bbbpz586aqGAWE0REeOeddyAr8soCOrKoFA8SIAH3EAh3kCoDtA7dBmPwgK4ZBuVr12/GrA8WYfzoJ7Tg9CoD+VmvWti6bbdWEVAgf16tAkF/r/LV5TSbS75ah+rXXo0Xh/XCO+9/ll45oFcbyHtNb70J+fLmxuCn0wRK/Qjl16ghvfDsiNc1McFcmSC+12uaZq97l9YZYihZ/AoMeeEN7b0Rz/VA/74PpMcm/sydOcpSdYLTlQmheDBPgT+DWc2TXZ/szz//HBMnTsSiRYvsMmnZjogJja65MIi3fKJNDWXgPWXpfLz8n34omCdfQKuTv5qPv44exsCWD+GnP3ZixMK3ML7Dk2n3njmvoGvDVmhZswGM7U6dPo2RC99C7ybttHaTvpyLwa0e1qoeXvjvdDx3d1dNBHjq/fGoWa4Ket5+X4a+Q/mVcuYfjE6YgZY1G2p2AtkvUbCI1kYEhC4NW2o/y2GOQ87XfY2GkCA+rfj5l6iLCU2bNsVTTz2FJk2a2HR10UykBCgmREouk/MoJiiASpOeI9CoUSOsXLlS81tEhTx58uDo0aO47LLLcP78eU1EkENW412xYoXn4qPDJOB3AuGKCTLwHjlmenpVQiA+I1+ahn0HDmqD8u+3/IpeT47RBt1ytOv8LJ7q2xEd2jWHsd3JUynpUweknT4N4dDhJPQdMBYTxvTXRAARHerWqX6RmBDKr2DTHIz2y5QqpgkFIiDoooH4Yo5D/HD7NIdQPCQu5uniq9ctYoJ4dumll+LUqVOObw8pYkLDSpWiduv7fvev+O+mlRjYojNyXprjIj+0QfunM3F3jYaoWa4y9N9rl6uCaqUq4vmEtzGoZReUv7wkjLZETHg+YRp6355WcTDpq3kY1LIb1vy2CXuPHETP2+7VXv9k06oMv+sOhOOXiCBG+xt3/5Iej26nX7P7MX7JexC/76rRAIknjqf7F587f/rPEkc0jpVbt0ZVTEhJSUHBggW1zwCP6BOgmKAgBxQTFEClSc8R0KsTQjnOqoRQhPg+CUSHQCRigl6BkCtXzoucNg7aZTqB/nv9m2ugds0q6cJApavKwVjNEExMWPzlOuzcvS9dPJAqBePvugNGW6H8MlYmiP3V6zZpgoGcp9vRKxnEbxE+jCXzXhETmCfnRR87P8Vt2rRBhw4d0Lp1azvNhrSliQlXXhWynaoG3+/5FZOXf4SX2/ZFwdwXVyYknjyOp+ZNQM/GbVCzbGXNjcnLP0TpgkVRrWRFTFo2H4Pu6qKdK7b+u3k1Bv7fgzh15h88/8nb6H1rWsWB3u79DWlTJXo2/ldM2LwaexP/Sv89XUwI4VfKmdMYvegd3H19fRTMnT/d/prfNuOp+RMz4Kp3VXU8f08PTFmxQGsvcUhcun/xefKl/1z+8hKqUGdqd+X2bVEVE+bNm6ctvDh37tyoxM9OMxKgmKDgiqCYoAAqTXqSgLE6IVAArErwZFrpdIwQiERMyKwyIVB5vTwBr1CupCYmGBc+tCImTH7rQy0T+rSGzMSEzPwKVpkgYoJxIUnpq9ntN2PapEF4fsz09DUWvCgmME/eFhNkiuDy5csxc+ZMR+9GIiY0KF/B0T6NnSWJWPDhJDzaqDVqlrlQIbHr0H589N1ydKt/N1796gO0lEF4mUqQQfyLn7+LWmUro1rJCpi0/CMMvrMz4kVM+H0rEjavxjPNO2kVDCM/m4nejdukiQn/tlu9bQv+SDyo9SfHJ1vWZPhd9y0cv0TICGZft6f7rcch9nX/5Hz95/JFoiMmrNq1M6pigoyzmjdvrglqPKJPgGKCghxQTFAAlSY9SSBUdQKrEjyZVjodIwTCFROCzcWX9RCmv5uAZ/o9mL42QaDKhHDFBKuVCeH4Za5MCFTpYK6w8JqYEA4P5unCh91N0xwSExNRsWJFHDlyxNG70Tu9XkGNQlfgsksucbRfY2ef/LAWCT+swcute2qigDaQXzAZLa+rh7uuq4spKz/GX8cT8UyzB/DzgV0YuWgmxt3bJ00kWLkAg5s/eEFM+GGt1k4TEz5/B70bpokGejupCHhh8bt47o5OWjWD9FOz9NV4tOE9F8WfmV9NqtyAF5fMRsvr6mp2AtkXYUD3/fFb2+LVZfO09iKKaGLCv/5pYsK/P0dDTPjn3FlsSTyETpPS1sCJxpE/f37s27cP+fIFXjcjGj7Fcp8UExRkn2KCAqg06VkCwaoTWJXg2ZTS8RghEK6YIFiC7ZrQsd3/XbQWgnnNhHDFBKtrJoTyq3XLxum7ORjFBKN9mXqhryNgXLBRBtteExNC8TCvWcE8pX3g3SQmiD9du3ZFly5dULduXcfuSF9N+BB59yahQM6LpzE55oRUCPz4NZ7+75T0Ll+6+1Hcde0t2u/aU/0v52De98u032c/OFgTAHYdPoDXVy3AoGad0sSEvb8h4ce1eKZJB01MeH7Ju+jVIE1MMLbT+6pX4VrUrXgdTp5OwaP1WwUMN5hfuk8tr00TE8x+PPDOSM2e9DGm1aPaehASg7QX30VM0P0rnr+w9t4P+7bjlda9Ub5wcSfRIynlFE6WLYTbeqdVcTh9rFq1CrNnz8abb77pdNfsLwgBigkKLg2KCQqg0qRnCQSrTmBVgmdTSsdjhMCedQNRpmprxMVlCytifYcF/aTZb43UhAQ59Kf6xh0bZECu7+YwaewAbftHK9McpJ3el0w/aHbbTUhOPnXRAoy6H8H8CjbNQfdD381B+pgzbSRy58qZYStJo5igL9S4/tv/WdrNITX1PH7/6WOUvTltEcpIjkhEH+mHeRoHq3kSXm4TE7755hv06dMHGzZsiOSyieico38dQcLwGagdf3lE53v5JE0QWPoeapW6GndVSxMuYvH4NvEg7hnZDfmKxEcl/Fq1amk7hNWsWTMq/bPTiwlQTFBwVVBMUACVJj1NwFydwKoET6eTzscIgV1rn0Kx8o2QK18x10dsXMxRFy5c77SIK8cP4M9dq1C+7piI3d21pj/KVrsX2S65NGIbTp3o1TydP3cGe/73EcrXe9kpVJb6kQUYO3bsiHvuubjs3pKBCBod+m0vPnv5PVyVNx65L8ke1SkPEbgf1inf/7ENHd+7IPT1rncPHr2lZVg2/ND49LlzOHn2DLadOIoWz3ZC4fLOVkPoDOfPnw/5Jwsw8nAPAYoJCnJBMUEBVJr0NAFzdQKrEjydTjofIwT+3jYf2VOPo2Dx6q6MWKoX9KoBcXDEcz2CViW4MgAAiQc241y2eBS5MvKS4d3rnsMVpW9E7gKlXBmmH/J08uheHNy7EeVuft5VjLdt24Y777wTv/32m6N+HTuYiA1zvsSB7XuRcuofR/tmZ84TyJkrB0pcVRp1HmgatYoEibpChQpYunQpypcv7zwE9hiUAMUEBRcHxQQFUGnS8wSqVauGn376CYULF8ahQ4c8Hw8DIIFYILB9RW8Uq9AIeQvyy5vd+T5+eAcO7lmLig1fy5LpI7s+w/mUP1CkVO0s2eHJwQn8vfcbXJK7HAqVS5uu46ajW7duuPnmm7U1FHioJSAPQoYNG+b4Lhpqo/KG9alTp2LTpk144403vOFwDHlJMUFBsikmKIAaRZOpqamIi4uLogf+6HrixIno27cvWrRogU8++cQfQUUxCl6XUYQfY13vWNkHhUrUQs48RZAzbzHeD7OQf1kjISX5L6Qk/40jf25GxQZZExJ0V/ZsGIoChcohvth1WfCOpwYicOTAZiQn7UOZG4e4EtDhw4fRqVMnfPbZZ670z09Ode7cGbIt565du1CuXDk/heb6WGQryPfffx/x8dFZq8H1gKLoIMUEBfApJiiA6rDJ9+fOwzfr12Hb9h04c/oMko6fcNgD/3V34kQy/jqwDwULFUbBQkX8F6DDERWJz4+4S7Lh6quuRJ2bbka7tvc57AG7iyUCh7Z/jON/rUdctktwKmlHLIVua6y5C1bE+XPnka/YTShSMfCK8JF2uGf9YOTJXxy585fQRB8vrKEQaayqz5M1ElKS/8SJo3/gVPJhlKkzVHWXWbK/fPlyjBw5EsuWpe1gwMN+AlKVoJfXP/jgg6xOsB9xUIsNGjTACy+8gPr16zvYK7uySoBiglVSYbSjmBAGLJc1PXr0KHr16o0WtUqgdKGcuKpkPK4omMdlXtIdEkgjcDDxBH7bl4i9h1OwePNfmPT6JO67zIsjZgkkJSXhoYcewscffxyzDA7v+hTH/1yH1PNnkHJsT8xyyGrguQqUBeIuRf7it6BQuTuzas6R8ydMmIAdO3bgtdfsqXZxxGkPdaJXJeguszrBmeT16tULVatWRc+ePZ3pkL2ETYBiQtjIQp9AMSE0Ize2OJp0BE8/2Q9PtKyCq0sVcqOL9IkEghL45ffDeO3TX/Hy+InIlz8/SZFAzBGQuczDhw+HPKWVHWR4uJOAPOFt3LixVirOw14CDz/8MOrUqQNZR4GHfQSMVQm6VVYn2Mc3mCVZH2HLli2YMmWK+s7YQ8QEKCZEjC74iRQTFEB1wKTkbch91SgkOMCaXaghIILCiwu34p13ZqrpgFZJwKUEpCpBSpDlfxESRFDg4U4C+hPeGTNmQH7mYS+BO+64Q9suskOHDvYajmFr5qoEHQWrE9RdFHJ/+Oijj/Dpp5+q64SWbSFAMcEWjBmNUExQAFWxSVnUJe7AZrRvWFFxTzRPAmoJvLdyB7KXrIm27dqp7YjWScBFBPSqBN0lVie4KDkGV4xPeGUBO1YnqMlTkyZN0LZtW0ilAo+sEQhUlaBbZHVC1tgGO1sqEkREoJCghq/dVikm2E0UAMUEBVAVm+z3WB/cW7MQ6lYrqbgnmicBtQRW/bgXCVuOYex4zptVS5rW3ULAWJUgW8/K6vasTnBLdjL6YX7Cy+oEdXl65JFHkDNnTshaCjwiJxCsKkG3yOqEyNkGOlPWSDh//jynNtiLVak1igkK8FJMUABVsckWd7XE24815mKLijnTvHoCfyWeQLfXluOTTxLUd8YeSMAFBPSqhCuuuAIHDx5E7ty5cfLkSa6d4ILcGF0I9ISX1QlqkyRbMi9YsIDTfiLEnFlVgm6S1QkRwg1wmuza0L59ey62aB9SRyxRTFCAmWKCAqgKTaampqJ58zux+AV7t+lS6DJNk0CmBJo99zEWf74IcXFxJEUCviZgrEq4/S6scewAACAASURBVPbb8dVXX+Gee+7RdnRgdYK7Uh/sCS+rE9TmacWKFRgzZoz2ueC0h/BYG6/ZsmXLapUeW7duRbNmzbBkyZJ0Y6xOCI+rufXUqVOxcOFCPPvss9z+MWsoo3I2xQQF2CkmKICq2GSdWxpgw8QHFPdC8yTgDIE6fWZjw9ernOmMvZBAFAnoVQkNGzZEqVKlMGfOHMh826effhqy1S/XTohicgxdZ/aEl9UJ6nN05MgRPPPMM1i2bBleeukltGnTRn2nHu9Bv2ZFRJD7jAgLIlCuXLlSu6/IdSuvv/POO2B1QmTJnj9/vnavbtq0KV588UXEx8dHZohnRZUAxQQF+CkmKICq2CTFBMWAad5RAhQTHMXNzqJEwFiVIF/up02bpokJs2bNwvbt27VtIlmdEKXkmLoNNe+c1QnO5GnHjh3a4G3Pnj0YP3486tWr50zHHuxFhAIRDIw7jhjFBH37WREdpK3e3oOhOu7yqlWr0K9fP1SsWFETt2QnHh7eJUAxQUHuKCYogKrYJMUExYBp3lECFBMcxc3OokRAymKldFuqEqSU2/i3t0WLFtpAQI7Nmzen/xwlV2O6Wyvzzlmd4OwlsnHjRkhp+bx589CyZcv0fzly5HDWEY/1FkhM8FgIUXE3JSUFCQkJ6f9kXYQePXqgZs2aUfGHndpLgGKCvTw1axQTFEBVbJJigmLANO8oAYoJjuJmZ1EkIANVqVC4/vrrL/rbKwKDvM7S2SgmCNCe7EopuBxSMl6yZEl8/fXXaNWqlVYuLtNR5GB1gvN5OnbsWIZBnghzN910E2Qx0xIlSqB48eLaP8lZ9uzZnXfQZT1STAiekLNnz2Lfvn04cOAA9u/fr/3/999/a5/11atXZxCt8uXL57LM0p2sEKCYkBV6Qc6lmKAAqmKTFBMUA6Z5RwlQTHAUNztzCQH+7XVJIgxuBJp33qlTJ20qiggM8lT81Vdf1f4VLFgQspAdj+gR+OKLLyBVCzIY1AeEMii8/PLLtdd5kEAwArVr19bEAxGfdCFK1rGpVasWmjRpQnA+JkAxQUFy+YVGAVTFJikmKAZM844SoJjgKG525hIC/NvrkkQY3Ag079woJsjPckh1iQgKUkkiFQs8SMCNBFiZ4Mas0KdoE6CYoCAD/EKjAKpikxQTFAOmeUcJUExwFDc7cwkB/u11SSJCuBFITPCG5/Qy1glQTIj1K4DxByJAMUHBdcEvNAqgKjZJMUExYJp3lADFBEdxszOXEODfXpckgmKCNxJBL8MmQDEhbGQ8IQYIUExQkGR+oVEAVbFJigmKAdO8owQoJjiKm525hAD/9rokERQTvJEIehk2AYoJYSPjCTFAgGKCgiTzC40CqIpNUkxQDJjmHSVAMcFR3OzMJQT4t9clibBBTJgzZw527tyJwYMHY+vWrWjXrh22bNmSwfLs2bPRoUOH9NfkHLkG9GPNmjWoW7euN6DQS08QoJjgiTTRSYcJUExQAJxfaBRAVWySYkJkgLfu/hPtnn0LT3Vsig7N66QbGTntM1QoWUR7bc7nG/DA4LczdNC9dQOMf+I+5Mp5mfa6tJdjcLc7M9j4aNn3mDvqYVQqVywyB2P0LIoJMZr4GA+bf3u9cQFYWTPBLCb07dsXEyZMQKVKlbQgDx8+jN69e0MWeJTXpL3sECH/Fy5cWHtfhAYRIygoeOO68IKXFBO8kCX66DQBigkKiPMLjQKoik1STIgMsC4mFCtcAHNGdkHh+Lzp4oBRTFi9aftF4sG+g0npr5nFBPnd+H5k3sXuWRQTYjf3sRw5//Z6I/t2iAmnTp1Cv3790LFjR1SuXDmgcLB27VpNYBg/fjxy5crlDTj00tUEKCa4Oj10LkoEKCYoAM8vNAqgKjZJMSEywCImDHvzUxTImwslr4hPrywwVyaYxYTDScnoMPhtDO76f6h7/ZUZKhOkksHcPjLvYvcsigmxm/tYjpx/e72RfTvEBJn6oFcrHDp0CCNHjkyvSvAGBXrpRQIUE7yYNfqsmgDFBAWE+YVGAVTFJikmRAZYFxOGd78LQ6d+gmGPtNCmJIQSE6Q3Yxu9MkGqGWYt2pChyiEyz2L7LIoJsZ3/WI2ef3u9kflIxIRAayboayKwAsEbefeDlxQT/JBFxmA3AYoJdhMFtAWA9Pl7xsWAFHRFkzYRoJgQGUhdTJg0oD0Wr/spvaJg7OwvM6yZEKjSwCwmDHkjQXOi2c1VKSZElo70sygmZBEgT/ckAf7t9UbaIhETzGsmGCMVMYGVCd7Ivde9pJjg9QzSfxUEKCYooMovNAqgKjZJMSEywEYxIXfOy9Bv3Hx0/L86WLZxa6ZiwqmU01rb+jWu1BZpFGFh7ZYdmogw+cOVXC8hsnRQTMgiN57ubQL82+uN/NktJgRbbFGmQkyfPh3Dhw/nmgneuDRc7yXFBNeniA5GgQDFBAXQ+YVGAVTFJikmRAbYKCbI4otrN2/HyOmLUK544XShINAaCJmtmWAWGiLzLLbPYmVCbOc/VqPn315vZN5uMUGiDrabgyzQaNw+0huE6KVbCVBMcGtm6Fc0CVBMUECfX2gUQFVskmJCZIDNYoJYkSoDmbIwe2SX9K0hw93NQd8l4vUB/9EWaOQRHgGKCeHxYmt/EODfXm/kUYWYoAsKxqmls2fPppDgjUvCM15STPBMquiogwQoJiiAzS80CqAqNkkxITLAgcQEvepApjvIFAapTHhg8NsZOujeusFFW0VKg8Hd7kxvp5+3ZtpTFBTCTA/FhDCBsbkvCPBvrzfSaEVM8EYk9DLWCFBMiLWMM14rBCgmWKEUZht+oQkTmAuaU0xwQRLogm0EKCbYhpKGPESAf3u9kSyKCd7IE728mADFBF4VJHAxAYoJCq4KfqFRAFWxSYoJigHTvKMEKCY4ipuduYQA//a6JBEh3KCY4I080UuKCbwGSMAKAYoJViiF2YZfaMIE5oLmFBNckAS6YBsBigm2oaQhDxFw699eWRxw586dGDx4MGSHgXbt2mHLli0ZyJrn98s5xvn/a9asQd26dT2UjeCuUkywJ428ruzhGI4VViaEQ4ttY4UAxQQFmXbrFxoFofrGJMUE36SSgQCgmMDLIBYJuPVvr3nQ17dvX0yYMAGVKlXS0iRbG/bu3RvDhg3TXgu2M4GIEX4QFCgm2PPp5HVlD8dwrFBMCIcW28YKAYoJCjLt1i80CkL1jUmKCb5JJQOhmMBrIEYJuPVvb6hB36lTp9CvXz/INoaVK1fWdiAwCwdr167FrFmzMH78eOTKlcvTGaaYYE/6eF3ZwzEcKxQTwqHFtrFCgGKCgky79QuNglB9Y5Jigm9SyUAoJvAaiFECbv3bG2rQJ1Mf9GqFQ4cOYeTIkVp1QuHChX2ZSYoJ9qSV15U9HMOxQjEhHFpsGysEKCYoyLRbv9AoCNU3Jikm+CaVDIRiAq+BGCXg1r+9Vua262si+KkCIdhlSDHBng8oryt7OIZj5cYbb8S3334L+Zzecsst4ZzKtiTgWwIUExSk1q1faBSE6huTFBN8k0oGQjGB10CMEnj44Ycxbdo0bT2CPn36uIZCqCfIRkdlkMLKBNekztWO8LpyPj358uVDcnIyfvnlF21KEg8SIAGAYoKCq4BiggKoik1STFAMmOYdJcAFGB3Fzc5cQmDAgAF4+eWX8dhjj+HVV191iVfQpiwYd3MwL8BodFQWYwy0ZoJMhZg+fTqGDx/u+TUTevXqhcmTJ2v/Hn30UdfkyWuO8LpyNmNHjhxJn3p08OBBXH755c46wN5IwKUEKCYoSAzFBAVQFZukmKAYMM07SoBigqO42ZlLCIwePRrPPvssWrRogU8++cQlXoUnJojTwXZzkAUaRWjw+vHCCy9g0KBBGDJkiCaO8IiMQDhiQixcV5FRtH7WN998gzp16qBQoULaDiw8SIAE0ghQTFBwJVBMUABVocnU1FTceeddWDSypcJeaJoEnCNw55AEfPJJArJly+Zcp+yJBKJMICEhAXfffTeqVKmCn3/+OcreXOg+3EGfPvCT7xL6MXv2bF8ICRLPjBkz0KVLF3Tv3h1vvPGGa/LkNUd4XTmbMakomjhxIu69917Mnz/f2c7ZGwm4mADFBAXJoZigAKpiky3uaom3H2uMKwrmUdwTzZOAWgJ/JZ5Atwkr8EnCf9V2ROsk4DICJ06cQHx8PM6ePYsff/wR1apVc5mHdEcILF68GM2bN0erVq3w8ccfEwoJuJ7A9u3btTUSzp07hw8//BBt2rRxvc90kAScIkAxQQFpigkKoCo2+US/fmh9fT7Uq1ZKcU80TwJqCaz6cS8SfjiBsePGqe2I1knAhQTkS/6CBQvQuHFjLFu2zIUe0qUffvgB1atX1+af//nnn8iePTuhkICrCTRt2hRffvklSpUqhT179rDqz9XZonNOE6CYoIA4xQQFUBWbnDt3Ls7vXY//NK6iuCeaJwG1BGYv/QmXlauHtm3vU9sRrZOACwno85rFtc8//xx33HGHC72MbZekcqRs2bLYv38/3n//fbRv3z62gTB61xKQa1Sm5CxZskQTEL744gvcdtttrvWXjpFANAhQTFBAnWKCAqgOmHzwgQ54pk01VClT2IHe2AUJ2E/gf7sPYVzCL3j7nVn2G6dFEvAIgaFDh2LEiBEoUKAARo0ape0YEBcX5xHvY8PN119/Hb1790aDBg2wcuXK2AiaUXqCwKlTp7Br1y5NjBw8eDDkdzlkfQ9Z54MHCZBARgIUExRcERQTFEB1wOTx48fx1OO98ViLyhQUHODNLuwlIELCpEVb8cqEyciTh2t/2EuX1rxGQF8sTfy+4YYb8Pzzz6NYsWLamgryL3/+/F4LyVf+nj59WisZ//vvvyFber744ouOCD5SubJu3Trs2LEDBw4cwKFDhyCLMPMgARENdu/eDdn20XiUKFECM2fORJMmTQiJBEggAAGKCQouC4oJCqA6ZFIEBXla0qx6UZQqlAOVShVCUS7K6BB9dhMuAVlscesfR/D7oRQs++kQJk6aRCEhXIhs71sCUkIvFQq//vqrb2OMxcBKliwJ+Xfttdfipptu0hZzlN+DHbJ43muvvaYNCJOTk2MRGWMOk8A111yjbQN55513crHFMNmxeewRoJigIOcUExRAddjk3Pkf4tv167B123ac/uc0ko6fcNgDdkcCmRMoHJ8Pl2TPjkpXXYk6N9fFffe2JjISIIEABNavX49Vq1Zh7dq1Wvmy/kSasPxDQLYEFcFA1mIwHrJdaIcOHdJFhPr16+Pqq69GuXLltH8iQnAKjH+ug6xEkiNHDq16qXz58lkxw3NJIOYIUExQkHKKCQqgRtGklEDyy0bWE5CUlIQaNWpg06ZNWpkxj6wROH/+PFeUzhpCnk0CJOACAlJWLlUDsmXktm3b8Mcff0TkVdGiRTXRSMQCOWTOuzxZlr/hpUuX1vq49dZbI7LNk0iABEiABAIToJig4MqgmKAAKk16nsCwYcMwfPhwyOJo8jMPEiABEiABEgiXwG+//abNbZcqExEP3nvvvXQTst3kzz//DNkxQkSFEydOaLtFzJgxAzlz5gy3K7YnARIgARIIQYBigoJLhGKCAqg06WkCUpUgpYPyv1QlyJdAVid4OqV0ngRIgARcQWD16tXo2rWrVtUgR+3atbXF8kaPHo0iRYpg586dyJcvnyt8pRMkQAIk4DcCFBMUZJRiggKoNOlpAnpVgh4EqxM8nU46TwIkQAKuIyAL5sluDXLIbh3Hjh3TKhI6d+7sOl/pEAmQAAn4hQDFBAWZpJigACpNepaAsSpBD4LVCZ5NJx0nARIgAVcSkF07qlatCllPRo5s2bLhzJkzXFvGldmiUyRAAn4hQDFBQSYpJiiASpOeJWCuStADYXWCZ1NKx0mABEjAlQS6dOmiVSPIUa1aNfz444+u9JNOkQAJkIBfCFBMUJBJigkKoNKkJwkEqkrQA2F1gidTSqdJgARIwLUERDy47rrrNP9kJ4dPP/3Utb7SMRIgARLwAwGKCQqySDFBAVSa9CSBYFUJejCsTvBkWuk0CZAACbiSwLlz55A9e3bNtzZt2uDDDz90pZ90igRIgAT8QoBigoJMUkxQAJUmPUcgs6oEPRhWJ3gurXSYBEiABFxNQMQEERXatm2LuXPnutpXOkcCJEACXidAMUFBBikmKIBKk54jYKxKKFu2LGrUqIGFCxeiVatW2LRpE/bs2aPFxOoEz6WWDpMACZCAawnkypULKSkpaN68ORYtWuRaP+kYCZAACfiBAMUEBVmkmKAAKk16ioBelVCgQAGIqCBbcw0fPlz7Wf6JgDBz5kzt56NHj2LXrl2QKgUeJEACJEACJJAVAnnz5sWJEydw6623YunSpVkxxXNJgARIgARCEKCYoOASoZigACpNeoqACAVyGPf3NosJekCB2noqWDpLAiRAAiTgGgIUE1yTCjpCAiQQAwQoJihIMsUEBVBp0vMEgokJng+MAZAACZAACbiGAMUE16SCjpAACcQAAYoJCpJM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FIGZM2ciLi4ODz74YLrfwcQEaStH586dPRUjnSUBEiABEoguAfn7Ua5cOTRq1CjdkWBiQqC20fWevZMACZCA9wlQTFCQQ4oJCqDSpKcIJCUlaV/wChYsiGHDhmmigllMkC928lpiYiJ2796N+Ph4T8VIZ0mABEiABKJLQP52lC9fXhMThg4dqv1vFhP0vzWpqana3xoeJEACJEAC9hGgmGAfy3RLFBMUQKVJzxEQEUHEAjlEWLj++uuxcOFCtGrVCps3b07/UidfAKUtDxIgARIgARIIl4AICCtXrtROk5/Xr1+PlJQUVKlSBadOnUr/WzN27Fg8+eST4ZpnexIgARIggUwIUExQcHlQTFAAlSY9R0CvTjh69GhQ3wsUKMCqBM9llg6TAAmQgHsIzJ8/H23btg3pkFQm8CABEiABErCXAMUEe3lq1igmKIBKk54kYKxOCBQAqxI8mVY6TQIkQAKuIpA/f34cP348qE/169fHqlWrXOUznSEBEiABPxCgmKAgixQTFEClSU8SyKw6gVUJnkwpnSYBEiAB1xEIVZ3AqgTXpYwOkQAJ+IQAxQQFiaSYoAAqTXqWQLDqBFYleDaldJwESIAEXEcgWHUCqxJclyo6RAIk4CMCFBMUJJNiggKoNOlZAoGqE1iV4Nl00nESIAEScCWBYNUJrEpwZbroFAmQgE8IUExQkEiKCQqg0qSnCZirE1iV4Ol00nkSIAEScCUBc3UCqxJcmSY6RQIk4CMCFBMUJJNiggKoNOlpAsbqBFYleDqVdJ4ESIAEXEvAXJ3AqgTXpoqOkQAJ+IQAxQQFiaSYoAAqTXqegF6dwKoEz6eSAZAACZCAawno1QmsSnBtiugYCZCAjwhQTFCQTIoJCqBG0aQ82YiLi4uiB/7oWqoTrr/+emzevBnx8fH+CCqKUai4LlNTzyMuLlsUo7rQ9fnU88im0Bc3xSpRx1q8qmN2W35d8aGKESf06gRWJcRIwgOEqfp+GrtkGTkJXEyAYoKCq4JiggKoDptcumw5Vi5fht+2bUOBPDmx+ZedDnvgz+7+SUlBjpw5/Rmcw1HVqFIRSSdOodLVV6PRrbejcaMGEXmw6fc1+O2vH/DXsb3IfkkOHE4+EJEdu08qnLc4zp47jaL5S+HqotVRo0zdLHfh1lglsFiLV0XMbs5vli9eGgiLQOJfx1GwaL6wzmFj/xBQcT/1Dx1GQgL2EqCYYC9PzRrFBAVQHTQ56LlnER93DNVK5cPVpQqiQnE+RXcQP7sKg8DOA0nY+scR/Pj7cSRnK4gRzz9v+exz589i9vpXkT/35cibIx4FchdB3pzuutaTU5KQdPJvnEhJwvGUI+hQ5zFcku0SyzHqDb0Qq/gaa/HaFbNX8hv2hcsTSIAEIiZg1/00Ygd4oqsIjBwJDBmS0aVmzYA5c4DCha27evgw0Ls3MGwYUKmS9fOstFy7Fpg1Cxg/HsiVy8oZwKlTQL9+wNSpQPfu4Z1rrYfQrSgmhGYUdguKCWEjc8cJqefxWK/uaF79ctxRu5w7fKIXJGCRwGff7MLSnxMxbuIUAJlPyzl7/gxmrH0ZVxatgaIFyljsIbrN/jy6Bzv/2oyH6g7AJdmyW3bGi7FKcLEWb6QxezW/li9gNiQBEsgygUjvp1nu2GTgx2eBA4uA04eBU3/Ybd3d9nKVBC4rAhS/E7j2Bed9FTFBjsGDL/QtQsLOnRlfC+WZ28QEYwwSY4UKQIcOoaKw932KCfby1KxRTFAA1QGTUpFQrwwoJDjAml2oIfDphp3Y+OelGDbi37+aQbp55+uxKFOkqmeEBD0M+UK47/BWdLy5n2WAXo1VH1zHUryRxOzl/Fq+iNmQBEggywQi+fuR5U7/NZC0BVh6I5AKIPW0XVa9aSfuMkCWQ7r9G6DAtc7FEEhM0CsBRo0Cnn0WSEoC5s4F1qwBata88MRfvDS/Vr16WtsyZS5uV/ffWZkiPMjAfskSwFgFsXUr0K4dsGVLxteNlQnffw/Uq5fGJ7MKCooJzl1DjvZEMcFR3LZ0tvSrpdi04mP0v+c6W+zRCAlEi8CYj7bgxib3oVHjRgFd+H7PKuxO3InKxW+IlotZ6vfX/d+gQuGrcb2FNRS8HquAirV4w4nZD/nN0oeBJ5MACYRFIJz7aViGM2m8ZzbwXXfg3Em7LPrDziW5gVpvAWXvdyaeQGKC/lr//mmCQMmSF6oU5L19+9KmDcjAvlevNPGgSJGM0xyCtdNFho4dAREX9EF/z55pAoO8Lv+bz5dpDoMGAU89dWEqhZwrR6CKA12wkHXN5V84UyTsIs/KBLtIGuxQTFAAVbHJIc8NxC2lgTtuKK+4J5onAbUEFn2zE9/svwTDRgauI3z/m0kokq80Sha6Uq0jiqz/cWQbEpP3o90NPUP24PVYJcBYizecmP2Q35AXMRuQAAnYRiCc+6ldnX6Yg9UIwVhmywm0OWUX6cztBFozQV9jQM4UMaF+/bQBu74OgS4E6L/L+3fccUFMMAsGxna1a6eJAZMmZVyTQaoSjK/L7337AhMmAIcOpa2ZYBYTMotMqhmkgkGvlLB7HQcr2aGYYIVSmG0oJoQJzAXN27dvj1EP1ORiiy7IBV3IGoEd+5MwaM73eP+DDwIaem3pQNx8ZQvXLbZoNWpZVGv99s/Q97ZRIU/xeqwSYKzFG07MfshvyIuYDUiABGwjEM791I5O/zcE+GU0gLN2WPOfjUvyAJWeAqoOVR9boMoEvVezeKA/7Zf1FfQpC/p6BEYxQaoURHwI1K5cubSqA/MCjzL4N75uXINBFxOkuuD33y9MhQi2sKJxWsSCBWlChPgiAoZZxFBJmGKCAroUExRAVWhS9qLu0e0hTO15i8JeaJoEnCPQffLXeGPaDMTFZVyIMTX1PKasHI5GVdo654yCnlb8Mh89Gg5BNpl4GeTwS6wSXqzFayVmP+VXwUeEJkmABIIQsHI/tQvel7WApO/tsuZPOwVrAbdvVB9bOGJCtCsTzFMVgi0UaV5wUa++mD3b2UUYKSYouH4pJiiAqthknVsaYMPEBxT3QvMk4AyBOn1mY8PXqwJ2NvLT7mhzQ19nHFHUy0ffTsDgFlNDWvdDrBJkrMVrNWa/5DfkhcwGJEACthGwej+1o8NPSgMpMbZrQ7jccpUCWuwN96zw24cjJoj1rK6ZYK5aEEFg9eq0KQzdumW+ZsKjjwIvvnihuiDYmgnmrSSl3QMPACNGhLdDRfg0M55BMSGrBAOcTzFBAVTFJikmKAZM844SoJiQhtsvg02rX379Ei/FBEdvF+yMBGKKgNX7qR1Q5me+S7MdXfjCxn2yzYXiI1wxQa9OmPrvcwvZzUGmPOivr18fejeHYLs2WNnNQaYtiDAgR7BpDvKeLiDo7V54AXjuuTSxQp+ioRgtKCYoIEwxQQFUxSYpJigGTPOOEqCYQDHB0QtOQWdWvvD7STxRgJAmSYAEuejIzQAAIABJREFUAhCwcm+xCxzFBGsknRATrHnCVpEQoJgQCbUQ51BMUABVsUmKCYoB07yjBCgmUExw9IJT0JmVL/wUExSAp0kS8DkBK/cWuxBQTLBGkmKCNU5ubUUxQUFmKCYogKrYJMUExYBp3lECKsWEKePewME/D+Lp4QOQM1dOfPrRp/huw/fpv+uB6q93f/wRDHlyKNYuX5vOoFLVSnhl6liUvzKyrVitfhn0y2Az1uKVC8VKzH7Jr6M3B3ZGAjFOwMq9xS5EFBOskaSYYI2TW1tRTFCQGYoJCqAqNkkxQTFgmneUgCoxYdf2XXj3zVlaLJ0e6aiJAfLa6EGjMfD5geniQMqpFLw0dAxq1amJeo3rYUCvp9GjXw/UvLGGdm4wAcIqJKtfBv0y2Iy1eCkmWP0ksB0JkEC4BKzeT8O1G6g9xQRrFCkmWOPk1lYUExRkhmKCAqiKTVJMUAyY5h0loEpMEBFAP/bu+QOPPtEDRuGgRZsW2ttGgaFgoYIXiQny/uSxk/HcqOcQXyg+bDZWvwxSTAgbrWtOsJJjv+TXNdDpCAnEAAEr9xa7MFBMsEaSYoI1Tm5tRTFBQWYoJiiAqtgkxQTFgGneUQIqxAQRDV5/+XW0vr81RCB47cUJeOyZvpoYYK40kN91sSHpSFLAygT9/UjAWP0y6JfBZqzFK9eElZj9kt9IPgM8hwRIIDICVu4tkVm++CyKCdZIOiEm6LswlCyZ9W0TZTeGYcPStm789Vdg1ixg/HggVy5r8eqtDh8GevdOs1WmDNCvn7O7MITnbfDWFBPsImmwQzFBAVTFJikmKAZM844SUCEmSDXBgvcWoNdTvbS1EmTthDr16mhTF4yVBvKeTHG46967tPd0McG4ZkLdxnUx5vWXIqpKsDrQlHZ+GWxa/fLrl3it5thP8Tp6g2BnJBDDBKzeT+1ARDHBGkUnxIS1a9MG/XLI9omFC1vzLVAro5iQFTtGMaFSpcj9ifaZFBMUZIBiggKoik1STFAMmOYdJaBCTJBqg6d7PZMhjt4DemeY6iACghxvjH8jXSwIVJkQaJ2FcABZ/TLol8FmrMVLMSGcTwPbkgAJhEPA6v00HJvB2lJMsEbRCTFh5Ejg1luBZcuAChWADh3SfNNFhvz5gZdfBpo1A+bMAXLnTqsUqFkTmDwZ2LIFmD077bzMKhOknyFD0myvWQPUrQuIaCDnLVmS9vqIEUD//mn2p04FqlcH3nkHmDLlQmWC9NGuXVq/uk8iXIi/UhEhxwcfpJ07dy4gYoS8V69e2nvGc6xlIfJWFBMiZxf0TIoJCqAqNkkxQTFgmneUgN1iQiBBQF574dkX0LN/T23hRalU0I/SZUtBXz8h0Ln6Ogt69UK4cKx+GaSYEC5Z97S3kmO/5Nc91OkJCfifQKh7y//+9z9Uq1bNFhAUE6xhVC0myGD+uefSKhIOHQKmTweGD0+blqAPwHWhQMQAOfTB/u7daeKCnNe3LzBhQtr7gaY5LFgA7NyZNo1CFxxEoHj+eaB+/QtChG6nSJHA0xwqV05r27Fj2v/i0759aVMpvv8+TTAQoUKEDhEkZOpGz54XbImwID7LoYsm1jIRWSuKCZFxy/QsigkKoCo2STFBMWCad5SA3WLC999sylBtIMGYF16UNh1bdoR520c3VSaI4DFpTJqkPythVvruEvK7/p7Rfz3Gee/O085p26ntRVtgmhMrdoxiiv6+VGM82b0/Bo0elKFfed9c9fHS6y+mizHyfqgvv3ofdg2udV+79Hwogx96bLf/3+3aVJYt3225aItPPRZzDOF+AKzEbFe84foW7fbmqUPG6zLQtCLxV68ikp/NbYzTjszXb6BrIVRlkfl6Nn/WwuVn/Bx26NYBiYeORLx4azh9G6dvJR5JzNKisYH6Nd6PAt2TwvGVba0TCHZv+fzzz9GvXz8kJibir7/+CmnwzJkz+Pjjj9G2bdugbSkmhMSoNVAtJohgIBUJMsiXtROGDgW6dr3wNF8G6zL4lif/wUQA8VPaSVVD7doXiwmjRgHPPht6zQPj1IZgYoK8rosVuk+6ACGihtFf8VsEDLOYYI28Pa0oJtjDMYMVigkKoCo2STEhPMBbd/+Jds++hac6NkWH5nXSTx457TNUKFlEe83489rN21Gv28sY0aMlBne7M7394aRkdBj8tvb7nJFdcCgpGX3HzsWE/u1QqVyxgHbD8zQ2W9stJuhVB7J7g/GQQUPCh59oUxrkkC0gS5YumWHAHWxwk5UBhpWBpvaH/9PuaHNDX8034yKRB/YdyLCdpfG9n3/8JV04WbN8jXauVFkE2rXCfHXpg4NAA2lj5YaRo5GhLGap82p5713pA/lI4s3Kla8PIItcUSTD2hZmMeH40WNo1LRRup/6Ip1bf96Klve1zCBEhOuPlZhjUUwIdH0Yr1/JgXkrVmMlUIUry2vvG68v4zUo17xxcVRNSBw3BZWuqZS+Xoq89smHnwQU1oJdz8atYcO9FiRm44Kv4Z4fafus7jqTWb/yWTr458F0hpmJjZH6z/MCEzDfW0REePLJJzUB4dixYxgxYgQGDhxoCV+RIkVw+PBhPPPMMxg9evRF50RDTKg6Aqj8NJDtsozuHPsZWFIVuOJW4MZ3gRyXA7++BPz0b0m+tG74FXDFbcDBpcDK2y0hsKWRajHBOPVAd1ivRNCnOegLKJrFBKkOkKkK2neKTMSEQYOAbt3SBAu9vd6XcfqBvKZPTQgmJuh96QKHUYAQMcG44KMuJujVEPrUiO7dI1sUMpKEUkyIhFqIcygmKICq2CTFhPAA62JCscIFNBGgcHzetBttJmLCiGmfoVD+PJg0oH16exEZjK9TTAgvD8Fa2y0m2OOVfVasDDS169EgJhgFEXO1hPFpbKBKCt1z864V+uv6YO2KYldoL5krE/TB0IPdO2k7YuhTQ6RtIKHG3E8k8WaFtj6Iyps/HyQmXfwwiwnXXFsFv+/6PX2QqS/SKX1LhYc+1SUSX6zEHItiQqBrMJBYYB6867mrWr1qBiFNcmO85gsWis/wBF7Oq3TN1fh84efp162+Raw5v8E+O0bxQfqTqha92kcXFY3XnPE9XfyQBVzlmur33ONImJeQXpmgV0HIe3Ub3oLcefPgoUc7X7QIrD4lS/ofPejfQV9cnCaW7dy+S6uq0g/xydivVG706t8Ls9+ald6vXokl5+iVIXps8pnRK6CMFSHm+0WtOjUvqvyRNsYtdwNxMvpfpVoVXFX5ynQ7xp10dIFi609bYaw+0QWiQ38fRvVa1UNWW0Xy+XXzOfq9xSgiHDlyRHM5R44cSElJsez+3Llz0aVLF5w/f147zywqREtMuPpx4LdXLwgFZTsCNV8H9s4Dfn8vTUy4JCeQtPmCaCAiQ+230kSGI9/4R0wQcUB/qq8vcmhe88D4pF8G/vL7tGkZpyfou0HIdIVwKhP09RJ0kcGOyoRgYoLxwjWKDJYv6AgbUkyIEFxmp1FMUABVsUmKCeEBFjFh2JufokDeXCh5RXx6tUFmYsKsRRuQP29O3N2gOupef6XWobQvWig/lm/cqokMFBPCy0Ow1hQT0sgYB5vGqRpSsixfyAc+PxDFSxbPMPDIrAIhWIWGMQ+BpjlI3xvWbNAGCeaBmD4oyWwKhZWBtTnerFxJ+sBOdu4wih9mMaH+rfUCDjLlyXagqR7h+GQl5lgTE6xUxwRb30SvVhABSB/MB6oOMm4BK58NfTvYxQlLtN1b9PMDrXcSaDqUOefGJ/JSBfT8wOe1qTJyyDQgfWqNsZ34ZBQDJo+drA3qjZ9j2a5WYqxxQ42QYoJxupF5yoa5gsnYl/Fn3YbOQwQEXcSQWJ4ePgDG+GRdGeOhiyCBxAZpZ7zXCFczJ326VCChRnKjiyG6qBSMu9mvcD6jXm0r95aDSy7D22+/jZMnT2YIo2jRoihYsKDl0E6fPq1Ni5B/cuTMmTNdVBg0aBAW5c1j2ZZdDaUywSwmiO1mPwEpB4BfRqWJCSf3ADmLARsfBg4uA+S8sv8uSnhil3/EBBlUr16d8Sm9cYAvbPQ1CKSiwLxmgrwvVQu//x56zYSxabey9DUTRMSQtRlkyoIuJog/so6CLJoY6ZoJgcQEmW1jnBrBNRPs+kRFyQ7FhCiBz0K3FBPCg6eLCcO734WhUz/BsEdaaNMSQokJNSuXwV9Hjmnig0xxeG7yf9Hx/+pg0rwVFBPCS0GmrSkmpOExDzb1gbvxKZ158BVswGZloKQPAswDafM2msYtNuWcUGszWBlYB4o30kvKWN4tZe/fbfheGxzNmDJTEwn0NRNk0CIiif6aceBJMSFS+sHPs7JwabBpReapN8Yn69KjUVgwVjHo16oMjCXX/+ncPuiUg8ymPxivc12IMH7WzBUTRlvBxATzlAz9qbyVygQREgMNpI39ynSoQGKCVDIYp3no94aRr4zAG69OhV5xYF6k1pxZc650YSHYPUm4SeWILoSK/0YxROzr/oqPxl11jJ9p83v2X6nutij3007XPqtVESQkJGQQFCpWrIhPP/3UcgDbtm3DQw89pE11MB4iKshYoOm0tyzbsqthIDEhUGVC4vdA4ZuBHVPSKhhkioMcOYuniQ5+mOZgrCYwL0SoL2oog/C3/k2T7I6gTw8QFvrihubdGYLt5qCfIzs0yKHv5iAD+wceSHtN3pNFFGX6hL6A4vr14e3mEKwywdgPpznY9YmKkh2KCVECn4VuKSaEB08XE6SaYPG6n7B603aMf+I+jJ39ZdA1E6QyoUebBnjpnSWacPDr7j+xbONWtL29llblwMqE8HKQWWuKCWl0rExzMD9pDSQmGJ8MhnqSZ65MCDS4My9Sac6luQIimmJCzlw50ys3jMKBPN3WtwKV1+9o2Sx9IPP+zA9YmWDfxzndUqSVCaFcMT+d1ytppBJh/959Wgm9PoXlztZ34rMFn6VPbTHaDiW4BaqaMAoX+kBY1g6xIibIdSaHPg3Hqphg7EfONy+EqFcJBRMTjAKbfD70gXr/If01MUEXS0KJCUZ2xtzWa1xPq7KQqR3GQwQhEV2M/hsFJsmVvt6FWSwSO/p9J/FIUtA1L0JdK35433g/3b9/v7Zegi4qFCpUCHPmzMEdd9xhOdT4+HgcPXpUa58nTx6tOmHs2LHo3LkzojXNIdCaCfo6CPqaCX8uThMT9GoFmeKwZw5Qqo1/xAQrSTSvmaCfowsRxjUTrNiLxTac5qAg6xQTFEBVbJJiQniAjWJC7pyXod+4+VqFgYgDwRZgFDHhhZ5346V3l6Bry7qY99V3WtvaVcpSTAgPf8jWFBMyignBBjH6QCSzNRPMC8qFgm8WEwLNcTcOevSn+UaRwvyEN5pigj6wk6ecsrimPHU1ViZIObUsjleuYjmcPHFSG9gF29EiFDvj+1ZijrVpDsIn2LodevWLubzdzNw45UZ/z1zxIJ8XGaifTD6Bxnfcqu0+Im2kMkXWT5A8B1oPI9iaCboQ0bVPV7w2ekL6YNtcmRCumGC1MiHY03vjtS1rJ5hFjEgrE0KJCcEWlNTvC1L9Ydx215jDQItC6udJOxGAJF+ZVYmEqiAJ53PqxbaB7i26qCC7MxQrVgy7ZT9AC8fUqVPxxBNPIC4uLoOIoJ8aLTHBOM2h9jSgdFvg+17AnlkXFmAUMUEOERT++Aio+Ciw5Qmg8jMUE4QLxQQLH4B/m1BMsM7KckuKCZZRuaYhxYTwUmEUE2TxRVlIceT0RShXvDDq17gy4G4OIiZI9cKC5Ztw8MhxfPPTbm16hBx6ZYL83HvMB+nTJrQbesppTazQ7YbnaWy2ViEmZLaNmfk9oW58+m5cCMyYkUi3D7Qy0JR+QlUm6CvaB9vNIZJyYONA2sqUCfNTTuNijvoT10jizcqVH2jAYtypwigmBJqDTzEhK/QzPzfYbg7mXVWC7Z4QaMBvrrzR101ITj6Bx57pqw2y5Xhn6ruakCBVKMEqdELtTpLZmgnhigmh1kzQFw8Vn96ePCN9bQZzP/p0AL0KR2KVaT3BxATpN7M1E0KJCWLfXH1kzqvxfeNOD+YFMsVWoN1XzHk25sU8TUPd1epOy5ndT0VUmD9/Prp166ZVGYQ6ChcujNTUVIwbN06rRDAfbhATxCdZL+HSAsA3ndI8lDUTREz4eyVw7Wgg5a+0BRlltwd9bQU/THMIlT++bw8Bign2cMxghWKCAqiKTVJMCA+wWUzQBm7TPsOQNxIwe2SXTMWE73/9XdsmsnvrBpq48PufR9LFBL3KwbioowgVvca8j7mjHs6wXWR4HsdWa7vFhFDbmIXakcC8FaNkI5wSYHP2Ihlcm9clMC98pg+WjSJIIJFEL4H+atFXGbbQ0300DqTN5eN6G/PAQV+MTX/f7Fsk8Wblig8kJhh9NooJ8hTUPICkmJAV+qHPNU+dyWwNkEDWzOcHmnYTqAIi1DQGvS/z9WwUDc2fQ/NuDrKwotVpDtJO70sY1G1UN706xihgDhg+AP/b9KO2G4UcgaYJyK4JwqH3U720RUXFDzlkuoEc4ezmYEVMEJvm+0tmnPT3An02AwmQYt/IwJhjViZMwOAW/05qD/1xy7TFmjVrUE9W7wtyuEVMCLRmgogJ+s4OuUoCu6YDG7tRTMjiJRGTp1NMUJB2igkKoCo2STEhPMCBxARZULHD4Le16Q4dmtfJsBijCAJ6ZcLJlNMZ2plt6ZUIUxes0pyqfnUpCgnhpQd2ignBnq4bBYRAYoLxS6/xCaL+RNPKYnLBwnZ6cB0mftubx1q8AtBKzLE4zcH2i8snBq2sJ+GTUBlGFglYubdksYv0090iJohDssBioRuB7a8DIi6ImCDigf66Pg2ClQl2ZT927FBMUJBrigkKoCo2STFBMWCad5SAnWKCOB7ONmZ6oOYt1owrkEubYE/trYCy+mXQL4PNWIuXYoKVTwHbmBcZDLbNIkmRgJGA1fupHdSiISbY4bfTNu5LdbpH9mcnAYoJdtL81xbFBAVQFZukmKAYMM07SsBuMUGcD7aNmbwXaDqAsfQ62JoJgfa5twLK6pdBiglWaLqzjZUc+yW/7swAvSIBfxKwcm+xK3KKCdZIUkywxsmtrSgmKMgMxQQFUBWbpJigGDDNO0pAhZhgDMBcUmyc5hCo3DgrVQiBwFn9MuiXwWasxSs5txKzX/Lr6M2BnZFAjBOwcm+xCxHFBGskKSZY4+TWVhQTFGSGYoICqIpNUkxQDJjmHSVgp5gQahszfStACVDffcC4+rgs0EcxIWvpt/rl10+Daysx+ynerF0hPJsESMAqASv3Fqu2QrWjmBCKUNr7FBOscXJrK4oJCjJDMUEBVMUmKSYoBkzzjhKwU0wQx8PZxkwPNNSaCVkBYvXLoF8Gm7EWr1wbVmL2S36z8lnguSRAAuERsHJvCc9i8NYUE6yRpJhgjZNbW1FMUJAZigkKoCo2STFBMWCad5SA3WKCLihMGjMpPQ7jNmaBdnMwbiVYtXpVmBdgzAoQq18G/TLYjLV4KSZk5dPBc0mABDIjYPV+agdFignWKFJMsMbJra0oJijIDMUEBVAVm6SYoBgwzTtKQIWY4GgAITqz+mWQYoKbshaeL1Zy7Jf8hkeGrUmABLJCwMq9JSv2jedSTLBGkmKCNU5ubUUxQUFmKCYogKrYJMUExYBp3lECFBPScPtlsGn1y69f4pXcWYnZT/E6eoNgZyQQwwSs3FvswkMxwRpJignWOLm1FcUEBZmhmKAAqmKTFBMUA6Z5RwlQTKCY4OgFp6AzK1/4KSYoAE+TJOBzAlbuLXYhoJhgjSTFBGuc3NqKYoKCzFBMUABVsUmKCYoB07yjBIKJCedTz+ONlSPQqMp9jvpjd2crf5mP7g2HIFtctqCm/RKrBBhr8VqJ2U/5tfvzQXskQALBCVi5n9rFL6E48M+fdlnzp50cRYGWZOTp5FJMUJA+igkKoCo0mZqaike7dcEbPW9W2AtNk4BzBHpMWYcpb72NuLi4izqdsPRZ3HTlncibM945h2zsKTklCRu2f4Y+t40KadXrsUqAsRZvODH7Ib8hL2I2IAESsI1AOPdTOzpdci1w7H92WPKvjQLXAU23+De+WIiMYoKCLFNMUABVscn27f+DUQ/UQIXi3hxgKcZD8x4isH1/Ioa8/wPee29OQK/nfTsZ8XlLoFShqzwU1QVX/ziyDUkn/kTb2j1C+u/1WCXAWIs3nJj9kN+QFzEbkAAJ2EYgnPupHZ1ufhLYNs4OS/61cfUAoPpL/o0vFiKjmKAgyxQTFEBVbHLo0GG4qXgKmt9QQXFPNE8Cagl8tmEHNv6dB0OHDgnY0ea9a7Hn8A5cVbyWWkcUWd964FtUKFwJ1UuHriTyeqyCMNbiDSdmP+RX0ceEZkmABAIQCOd+ahfADy8DUs/YZc1fdrLlBNqc8ldMsRgNxQQFWaeYoACqYpPLV6zEt199jAH3XKO4J5onAbUEXlzwE25p3hYN6tUN2tGsdeNRqnBlFC1QRq0zNlv/M2k3DiRtR4c6j1m27NVYJcBI4y1ZuBKKFShrmZGbGoYbs+TXy/G6iT19IQE/Ewj33mIXi8TvgeX1gXMn7bLoDzvZ8wK3rgcKVPVHPLEcBcUEBdmnmKAAqgMmhwwejDolzuLOG8s70Bu7IAH7CSSs24FNh3Nj6NChmRo/d/4cZqwdgwpFq3tm0HkgaRd2HfwBXeo9k+nCi+bAvRirxJCVeN9e+xIqFr3eM7nVcxZJzJJfr8Zr/x2AFkmABAIRiOTeYifJxM3AspuA8//YadW7tqQi4bZvgPhrvRsDPb9AgGKCgquBYoICqA6ZfKJ3D9xapQBa3FTRoR7ZDQnYQyDh621Yvf0EXn5tsiWD58+fw5wNE5AnZzzy5iyI+NyXu25RRlksK+nk30hOScTJf47i/jp9wxISdBBeiFV8jbV47YrZK/m19MFkIxIgAVsI2HU/tcWZf41sfAQ4tBo4cwxI2W+nZffbylkcuLQAUKQBUHuq+/2lh9YJUEywzspyS4oJllG5suGwIYOR++wRVCudD5VKFULFElyU0ZWJolOQxRa37j2CH38/jn9yFMHQ4SPCprJl79fY+tcP+PPo78h+yWU4nHwgbBsqTiictzjOnjuNYgXKoFLR6pbWSAjlh1tjFb9jLV4VMbs5v6GuTb5PAiRgHwEV91P7vKMlEvAXAYoJCvJJMUEBVIdNLl+5CiuXL8XWrb8hf+4c2PzLToc9YHckkDmBGlUq4tjJf1Cp0tVofFsTNKgffI0EqyzPp56P6Mm/0f7EiRNRunRptGrVymq3AdvZ4UtmDthh/9y5c+jatSumTp2KHDly+D5eCXDMmDGoUaMGmjRpkqV45WQ7chDMCZW2sxw4DSglsG/fPrzwwguYPNlalZZSZ2g8KgT4+Y8KdnYaowQoJihIPMUEBVCjaDI1NRVxcXFR9MAfXZ88eRIfffQR2rdvj0svvdQfQUUxCjdel+JTtmzZUKhQIRw+fDiKdJzpWoSTp59+WvsXap0KZzxS20tiYiKKFy+Oyy+/HHv37lXbGa2TQIQEOnXqhAULFuC9995Dy5YtI7TC00iABEiABKwQoJhghVKYbSgmhAmMzWOCwJQpU/DEE09gzpw5aN26dUzEHGtByqB6woQJyJ49O1577TV06dLF1wjy5s2LEydOaPGeOeP/vb969OiBd999VxNXZ82axc+xr69ubwb3999/o0yZMkhJScFVV12F3377zZuB0GsSIAES8AgBigkKEkUxQQFUmvQ8gQIFCuDYsWMoVaoUn2p6PpsXB6BXJejv+L06QaoSnnvuORw/flyb4jBw4EBfVydIVUKJEiW0QZoc/Bz78EPsg5CkKkGELjkKFy6Mt99+m9UJPsgrQyABEnAvAYoJCnJDMUEBVJr0NAGpShgwYACSk5ORO3duPtX0dDYDO69XJeiDTXlq7+fqBL0qQafh9+oEvSrh1KlTWsj8HPvwQ+zxkIxVCXoorE7weFLpPgmQgOsJUExQkCKKCQqg0qSnCehVCXoQfKrp6XRe5Ly5KkFv4NfqBGNVgh6rn6sTjFUJEuc//6Rtls7Psb8+x16PxliVIOvyyNQjVid4Pav0nwRIwO0EKCYoyBDFBAVQadKzBIxVCXoQfKrp2XQGdFyqEsaNG4dLLrlEm6csx549e3D69GltRXW/rZ2QJ08eLUb5XxaalAUJZbqDDLLPnj3rr+QC0KsSZPeKypUrQ8QjWYBRFlV9//33uXaC7zLuvYCkKkHELakYio+P16rgZD0TuVaLFSuGHTt2eC8oekwCJEACHiBAMUFBkigmKIBKk54lIFUJUvouA8vLLrtM+3InC7hdccUVXDvBs1nN6LgMMOvUqYNXXnlF25KtbNmyaNGiBR577DFtwLl8+XKfRAosW7YM9913H8aPHw95EipPQKX0f968eejdu7e2wGjz5s19E6/kr2bNmtpWkKNHj0afPn3QsGFD1K5dG3379tUGbwkJCb6Jl4F4k4CIli+99BJEvK5UqRKaNWuG7du3awvCynW7ePFiVK9e3ZvB0WsSIAEScDEBigkKkkMxQQFUmvQkgQ8//FAbeMnidLJYXdGiRXHw4EHt9zfeeANffvklGjRo4MnY6PQFAvIEUH9a369fP01MePzxx7UGR48ehQhKfj10MUHWTJDDjVt2ZpW9VFzI9AY5HnroIU1M6Ny5s/Z7UlKS9iSYBwlEk4CIXlLxJodUIehiQjR9Yt8kQAIkEAsEKCYoyDLFBAVQadKTBGTOqgy25JABp4gJUn4qhzzNzZUrlyfjotPBCZjFBL+zMosJfo/XLCb4PV7G5z0CFBO8lzN6TAIk4F0CFBMU5I5iggKoNOl5AmYxwfMBMYCABCgm+PvCoJjg7/z6ITqKCX7IImMgARLwCgGKCQoyRTFBAVSa9DwBigmBNiz7AAAgAElEQVSeT6GlACgmWMLk2UYUEzybuphxnGJCzKSagZIACbiAAMUEBUmgmKAAKk16ngDFBM+n0FIAFBMsYfJsI4oJnk1dzDhOMSFmUs1ASYAEXECAYoKCJFBMUACVJj1PgGKC51NoKQCKCZYwebYRxQTPpi5mHKeYEDOpZqAkQAIuIEAxQUESKCYogEqTnidAMcHzKbQUAMUES5g824higmdTFzOOU0yImVQzUBIgARcQoJigIAkUExRApUnPE6CY4PkUWgqAYoIlTJ5tRDHBs6mLGccpJsRMqhkoCZCACwhQTFCQBIoJCqDSpOcJUEzwfAotBUAxwRImzzaimODZ1MWM4xQTYibVDJQESMAFBCgmKEgCxQQFUGnS8wQoJng+hZYCoJhgCZNnG1FM8GzqYsZxigkxk2oGSgIk4AICFBMUJIFiggKoNOl5AiImXHHFFViwYIHnY2EAwQlMmTIFZ86cwS233BITmAYPHgy552fLli0m4l21ahVy5cqFEiVKKI+3Q4cOKF68uPJ+2IG/COzfvx/Dhw/H7t27/RUYoyEBEiABFxKgmKAgKRQTFEClSc8TOH/+PGTg9d1333k+FgYQnEBycjJ++eUXxMXFxQSmkydP4uzZszERqwQpn2P5p/pITU3VumjWrJnqrmjfZwTk+rz33nvxyCOP+CwyhkMCJEAC7iNAMUFBTigmKIBKkyRAAiRAAjFDoHLlyti6dSt0USFmAmegJEACJEACJOAhAhQTFCSLYoICqDRJAiRAAiQQMwQoJsRMqhkoCZAACZCAhwlQTFCQPIoJCqDSJAmQAAmQQMwQoJgQM6lmoCRAAiRAAh4mQDFBQfIoJiiASpMkQAIkQAIxQ4BiQsykmoGSAAmQAAl4mADFBAXJo5igACpNkgAJkAAJxAwBigkxk2oGSgIkQAIk4GECFBMUJI9iggKoNEkCJEACJBAzBCgmxEyqGSgJkAAJkICHCVBMUJA8igkKoNIkCZAACZBAzBCgmBAzqWagJEACJEACHiZAMUFB8igmKIBKkyRAAiRAAjFDgGJCzKSagZIACZAACXiYAMUEBcmjmKAAKk2SAAmQAAnEDAGKCTGTagZKAiRAAiTgYQIUExQkj2KCAqg0SQIkQAIkEDMEKCbETKoZKAmQAAmQgIcJUExQkDyKCQqg0iQJkAAJkICvCaxatQoNGjTQYjSLCUlJSYiPj/d1/AyOBEiABEiABLxGgGKCgoxRTFAAlSZJgARIgAR8TSB79uw4d+4cOnfujHXr1mHr1q3Yu3cvrrrqKqSkpODzzz/HHXfc4WsGDI4ESIAESIAEvESAYoKCbFFMUACVJkmABEiABHxNoHXr1vj4448DxpgtWzZNaOBBAiRAAiRAAiTgHgIUExTkgmKCAqg0SQIkQAIk4HsCcXFxAWOcNGkSevXq5fv4GSAJkAAJkAAJeIkAxQQF2aKYoAAqTZIACZAACfieQKDqBFYl+D7tDJAESIAESMCjBCgmKEgcxQQFUGmSBEiABEggJgiYqxNYlRATaWeQJEACJEACHiRAMUFB0igmKIBKkyRAAiRAAjFBwFidwKqEmEg5gyQBEiABEvAoAYoJChJHMUEBVJokARIgARKIGQJ6dQKrEmIm5QyUBEiABEjAgwQoJihIGsUEBVCjbPJ8aiqyBVkYLMqusXsSIAES8B2Bxo0bY/Xq1Th79qzvYmNAJEACJOBWAvy+69bMuNcvigkKckMxQQHUKJhcvH43dh04jn2HkpEK4FjyP1Hwgl2SAAmQQGwSuDx/dvx9jGJCbGafUZMACUSDQMG8OXEeqShZJC/Kl8iPO+qUjYYb7NNDBCgmKEgWxQQFUB00+fOuw3gz4X+oW6M88ufJicsL5kG+PDkd9IBdkQAJkAAJkAAJkAAJkIDzBI6dSMGhxBM4lpyCr7fsxiMtq6FKuULOO8IePUGAYoKCNFFMUADVIZNbth3CFxv3okXDash+STaHemU3JEACJEACJEACJEACJOAuAmfPnkPCyv+h+Y1lcN2VRdzlHL1xBQGKCQrSQDFBAVQHTP606zA+W/877rn1Ogd6YxckQAIkQAIkQAIkQAIk4H4CC77agpZ1y7FCwf2pctxDigkKkFNMUADVAZOPv7YS3e+7hRUJDrBmFyRAAiRAAiRAAiRAAt4gcObsOUxbsB7j+jTwhsP00jECFBMUoO7YsSNmz56Nd999F/IzD/cTWLxhD06cjsN1V5d0v7P0kARIgARIgARIgARIgAQcJLBl6x8okBNociMXZXQQu+u7opigIEU9e/bElClT8NJLL2HAgAEKeqBJuwm8sfBHlC9dFBVKFbbbNO2RAAmQAAmQAAmQAAmQgKcJ7Nh7CHv2/Y3ud1fzdBx03l4CFBPs5alZe+655zBq1Cg88sgjmDp1qoIeaNJuAoPeWofWt13HXRvsBkt7JEACJEACJEACJEACnicguzwsXPoDRj58s+djYQD2EaCYYB/LdEszZsxAly5dcNttt+Grr75S0ANN2kngfGoqBk9bj84tb7TTLG2RAAn4mMDr457Ha2OGZYjwsQHD0OuJQRle27l9Kx7vfj9+/WlLUBrvJ6xErRvrXvR+oHPrN26Ksa/PQsFCaVVUiUcOo3+vjli9/Au07/QInh3+CnLmyqW9l3LqFEYNfRIfvPum9rvZP6P9QL5bSZ8VH812Ej56D/17dQrJLlj/gdgHamtmZSUeO9ro/pnzYYdtu23ovkaLld3x0B4JkIBaAu988i1GdK2DbHFxajuidc8QoJigIFU//fQTqlWrhnLlymHXrl0KeqBJM4GZM2eiVatWiI+PjwhOn/Er0Pf++hGdy5NIgARih0AocaBy1ep4dep7qHBlJQ1KqPY6ubGvv4uWbe5PBxlqwKwLEEbBwDwgNPdtHtx+981a/KdlQ61Pc/9WMmrVR92WUfjIyuA/VL+67WgNkCkmWLl62IYESMCLBCa8txoT+zXyouv0WREBigkKwJ4/fx558+bFqVOnsHLlSjRowJVPFWDOYFLEhH79+uHxxx/HY489FraoQDFBdYZonwS8T8CqMGActFs9xzjwtXKOsb0+eDULGeYKgGDvm1+3kqlwfRSbgSoSzH1ZqZCgmGAlQ9basDLBGie2IgESSCNAMYFXgpkAxQRF10SPHj209RKkOuHnn39Grn/LThV1R7OAxnrPnj2akBCuqEAxgZcQCZBAKALGQaz5Kb95cK1XDhhfNz/9N09D0M8xDrqN5wRrb6wwME6ZCDToDvR+JE/ww/XR6Htm1RuR+BJqQByoIiKzXEhu/9PpETz9WNf06SnhVG5EUplgFlqMooqRnVlsMb6XWeWJXNuBpl2EYhfqM8H3SYAEYosAxYTYyreVaCkmWKEUQZt9+/bhmmuuwbFjx/DAAw/gzTffpKAQAcdwTpHqhIceeij9lHBEBYoJ4ZBmWxKIPQKZrU2g05BB/fCBfYNOcwg0IA0kBOgDy0AVA4HEiUBrHxj9HTh8LNas+EJbV0EfjBrft1INYM54uD5mNugV25nZC3W1ZTYgNvI12zEOrs1CTaA+rXIKR0zIrF+jsKLzyWwqSyghSWIyX1MUE0JdXXyfBEjASIBiAq8HMwGKCQqviaVLl6Jp06aQaQ9ly5aFLMzYuHFjhT3StF6dYCRhRVSgmMBrhwRIIDMCmVUYRHpesEqDUGsdmPsLNFDfv+/39IUfZZC5fs1ybcFIfQBtfD+cp+563+H6aBQMdBuR9BuIdbABsVEwMQ7CA60VEWyxyswqKoLlPRwxIZCIYvRbZ2TkbRQNAokMgQSqYNUNFBN43yMBEgiHAMWEcGjFRluKCYrzvHjxYrRv3x5Hjx7VemrYsCGuvvpqlC9fXivLL1asGFJTU7X35H/9Xzi/h9M2q32Zz3db35s2bcLChQsDZjUzUYFiguIPAs2TgMcJBJtKECosK2sLiA3zE+fM1hcINAg3DwpXL1+i7Zig29V/159MJx45pC2+GMl6CXrM4fqY2VP4rPgRbECcWc7M5+TKlTt954vMnv5bEUCsigmZTV/Q2erijzDXd+bQKyRCCQTBpj0EWm8jkukloa59vk8CJOA/AhQT/JfTrEZEMSGrBC2cv3v3brz66quYPn06kpOTLZzBJioJSJXIihUrNDFHPygmqCRO2yTgfQKqxYRA20NmJkRktpjiS69Nx/vvvqltCakPPM1PtvVKhawOIsPx0YoIEcl2isHEhMyeupsrAkqULJM+WM9si02dZ6D1KHShwaqYEGp3C7PIZK5CEEFI33Y00O4ewT51xmuHlQnevzcxAhJwkgDFBCdpe6MvigkO52nDhg1Yt24dduzYgf379+Pw4cOaB3Fxcen/wvk9nLbSh53t7bQVrm/B+v7hhx+QkJAQMKsFChTQFmaUf+YtJCkmOPxBYHck4DECkW6jGKoyIZzBvHkAG2zXCOMaCfoA1/gUu1vP/khOPqaJDZEM3jNLXWY+BjrPyuKIoS6VSMQEszhU9dqaFz351/sNNI1k+pRXtGkjxkOFmGAc+JsFoX1792SoPilYqDCsrP0gPuviA8WEUFcX3ycBEjASoJjA68FMgGICrwlfEQi0ZkJmIoIePMUEX10GDIYEbCdgZQFGfbA3dPQE1LqxruZDuGsthFqoUGwGmicfaFAebLG9eo2a4NDfB7WdCqyU7ZthRuKj8Sl6oD4zK/kPlcxIxAS3VSZYWdwxmCAUbOcHK0IRxYRQVxffJwESoJjAayAzAhQTeH34hoB5NwcrIgLFBN+kn4GQgHIC4WwNGWjhPKsDd2M/5kFmsEUFAz2RNlc9BNrZIND0Cisgw/VRbPbv1VHbUUIOc79G36wMrI0++mHNBCsDf6OQZIzfzDIcgSCctlauC7YhARLwNwFWJvg7v5FERzEhEmo8x5UE9KqEcEQEigmuTCWdIgFXEgg1ZUF32jiID7cyQWxktp2hEYx5AGpeENE8KDf7H84UC3NCIvEx0DoDgRJtVXTRz3Xrbg6ZXcR67r5Y9LE2VeH/2TsTeJuq9o//TLnm4XIR6UqGRJrMqUh4FSoVJVIpSSl/QyFTEqH0iuZB5OVmVpQGKvNVbySzRJJ5Hq4h9/4/a993H/scZ9jn7LXX3mef3/58+uTus9bzPOv7rL3P3r+zBnHo7Q43CiZwBEqwHAYTZoxiExdgdOXthUGRQFwQoJgQF2lSGiTFBKW46cwuAmJUgr4eQrA1ESL55TSHSIT4OQmQgCAQSVAInFoQi5gg/ITbKUF8Hmz3g8AX/MCX8sDRC2Z/DQ+V+WhjNDOfP5aYwv26Hk70MPoyE5vZERNmRJNguzQEcg61w0W4USGBAkuw3BlHMnBkAu9rJEAC0RCgmBANrcQoSzEhMfLs+VaK7SBvvfXWixZWNNtwiglmSbEcCZCAIBDshTHYy2asYkI44SLUS63xV2srL6LRZDiUuBLuxTuUCGF1ykWokRbBhIJwQot40X+g4xN4/tnHtHUlxBHNaIloxISkfPk0+4F1wo0aMbuzSCDnYH2CYkI0vZ1lSYAEKCawDwQSoJjAPkECACgmsBuQAAmQQOISMLOoZOLSYctJgARIIJsAxQT2BIoJ7AMkEIQAxQR2CxIgARJIXAIUExI392w5CZCAeQIUE8yzSpSSHJmQKJlmO8MSoJjADkICJJDIBCKtf2BkY3btgHjiSTEhnrLFWEmABJwiQDHBKfLu9Usxwb25YWQKCVBMUAibrkiABFxHgGJCBl4Z1BNTJ76HWBaBdF1CGRAJkAAJ2ECAYoINUOPcJMWEOE8gw5dDgGKCHI60QgIkQAIkQAIkQAIk4E0CFBO8mVcrraKYYIUe63qGAMUEz6SSDSEBEiABEiABEiABErCBAMUEG6DGuUmKCXGewGjDz8zMRM6cOaOt5mj58+fPI1euXLbGQDHBVrw0TgIkQAIkQAIkQAIkEOcEKCbEeQJtCJ9igg1Q3WRyZfoqrF+/AZs2r8OWLVuRP39ubN6y200hRoylcqUyOHXqH1SqdCWqVL4aV19dDbVr3RixXjQFKCZEQ4tlSYAESIAESIAESIAEEo0AxYREy3jk9lJMiMwobksMHTYESUn7UbDgaVSpXBCVKhXGZeUKxGV7dv51Elu2HMOmzSdw4ngSzp4rhf59B0hrC8UEaShpiARIgASwbesmPNflQWxct0ajMWXuD7ihdoOLyASWC4YusO7P6UvxQKtbwtplCkiABEiABOQToJggn2m8W6SYEO8ZDBL/tm2/o3OXJ9Hj2avQ8s6yHmwhMGfuX3hz/Ga8/+47qJBawXIbKSZYRkgDJEACJOAjELg7RKjtJM2ICcLo6PET0arNg5p9ignsaCRAAiTgDAGKCc5wd7NXigluzk4MsW3blo4xb7yG4a/UQMGCeWKwED9Vjh07h34v/oqe/9cbFVJrWQqcYoIlfKxMAiRAAj4CpzMubLOon6x6dU288e5/cMWVVfxImRUTGjZqitHjJ6FY8WSKCexrJEACJOAQAYoJDoF3sVuKCS5OTiyhNb79dsyddYvnhQSdzdGjZ3Fv26X45quvYsHlq0MxwRI+ViYBEiABHwGjQND5qV5Y8sM32nQH4+gCvbCxbODngaKEPt0h1MiEw4cOole3Dli86GtfLEYRgikiARIgARKwRoBigjV+XqxNMcFDWR06bACurXkYLe+8zEOtityU2XN2Yv2Gkuj3wqDIhUOUoJgQMzpWJAESIAE/AvoUB/EiP+y19/DWG69g6sT30K7jE+g35DUk5csXVHgIJjYEEw6CnQs3wiHUqAimjQRIgARIIDoCFBOi45UIpSkmeCTLYteGHxd/it49L/VIi6JrxqujdqFxo4dR68Yboqv4v9IUE2LCxkokQAIk4EfAODpAXydBFxeCvdTLGpkw/vWX8e+Rg2EciRAsFqaLBEiABEggdgIUE2Jn59WaFBM8ktmPJ0zE6TPL0LWL9cUI4xHJW2//gfwFbkKnjg/FFD7FhJiwsRIJkAAJ+BGINGogcCFGWWsm6GKCCCbUzhFMFQmQAAmQgDUCFBOs8fNibYoJHsnqC/36oentp9C4URmPtCi6Zny3cDe+/S4/hg97JbqK/ytNMSEmbKxEAiRAAn4Ego0QEAVCnTcrJhgFgmCCReDuEXpQoXaRYNpIgARIgASiJ0AxIXpmXq9BMcEjGW5z3714Y0w1XFaugEdaFF0zdv51Es/1WI8Z06ZHV5FiQky8WIkESIAEAgkEWwAxGCWjMBBJTAi2gGKoBRiNoxMC/QZbj4EZJAESIAESiI4AxYToeCVCaYoJHshyZmYmHn6kLSZ9cqMHWhN7Ezo8/DMmfDQFuXLlitoIRyZEjYwVSIAESMCPgPElPxwa40KM4dZMCGUjlJiglw8WB3d1YGclARIgAesEKCZYZ+g1CxQTPJLROvVvxspld3ikNbE1o079eVi57MeYKlNMiAkbK5EACZCAj0C4kQFGTMaFGO0QE4y+wi3+yNSRAAmQAAlER4BiQnS8EqE0xQSPZJliAkAxwSOdmc0gARKIOwJGUSDUOgXGEQP6tAMZYsLVNa7HK4N6attPBo5ACLVWQ9wBZsAkQAIk4AICFBNckASXhUAxwWUJiTUcigkUE2LtO6xHAiRAAlYJGBdADLWbgnFNBf2l//ChA3iuy4PYuG4NzK5rEGnHiGBtMWvbKgfWJwESIAEvE6CY4OXsxtY2igmxcXNdLYoJsYsJmVlZGPxhOjq0TOw1J1zXqRkQCZBAXBA4nZERcmRAYAMCt3AsVryEFDFB+Am2AKRxSkVcwGSQJEACJOBiApPmrsLgznWQM0cOF0fJ0FQSoJigkraNvigmxC4miLQMeH857rrtGhQukGRjlmiaBEiABEiABEiABEiABOKPwLETpzF70a8Y2rle/AXPiG0jQDHBNrRqDVNMsCYmvD17La64rBSuKJesNnH0RgIkQAIkQAIkQAIkQAIuJ/D7zgPYsWs/urSu7vJIGZ5KAhQTVNK20RfFBGtiwoKV23HsTE5cW6WsjVmiaRIgARIgARIgARIgARKIPwK/bPgLRfMDTWtfHn/BM2LbCFBMsA2tWsMUE6yJCSJbPcb+iCfa1EXu3LnUJo/eSIAESIAESIAESIAESMClBM6e+wcfzU7Ha083dGmEDMspAhQTnCIv2S/FBOtiwvo/DuKL5Ttw9201JWeH5kiABEiABEiABEiABEggPglM/2Y17m5YAVUvLx6fDWDUthGgmGAbWrWGKSZYFxNExtb+ni0otG5UHXk4QkFtJ6Y3EiABEiABEiABEiAB1xAQIxLmfr8OLRtcjuoVuK6YaxLjokAoJrgoGVZCoZggR0wQOdi44xDem/sb6l5zuba7Q8niBbnLg5XOybokQAIkQAIkQAIkQAJxQUDs2rD/8AmI/6/87U880ao6qpQvFhexM0j1BCgmqGdui0eKCfLEBD1BC9J34I+/j+Ov/ceRBeDYiTO25I5GSYAESIAE/Al8/n5f/P37anQZ8SXRkAAJkAAJKCJQrFASspCFsiUL4YoyhdG0dnlFnq27mTwZ2LYNGDAgvC2z5QKtbNoEtG0LrFkDLFkCNGhgPeZgFoYOBa64Amjf3h77sq1STJBN1CF7FBPkiwnGVGZmZSFnjhwOZZduSYAESCCxCBQsWBAnT55EVpaQcnmQAAmQAAmoIBDPz7tmRQKz5QJ5L10KLFwYWaywmieKCVYJsn5MBCgm2CsmxJQUViIBEiABEoiJAMWEmLCxEgmQAAkkLAGjSCBe/MeNy0YxdSpQsyaQlgYcOADcdFP2+ZdeyhYGRFn9XJcuwJgxQL58gHipX7cuu97AgdnlxaGXmTkTeOih7HO6/SpVsv8WseifffrphVEGwqawJQ7jeWPSjGLCwYPZdRcsuBBzr15Ajx5Ahw4XRkeIOo0bZ/9tpj2hfMfSeTgyIRZqLqxDMYFiggu7JUMiARIggZgIUEyICRsrkQAJkEDCEggUE4RAIKYjXH999st32bLZ4oGxnJi60L07MHYsUL68fznxgr5r1wVxQbykT5qU/fd//5stNghbycnZ/xaHLk7o5U6dAp5+Ghg8GPjpJ2Dx4uz6f/6ZPWVi/PiLp0voYsI992TH07BhtqBgjFXY0qd0CMGhf39g2LBsscRse2R1FIoJskg6bIdiAsUEh7sg3ZMACZCANAIUE6ShpCESIAESSAgCgWKC8WXf+Fngv/UXfDEawSgYjB59QSAQ/zJ+JsoaD6PNYNMUMjL8hQFRN9R0hlDnhWigCxOi/ocfAkOGZAsb+vQLEYfZ9sjqFBQTZJF02A7FBIoJDndBuicBEiABaQQoJkhDSUMkQAIkkBAEAsUEfXSAePEPJybo0xF0SM2aZZd/6y3/hRCNYoIoK0YNvPvuBbRiGoQ+BUEfTaB/qosJxvLiM32qhTFBRjHBOGVBlNGnU4hRFIMGAY89Bnz22YUpDsbpFZHaI6tTUEyQRdJhOxQTKCY43AXpngRIgASkEaCYIA0lDZEACZBAQhCIVUwItQNE4AgBo5gg1kswjgAwOzLBuM5BqKTofps3z57eIKZOiLUQjCMTxNoMwue+fdnTH8QUBzHdItziknYt7EgxwSOXF8UEigke6cpsBgmQAAmAYgI7AQmQAAmQQDQEYhETjOsQiBd04zoJYpqDcYvGUGKCWBdBvPSLF359TQZdaNA/E+e3b78gQOjnhbgQuAVkKDFBtG/UqOwFIUWs+laVbdpc2GEimvZEwzZcWYoJskg6bIdiAsUEh7sg3ZMACZCANAIUE6ShpCESIAESSAgCZsUEfepAsN0c9CkO+qKKocQEXQwQuyyIOl27Al9+6b8TRLBdG4y7OQSb4iASZRxBYJy2IKZIiPUR9NEN+tSJwNEOxqkR4dojq1NQTJBF0mE7FBMoJjjcBemeBEiABKQRoJggDSUNkQAJkAAJeJCAGIUgdokQW2AK8cOpg2KCU+Ql+6WYQDFBcpeiORIgARJwjADFBMfQ0zEJkAAJkIDLCeijD8TWl2J6hZMHxQQn6Uv0TTGBYoLE7kRTJEACJOAoAYoJjuKncxIgARIgARIwRYBigilM7i9EMYFigvt7KSMkARIgAXMEKCaY48RSJEACJEACJOAkAYoJTtKX6JtiAsUEid2JpkiABEjAUQIUExzFT+ckQAIkQAIkYIoAxQRTmNxfiGICxQT391JGSAIkQALmCFBMMMeJpUiABEiABEjASQIUE5ykL9E3xQSKCRK7E02RAAmQgKMEKCY4ip/OSYAESIAESMAUAYoJpjC5vxDFBIoJ7u+ljJAESIAEzBGgmGCOE0uRAAmQAAmQgJMEKCY4SV+ib4oJFBMkdieaIgESIAFHCVBMcBQ/nZMACZAACZCAKQIUE0xhcn8higkUE9zfSxkhCZAACZgjQDHBHCeWIgESIAESIAEnCVBMcJK+RN8UEygmSOxONEUCJEACjhKgmOAofjonARIgARIgAVMEKCaYwuT+QhQTKCa4v5cyQhIgARIwR4BigjlOLEUCJEACJEACThKgmOAkfYm+KSZQTJDYnWiKBEiABBwlQDHBUfx0TgIkQAIkQAKmCFBMMIXJ/YUoJlBMcH8vZYQkQAIkYI4AxQRznFiKBEiABEiABJwkQDHBSfoSfVNMoJggsTvRFAmQAAk4SoBigqP46ZwESIAESIAETBGgmGAKk/sLUUxwj5hw/vx55MqVS+s0zz77LP766y/88MMPWLNmDUaPHo033nhD+0z8X3wujh49evA8ObA/8LrgfYD3Ad4HeB/gfYD3gbi7D3Tt2hVbt25FgQIFMGLECFStWtX9L0+MUAoBiglSMDpvhGKCs2KCEBAmTpyo/TdmzBhce+21WqdYvHgxSpUqheTkZO0/HiRAAiRAApEJcGRCZEYsQQIkQAJuIXDixAns3LkTmzdvRvXq1VGxYkUttAT9ub0AACAASURBVD59+qBatWro2LEjcubM6ZZwGYdEAhQTJMJ00hTFBGfFhJYtW2oCwm233YZbb73Vya5A3yRAAiQQ9wQoJsR9CtkAEiABEsDatWuRlpaG4cOH4++//9Z+YOPhLQIUEzyST4oJ6sWE6dOn49577/VID2IzSIAESMA9BCgmuCcXjIQESIAEZBA4cuQIihYtqokKl156qQyTtOECAhQTXJAEGSFQTFAnJoj1DwYNGoR+/fqhadOmMtJHGyRAAiRAAgYCFBPYHUiABEjAmwT279+Pq666CjNmzMAtt9zizUYmUKsoJngk2RQT1IkJd999t7Y2QqFChTzSe9gMEiABEnAXAYoJ7soHoyEBEiABmQQOHjyIRx55BK+88oq2xgKP+CVAMSF+c+cXOcUEdWKCR7oMm0ECJEACriVAMcG1qWFgJEACJCCNwKZNm1ClShVp9mhIPQGKCeqZ2+KRYoK9YkL37t0xduxYW3JHoyRAAiRAAv4EKCawR5AACZBAYhA4c+YMdu/ejdTU1MRosMdaSTHBIwmlmGCfmNCzZ0+0bdsWtWvX9khvYTNIgARIwN0EKCa4Oz+MjgRIgARkEkhPT8cLL7yAhQsXyjRLWwoIUExQAFmFC4oJ9ogJQ4YMQcOGDdG4cWMVabTNxz///IPz58/bZp+GYyfA3MTOTmVN5kklbWi/UJ06dUrbt5yHtwjkypULuXPn9lajPNga5klOUt3IMW/evHIaJ9nKnDlz8PHHH2P27NmSLdOcnQQoJthJV6Ftign2iAkKU2ibqxMnTuD222/HL7/8YpsPGo6dwNmzZ5GVlRW7AdYkARIgARIgARJwJYEcOXLgkksucU1smZmZmD9/Ppo0aeKamIyBCBFZ/PjFRc5dmZ6gQVFMiJ9chY2UYgLFhFAdZO/evahZsyb27Nnjkd7unWasW7dOm0Lz22+/eadRHmwJ86Q+qfyFSj1zVR5LliyJDRs2oESJEqpc0k8MBC677DIsX74c5cqVi6E2q+gEKlSogEWLFrlmPQAx4lb8gDF48GAmiQSkEKCYIAWj80YoJsgVE66//nr8+OOPEPN24/2gmODeDPIl1b25MUbGPKnPE8UE9cxVeaSYoIq0NT8UE6zxo5gQO7/Tp09j8uTJeOyxx2I3wprKCFBMUIbaXkcUE+SJCSNGjECxYsXQpUsXe5OmyDrFBEWgY3DDl9QYoDlQhXlSD51ignrmqjxSTFBF2pofignW+FFMsMbv9ddfx8mTJzFgwABrhljbdgIUE2xHrMYBxQQ5YsLRo0fRqVMnzJo1S03iFHihmKAAcowu+JIaIzjF1ZgnxcABUExQz1yVR4oJqkhb80MxwRo/ignW+RUtWhQ7duxAkSJFrBujBdsIUEywDa1awxQT5IgJarOmxhvFBDWcY/HCl9RYqKmvwzypZ04xQT1zVR4pJqgibc0PxQRr/CgmWOe3b98+nDlzBqIv8nAvAYoJ7s1NVJFRTKCYEKrDUEyI6lJSWpgvqUpxx+yMeYoZXcwVKSbEjM71FSkmuD5FWoAUE+TkiQswyuFIK+4lQDHBvbmJKjKKCdbFhFWrVmH//v1o0aJFVOzdXphignszxJdU9+bGGBnzpD5PFBPUM1flkWKCKtLW/FBMsMZPr00xQQ5HWnEvAYoJ7s1NVJFRTLAuJtx2220YOHAgbrnllqjYu70wxQT3Zogvqe7NDcUEZ3NDMcFZ/nZ6p5hgJ115tikmyGFJMcEax++++w7Dhw/Ht99+a80Qa9tGgGKCbWjVGqaYYE1MECvGlipVCidOnFCbOAXeKCYogByjC4oJMYJTXI15UgycCzCqB67QI8UEhbAtuKKYYAGeoSrFBOscmzVrhhkzZnhiu3brNNxngWKC+3ISU0QUE6yJCZs2bcLatWtx7733xsTfzZUoJrg3O3xJdW9ujJExT+rzxJEJ6pmr8kgxQRVpa34oJljjp9emmGCdY6tWrfDUU0+hefPm1o3RgnQCFBOkI3XGIMUEa2KCM1lT45VighrOsXjhS2os1NTXYZ7UM6eYoJ65Ko8UE1SRtuaHYoI1fhQT5PCjFfcToJjg/hyZipBiAsWEUB2FYoKpS8iRQnxJdQR71E6Zp6iRWa4wb948TJs2DRMmTLBsiwbcRYBigrvyESoaigly8uSGkQk7duzA5ZdfrjVoyJAhyMrKwuDBg7W/jZ/JaTGtJBoBigkeyTjFBGtiwujRo9GxY0ekpKR4pEdcaAbFBPemlC+p7s2NMTLmSX2eODJBPXNVHikmqCJtzQ/FBGv89NpuEBNq1KihCQjjx4/H999/r/27UaNG6NatG3LkyKFN83XzIeLNyMhA/vz53RxmwsZGMcEjqaeYYE1MqFKlClauXImiRYt6pEdQTIiHRPIlNR6yBDBP6vNEMUE9c1UeKSaoIm3ND8UEa/zcJCZ88sknePLJJ5GUlKT9J47Tp09r/7399tvo1KmTnMbaZEVs23711Vdj3759NnmgWSsEKCZYoeeiuhQTrIkJefLk0VTP3LlzuyirckLhyAQ5HO2wwpdUO6jKt8k8yWcaySLFhEiE4vdzignxkTuKCXLy5IaRCaIl4ro7cOCAX6OSk5MvOien1XKt/PPPP7j22mvx22+/yTVMa1IIUEyQgtF5IxQTrIkJaWlpaNu2rfOJtCECigk2QJVkki+pkkDabIZ5shlwEPMUE9QzV+WRYoIq0tb8UEywxk+v7RYxQYxOENMaxFbo4ihQoADGjRvn+lEJOkfxjC6e1Xm4jwDFBPflJKaIKCZYExNigh4nlSgmuDdRfEl1b26MkTFP6vNEMUE9c1UeKSaoIm3ND8UEa/zcJiaIeIyjE+JlVIKcLNCKnQQoJthJV6FtigkUE0J1N4oJCi/EKF3xJTVKYA4VZ57Ug6eYoJ65Ko8UE1SRtuaHYoI1fm4UE/TRCSK2eBqVICcTtGIXAYoJdpFVbJdigjUx4YEHHsCUKVMUZ02NO4oJajjH4oUvqbFQU1+HeVLPnGKCeuaqPFJMUEXamh+KCdb4uVFMEDEVL15cC+3QoUNyGqjIyqZNmyAWS+fhPgIUE9yXk5giophgTUwQW+OIrWe8eFBMcG9W+ZLq3twYI2Oe1OeJYoJ65qo8UkxQRdqaH4oJ1vjJEhPEs6l4RpV1LF26FJmZmWjYsKEsk9rzs8wYgwXm5ed0aYlwyBDFBIfAy3ZLMYFiQqg+RTFB9tUmzx5fUuWxtNMS82Qn3eC2KSaoZ67KI8UEVaSt+aGYYI2fFTHhv5v3Yc3WA/hr3wkk5c2DP/cclROMTVYuL10EGWfO4bKUQriuUgnUrFRSuieKCdKRSjNIMUEaSmcNUUywJiZwNwdn+2+ieudLanxknnlSnyeKCeqZq/JIMUEVaWt+KCZY4xermPDhF+uQI2dulEwujJJFCyC5aAE5gdhs5eCRk9h/+CT2HTqGHFnn8egd1aR6vOqqq7BhwwapNmlMDgGKCXI4Om6FYoI1McHxBNoYAEcm2AjXomm+pFoEqKg686QItMENxQT1zFV5pJigirQ1PxQTrPGLRUz497Q1qFg+BVVSU+Q4d8jK+j/24s9dB/BMm2scioBuVRKgmKCSto2+KCZQTAjVvSgm2HjhWTTNl1SLABVVZ54UgaaYoB60Ax4pJjgAPQaXFBNigBakSoUKFbBo0SKkpqaGNShGJKSUKIaqFUrJceywlfXb9uLQ4SN4pIXcEQoON4vugxCgmOCRbkExwZqYwN0cPHIhxFkz+JIaHwljntTniSMT1DNX5ZFigirS1vxQTLDGT69tRkz4ZdM+/LLtMBpef6Ucpy6x8uNPW3BD5eK4tpL1kRbczcElSaWY4N5EWI2MYoI1McHLC7twZILVq8u++nxJtY+tTMvMk0ya5mxRTDDHKR5LUUyIj6xRTJCTJzNiwkfz1qOkGJUQ59MbAolt2LYXBw8fxSMtrrIM08vP6ZbhOGyAIxMcToAs9xQTKCaE6ksUE2RdZfLt8CVVPlM7LDJPdlANb5NignrmqjxSTFBF2pofignW+Om1zYgJQyek4/Z6VeNmsUWzZMSijN8s34gBnWqbrRKyHMUEywhtM0AxwTa0ag1TTLAmJnA3B7X9ld6yCfAlNT56AvOkPk8UE9QzV+WRYoIq0tb8UEywxs+smJCVlYXXpv6C1o1rynHoMiuzF/6KXu2uhRADrBzczcEKPXvrUkywl68y6xQTrIkJyhLlgCOOTHAAukmXfEk1CcrhYsyT+gRQTFDPXJVHigmqSFvzQzHBGj+zYoIo98yY79H9wYZyHLrMytj/LMabPW51WVQMRyYBigkyaTpoi2ICxYRQ3Y9igoMXZgTXfEl1b26MkTFP6vNEMUE9c1UeKSaoIm3ND8UEa/woJmQToJggpx+52QrFBDdnJ4rYKCZYExO4m0MUnY1FpRHgS6o0lLYaYp5sxRvUOMUE9cxVeaSYoIq0NT8UE6zxsyomzJ3xH/Tq1tEviClzf8CunTvwwVuv4Y13/4MrrqyC8a+/rJV5sFNX9OrWAYsXfe2r067jE6h5XW307dHZz86zfQaj2/+9eFEDA32K+v2GvIav58/CTyuXaP9OypfP57PuTY0wpG93Xyyi/pzpn2L0+EkoVjxZqpjA3Rzk9Ec7rFBMsIOqAzYpJlgTE7y8sAtHJjhwQZp0yZdUk6AcLsY8qU8AxQT1zFV5pJigirQ1PxQTrPGTISYYX+B1e/oLvy4IBIoJT/XojxtqNwgqFOzcsS2oiGC0rfsU514Z1BM31rlJ+ziYmPBY155amVKlL/WJGa3vfQit2jzo8y9rZIKXn9Pl9DTnrFBMcI69VM8UEygmhOpQFBOkXmpSjfElVSpO24wxT7ahDWmYYoJ65qo8UkxQRdqaH4oJ1vjZLSZUvbqmNiLgy7nTNFf6yARZYkJGxiltpIOwJ0ZDBBMTxOiGbVs34eUXn0PVajVx4sQx3+gFvf0UE+T0IzdboZjg5uxEERvFBGtiAndziKKzsag0AnxJlYbSVkPMk614gxqnmKCeuSqPFBNUkbbmh2KCNX4yxATjNIeGjZpq0wcWL1qgvdgXLFgYBQoW9AUZbJrD6PETfaMExIgGMyMTjD6N0xwCp1wYp0qI0RH/HjkYYhpG4KgIWWICd3OQ0x/tsEIxwQ6qDtikmGBNTHAgZcpccmSCMtRRO+JLatTIHKnAPKnHTjFBPXNVHikmqCJtzQ/FBGv8ZIgJoaY5iPMPdHwCzz/7GDauWwPxYi97ZIJYG0E/hBARamSCKPNz+lK8NWaY31oJel1ZYoKcbNCKHQQoJthB1QGbFBMoJoTqdhQTHLggTbrkS6pJUA4XY57UJ4BignrmqjxSTFBF2pofignW+NktJugLI4oRAxQT5OSKVmIjQDEhNm6uq0UxwZqYwN0cXNelEyIgvqTGR5qZJ/V5opignrkqjxQTVJG25odigjV+ZsWErKwsvJa2Gq0bXePnMNxuDvooAX1dg+tr1Q+5m4O+A4PZaQ7hRkME7uag7wgRbmTCnIW/ome7ayEWULRycDcHK/TsrUsxwV6+yqxTTLAmJnh5lViOTFB2GUbtiC+pUSNzpALzpB47xQT1zFV5pJigirQ1PxQTrPEzKyaIci9PSEeTelWRXLSAHKcusXLgyEksXLEJ/R+uZTkiLz+nW4bjsAGKCQ4nQJZ7igkUE0L1JYoJsq4y+Xb4kiqfqR0WmSc7qIa3STFBPXNVHikmqCJtzQ/FBGv8ohETJszfgOTiRVG1QoocpxGsiJEED7S6xa+Uvtiica0Eq8Fs2LYXR44eRcfmV1k1pY1sEKM4eLiPAMUE9+UkpogoJlgTE7ibQ0zdjpUsEuBLqkWAiqozT4pAG9xQTFDPXJVHigmqSFvzQzHBGr9oxITVW/bjv1sOoeENV8px6hIrP/68FbWrJKNGxRKWI+JuDpYR2maAYoJtaNUapphgTUxQmy213jgyQS3vaLzxJTUaWs6VZZ7Us6eYoJ65Ko8UE1SRtuaHYoI1ftGICaLsx/PWo4QYnXBFKTmOHbaybuseHD12DA//y/qoBIebQvcRCFBM8EgXoZhAMSFUV6aY4N6LnC+p7s2NMTLmSX2eKCaoZ67KI8UEVaSt+aGYYI1ftGKCKP/m9F9Rvmwyql1RWo5zh6wIIeGvvQfx9D3+i0o6FA7d2kyAYoLNgFWZp5hgTUzgbg6qeir98CU1/voAxQT1OaOYoJ65Ko8UE1SRtuaHYoI1frGICaLOx/PX43xWLqQUL4SU4gXjZlFGsdji/kMnsPfgMeTJlYVOkkckcDcHOf3RDisUE+yg6oBNignWxAQvL+zCkQkOXJAmXfIl1SQoh4sxT+oTQDFBPXNVHikmqCJtzQ/FBGv8YhUTRL01W/dj9ZYD2LnvOJIuyY0de47JCcYmK5eXLoLTZ//BZSkFcV3lkrhGwhoJgaF6+TndprQoM0sxQRlqex1RTKCYEKqHUUyw99qzYp0vqVboqavLPKljrXuimKCeuSqPFBNUkbbmh2KCNX5WxASjZ7GDgXiRlnU8+eSTuO6669ClSxdZJrVdFmTGGCwwignS0iXdEMUE6UidMUgxwZqYwN0cnOm3ie6VL6nx0QOYJ/V5opignrkqjxQTVJG25odigjV+ssQEOVFcsPLUU0+hRo0a6Nq1q2zTttrjbg624rVknGKCJXzuqUwxwZqY4J5Myo+EIxPkM5VlkS+pskjaa4d5spdvMOsUE9QzV+WRYoIq0tb8UEywxs+tYsLTTz8N8WLerVs3OQ2klYQnQDHBI12AYgLFhFBdmWKCey9yvqS6NzfGyJgn9XmimKCeuSqPFBNUkbbmh2KCNX5uFROeeeYZVKlSBUJU4EECMghQTJBB0QU2KCZYExO4m4MLOnEChsCX1PhIOvOkPk8UE9QzV+WRYoIq0tb8UEywxs+tYsKzzz6LihUronv37nIaqMgKd3NQBDoGNxQTYoDmxioUE6yJCV5b2OXMmTPImzev1lU5MsFdV+yJEydQsGBBLSi+pLorN8ZomCf1uTl8+DCKFSumOQ4UE/755x/kzp1bfVD0KJ1AoJhw9uxZXHLJJdL90KA1AoFiwunTp5GUlGTNaILU3rZtG6644gqttRUqVMCiRYuQmpoK8WyWkZGBokWLKiWxceNGVK1aVfP53HPPaTEJUUEca9eu1dZQcPvhted0t/OOJj6KCdHQcnFZigkUE4zd85NPPkHv3r3x9ttv46abbkLNmjWxZ88ejB8/HoMGDcK8efNQp04dF/do74Y2evRovPnmm3jnnXdQvnx5tG3bFr/99hteeukljBs3Dt9//z2qVavmXQBx0jLmSX2iHnnkEfz88894//33tfvVxx9/DLE47gsvvIBZs2bhp59+QokSJdQHRo+WCKxYsQJ33HEHXn75ZW3RN11MEC9YYjG4N954A+3bt7fkg5WtExDXXrNmzbRnBDEUXhcTVq1apeVN5K9z587WHXncgviRoF69erj11lsxatQoNG/eHF999ZX2nT927Fjt+1/0e5WHEDZy5cqF119/XRM2RG6LFCmiCQrVq1fH8uXLVYYTky+KCTFhU1KJYoISzPY7oZhgTUzw2m4OQv3Onz+/9iuC+MI4deoUMjMztf8KFCigjVbg4QyBXbt2aUMMRR7ErxPiV4oDBw5owVSuXFkTFng4T4B5Up+DH374AS1atNBGIJQqVUp7+N26dau25VirVq0wffp09UHRoxQCQkAQ9zqRU/E9JEZnHTt2DOLXbvF9xVEnUjBbNnLppZdqeRGHGC0iniGOHj2Kc+fO4dChQ75RdZYdedxA/fr1tRd08fyVJ08eiFFXoo+Lvi9G4qg+PvjgA21ag3guFDGIfIojZ86cmDlzJm677TbVIUXtj7s5RI1MWQWKCcpQ2+uIYoI1McHe7DhjvUePHtrIBPGgph/ii+TDDz9Eu3btnAmKXjUCgr8QsIyHEBamTZuGJk2akJJLCDBP6hMh9j9fvXq1n2Px4imG4ophwjzik8DkyZO1fe1Pnjzpa4CYiicWgROjgHi4g8CMGTPQsWNH7QcI/RCCghiRIH5R52GOgBjlIUYmiOly+iHEmRdffBEDBgwwZ0RyqeTkZE0QMh5iVIK4t/IgASsEKCZYoeeiuhQTKCYEdkchIohfv8+fP+/7qHTp0ti9e7eLem5ihiJ+9RajEIwPbPxSd19fYJ7U50SMTmjdurX2a6h+tGnThqMS1KdCukcx2mTfvn0+u+JXUY5KkI7ZssFy5cpB3PuML8EHDx7kqIQoyeqjE/RqYoSCE6MSdP8TJkzQxDtd0BPr00yZMkWb2sKDBKwQoJhghZ6L6lJMsCYmeHU3B+PoBI5KcNEFGzA6gaMS3JUbYzTG0QnMk5o8GUcncFSCGuYqvBhHJ3BUggrisfkwjk7gqITYGIpaxtEJTo9K0FuRkpKC/fv3a3+KaQPr16+PvYGKa3I3B8XAo3BHMSEKWG4uSjHBmpjg1YVdjKMTOCrBXVew8VdvjkpwV26M0TBP6nNjHJ3AUQnq+dvpUR+dwFEJdlK2blsfnSBegjkqIXae+ugEp0cl6C3QBT0h5omFuu+8887YG6e4plef0xVjtMUdxQRbsKo3SjGBYkKoXidGJ4hVhMXK6FwrQf21Gc6jyMfnn3+ubYPHtRLclRtjNMyT+tyI0QnilyjxyxnXSlDP3y6P4mVGzL/v1q0b10qwC7IEu2J0wkMPPcS1EiyyFKMTGjRogP79+zu2VkJgE8SOOGLE1/bt2y22Tm11iglqeUfjjWJCNLRcXJZigjUxwWu7ORi76pEjR7St1YSgwMNdBMSXudgqSmzXxMO9BJgn9blZuXIlvv76a9c8gKsn4F2PYiFGsWVe4cKFvdtID7RMCD5DhgzhdqwWcpmVlYUvv/wSt9xyi7aGlRsOIdKKkUGVKlVyQzimY+BuDqZRKS9IMUE5cnscUkywJibYkZV9q1bij8+mIjMjA8cSfCvGwimlkLNAflRo+yBSbrjRDtxR2WRuLuByW26MiWSe1OdJMN8+dw4yz57B0W3borquvFi4SIUrkDNvXqTedY8r7l1mGPO6UX/dmMlLYBnmiXmKpd84WcfNzwtOckl03xQTPNIDKCa4S0zY/fVX2J42BZdecgny5cmt7ZOeyEdmVhZOn/sHf589i9SHOqJMI+f2NGZu/Huim3JjjIx5Up+n3Yt/wM55n6NCg4YoULIkcubKlci3La3tmefP4+T+/di2+AdNUChV/yZXM+F1o/66iaVDME/MUyz9xuk6bn1ecJpLovunmOCRHkAxwZqYIHM3h70rluOPD9/DlYULeaR3yW3GlqPHULFLV6TUqiPXsAlrzE14SE7mxhgZ86Q+T3tXrsCOmdNxzV13m7iSErPImlkzUOH+B5ByYy1XAuB1o/66iaUjME/MUyz9xm11VD8vcDcHt/WAC/FQTHBvbqKKjGKCNTFB5sIuK5/vidKnM1Agb96ocpgohU+eOYO9+Qqg9ohRypvM3IRH7mRujJExT+rzlP5iX6Redz0KlSql/LqMF4fH9uzBn7+uQa2XhrkyZF436q+bWDoC88Q8xdJv3FZH9fOCzOd0t7GM93goJsR7Bv8XP8UE94gJy595ClcWzI+cCT61IdSlJYbJbT2ZgXpjxyu/+pib8MidzI0xMuZJfZ5W9P4/1Gj+L05tCINeTHlY+9WXqDvKnQum8rpRf93E8iXGPJnI04lTqPfmW7HglVaHeTKRJ4XPchQTpHVt6YYoJkhH6oxBWWLCpk370bbtf7BmzW6tIS+9dDsGDPCf3z506HcYOPAbX0OXLHkSDRqk+jV86dLt6NZtDtLSHkSVKiV9n4m64gi0KYNanfrzsHLZjzGZkrmbw4L77saNVavGFEeiVPpp40Y0mzZLeXOZm8jIncqNMTLmSX2eBPOGT3aN7DjBSyx+521H7l1msPO6iUyJ97fIjNxQgnlyQxYix6AyT9zNIXI+nCpBMcEp8pL9yhATggkA4uV/165jGDPmTuTLlweBf+viw/jxrX2CQkbGOQwalC021KxZBu3bX+d6MUFmOsQDXa3qV8s06Tlbq35b58gDOXMTuSs5lZtAMYHXUPhcyc6TJiZ0fiJyB0nwEos/eM+Re5cZ7Ly/RaYk+7qJ7PHiEsxTZGrMU2RGbijhhjy5gUOix0AxwSM9wKqYIASAHj2+QIcO1/mNMjCev/76slqZhg1TwwoEQmD48MNVePDBa/Hqqz9g3LhWSE7O3l/XrSMTZHYD7UGhZk2ZJj1na9WaNY48kDM3kbuSU7m5SEzgNRQ2WbLzJK6Nmx55NHIHSfASSz7+yJF7lxnsvL9FpiT7uonsMYSYwPub0vsb8xQLgch13HA9RY6SJewmQDHBbsKK7FsVE4QAMHjwt34v/nroRgFg8uRf8NBDaUGnP+jlRRlxiBEJom7jxhV9AoVbxQSZuzmIB7raN9ygKPPx6Sb9558deSBnbiL3F6dyEygm8BoKnyvZedLEhA4dI3eQBC+xZNJER+5dZrDz/haZkuzrJrLH4GIC729q72/MUywEItdReT1xN4fI+XCqBMUEp8hL9munmCDEgW3bDvnWOTh48CTat0/DggWbtVYY11XQpzg89lgtba0EMXVi4cLffXXdKibIXNhFe6CrXVtyhr1lLj093ZEHcuYmcj9yKjcXiQm8hsImS3aexLXR4MH2kTtIgpdY+p/Jjty7zGDn/S0yJdnXTWSPIcQE3t+U3t+Yp1gIRK6j8nqS+ZweuWUsEQ0BignR0HJxWZVighGDPg1Cn/oQuICjKNusWWVMntxWm+qQKGJCnfr1XdxbnA9t5bJljjyQi4dt5iZ8/p3KTaCYwDypzZMmJtzf1vmbg8sjWPpZmiP3LjNYeH+LTIn3t8iM3FCCeXJDFiLHoDJPFBMi58OpEhQTnCIv2a9VkIbTBQAAIABJREFUMcHMmglVq5ZE//5fY9iwpr41EEQzjCMXgokF4twVVxT3TXsQdby+m0OdhjdLzvAFc1v27sOjn0zEb7v+9p2sXvZSfPRwR1QqlYKMs+fQf9ZsrNqxw3dOLzjtp5/xxKTJeK9De9x344WpGCu2/YHe02dcVN6uRqxc/KMjD+Taw7aJ3Oic9PZ/+ewzqHtFBe3PUQu+xivzv/JDc1vVKniv40PYvHcf/vXvN4Ni020E5u+R+vUw7O67kO+SPGFxC7/i6N2sqV+5QydP4omJn6JXs6a+GPUCkfpKMIdO5eYiMcFEngLj1/t+maJF/DgJDi/MnIUR99ytXSPGIzDX+mf9WjS/iHWgv1A5idaf2T5g9C87T+LaqN+mjV8Tt/y9G30+mYSRD3dApUvL+D57deZspKakoO1NF0RTcW7YtBlamRqXl8eE7k/71RG2Oo0dh7U7/tTKPHpbYwzvmD0Sou/Eyfjou4UXdUdRpvc9rfHMux/g21/X+n3e/742eP6eu3znAu0Hfp62ZBkeH//2RT6+HjwAdatUhjF+Y6Em19TAB093RfFChbTTy2bMcOTeFfbm8L8Pzd7fzNgKVkZ8T4j7W+C1od+DRB1xHyxeIHuNpFDXo2473H021hgj1ZN93UTyF+xz2XkK5Kh/vwe7/+vxGJ8BxH1s95Gjvu+hYN9xop7+PSfyG8pnLDyC1fFinozXhJnns2B5MF574rrrM30mnm/ezPe9pl9zHy9brmE15kxWbox2VOaJuznYkUE5NikmyOHouBWrYoJogNndHERZXQzQpzyIhRubN6+sTX8YMKCx3yKOQmxYvHi7tiPE6NHZWze6TUyQmUDxoFC3USOZJv1sbdm7F89Pm4lX77sHlUqV0j5b8fs29E6bjo8eexjlihVDvxmzcDQjA81rVMf9tW7834PdWQyf96UmQrSrU+ui86JQ9XJlfedta4CId9EiRx7IzeTms1U/IW3lKrzfqSOKFyyAQydO4vEJE9H7X81Qt+IVGPnlAg1Nn3818yESdbYfOOh3Llg5kbtHP/wEo9req9kShyi3+8gRvNLmbuS75JKQ2IPZE4UD4zMaiNRX9P5jrONUbowxmMlTMFDiOkhLX5V9j2l5p5Y/cQTjoNcXuVu+9feI/IP5C5WTaP2Z7QN25kkTE1pfeDnXuO3ejT6TJmNkh/aoVMYgJsyeky0m1K+HjLNn0XfyFJQpVhTP39U6m/fu3eg07m289nAH1K1c6aK/RZlXZ8/B7sNHMLz9A75+H8zfoeMn0Pntd9HnrlaaLXHoPts1qK+dW7F5C3p+MgkTnu7qizPQftqy5Vi+abOfP1Fv5Oy5+KBrFxQvVFCzHcyfkfuyObMduXeZuR/Het2YsS3KiOtL9NVi+fNj1P33+q6vcOeDXY/CVqT7rNmYoi0Xz/e3YG0NxbGt4Tte5x3sPifuVW8t/F4z/VTjW33PFOG+W8z6jDY3dt7fYonFjutJ3LvMPp8Ffr/odcsULao9a4jv/t6fTccLdzTX8qY/Cxhzb3w2DPZ9HwsXt+XJahtY3zoBignWGbrCggwxQTQkcJqCcT0EvaFipMHAgdlbP4rj00/baqMOhBgxdOhC35QG/XPj9pFi/QRjXVEmmI9YoNapPw8rl2WLFU4e2hdQk9ttC2HLnr14/rNpePX++1CpdLaYII6R877U/v/M7beh37QZqFn+Mmzbvx9977xDe1gX9SYtW6aVqV62HO6vU0v7t37+vlq18MaCrzGq3f0oXjD7wdquY8W33zjyQB4pN4dOnMDjH01A7xb/Qt0rK/qav2Lr70hbmY5X7muDN7/5Tjvf545/Bf1cFwT0fASWGzX/S7z/aCcf41D5DGQfzJ4oEypmPbfh+ooxNt2fU7kxtjdSnkL1S8Ho5iqV8eOmzUgtUcKvjwfjIOx8tnIVlm/dquU2nJgTzGeonITLaTB/4XIYqq2y8ySY17vzTj93W3bvQZ/JUzCy/QOoVKb0hXvNnM+RmlIS99erixVbtmLqsuUY/kBbP37G82t2/ImRcz/HB10ev9Dvg9gO5k+w6fzu++jTqiXqVrryohha3nA9+k5JQ7v69fw+1wQHw/nPlq/Ass1b/OIUtntN+g/63tXK175Q/nTHy7/4wpF7l5l7cazXjRnboox+HyyULwktrrnGd48U10FK4UJYvGmz3/dHqOvRzH022mvRdBsc+u6RcX8zew8Kdo8JdZ8T5/Vj+4EDft9rofIU7L5n5T4arF2y729m+4ddedLtaoKAyeezYJyN3y3JBQug99TP8MKdd2jPgiIHgTnUv+OCnY+FSWAdN+RJRjtowxoBignW+LmmtiwxwTUNiiEQK2KC7N0c6jW/8KIZQ1PCVtmyZw/6TEnDyAfaolLpCw/4K7ZuxdTlKzHw7tZ4adYc3F79asxY9RP6trpTK/fZipWa3e37DyC1ZAncX7eO9rd+Xvw98vN5uPmqKqh75YWHdtnxC3vLv/rSkQdy7YUpTG4Ew5Gfz8cHjz8aUlARjMTRp+UdPjRmz2kvKu9/hH3HjuLjLo/75S8S52A+RB3dZp+WLS7KW6S+MrztfRe9QDuVm8CHuGivIcFB9HvR/w+eOIFJi5eib+uW/xPSgl8zev9ftmUrgrGINSehuIfzJ/JrvC4j+Zadp2DXRqh2GGMNFbexbnLBgqb6fTB/wfq38ZywPXzuFxj9YLuLrlnjNSPuc4F5Dna9h7uenLx3ReoP4vNI9zczNsKV0b9japYvj/3Hjmn3QP26a1evDt5b+L0vD+GuRzP3Wauxhqov+7qJJU6ZeRIsm40YhUduuTnsPSxY/xcvtsPnfI4ODRtAXEf6/VP/MSHUtWDWZyxs9Dpey5PeLk3kTJtm6vks2He+Xl9cb5VLl0av/0zVnvHKFS+u2RXnA5/f7LzeVOaJuzlYuaLsrUsxwV6+yqxTTACsiAkyF3YJ9gufzI4Q6tdC/ZfAgW3uxkszZmm/1P24foP2C6L49W74rDnocHNDzEpf5ftVUXuY+N958cujsCHq9GndUmbIF9ly6te9SLkJ9SursQEj53yOYbPm+LXpkUa3XPTLrCiniQ5BWIpfSR9/9wPt8xrlL8PHXbv4/fIbDH4oe+F+SY3UVwJ/TdZellzwy2ukPAXjY+y7gf06FAft5d6QC6PdBf1f8PulO5qcRPIX+Au5sC3yq//ab+bik52nYL9qi1/BHv3gQ6z9a9dFIb33SCdt5If49cw4CkQvKPql8VczjfXKVXji4wnZ/b5cWXzU+TG/0VXBRnTov45+t36DXwy6f1FnxBfzgo6oMv5SZ/StGwoWQ6RRIm7+JS6W68ZMX9PL6PfHRxvdgjfmfYXRHR7E5t17tO+Mu2vXwvDZc7Vz4mU03PVo5j4bTVzRlJV93UTjWy8rO0/6KJyPF/2guQj2fRRsZI64T036cTH63t1aE13FPejmalf57nvhvlvM+IyFjV7Hi3kSbTOOmIr0fBbsO99Yv3KZ0r6RVeWSiwcdoSV8ijwbr00reQmsqzJPMp/TZTKgLYBigkd6AcUEd4kJgXOPZXazUPOY9TnBA+9rg5emzYCYTyyOH9avxz11amP4zNkY3bED3v/uO998Z31u89o/sxdFE0eTGjX85hDLjF235dS842Dzwo3tCzaHOrD9Yi62OPT54aH4mC1nxqfwEcpeuDnekfqKcb6607kxcoyUp2DMBZ9hM2b5ffR+1y7avP5QHEThYHPpzfb5UDmJ1p++BkC9KpW1eM0csq+hYPODQ639IObyppZI1tZXMf7bGHfgfN7ANom5vKO+XOBbm0R8HsxfuDVB9Doj5n3lN4df92VcyyRwbYxY1iARdt0w5z5U/4jlujHT1/Qy4l41dekyDLy3DcbMm4eOt9yMmSvTte+T6yuk+r5jxPoT4a5Hs/e8aGIzW1b2dWPWr9X7WzR+gt2Xgt3nxLnH337Xz3T/Nnf7vtsirR9irGj2+85sO7yaJ+N6L4JFuOezYEyNOalcpgx6TZyEvvfchXLJydraNfo6MkbO4vtIf/7T14Yxm4dI5VTmiWJCpGw49znFBOfYS/VMMcGamJCWloa2beVsixZsVXSZyQ63wrrw0/3OFtrq6O0aNkDlS8vgpbTp2qrqJ06f1lY/N67ELv4tDuOq6MFWapcZv7Dl1IrokXJz6PhxdB73Nvrcc5e2wrt+COYTF/2Afvfdg7FfzL+IWTA+wdiKFeXFYVwFX/jsNWEi+ra5x2/1+0CbweyJMqFiFp9F6ivGvOv+nMrNRQ/bATsLhOuDwdopzg2fMROjO3XEweMngu5KIGyKnCzfuEnbWSDaedqhchKKeyh/4XIYqt2y8xRshflQu1KIVcZTk5O1HWHECv/iRT1wRxLj+S9+/VVrhnEHmWArkQfzF263EmFTX71cCBv6jivBzovV55f/vs0Xp263ba0bL4or1O4owq7K1cujve9Gur9Fay+w/IpNmzF18VLtWpmb/hMOHDuGn3//Xbt3iSPc9Wa8HkXZSPfZaK9Fs22Tfd2Y9Wvl/hbKh3gxfWXaTHRsdIvfd4cxTzrHwPtcsHtO4HdRsDLR+IyFTTx/D5lpryYmWHg+M363JBcq6PfsIHK8fd8+v+c5/Tsn2Hkz8UYqo/J64m4OkbLh3OcUE5xjL9UzxQRrYoLMZIgHOjv3a9/899/o8/EnGPnIw6h86aVa6OJlqOeHH2NCj+64rEQJvPDJRLRr2BDXXlFB+/dH33yHr18ajHpVq+DV6TORWioFTa6tic5jx6FPm3u08/qRtngJlm3ciBEPd4z65cosR6f2ajeTG9H+qT8uxgfdn0ZyoUI4KASGsePQ7uaGaNvwJo2fOJ6/N/sBOtQRrFyw3AX6i8aeKKvHF5hH8VmkvqL3H6NPp3IT+LAdzTUUrM8auSQXLnTRNSOjv4fqC8G4h/Mn7Px9+FBU15zsPGliQv0LWz2KeLfs24cXZs3FiLtboVLKhS01R339LVKTi+O+G65Hxrlz6D/7c5QpUhi9mzbRminqPTpxMka1uRt1K6QGtTPt5/8i7af/4r2HHvBtJRjMn/bS/+kU9GraRLMV7Fjxx3b0njELH3Vs74tTxLj76DEMu6sl8uXJA+Fv+bbtvr+FHVFv9Nff+sUQyZ/KfdXN3k/1cmbub9HaNJYX3zNTFy/W+unqbX+g6cDBePT227S/dx44gOHTZmD0o53w7eo1F32HBN6nIt1nrcQZrq7s6yaWOGXmKfDeJ15WxXf+pcWK+31HBZYTuRw5Y6bve060Q69bv2pV7bsu1HeLWZ+xsNHreC1Pert0xpGez4I9awTmVuSn10cT0Pe+NtqzYOCzivBpfDYM9n1vJUeirhvyZLUNrG+dAMUE6wxdYYFigsvEhAez90+349i8axc6vfYG1m7f7jNfIzUVE3o+h8plyyLjzBm88PEnaHfLzah3VVWk/bgYU7//ER/06K69HL86bTpSS5VC+ZIlMXLaDN953Zhu/7XHH9Pq23Es/c9kxxZgbGAiN4JZ5zfG+pr+wXPd0fbmhtrfgp84nr/v3rBoQpULzF+Ta6+9KAfBDAt7L09J8/voxQfaonPzZug8Ziy+Xb3a77Ovhw2FeIkO11eC+XEqN8ZYtIdtE3kSdfT+Xr/aVb4c6bYEs78PHkLnZk3R5c3xQa+ZX37f5pdrve6jTW/HiEceRr68eUPmOVRO7q5fLyT3YP7M+AoMQnaeBPPatWv7udmybz/6zv0Cw8UiriklfZ+N+nYhUosXx33XX+t3bvjX32p/Vy9TBh+2b+dXR9h6bPJU/LZ7t1amceVKeO+BtiheIL/PRjB/h06ewhNT0tC7SWPUSb08ZC4C7fdt2kSrox/T/rsay7dvx7CWd2jigtZ3hBDy+TyUKVzYVzaSv/T0dEfuXWbuw9FcN2bsBZZZvmEjpv7wo3ZdnDp7VrvvtLv1Zu26E/e14WnT8PLDHbTvlXDXo35dhbvPxhKfmTqyrxszPgPLyM5TIEfxvRD4/STKLFu/wXdPC/X9ZHxeEHGLHPe5r81FzwJmfMbCRq/jxTwZv68iPZ+JayrU94ueW01MeP9D9G17n/bsZ7T/0dfZO66Zfb6INVduyFOssbOePAIUE+SxdNQSxQRrYoLs3Rxu6tDR0f7gdudLJk105IFcPMQxN+F7h1O5MUbFPEW+gmXnSRMTbrghsuMEL5H+88+O3LvMYOd1E5mS7OsmsseLSzBPkakxT5EZuaGEyjxxNwc3ZDx4DBQT3JubqCKjmGBNTJC5sIv2oPDIo1HlL9EKL/n4I0ceyN2cm+Xr1+P23i8E7QovPtQeLzwgZ02PSH3NqdxcJCa44BoaMSUNL386OSiyb0aNQL1q1SLhtO1z2XkS10atmjVti9crhletWePIvcsMPzff38zEr6KM7OsmlpiZp8jUmKfIjNxQQmWeZD6nu4Gdl2KgmOCRbFJMcJeY0LDzEx7pWfY0Y/EH7znyQC4e4pib8Dl1KjeBYgLzpDZPmphQ/Wp7LngPWV312zpH7l1mEPL+FpkS72+RGbmhBPPkhixEjkFlnigmRM6HUyUoJjhFXrJfignWxATZuzk0fLKr5Ax7y9zid9525IFce9hmbsJ2Jqdyc5GYwDwpzZO4Nm6sas8aKV66e/20caMj9y4zDHl/i0yJ97fIjNxQgnlyQxYix6AyT9zNIXI+nCpBMcEp8pL9UkywJibITMfyXj1wzb9aIGeuXDLNesZW5vnz+HX+PNR77Q3lbWJuwiN3MjfGyJgn9Xla1q0LKhUuhJw5cii/LuPFYWZmFracOIH6495xZci8btRfN7F0BOaJeYql37itjlueF9zGJRHjoZjgkaxTTHCPmJA+oB9Sr7sOhVJKeaR3yW3G8b17sGPtWtQaPFSuYRPWmJvwkJzMjTEy5kl9ntL79kHpUyeQP8zuFSYuMU8XOXnmDPYVLIxaw0a4sp28btRfN7F0BOaJeYql37itjlueF9zGJRHjoZjgkaxTTLAmJsjczWHfzz/hj7T/oObdbTzSu+Q2Y83M6aj4YAeUuO56uYZNWGNuwkNyMjfGyJgn9XkSzH9/9y1UKlTQxJWUmEU2HzuOyk8948i9ywxxXjfqrxszeQkswzwxT7H0G7fVUf28wN0c3NYDLsRDMcG9uYkqMooJ1sQE2Qu77FmyGDtmz0CFm29BwZRSCT/lIfOff3Bi/35s+34RUu+7H6XrNYiqf8sszNz403RTboyRMU/q8/T311/hj4kTULZQQeTLk4dTHgBkZmUh49w57Dp+AhUfeRSlb2sq83Yk3RavG/XXTSxJZJ6Yp1j6jdN1nHxekP2c7jRLL/mnmOCRbFJMcJeYILrV/p9/wvY5s3H+TAaObtvmkZ4WWzOKVLgCufLlQ4W77nHFr3rMzYU8ui03xh7GPKnPk2C+LW0KMk+dxLG9e2O74D1Uq3BKKeQqWBBXtHvQFfcuM2h53ai/bszkJbAM88Q8xdJvnKzj5PMCxQQnMx/eN8UE9+YmqsgoJlgTE2Tu5hBV4liYBEiABEiABEiABEiABEggJAHu5uDezkExwb25iSoyignWxISoYLMwCZAACZAACZAACZAACZAACSQ4AYoJHukAFBMoJnikK7MZJEACJEACJEACJEACJEACcUCAYkIcJMlMiBQTrIkJMndzMJMvliEBEiABEiABEiABEiABEohMgLs5RGbkVAmKCU6Rl+yXYoI1MYELu0jukDRHAiRAAiRAAiRAAiRAAhII8DldAkSbTFBMsAmsarMUEygmqO5z9EcCJEACJEACJEACJEACdhOgmGA34djtU0yInZ2ralJMsCYmcDcHV3VnBkMCJEACJEACJEACJEACGgHu5uDejkAxwb25iSoyignWxISoYLNwXBPIzMxEzpw547oNDJ4ESIAESIAESIAEnCTA5ykn6bvHN8UE9+TCUiQUEygmWOpAHq986vhp/LZ0C7b9uhMnj2fgbMZZj7eYzSMBEohnAiXLJmP/roPx3ATGTgIk4HECSfnzIl+hJFSsUR7VG1ZCvgJ5Pd5iNi8YAYoJHukXFBOsiQl27+Zw4uBanNr/K04f+x1nT+7GudOHPNLzQjejQLErcf6fs8hbuAKSilyJ4pc3daTNQkj44t3vUahwIZQqm4LCRQs5EgedkgAJkAAJkAAJkICXCBw7fBx7d+3D8ePH0bJrI9sEBe7m4N5eQzHBvbmJKjKKCdbEBDsXdtmz7kNknTuCPHnzI6lASSQVLIXcefJHld94LZxxYg/OnNyHc2dO4+i+tSh3Qx8kFU5V2pz0+Wtx8K9jqHR1RaV+6YwESIAESIAESIAEEoHAlt9+R4nLC6NW8xq2NNfO53RbAk4goxQTPJJsignuExOyMs9j6/dPIblcbRQvc61HelrszTh7+ij+2jgXpap2QoGS6nhMHTkfla+uxBEJsaeONUmABEiABEiABEggJIFjR45j87otaNenhS2UKCbYglWKUYoJUjA6b4RigjUxwY7dHDZ/+xjKV79PG43A4wKBP3+bjiLlW6BI2Ya2YxGLA00YNAs3N29guy86IAESIAESIAESIIFEJfDjgmXoNPguWxa55m4O7u1VFBPcm5uoIqOYYE1MiAq2icK7f30LSfnyo1hpe4Z7mQjB1UU2LnsdlZt8jJy5LrE9zrd7TcHtdzey3Q8dkAAJkAAJkAAJkECiEvhm1iJ0Hf1AojY/YdtNMcEjqaeY4B4x4fien3D87+9waaUmHuld8ptx8uhOHDnwB8pe20O+8QCLFBNsR0wHJEACJEACJEACCU6AYkJidgCKCR7JO8UEa2KCzN0c/l4zFvkLFEbRUhyVEO7y2rhsDCrf9gFy5k6y9SqkmGArXhonARIgARIgARIgAdgpJnA3B/d2MIoJ7s1NVJFRTLAmJshc2GXb4p649MrbtF0beIQmsP3XKUip9jjyF6tiKyaKCbbipXESIAESIAESIAESsFVMkPmczlTJJUAxQS5Px6xRTHCPmLDhy7a46qY+jvWFeHG85/fvcEmxa1D88ua2hkwxwVa8NE4CJGAgMH7CGO2vbp0uTOHa9udWvPnRaxjYYxiKFSkektfPv6Zj9oLp6N99CNZtWot2T7XGVVdejcfbd0P66uXa+aS8+UzxFrbGfzIGrw0cH9anKWMsRAIkQAImCNg5MoFigokEOFSEYoJD4GW7pZhgTUyQtZvDudMH8efKQah4/SOyU+w5ewd3pSMzZzGUrNzO1rZRTLAVL42TAAlIEhOMIOd+PUP7s1XTNjHxpZgQEzZWIgESsEDATjGBuzlYSIzNVSkm2AxYlXmKCdbEBFl5+uf0Ifyx7HlUqvWkLJOetXPwr5U4n7MIUqq0t7WNFBNsxUvjJEACUYgJh48e0kYpFCxQCFPnTNJqTn1rDm64pjb0kQk1q12PvsOzRzY817kP6l7fwDdiQZwbNnbQRXXFeTEC4rmBT2LD1nVavZ/XpnNkAnsnCZCAMgJ2ignKGkFHUROgmBA1MndWoJhAMcGdPTN0VBQT4i1jjJcESCASgUjTHISYIF74Oz/YVRt1IMrv2b/bN7VBn+bw9Q/zsfPvP7XpEsbpDx9OeUcLQT8/5PV+eOOld7SpDD1f6oa7mt3rs0sxIVK2+DkJkIBMAhQTZNKMH1sUE+InV2EjpZhgTUyQtZsDRyaYv6AoJphnxZIkQALxQcCMmDD0jQEY8NxQXFH+Sj+hQKyTEE5M6Pbwc+j3ak90e7iHNpLh9JkMbZSCEBCKFS3uty6D2XUa4oMqoyQBEogHAnaKCdzNwb09gGKCe3MTVWQUE6yJCbIWdqGYYL7bUkwwz4olSYAE4oOAGTHBuBhj4KKLZsSExSu/94Px2sBxKFv6Mr8FFykmxEd/YZQk4CUCdooJsp7TvcTbLW2hmOCWTFiMg2ICxQSLXUh5dYoJypHTIQmQgM0ExMKJ+vQE3ZVxMUR9zQR9Z4doxYRX3xqKZx7tqY1qMB6B4gHFBJsTTfMkQAIXEaCYkJidgmKCR/JOMcGamCBrNweOTDB/QVFMMM+KJUmABOKDgBAH9HUMxAu/PhWhdMky2joHgS/50YgJYmtI45oJ+oKLg/7vFVxdpYY25aFWzTpcMyE+ugqjJAHPEbBTTOBuDu7tLhQT3JubqCKjmGBNTIgKdpjCFBPMk6SYYJ4VS5IACcQPASEQtHuqtS9gsbOCEBLEYVVMEDaMuzmIKQ769pHG3Rz6PTNE8/V/T7ygLc7IgwRIgATsJmCnmGB37LQfOwGKCbGzc1VNigkUE1zVIU0EQzHBBCQWIQESIAESIAESIIE4IOAmMWHoUGDgwAvQliwBGjQID3HTJmDwYGDcOCA5OXRZUa5tW6BuXWDMGCBfvuyyGRlAjx7AihVAWhpQpYr5pE2eDCxe7G8vsLbZ+Mx7lVOSYoIcjo5boZhgTUzgbg7quzDFBPXM6ZEESIAESIAESIAE7CBgp5gQzW4OQkjYtevCi7n+8j9+fHhBwezLuijXvTtQrBgwZMgF0UCcHzQIOHwYGDuWYoIdfYw2bSRAMcGamCBrlVhOczDfyVWICZmZmfhkyGw0bFrffGAsSQIkQAIkQAIkQAIkEBWBxQuW4eHBdyFnzpxR1TNT2Oxzuj46oGFDoH37C5aFwCCOXr2yRw906JAtLBw8CDz9dPaIBHGI/9euDfzf/wE1awYfYaCLDqJcSsoFP2J0wb59QHp6th0xMkEXMtasAZo1A0QZfdTD0qXATTdl+2naFDh2DHjlFaBfv/Dx6SMn9Poi7i5dLognxvOBPs2wjrYMRyZES8yl5SkmUExwadcMGZYKMUE4nzpyPipXq4TCxQrFGyLGSwIkQAIkQAIkQAKuJ3D08DFs3bAVbXu3sCVWs2KCcC5e2B96CHjpJWDAAP9wdLEhlJggpi+0aZNdL9TUA11MaNcO+PLL7Jd4cYjkygs+AAAe40lEQVRRCa1bZ0+TEGJCiRLZQoPwJf5vHDHx55/ZUyXEaInrr88WOMRhVkw4cCB7dIQYAVG+fHb9smWBp566II4IMUO0QRxGYUV2gigmyCbqkD2KCdbEBO7moL7jqhIT0uevxcGdx1CpekX1jaRHEiABEiABEiABEvA4gc2/bUXJy4uiVvPqtrQ02t0cxIgD8QK9YEF2OLqwEElM0F/QxYu4cdSCcf0DXUwQUxyEgKCPavjww+wX/N69/Uc66CMJ9OkRQgAQYsCkSf6jCcTfZsWEr77yX2NBjEYQ9V988YL/aNZssJI0iglW6LmoLsUEa2KCrFRymoN5kqrEhIyTZzB33EIULloYpcqloHBRjlAwnyWWJAESkEng8NFD6PlSNyxe+b1mtl3rDhBbPiblzV7BK/DzhnVuxWsDx2s7MuifdXu4B264prbMsGiLBEiABGIiIEYk7N21D8ePHkfrbo2RVCBvTHbsrGSc+nDPPZGnOegv/5HEBFHurbeAxo2B7duBbdv8RwYIwUCMRtCnNhjt/fRTcDEgGjFBjL4wHvqUBuFXjHoQUyuM0x/sYkwxwS6yiu1STKCYoLjLWXanSkwQgQpBYfW3G7F94y6cOpGBsxlnLcdPAyRAAiQQDYETGccxYf541K52E2pfdZNWNX3DEmz9axPuvbUDzv5zxvf5nU1aY9+ug9rn6euXoFOLblp5Uf9fde9GxbJRLBMeTZAsSwIkQAImCSTlz4t8BZNwedWyuO62qq4QEsQLe//+wLBh/jsyiBd68bIfuGaCcbSAaLZxZILxs2AjE4SYsHEjMGdO9noHYjpD1aoXr8FgZWRCYHz6bhNiZIJoT+A0jsDU6e2OVM5kyoMWo5hghZ6L6lJMsCYmcDcH9Z1ZpZhgbJ1YlNGOxYHUE6RHEiCBeCIwefJkLF68GGPGjEG+/+0llpGRgR49eqBDhw4oUaIEunfvjrFjx6LK/55cDx48iPbt22PAgAGoWrWq798NIu1xFk9gGCsJkEBcElD5PBXtbg4CqP4CrU95EC/7+sgEsb6Avi7CqFHZCy2KQ/yiL6YpiCkSkdZMECKBPgqgdOkL6xPoCzqGWzPh1KlsHyKGYGsmhIpPFxOMayaIrwt9PYauXYERIy5sb8k1E+Ly0nImaIoJ1sSEaBZ2CZdhM9McNm3Zju59RmPsyF6oUinVZ27oqx/gitSyaN/2XxD/HjjsHT9XL/V/EgOe76ydEzbaduqHurWqY8zw/0O+fEna+YyM0+jR93WsWPUb0ia8cpH9Xbv3+ZUPbIvwq92A/+dH//zgoSNo33kABvR5DA3qXutXTY9lzdrNvvM1a1S+yH+gL6fEBGeuUHolARJIZAK6aNCwYUNNEAh26GXeffddLFmyBIGCgVFYoJiQyL2JbSeBxCMQ7XO6eLkeOPACp08/vbAIoXGHhddfv7D7giht3M0h1E4Ixi0k8+e/sPihEAYCp0aY2c1B+H33XWDr1uytJvXFGcU0hWDxBdvNwRirvgClsMtpDol3rcTcYooJ3hMTjC/1ukhQtkyK9qKvCxLFihbGkH5P+EQDcX7QK+/h8JFjfmKFOD9m/H+0/tWj24N+IoOx08UqJgSKI0tXrEa3niPDCgoUE2K+3FmRBEggzggYRyBEEgKWLl2Km8R+Yf87dGGBYkKcJZ3hkgAJSCMQrZggzTENRSTAaQ4REcVHAYoJ1sQElbs5mB2ZYBQTxL+N9TT1dPh7qH3D1UgpUVwbzSCOyWlfYt+BQ0j/eR0G970gMojz+rFt+66LRh7on8kSE4S9ULZ0XxQT4uPewihJgASsEzAzMiGYFzG0V5/6IKZB6FMeIgkS1iOmBRIgARJwD4Fod3NwT+Tej4RigkdyTDHBmpggqxvInOYQKCbooxM6tGuBEslFNTGhXZtm+PKbpdrUBXGIUQmt77gZ4977zCcmiHri/GMdW2n1+r/0FoYNfArJxYte1GyZYoIYnTBp6vyQ0yooJsjqdbRDAiQQDwSCrZmgCa9Dh6KxWA4cwMKFC7X1EfTDOKKBaybEQ5YZIwmQAAkkFgGKCR7JN8WExBQThvTrgkGvvKsJB+L4cOJcdH+yLXoP+LdPTBAjGsR5MR1CrK0gBIPGt9x40doH2kNtjGsmBFsDgmKCR24ubAYJkIAUAvo0BbHYor5ughAYJk2aBPF/cQSOPBBTHrp16wYxeo4jE6SkgUZIgARIgAQkEqCYIBGmk6YoJlgTE1Tu5hDrNAfjIoj6yIRxo/vgrfena+LA9h27IaYwPPX4vXi610ifmCCmODz0+IVfukQ/NS7maOy3MsUE4Xfx8l84MsHJGwN9kwAJuIqALigsWLBAi6tZs2aakJCcnKz9Hfh5zZo1NSFB7O4Q+JnesGCLNbqq0QyGBEiABCwSiGY3B4uuWD1KAhQTogTm1uIUE6yJCbIWdjEzzUGIAsaXfdGn9CkMDetd59vNQZw37qoQbM0EISZs3Lwdc+b9iGPHT0BMgahaOdVnX4gOgbswBPOv92uZYgLXTHDr3YJxkQAJkAAJkAAJkED8EJD1nB4/LY6fSCkmxE+uwkZKMSF+xITAnRlEYgN3Pwh8EQ+2m4NYM0GICQcOHtG2iSxdKhmTPxiq9RNdrBCfDR35oXZeXyMhULgwdixZYoLbdnNQuReyR24pbAYJkAAJkAAJkAAJhCSg8tmKYoJ7OyLFBPfmJqrIKCZYExNU7uYgEqu/0L/70UwtzzVrVPbbRlG81A8c9o5fHzBOTRCjFHQxIX++JPTo+zr0bSONIw8+m/mtZsM4wkH8LaYgTEqb7ycyiPOh/IqpE2KEw4Jvl/vFtOTrD7RFHYWYsWbtZt9nge0J1pntXoDx1PHTWLdsC7at3YmTxzJw5tTZqK4pFiYBEiAB1QRy5MyBrMws1W7pjwRIgASiJpBUIC/yF0pCxWvK4+oGlZCvQN6obZitwN0czJJSX45ignrmtnikmGBNTJCVFDPTHGT5inc7dooJQkiY9/73KFKiEMqkpmj/50ECJEACJEACJEACJCCPwNEDx7H7j304evA47uzSyFZBQV7UtCSTAMUEmTQdtEUxgWKCg90vJtd2ignpC9biyN5jqHpjxZhiYyUSIAESIAESIAESIAFzBDas+h3FyxRGraY1zFVgKc8QoJjgkVRSTLAmJqjczcEjXc5yM+wUE6aOmo+r61TiiATLWaIBEiABEiABEiABEghPQIxQWLdyC9r1bmELKu7mYAtWKUYpJkjB6LwRignWxARZC7twmoP5a8EuMUEsCDRh8Cw0adfAfDAsSQIkQAIkQAIkQAIkEDOBb6cuQ6fBdyFnzpwx2whVUdZzuvTAaBAUEzzSCSgmUEyIt65sl5ggOLzdawrueLRRvCFhvCRAAiRAAiRAAiQQlwTmfbQIXUc/YEvsFBNswSrFKMUEKRidN0IxwZqYoHo3B+d7jPMRUExwPgeMgARIgARIgARIgARkELBTTOBuDjIyZI8Nign2cFVulWKCNTFBVsI4zcE8SYoJ5lmxJAmQAAmQAAmQAAm4mYCdYoKb253osVFM8EgPoJhAMSHeujLFhHjLGOMlARIgARIgARIggeAEKCYkZs+gmOCRvFNMsCYm3HPPPZg4cSIKFixoqUdwZIJ5fBQTzLNiSRIgAXsJ/P7HVgwePgCD+w5FxQpX+pyNfXsMyl9WHnfd2SZkAKLuG2+9hpf6D0O+pHx46dVBmPzZJDzSvjMOHj6gnS9WtLipBhw+cgjP9umG7k/2wI3X176ojv75D0u/1z5rf38HDHx+CJKS8ml/B35+S4Nb8e+R4zX/4WyLNjzd80ms37TOz2fPp/uge9cepmJnIRIggcQmYJeYcO7cOaxatQr169dPbMAubT3FBJcmJtqwKCZYExNatWqFUaNGoUqVKtGi9ytPMcE8PooJ5lmxJAmQgL0ErIgJxsjEC/uof49A72dfMC0gBNYPJSboYsA9re71iRuzv5iB9J9XaoJCxukMTYgI/Hzm3OmaoCCOULaDtT+SsGFvRmidBEgg3gjYJSasXr0ajzzyCH755Zd4Q5IQ8VJM8EiaKSZYFxMef/xxtGzZ0lKPoJhgHh/FBPOsWJIESMBeApHEhOZNWmgjDkqnlMFr40Zqwei/2usjE/7v6d4YNKw/xKiBalWuxvM9+mHG3Gm+kQk//TcdbTq01uoaRxScPp3hG80gzv+1a2fQkQlG4UAfiaDXvaflvShWrPhFoyuMgkDFK66MSkwQcZoZmWFvZmidBEggXgjYJSbMnz8fc+bMwbvvvhsvKBIqTooJHkk3xQRrYsJff/2FPHnyoFSpUpZ6BMUE8/goJphnxZIkQAL2EjArJogoxCiA39avxYCX+2Hca+9ogenTHLTPh/XHc0/19Dt/6PAh34t+2TJlfcKEmEIgXtj37NvtsysEhxmT5vhNc9BFg9o31Ak55cIoSgTWF8FEmuYQOM2DIxPs7XO0TgJeI2CXmDB16lRkZmbiwQcf9BoyT7SHYoIn0ihepG/GymV3eKQ1sTWjTv15WLnsx9gqS6pFMcE8SIoJ5lmxJAmQgL0EzIoJ+su8eNEOJhqEEhN+WLLINx1BjCoQoxRmfj4dfZ7ti5H/Hg4xskCskWAcaWBcMyHU+WBUjCMgxOe6sBBJTAi2ZsK/Xx0Xdr0Ie7NC6yRAAvFEwC4xIZ4YJGKsFBM8knWKCdZGJsjqBhQTzJOkmGCeFUuSAAnYS8CsmKC/9MciJjz7/NN+jRCLIw7pP0ybGqEvuBhJTAg3MiEYIWO7ihcrbnqagxAkxr4zxrd4o730aZ0ESMALBCgmeCGL0beBYkL0zFxZg2KCdTGhc+fO6Nq1K2644YaYc0wxwTw6ignmWbEkCZCAvQSM4oC+m4NxaoG+ZoIVMeHPnX9etDNCoHgQbgRCsDUTBBUxTaJ+nQYaoGUrl/r5MNqLds0E4/QLfY0Ge7NA6yRAAvFMwA4x4eDBg9iwYQNuuummeEbj6dgpJngkvRQTrIsJYmvI33//HUOGDIm5V2RlZWLT1x1Qtf7/xWwjUSru3bYQeYpUQ/FU+dNz3u41BXc82ihRULKdJEACFgnoL91igUV9K0Tx67y+LoK+zkGsYoJxzQQhVhhf1L/6dr5vCoRYiyHYmgmieaF2cwi3W4OxDdGMTDD6C7VNpUXkrE4CJOAxAnaICeKHvnr16uGxxx7zGC3vNIdigkdySTHBupggFncRizCeP3/eUq/Y9uNzuLRycyQVKGnJjtcr71ibhhJVO6FA8WrSm0oxQTpSGiQBzxMwLmAoGit2ZBALLIqX/8ARA9FOcyhWtLi2ToK+m4OY4iC2axTnA3dzKFiwEJo2aua3AKMOXxcUxI4R4jDaMQoA+ufGNgTW1W2KNRWC7QQhPhejIXSxQsTKgwRIgARCEbBDTLjsssuwc+dOQncxAYoJLk5ONKFRTLAuJgjeGRkZyJUrFy655JJo8PuV3bX63yhYqBiKpFwds41EqLhp+Vhc2eht5MqTX3pzKSZIR0qDJEACJEACJEACJBCSgGwxYcWKFTh06BBatGhB6i4mQDHBxcmJJjSKCXLEhGiYhyp79O8lOH1oNUpdXk+GOU/ayDi5Hwd3r0O567K3T5N9UEyQTZT2SIAESIAESIAESCA0AdliAlnHBwGKCfGRp4hRUkyQJyZs2rQJefPmRWpqakTuoQr89d9RKFzsMhQuUSlmG16uuCX9baQ2GIU8ScWkN1NMV5n40mw0vr++dNs0SAIkQAIkQAIkQAIkcDGBhWnL0HHQXciZMyfxJBABigkeSTbFBHligugSKSkpWLduHUqWjH3dgw1ftkWV+j2RM2cuj/QyOc34a+MXyF+yNoqn/kuOwSBW0kbPR7XalVCkRCHbfNAwCZAACZAACZAACZAAcOTAMWxI34q2vaxPSRBTG1q1aoUlS5YQbRwQoJgQB0kyEyLFBLliwvfff4+hQ4fiu+++M4M/aJnz/2Rg87ePomzlO1G4ZNWY7XilYub5s9i5YS6KXtYURcrZu9PCqgVrcXjPMVStVdEr+NgOEiABEiABEiABEnAlASEkJJctihtvr245vkcffRRiF4f69TnC1DJMBQYoJiiArMIFxQS5YoLI2bZt27TdHcRKslaOv/77GnLnzomkfEWRt2AKkgqUQo4cOayYjJu6504fw+mT+3D29FHs37EY5W7ohYIlatoef8bJM5j79kIULVkYl1ZI4QgF24nTAQmQAAmQAAmQQKIRECMSdm/bh6MHj6PVk42RVCCvJQQzZ87UpkncddddluywsjoCFBPUsbbVE8UE+WKCnrCTJ0+iQIEClvJ3dPcKnNz/X5w59gfOntqLHDlyW7IXD5WTilyOMyd3I6nQ5chXrCpKVLxbadhCUFjz/UZsX78Lp45n4Myps0r90xkJkAAJREsgR84cyMrMirYay5MACZCAcgJCOMhfKAmp1cqi5i1VLQsJyhtAh1IIUEyQgtF5IxQT7BMTVq9ejXPnzqFWrVrSEn3+7HFptlxrKEcO5MpT0BXhiUUZuSCQK1LBIEiABEiABEiABDxAQOaz1apVq6Q+Z3sAb9w0gWJC3KQqfKAUE+wTEwT5O++8E48//jhat27tkR7DZpAACZAACZAACZAACZCAswTmzp2LtLQ0TJ482dlA6D0mAhQTYsLmvkoUE+wVE0TGxfytWbNmJcx6B+7r5YyIBEiABEiABEiABEjAKwRWrlyJSZMmYdy4cV5pUsK1g2KCR1JOMcF+MUF0FX1I1+nTp5GUlOSR3sNmkAAJkAAJkAAJkAAJkIAaAllZWdqPcytWrEDdunXVOKUXWwhQTLAFq3qjFBPUiAl6Zl955RVtUcZnn31WfbLpkQRIgARIgARIgARIgATikMCwYcPQtWtXFC9ePA6jZ8iBBCgmeKRPUExQKyaIbjNixAiMHDkSO3futLzbg0e6IZtBAiRAAiRAAiRAAiRAAhcRWLRoEV588UU0atQIL7/8Mgl5hADFBI8kkmKCejFBdJ3Dhw9rw7SKFi2K48ePIz09HbfddptHehWbQQIkQAIkQAIkQAIkQAKxEdi8eTMqV66sVZ45cyZuvfVWjkiIDaVra1FMcG1qoguMYoIzYoIxSxkZGWjZsiXEPLDLLrsMEyZM0D4+e/asJjoUK1YMl1xySXSJZWkSIAESIAESIAESIAEScCkB8Zx75swZFCpUSIvwl19+wYABA7B+/Xr06NEDzzzzjEsjZ1gyCFBMkEHRBTYoJjgvJujd4OTJkxCr0zZu3Fg79ccff6BevXooXLiwpsi+99572vnvvvsOTZo00f4t/v/NN9/wPDmwP/C64H2A9wHeB3gf4H2A94G4uA8MHToUOXPmxFVXXYXx48drMYtRuvv379eeg/Ply+eCtySGYCcBigl20lVom2KCe8QEhWmnKxIgARIgARIgARIgARIgARJwhADFBEewy3dKMYFigvxeRYskQAIkQAIkQAIkQAIkQAIkEJwAxQSP9AyKCXLFhKzM88iRM5dHegebQQIkQAIkQAIkQAIkQAL2EOBzsz1c48EqxYR4yJKJGCkmWBcT/snYh6O/Dcex7bNx7tQBZJ47YYI8i5AACZAACagikK94JWQc2qLKHf2QAAmQAAmYIJArb2HkTkpG4dS7UKRGP+ROKmGiFot4gQDFBC9kEeJF+masXHaHR1oTWzPq1J+Hlct+jKmyEBJ2zauDfJccReGihZCUPykmO6xEAiRAAiRAAiRAAiRAAolG4PSp0zh25DhOnS2CcneuoqCQIB2AYoJHEk0xwdrIhIMrn8H5PZORUibZIz2CzSABEiABEiABEiABEiABtQT27T6AXJd2QnKtMWod05sjBCgmOIJdvlOKCdbEhD8+uxxlUjKRlC+v/OTQIgmQAAmQAAmQAAmQAAkkAIHTGWewe19OVLh/RwK0lk2kmOCRPkAxIXYxQSwas+XTIqhcKcUjvYHNIAESIAESIAESIAESIAFnCGzZsh9XPnSEi5k7g1+pV4oJSnHb54xiQuxigsjKxg9yoOpVl9uXIFomARIgARIgARIgARIggQQgsHHDDlTtnJUALWUTKSZ4pA9QTJAgJlQt75HewGaQAAmQAAmQAAmQAAmQgDMENm78k2KCM+iVe6WYoBy5PQ4pJkgQEyqXsyc5tEoCJEACJEACJEACJEACCUJg4+a/KCYkSK4pJngk0RQTJIgJV17qkd7AZpAACZBA/BGY/O0pLP71LMZ0K4J8eXNoDTh4NBNPjz2KwQ8XwoGjmZj0zSnf5xlnstBj/FGtnF5HP9fwmkvQvkn++IPAiEmABEjAAwQ2bv2bYoIH8mimCRQTzFCKgzIUEySICRXLxEGmGSIJkAAJeJPA5G8zsHjtWYx5qrC/mPBmtpggjsGfHMe4Z4oguUjObKHhzaPIygKGdCqEKpfl9p37//buNbapMg4D+NOddOvKLsp9yy64sFUZicK+YBYTgSmfdCpqgG2MyMXhLaJkLJDJjA4hRGoMcldB6CIioCHBmLgxIEtAvMWw5XTL2IRxmQwYZWvP1p7NnFOzuSiynnZd2/OcT13z/t/zvr//+bIn55wq45W/eVCAAhSgQPAFxOarDBOCzz4qZ2SYMCrsgT8pw4QAhAkPTAp8YzgjBShAAQoMS8BWrYQJblhXxg+GCQ4lMHCgYnEc0iYKWLX9DoryTMidHo26872o+a1XnTsjSUDB3FjYL3nw6XcuvFscNzDHsE7OQRSgAAUoEDABsaWdYULANEN7IoYJod2fYa+OYUIAwoT0CcP25kAKUIACFAisgK1awunzblhLBoOAG0qYsLULFUVm9U4DZYxyFMw1DXyeMllQQ4XygjHqdxeuyepnHhSgAAUoMDoC4h/XGSaMDn3Qz8owIejkI3NChgkBCBPSxo9MczgrBShAAQrcU8BWI6FwU9e/xj2cIeDgWu9jC3X1buyv7kHlEjM2feXC0nkxGJ8YhXV7nep3245JmPOIEbnZxnuejwMoQAEKUGBkBMSLHQwTRoY25GZlmBByLfF9QbIsY8lLi7B/30zfiyOooqj4F+z9rAqCIPi8K3GPAQ+mjPW5jgUUoAAFKBAYAVtND07Xe2BdYR76mMM2JyoKY2FJEaDcqbBunwtvPWvCwVO9WD3fpJ58/QEXFj0ejaraXjVgUMbyoAAFKECB0REQ224yTBgd+qCflWFC0MlH5oTzX5iPj6zZSE3R562dl9q68eaqehw+dFgTsBomJN+nqZZFFKAABSjgv4DtRK83TFgeOzRM2O5CRYFpICCwfiNhTIwB7Z39KF/oDROU2rhYA35vkbH6uRi+L8H/dnAGClCAApoFxCudDBM064VXIcOE8OrXXVdbtnYNnnyiB3Nm6/MXCX6ovoKaE7HY8P5GTR1Vw4SkRE21LKIABShAAf8FbLVKmCDDusw0NEzYIaFi0eDdBsq4Y2c9eP2paORO8/5iQ12DB9+ecat/58/iIw7+d4MzUIACFNAuIF69zTBBO19YVTJMCKt23X2xn+/9AlLPSax8OStCduTbNj7Z1oi4+NkoLir0rfDv0WqYMMn702M8KEABClAg+AK2WjdON8iwLh28s+CGox+v7ZRQsVAJE6LURdnb+vDGbgkfL1fuVvB+p4wr2OJC+YsxyJ3GRxyC3z2ekQIUoMCggNh+h2GCTi4IhgkR0uiz587h5KkqlL49OUJ25Ns2Nm2+hrw5i5GTM8O3wn+GCRP0+YiIJjAWUYACFKAABShAAQpQ4D8ExOvdDBN0cmUwTIigRld+UInp2R3If1pfgcKRo1fQ2JSMstI1mrup3pkw3qy5noUUoAAFKEABClCAAhSgACB2OBkm6ORCYJgQYY3OmzcPRw49hoQEfTwzeutWDxYUnMH3x4/71Uk1TBjrfZEXDwpQgAIUoAAFKEABClBAm4B4U2KYoI0u7KoYJoRdy/5/wS2trfhwSxkq38tGYmJ0hO1u6HaUIKF8fQNKV29GWlqq5r3298loPnA/ppp7NM/BQgpQgAIUoAAFKEABClAAaHJGY2phJwxRfIdNpF8PDBMisMMtrS1YUVKCV1dm4pl87f9khzLNkaMXsXN3M3bv2Im0tHS/l9ryZSqScA0mweD3XJyAAhSgAAUoQAEKUIACehRwefrQbkjGlAUX9bh93e2ZYUIEt3zDxvUQhMuIj5NhsSQiKysBqSnh+ZLBS23dsNtvw253oKsrCv1IR1npOwHr3o26EsjNuzAxxvtmcB4UoAAFKEABClCAAhSggG8Cf0p9ELJewbhHt/pWyNFhKcAwISzbNvxFn/vpZ9Q3/Aq7XURj4wWYzUY0Nl0d/gQhMDIrMwlOpxsWSwYslocwfdoM5OTMDOjKPFIHLn+dCbOnE/FGA0zMFALqy8koQAEKUIACFKAABSJXQOoDHJ5+OIWxSH2+EYJpXORuljsbEGCYoLOLQZZlCEJ4Pb8UrDXLUgc665bhTvuPcLsdkN3dOrs6uF0KUIACoS0wJmEKuh2tob1Iro4CFKCAzgQEYxyMxgQkTJ6FxNxdEGIYJOjlEvgL3EbvmeZd7Fw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0" name="Picture 129" descr="C:\Users\a0272583\Documents\cpsw\docs\phy integration\PHY_FSM_SimplifiedView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800" y="253265"/>
            <a:ext cx="1850707" cy="41802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6" name="Picture 2" descr="CpswPhy_Dr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6" y="1588018"/>
            <a:ext cx="1113000" cy="151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MyPhy_phyDrv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139" y="1759668"/>
            <a:ext cx="2166540" cy="117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29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Switch Configuration and Debugging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29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Switch Configuration</a:t>
            </a:r>
            <a:endParaRPr lang="en-GB" dirty="0"/>
          </a:p>
        </p:txBody>
      </p:sp>
      <p:pic>
        <p:nvPicPr>
          <p:cNvPr id="4" name="Picture 2" descr="C:\Users\A0485148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762" y="66049"/>
            <a:ext cx="2943957" cy="234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9580" y="1456611"/>
            <a:ext cx="4663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Default configuration loaded during </a:t>
            </a:r>
            <a:r>
              <a:rPr lang="en-US" dirty="0" err="1" smtClean="0"/>
              <a:t>EthFw</a:t>
            </a:r>
            <a:r>
              <a:rPr lang="en-US" dirty="0" smtClean="0"/>
              <a:t> </a:t>
            </a:r>
            <a:r>
              <a:rPr lang="en-US" dirty="0" err="1" smtClean="0"/>
              <a:t>init</a:t>
            </a:r>
            <a:r>
              <a:rPr lang="en-US" dirty="0" smtClean="0"/>
              <a:t> – part of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Run-time switch configuration supported Switch </a:t>
            </a:r>
            <a:r>
              <a:rPr lang="en-US" dirty="0" err="1" smtClean="0"/>
              <a:t>Config</a:t>
            </a:r>
            <a:r>
              <a:rPr lang="en-US" dirty="0" smtClean="0"/>
              <a:t> via Network (</a:t>
            </a:r>
            <a:r>
              <a:rPr lang="en-US" dirty="0" err="1" smtClean="0"/>
              <a:t>config</a:t>
            </a:r>
            <a:r>
              <a:rPr lang="en-US" dirty="0" smtClean="0"/>
              <a:t> GUI) &amp; UART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09360" y="4443427"/>
            <a:ext cx="13411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smtClean="0"/>
              <a:t>Fig – UART Based </a:t>
            </a:r>
            <a:r>
              <a:rPr lang="en-US" sz="700" b="1" dirty="0" err="1" smtClean="0"/>
              <a:t>Config</a:t>
            </a:r>
            <a:r>
              <a:rPr lang="en-US" sz="700" b="1" dirty="0" smtClean="0"/>
              <a:t> </a:t>
            </a:r>
            <a:endParaRPr lang="en-US" sz="7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015" y="2774647"/>
            <a:ext cx="257780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285180" y="2436161"/>
            <a:ext cx="13411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smtClean="0"/>
              <a:t>Fig – Switch </a:t>
            </a:r>
            <a:r>
              <a:rPr lang="en-US" sz="700" b="1" dirty="0" err="1" smtClean="0"/>
              <a:t>Config</a:t>
            </a:r>
            <a:r>
              <a:rPr lang="en-US" sz="700" b="1" dirty="0" smtClean="0"/>
              <a:t> GUI</a:t>
            </a:r>
            <a:endParaRPr lang="en-US" sz="700" b="1" dirty="0"/>
          </a:p>
        </p:txBody>
      </p:sp>
    </p:spTree>
    <p:extLst>
      <p:ext uri="{BB962C8B-B14F-4D97-AF65-F5344CB8AC3E}">
        <p14:creationId xmlns:p14="http://schemas.microsoft.com/office/powerpoint/2010/main" val="233747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Debugging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358140" y="838179"/>
            <a:ext cx="4663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Debugging Infrastructure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GEL Scripts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HW error stats report.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Dump Switch forwarding table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PHY </a:t>
            </a:r>
            <a:r>
              <a:rPr lang="en-US" dirty="0" err="1" smtClean="0"/>
              <a:t>reg</a:t>
            </a:r>
            <a:r>
              <a:rPr lang="en-US" dirty="0"/>
              <a:t> </a:t>
            </a:r>
            <a:r>
              <a:rPr lang="en-US" dirty="0" smtClean="0"/>
              <a:t>read/write configuration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Debug and diagnostic APIs/IOCTLs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DMA statistics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Switch </a:t>
            </a:r>
            <a:r>
              <a:rPr lang="en-US" dirty="0" err="1" smtClean="0"/>
              <a:t>config</a:t>
            </a:r>
            <a:r>
              <a:rPr lang="en-US" dirty="0" smtClean="0"/>
              <a:t> dump IOCTLs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Runtime configurable trace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GUI support to run stress tests, get switch statistics.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09360" y="4443427"/>
            <a:ext cx="13411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smtClean="0"/>
              <a:t>Fig – UART Based </a:t>
            </a:r>
            <a:r>
              <a:rPr lang="en-US" sz="700" b="1" dirty="0" err="1" smtClean="0"/>
              <a:t>Config</a:t>
            </a:r>
            <a:r>
              <a:rPr lang="en-US" sz="700" b="1" dirty="0" smtClean="0"/>
              <a:t> </a:t>
            </a:r>
            <a:endParaRPr lang="en-US" sz="700" b="1" dirty="0"/>
          </a:p>
        </p:txBody>
      </p:sp>
      <p:pic>
        <p:nvPicPr>
          <p:cNvPr id="8" name="Picture 2" descr="C:\Users\A0485148\Desktop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891" y="205465"/>
            <a:ext cx="2481572" cy="218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855017" y="15929"/>
            <a:ext cx="1590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smtClean="0"/>
              <a:t>Fig – Stress Test Connection</a:t>
            </a:r>
            <a:endParaRPr lang="en-US" sz="7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762" y="2805720"/>
            <a:ext cx="3379917" cy="1590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74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49333" y="2007872"/>
            <a:ext cx="1312227" cy="476248"/>
          </a:xfrm>
        </p:spPr>
        <p:txBody>
          <a:bodyPr/>
          <a:lstStyle/>
          <a:p>
            <a:r>
              <a:rPr lang="en-US" dirty="0" smtClean="0"/>
              <a:t>Q &amp; 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155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39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Key </a:t>
            </a:r>
            <a:r>
              <a:rPr lang="en-US" sz="1800" dirty="0" err="1" smtClean="0"/>
              <a:t>Usecases</a:t>
            </a:r>
            <a:endParaRPr lang="en-GB" dirty="0"/>
          </a:p>
        </p:txBody>
      </p:sp>
      <p:grpSp>
        <p:nvGrpSpPr>
          <p:cNvPr id="3" name="Group 2"/>
          <p:cNvGrpSpPr/>
          <p:nvPr/>
        </p:nvGrpSpPr>
        <p:grpSpPr>
          <a:xfrm>
            <a:off x="741507" y="542371"/>
            <a:ext cx="3639730" cy="1936599"/>
            <a:chOff x="741507" y="542371"/>
            <a:chExt cx="3639730" cy="1936599"/>
          </a:xfrm>
        </p:grpSpPr>
        <p:grpSp>
          <p:nvGrpSpPr>
            <p:cNvPr id="4" name="Group 3"/>
            <p:cNvGrpSpPr/>
            <p:nvPr/>
          </p:nvGrpSpPr>
          <p:grpSpPr>
            <a:xfrm>
              <a:off x="1690044" y="830583"/>
              <a:ext cx="1742657" cy="1303029"/>
              <a:chOff x="1690044" y="830583"/>
              <a:chExt cx="1742657" cy="1303029"/>
            </a:xfrm>
          </p:grpSpPr>
          <p:sp>
            <p:nvSpPr>
              <p:cNvPr id="12" name="Rounded Rectangle 11"/>
              <p:cNvSpPr/>
              <p:nvPr/>
            </p:nvSpPr>
            <p:spPr>
              <a:xfrm rot="5400000">
                <a:off x="1999106" y="521521"/>
                <a:ext cx="1124533" cy="1742657"/>
              </a:xfrm>
              <a:prstGeom prst="roundRect">
                <a:avLst>
                  <a:gd name="adj" fmla="val 6333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vert270"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J7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173472" y="880731"/>
                <a:ext cx="775801" cy="325155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ARM R5F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2575293" y="1310594"/>
                <a:ext cx="6030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/>
                  <a:t>Host port</a:t>
                </a:r>
                <a:endParaRPr lang="en-US" sz="800" dirty="0"/>
              </a:p>
            </p:txBody>
          </p:sp>
          <p:cxnSp>
            <p:nvCxnSpPr>
              <p:cNvPr id="15" name="Straight Arrow Connector 14"/>
              <p:cNvCxnSpPr>
                <a:stCxn id="17" idx="0"/>
                <a:endCxn id="13" idx="2"/>
              </p:cNvCxnSpPr>
              <p:nvPr/>
            </p:nvCxnSpPr>
            <p:spPr>
              <a:xfrm flipV="1">
                <a:off x="2561372" y="1205886"/>
                <a:ext cx="1" cy="177860"/>
              </a:xfrm>
              <a:prstGeom prst="straightConnector1">
                <a:avLst/>
              </a:prstGeom>
              <a:ln>
                <a:headEnd type="triangle" w="sm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Group 15"/>
              <p:cNvGrpSpPr/>
              <p:nvPr/>
            </p:nvGrpSpPr>
            <p:grpSpPr>
              <a:xfrm>
                <a:off x="1868228" y="1383746"/>
                <a:ext cx="1386288" cy="749866"/>
                <a:chOff x="1868228" y="1383746"/>
                <a:chExt cx="1386288" cy="749866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2496722" y="1383746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" name="Group 17"/>
                <p:cNvGrpSpPr/>
                <p:nvPr/>
              </p:nvGrpSpPr>
              <p:grpSpPr>
                <a:xfrm>
                  <a:off x="1868228" y="1492493"/>
                  <a:ext cx="1386288" cy="641119"/>
                  <a:chOff x="1878740" y="1492493"/>
                  <a:chExt cx="1386288" cy="641119"/>
                </a:xfrm>
              </p:grpSpPr>
              <p:sp>
                <p:nvSpPr>
                  <p:cNvPr id="19" name="Rounded Rectangle 18"/>
                  <p:cNvSpPr/>
                  <p:nvPr/>
                </p:nvSpPr>
                <p:spPr>
                  <a:xfrm rot="5400000">
                    <a:off x="2340573" y="1030660"/>
                    <a:ext cx="462622" cy="1386288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>
                  <a:xfrm>
                    <a:off x="2049407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Rectangle 20"/>
                  <p:cNvSpPr/>
                  <p:nvPr/>
                </p:nvSpPr>
                <p:spPr>
                  <a:xfrm>
                    <a:off x="2178707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Rectangle 21"/>
                  <p:cNvSpPr/>
                  <p:nvPr/>
                </p:nvSpPr>
                <p:spPr>
                  <a:xfrm>
                    <a:off x="2308008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>
                  <a:xfrm>
                    <a:off x="2437308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Rectangle 23"/>
                  <p:cNvSpPr/>
                  <p:nvPr/>
                </p:nvSpPr>
                <p:spPr>
                  <a:xfrm>
                    <a:off x="2566609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2695909" y="1844844"/>
                    <a:ext cx="129300" cy="10556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 25"/>
                  <p:cNvSpPr/>
                  <p:nvPr/>
                </p:nvSpPr>
                <p:spPr>
                  <a:xfrm>
                    <a:off x="2825209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Rectangle 26"/>
                  <p:cNvSpPr/>
                  <p:nvPr/>
                </p:nvSpPr>
                <p:spPr>
                  <a:xfrm>
                    <a:off x="2954510" y="1844844"/>
                    <a:ext cx="129300" cy="10556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2049407" y="1540319"/>
                    <a:ext cx="1034403" cy="172903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300915" y="1576123"/>
                    <a:ext cx="518247" cy="101049"/>
                    <a:chOff x="3379831" y="5943600"/>
                    <a:chExt cx="1107381" cy="385233"/>
                  </a:xfrm>
                </p:grpSpPr>
                <p:grpSp>
                  <p:nvGrpSpPr>
                    <p:cNvPr id="46" name="Group 45"/>
                    <p:cNvGrpSpPr/>
                    <p:nvPr/>
                  </p:nvGrpSpPr>
                  <p:grpSpPr>
                    <a:xfrm>
                      <a:off x="3379831" y="5943600"/>
                      <a:ext cx="1107381" cy="381000"/>
                      <a:chOff x="3311977" y="5943600"/>
                      <a:chExt cx="1175235" cy="381000"/>
                    </a:xfrm>
                  </p:grpSpPr>
                  <p:cxnSp>
                    <p:nvCxnSpPr>
                      <p:cNvPr id="51" name="Straight Connector 50"/>
                      <p:cNvCxnSpPr/>
                      <p:nvPr/>
                    </p:nvCxnSpPr>
                    <p:spPr>
                      <a:xfrm>
                        <a:off x="3772481" y="5943600"/>
                        <a:ext cx="247168" cy="38100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Connector 51"/>
                      <p:cNvCxnSpPr/>
                      <p:nvPr/>
                    </p:nvCxnSpPr>
                    <p:spPr>
                      <a:xfrm>
                        <a:off x="3311977" y="5943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Straight Connector 52"/>
                      <p:cNvCxnSpPr/>
                      <p:nvPr/>
                    </p:nvCxnSpPr>
                    <p:spPr>
                      <a:xfrm>
                        <a:off x="4010050" y="6324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47" name="Group 46"/>
                    <p:cNvGrpSpPr/>
                    <p:nvPr/>
                  </p:nvGrpSpPr>
                  <p:grpSpPr>
                    <a:xfrm rot="10800000" flipH="1">
                      <a:off x="3379831" y="5947833"/>
                      <a:ext cx="1107381" cy="381000"/>
                      <a:chOff x="3311977" y="5943600"/>
                      <a:chExt cx="1175235" cy="381000"/>
                    </a:xfrm>
                  </p:grpSpPr>
                  <p:cxnSp>
                    <p:nvCxnSpPr>
                      <p:cNvPr id="48" name="Straight Connector 47"/>
                      <p:cNvCxnSpPr/>
                      <p:nvPr/>
                    </p:nvCxnSpPr>
                    <p:spPr>
                      <a:xfrm>
                        <a:off x="3772481" y="5943600"/>
                        <a:ext cx="247168" cy="38100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Straight Connector 48"/>
                      <p:cNvCxnSpPr/>
                      <p:nvPr/>
                    </p:nvCxnSpPr>
                    <p:spPr>
                      <a:xfrm>
                        <a:off x="3311977" y="5943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Straight Connector 49"/>
                      <p:cNvCxnSpPr/>
                      <p:nvPr/>
                    </p:nvCxnSpPr>
                    <p:spPr>
                      <a:xfrm>
                        <a:off x="4010050" y="6324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30" name="Straight Arrow Connector 29"/>
                  <p:cNvCxnSpPr>
                    <a:stCxn id="21" idx="0"/>
                  </p:cNvCxnSpPr>
                  <p:nvPr/>
                </p:nvCxnSpPr>
                <p:spPr>
                  <a:xfrm flipH="1" flipV="1">
                    <a:off x="2243357" y="1713221"/>
                    <a:ext cx="1" cy="131622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/>
                  <p:nvPr/>
                </p:nvCxnSpPr>
                <p:spPr>
                  <a:xfrm flipV="1">
                    <a:off x="2384751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Arrow Connector 31"/>
                  <p:cNvCxnSpPr>
                    <a:stCxn id="23" idx="0"/>
                  </p:cNvCxnSpPr>
                  <p:nvPr/>
                </p:nvCxnSpPr>
                <p:spPr>
                  <a:xfrm flipH="1" flipV="1">
                    <a:off x="2501958" y="1719090"/>
                    <a:ext cx="1" cy="125754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Arrow Connector 32"/>
                  <p:cNvCxnSpPr>
                    <a:stCxn id="20" idx="0"/>
                  </p:cNvCxnSpPr>
                  <p:nvPr/>
                </p:nvCxnSpPr>
                <p:spPr>
                  <a:xfrm flipV="1">
                    <a:off x="2114057" y="1723803"/>
                    <a:ext cx="0" cy="121041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/>
                  <p:nvPr/>
                </p:nvCxnSpPr>
                <p:spPr>
                  <a:xfrm flipV="1">
                    <a:off x="2636259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Arrow Connector 34"/>
                  <p:cNvCxnSpPr/>
                  <p:nvPr/>
                </p:nvCxnSpPr>
                <p:spPr>
                  <a:xfrm flipV="1">
                    <a:off x="2762013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Arrow Connector 35"/>
                  <p:cNvCxnSpPr/>
                  <p:nvPr/>
                </p:nvCxnSpPr>
                <p:spPr>
                  <a:xfrm flipV="1">
                    <a:off x="2887767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Arrow Connector 36"/>
                  <p:cNvCxnSpPr/>
                  <p:nvPr/>
                </p:nvCxnSpPr>
                <p:spPr>
                  <a:xfrm flipV="1">
                    <a:off x="3013521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Arrow Connector 37"/>
                  <p:cNvCxnSpPr/>
                  <p:nvPr/>
                </p:nvCxnSpPr>
                <p:spPr>
                  <a:xfrm flipH="1">
                    <a:off x="2123374" y="1965888"/>
                    <a:ext cx="9870" cy="167724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Arrow Connector 38"/>
                  <p:cNvCxnSpPr/>
                  <p:nvPr/>
                </p:nvCxnSpPr>
                <p:spPr>
                  <a:xfrm>
                    <a:off x="2258997" y="1965940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Arrow Connector 39"/>
                  <p:cNvCxnSpPr/>
                  <p:nvPr/>
                </p:nvCxnSpPr>
                <p:spPr>
                  <a:xfrm>
                    <a:off x="2384752" y="1965940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Arrow Connector 40"/>
                  <p:cNvCxnSpPr/>
                  <p:nvPr/>
                </p:nvCxnSpPr>
                <p:spPr>
                  <a:xfrm>
                    <a:off x="2510505" y="1955117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Arrow Connector 41"/>
                  <p:cNvCxnSpPr/>
                  <p:nvPr/>
                </p:nvCxnSpPr>
                <p:spPr>
                  <a:xfrm>
                    <a:off x="2636259" y="1950406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Arrow Connector 42"/>
                  <p:cNvCxnSpPr/>
                  <p:nvPr/>
                </p:nvCxnSpPr>
                <p:spPr>
                  <a:xfrm>
                    <a:off x="2762013" y="1955117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Arrow Connector 43"/>
                  <p:cNvCxnSpPr/>
                  <p:nvPr/>
                </p:nvCxnSpPr>
                <p:spPr>
                  <a:xfrm>
                    <a:off x="2887767" y="1955117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Arrow Connector 44"/>
                  <p:cNvCxnSpPr/>
                  <p:nvPr/>
                </p:nvCxnSpPr>
                <p:spPr>
                  <a:xfrm>
                    <a:off x="3032151" y="1950406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6" name="Rectangle 5"/>
            <p:cNvSpPr/>
            <p:nvPr/>
          </p:nvSpPr>
          <p:spPr>
            <a:xfrm>
              <a:off x="741507" y="542371"/>
              <a:ext cx="3639730" cy="19365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0" bIns="0" rtlCol="0" anchor="t" anchorCtr="0"/>
            <a:lstStyle/>
            <a:p>
              <a:pPr marL="0" lvl="1" algn="ctr">
                <a:lnSpc>
                  <a:spcPct val="80000"/>
                </a:lnSpc>
              </a:pPr>
              <a:r>
                <a:rPr lang="en-US" sz="1300" b="1" dirty="0" smtClean="0">
                  <a:solidFill>
                    <a:schemeClr val="tx1"/>
                  </a:solidFill>
                </a:rPr>
                <a:t>L2 Switching </a:t>
              </a:r>
              <a:r>
                <a:rPr lang="en-US" sz="1300" b="1" dirty="0" err="1" smtClean="0">
                  <a:solidFill>
                    <a:schemeClr val="tx1"/>
                  </a:solidFill>
                </a:rPr>
                <a:t>Usecase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53348" y="2199604"/>
              <a:ext cx="24160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 algn="ctr"/>
              <a:r>
                <a:rPr lang="en-US" sz="800" dirty="0" smtClean="0"/>
                <a:t>Traffic from any external port to any external port</a:t>
              </a:r>
              <a:endParaRPr lang="en-US" sz="800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2114058" y="1677173"/>
              <a:ext cx="647955" cy="572651"/>
              <a:chOff x="2114058" y="1777128"/>
              <a:chExt cx="647955" cy="472696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H="1" flipV="1">
                <a:off x="2115962" y="1777128"/>
                <a:ext cx="9315" cy="472696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114058" y="1779033"/>
                <a:ext cx="647955" cy="0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2758654" y="1784025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" name="Group 53"/>
          <p:cNvGrpSpPr/>
          <p:nvPr/>
        </p:nvGrpSpPr>
        <p:grpSpPr>
          <a:xfrm>
            <a:off x="4810457" y="542371"/>
            <a:ext cx="3639730" cy="1936599"/>
            <a:chOff x="4796536" y="542371"/>
            <a:chExt cx="3639730" cy="1936599"/>
          </a:xfrm>
        </p:grpSpPr>
        <p:grpSp>
          <p:nvGrpSpPr>
            <p:cNvPr id="55" name="Group 54"/>
            <p:cNvGrpSpPr/>
            <p:nvPr/>
          </p:nvGrpSpPr>
          <p:grpSpPr>
            <a:xfrm>
              <a:off x="5745073" y="830583"/>
              <a:ext cx="1742657" cy="1303029"/>
              <a:chOff x="1690044" y="830583"/>
              <a:chExt cx="1742657" cy="1303029"/>
            </a:xfrm>
          </p:grpSpPr>
          <p:sp>
            <p:nvSpPr>
              <p:cNvPr id="68" name="Rounded Rectangle 67"/>
              <p:cNvSpPr/>
              <p:nvPr/>
            </p:nvSpPr>
            <p:spPr>
              <a:xfrm rot="5400000">
                <a:off x="1999106" y="521521"/>
                <a:ext cx="1124533" cy="1742657"/>
              </a:xfrm>
              <a:prstGeom prst="roundRect">
                <a:avLst>
                  <a:gd name="adj" fmla="val 6333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vert270" rtlCol="0" anchor="t"/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J7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ounded Rectangle 68"/>
              <p:cNvSpPr/>
              <p:nvPr/>
            </p:nvSpPr>
            <p:spPr>
              <a:xfrm>
                <a:off x="2173472" y="880731"/>
                <a:ext cx="775801" cy="325155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</a:rPr>
                  <a:t>ARM R5F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2575293" y="1310594"/>
                <a:ext cx="6030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/>
                  <a:t>Host port</a:t>
                </a:r>
                <a:endParaRPr lang="en-US" sz="800" dirty="0"/>
              </a:p>
            </p:txBody>
          </p:sp>
          <p:cxnSp>
            <p:nvCxnSpPr>
              <p:cNvPr id="71" name="Straight Arrow Connector 70"/>
              <p:cNvCxnSpPr>
                <a:stCxn id="73" idx="0"/>
                <a:endCxn id="69" idx="2"/>
              </p:cNvCxnSpPr>
              <p:nvPr/>
            </p:nvCxnSpPr>
            <p:spPr>
              <a:xfrm flipV="1">
                <a:off x="2561372" y="1205886"/>
                <a:ext cx="1" cy="177860"/>
              </a:xfrm>
              <a:prstGeom prst="straightConnector1">
                <a:avLst/>
              </a:prstGeom>
              <a:ln>
                <a:headEnd type="triangle" w="sm" len="med"/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2" name="Group 71"/>
              <p:cNvGrpSpPr/>
              <p:nvPr/>
            </p:nvGrpSpPr>
            <p:grpSpPr>
              <a:xfrm>
                <a:off x="1868228" y="1383746"/>
                <a:ext cx="1386288" cy="749866"/>
                <a:chOff x="1868228" y="1383746"/>
                <a:chExt cx="1386288" cy="749866"/>
              </a:xfrm>
            </p:grpSpPr>
            <p:sp>
              <p:nvSpPr>
                <p:cNvPr id="73" name="Rectangle 72"/>
                <p:cNvSpPr/>
                <p:nvPr/>
              </p:nvSpPr>
              <p:spPr>
                <a:xfrm>
                  <a:off x="2496722" y="1383746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4" name="Group 73"/>
                <p:cNvGrpSpPr/>
                <p:nvPr/>
              </p:nvGrpSpPr>
              <p:grpSpPr>
                <a:xfrm>
                  <a:off x="1868228" y="1492493"/>
                  <a:ext cx="1386288" cy="641119"/>
                  <a:chOff x="1878740" y="1492493"/>
                  <a:chExt cx="1386288" cy="641119"/>
                </a:xfrm>
              </p:grpSpPr>
              <p:sp>
                <p:nvSpPr>
                  <p:cNvPr id="75" name="Rounded Rectangle 74"/>
                  <p:cNvSpPr/>
                  <p:nvPr/>
                </p:nvSpPr>
                <p:spPr>
                  <a:xfrm rot="5400000">
                    <a:off x="2340573" y="1030660"/>
                    <a:ext cx="462622" cy="1386288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 w="190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Rectangle 75"/>
                  <p:cNvSpPr/>
                  <p:nvPr/>
                </p:nvSpPr>
                <p:spPr>
                  <a:xfrm>
                    <a:off x="2049407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" name="Rectangle 76"/>
                  <p:cNvSpPr/>
                  <p:nvPr/>
                </p:nvSpPr>
                <p:spPr>
                  <a:xfrm>
                    <a:off x="2178707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" name="Rectangle 77"/>
                  <p:cNvSpPr/>
                  <p:nvPr/>
                </p:nvSpPr>
                <p:spPr>
                  <a:xfrm>
                    <a:off x="2308008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" name="Rectangle 78"/>
                  <p:cNvSpPr/>
                  <p:nvPr/>
                </p:nvSpPr>
                <p:spPr>
                  <a:xfrm>
                    <a:off x="2437308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" name="Rectangle 79"/>
                  <p:cNvSpPr/>
                  <p:nvPr/>
                </p:nvSpPr>
                <p:spPr>
                  <a:xfrm>
                    <a:off x="2566609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" name="Rectangle 80"/>
                  <p:cNvSpPr/>
                  <p:nvPr/>
                </p:nvSpPr>
                <p:spPr>
                  <a:xfrm>
                    <a:off x="2695909" y="1844844"/>
                    <a:ext cx="129300" cy="10556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" name="Rectangle 81"/>
                  <p:cNvSpPr/>
                  <p:nvPr/>
                </p:nvSpPr>
                <p:spPr>
                  <a:xfrm>
                    <a:off x="2825209" y="1844844"/>
                    <a:ext cx="129300" cy="10875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" name="Rectangle 82"/>
                  <p:cNvSpPr/>
                  <p:nvPr/>
                </p:nvSpPr>
                <p:spPr>
                  <a:xfrm>
                    <a:off x="2954510" y="1844844"/>
                    <a:ext cx="129300" cy="105562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2049407" y="1540319"/>
                    <a:ext cx="1034403" cy="172903"/>
                  </a:xfrm>
                  <a:prstGeom prst="rect">
                    <a:avLst/>
                  </a:prstGeom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5" name="Group 84"/>
                  <p:cNvGrpSpPr/>
                  <p:nvPr/>
                </p:nvGrpSpPr>
                <p:grpSpPr>
                  <a:xfrm>
                    <a:off x="2300915" y="1576123"/>
                    <a:ext cx="518247" cy="101049"/>
                    <a:chOff x="3379831" y="5943600"/>
                    <a:chExt cx="1107381" cy="385233"/>
                  </a:xfrm>
                </p:grpSpPr>
                <p:grpSp>
                  <p:nvGrpSpPr>
                    <p:cNvPr id="102" name="Group 101"/>
                    <p:cNvGrpSpPr/>
                    <p:nvPr/>
                  </p:nvGrpSpPr>
                  <p:grpSpPr>
                    <a:xfrm>
                      <a:off x="3379831" y="5943600"/>
                      <a:ext cx="1107381" cy="381000"/>
                      <a:chOff x="3311977" y="5943600"/>
                      <a:chExt cx="1175235" cy="381000"/>
                    </a:xfrm>
                  </p:grpSpPr>
                  <p:cxnSp>
                    <p:nvCxnSpPr>
                      <p:cNvPr id="107" name="Straight Connector 106"/>
                      <p:cNvCxnSpPr/>
                      <p:nvPr/>
                    </p:nvCxnSpPr>
                    <p:spPr>
                      <a:xfrm>
                        <a:off x="3772481" y="5943600"/>
                        <a:ext cx="247168" cy="38100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8" name="Straight Connector 107"/>
                      <p:cNvCxnSpPr/>
                      <p:nvPr/>
                    </p:nvCxnSpPr>
                    <p:spPr>
                      <a:xfrm>
                        <a:off x="3311977" y="5943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9" name="Straight Connector 108"/>
                      <p:cNvCxnSpPr/>
                      <p:nvPr/>
                    </p:nvCxnSpPr>
                    <p:spPr>
                      <a:xfrm>
                        <a:off x="4010050" y="6324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3" name="Group 102"/>
                    <p:cNvGrpSpPr/>
                    <p:nvPr/>
                  </p:nvGrpSpPr>
                  <p:grpSpPr>
                    <a:xfrm rot="10800000" flipH="1">
                      <a:off x="3379831" y="5947833"/>
                      <a:ext cx="1107381" cy="381000"/>
                      <a:chOff x="3311977" y="5943600"/>
                      <a:chExt cx="1175235" cy="381000"/>
                    </a:xfrm>
                  </p:grpSpPr>
                  <p:cxnSp>
                    <p:nvCxnSpPr>
                      <p:cNvPr id="104" name="Straight Connector 103"/>
                      <p:cNvCxnSpPr/>
                      <p:nvPr/>
                    </p:nvCxnSpPr>
                    <p:spPr>
                      <a:xfrm>
                        <a:off x="3772481" y="5943600"/>
                        <a:ext cx="247168" cy="38100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5" name="Straight Connector 104"/>
                      <p:cNvCxnSpPr/>
                      <p:nvPr/>
                    </p:nvCxnSpPr>
                    <p:spPr>
                      <a:xfrm>
                        <a:off x="3311977" y="5943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6" name="Straight Connector 105"/>
                      <p:cNvCxnSpPr/>
                      <p:nvPr/>
                    </p:nvCxnSpPr>
                    <p:spPr>
                      <a:xfrm>
                        <a:off x="4010050" y="6324600"/>
                        <a:ext cx="477162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86" name="Straight Arrow Connector 85"/>
                  <p:cNvCxnSpPr>
                    <a:stCxn id="77" idx="0"/>
                  </p:cNvCxnSpPr>
                  <p:nvPr/>
                </p:nvCxnSpPr>
                <p:spPr>
                  <a:xfrm flipH="1" flipV="1">
                    <a:off x="2243357" y="1713221"/>
                    <a:ext cx="1" cy="131622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Arrow Connector 86"/>
                  <p:cNvCxnSpPr/>
                  <p:nvPr/>
                </p:nvCxnSpPr>
                <p:spPr>
                  <a:xfrm flipV="1">
                    <a:off x="2384751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Arrow Connector 87"/>
                  <p:cNvCxnSpPr>
                    <a:stCxn id="79" idx="0"/>
                  </p:cNvCxnSpPr>
                  <p:nvPr/>
                </p:nvCxnSpPr>
                <p:spPr>
                  <a:xfrm flipH="1" flipV="1">
                    <a:off x="2501958" y="1719090"/>
                    <a:ext cx="1" cy="125754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Arrow Connector 88"/>
                  <p:cNvCxnSpPr>
                    <a:stCxn id="76" idx="0"/>
                  </p:cNvCxnSpPr>
                  <p:nvPr/>
                </p:nvCxnSpPr>
                <p:spPr>
                  <a:xfrm flipV="1">
                    <a:off x="2114057" y="1723803"/>
                    <a:ext cx="0" cy="121041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Arrow Connector 89"/>
                  <p:cNvCxnSpPr/>
                  <p:nvPr/>
                </p:nvCxnSpPr>
                <p:spPr>
                  <a:xfrm flipV="1">
                    <a:off x="2636259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Arrow Connector 90"/>
                  <p:cNvCxnSpPr/>
                  <p:nvPr/>
                </p:nvCxnSpPr>
                <p:spPr>
                  <a:xfrm flipV="1">
                    <a:off x="2762013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Arrow Connector 91"/>
                  <p:cNvCxnSpPr/>
                  <p:nvPr/>
                </p:nvCxnSpPr>
                <p:spPr>
                  <a:xfrm flipV="1">
                    <a:off x="2887767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Arrow Connector 92"/>
                  <p:cNvCxnSpPr/>
                  <p:nvPr/>
                </p:nvCxnSpPr>
                <p:spPr>
                  <a:xfrm flipV="1">
                    <a:off x="3013521" y="1719090"/>
                    <a:ext cx="0" cy="125753"/>
                  </a:xfrm>
                  <a:prstGeom prst="straightConnector1">
                    <a:avLst/>
                  </a:prstGeom>
                  <a:ln w="12700"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Arrow Connector 93"/>
                  <p:cNvCxnSpPr/>
                  <p:nvPr/>
                </p:nvCxnSpPr>
                <p:spPr>
                  <a:xfrm flipH="1">
                    <a:off x="2123374" y="1965888"/>
                    <a:ext cx="9870" cy="167724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Arrow Connector 94"/>
                  <p:cNvCxnSpPr/>
                  <p:nvPr/>
                </p:nvCxnSpPr>
                <p:spPr>
                  <a:xfrm>
                    <a:off x="2258997" y="1965940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Arrow Connector 95"/>
                  <p:cNvCxnSpPr/>
                  <p:nvPr/>
                </p:nvCxnSpPr>
                <p:spPr>
                  <a:xfrm>
                    <a:off x="2384752" y="1965940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Arrow Connector 96"/>
                  <p:cNvCxnSpPr/>
                  <p:nvPr/>
                </p:nvCxnSpPr>
                <p:spPr>
                  <a:xfrm>
                    <a:off x="2510505" y="1955117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Arrow Connector 97"/>
                  <p:cNvCxnSpPr/>
                  <p:nvPr/>
                </p:nvCxnSpPr>
                <p:spPr>
                  <a:xfrm>
                    <a:off x="2636259" y="1950406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Arrow Connector 98"/>
                  <p:cNvCxnSpPr/>
                  <p:nvPr/>
                </p:nvCxnSpPr>
                <p:spPr>
                  <a:xfrm>
                    <a:off x="2762013" y="1955117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Arrow Connector 99"/>
                  <p:cNvCxnSpPr/>
                  <p:nvPr/>
                </p:nvCxnSpPr>
                <p:spPr>
                  <a:xfrm>
                    <a:off x="2887767" y="1955117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Arrow Connector 100"/>
                  <p:cNvCxnSpPr/>
                  <p:nvPr/>
                </p:nvCxnSpPr>
                <p:spPr>
                  <a:xfrm>
                    <a:off x="3032151" y="1950406"/>
                    <a:ext cx="1" cy="16767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headEnd type="triangle" w="sm" len="sm"/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56" name="Rectangle 55"/>
            <p:cNvSpPr/>
            <p:nvPr/>
          </p:nvSpPr>
          <p:spPr>
            <a:xfrm>
              <a:off x="4796536" y="542371"/>
              <a:ext cx="3639730" cy="19365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0" bIns="0" rtlCol="0" anchor="t" anchorCtr="0"/>
            <a:lstStyle/>
            <a:p>
              <a:pPr marL="0" lvl="1" algn="ctr">
                <a:lnSpc>
                  <a:spcPct val="80000"/>
                </a:lnSpc>
              </a:pPr>
              <a:r>
                <a:rPr lang="en-US" sz="1300" b="1" dirty="0" smtClean="0">
                  <a:solidFill>
                    <a:schemeClr val="tx1"/>
                  </a:solidFill>
                </a:rPr>
                <a:t>L2 Aggregator </a:t>
              </a:r>
              <a:r>
                <a:rPr lang="en-US" sz="1300" b="1" dirty="0" err="1" smtClean="0">
                  <a:solidFill>
                    <a:schemeClr val="tx1"/>
                  </a:solidFill>
                </a:rPr>
                <a:t>Usecase</a:t>
              </a:r>
              <a:endParaRPr lang="en-US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840115" y="2199604"/>
              <a:ext cx="355257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 algn="ctr"/>
              <a:r>
                <a:rPr lang="en-US" sz="800" dirty="0" smtClean="0"/>
                <a:t>Traffic from multiple external ports aggregated and sent over external port</a:t>
              </a:r>
              <a:endParaRPr lang="en-US" sz="800" dirty="0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6169088" y="1677173"/>
              <a:ext cx="139910" cy="572651"/>
              <a:chOff x="2114058" y="1777128"/>
              <a:chExt cx="647955" cy="472696"/>
            </a:xfrm>
          </p:grpSpPr>
          <p:cxnSp>
            <p:nvCxnSpPr>
              <p:cNvPr id="65" name="Straight Connector 64"/>
              <p:cNvCxnSpPr/>
              <p:nvPr/>
            </p:nvCxnSpPr>
            <p:spPr>
              <a:xfrm flipH="1" flipV="1">
                <a:off x="2115962" y="1777128"/>
                <a:ext cx="9315" cy="472696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114058" y="1779033"/>
                <a:ext cx="647955" cy="0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2758654" y="1784025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Straight Connector 58"/>
            <p:cNvCxnSpPr/>
            <p:nvPr/>
          </p:nvCxnSpPr>
          <p:spPr>
            <a:xfrm flipH="1" flipV="1">
              <a:off x="6804132" y="1628255"/>
              <a:ext cx="9315" cy="622621"/>
            </a:xfrm>
            <a:prstGeom prst="line">
              <a:avLst/>
            </a:prstGeom>
            <a:ln w="12700">
              <a:solidFill>
                <a:srgbClr val="0070C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548100" y="1629711"/>
              <a:ext cx="512064" cy="0"/>
            </a:xfrm>
            <a:prstGeom prst="line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>
              <a:off x="7061771" y="1634052"/>
              <a:ext cx="0" cy="611027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 flipV="1">
              <a:off x="6550365" y="1628255"/>
              <a:ext cx="9315" cy="622621"/>
            </a:xfrm>
            <a:prstGeom prst="line">
              <a:avLst/>
            </a:prstGeom>
            <a:ln w="12700">
              <a:solidFill>
                <a:srgbClr val="0070C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6960655" y="1597752"/>
              <a:ext cx="167672" cy="5388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/>
            <p:cNvCxnSpPr/>
            <p:nvPr/>
          </p:nvCxnSpPr>
          <p:spPr>
            <a:xfrm flipH="1" flipV="1">
              <a:off x="6676118" y="1628255"/>
              <a:ext cx="9315" cy="622621"/>
            </a:xfrm>
            <a:prstGeom prst="line">
              <a:avLst/>
            </a:prstGeom>
            <a:ln w="12700">
              <a:solidFill>
                <a:srgbClr val="0070C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/>
          <p:cNvGrpSpPr/>
          <p:nvPr/>
        </p:nvGrpSpPr>
        <p:grpSpPr>
          <a:xfrm>
            <a:off x="741507" y="2531455"/>
            <a:ext cx="3639730" cy="1948877"/>
            <a:chOff x="741507" y="2531455"/>
            <a:chExt cx="3639730" cy="1948877"/>
          </a:xfrm>
        </p:grpSpPr>
        <p:sp>
          <p:nvSpPr>
            <p:cNvPr id="111" name="Rounded Rectangle 110"/>
            <p:cNvSpPr/>
            <p:nvPr/>
          </p:nvSpPr>
          <p:spPr>
            <a:xfrm rot="5400000">
              <a:off x="1978964" y="2006757"/>
              <a:ext cx="1124533" cy="3101263"/>
            </a:xfrm>
            <a:prstGeom prst="roundRect">
              <a:avLst>
                <a:gd name="adj" fmla="val 6333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rtlCol="0" anchor="t"/>
            <a:lstStyle/>
            <a:p>
              <a:r>
                <a:rPr lang="en-US" sz="1200" dirty="0" smtClean="0">
                  <a:solidFill>
                    <a:schemeClr val="tx1"/>
                  </a:solidFill>
                </a:rPr>
                <a:t>J7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2832634" y="3045270"/>
              <a:ext cx="775801" cy="32515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ARM R5F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234455" y="3475133"/>
              <a:ext cx="6030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/>
                <a:t>Host port</a:t>
              </a:r>
              <a:endParaRPr lang="en-US" sz="800" dirty="0"/>
            </a:p>
          </p:txBody>
        </p:sp>
        <p:cxnSp>
          <p:nvCxnSpPr>
            <p:cNvPr id="114" name="Straight Arrow Connector 113"/>
            <p:cNvCxnSpPr>
              <a:stCxn id="120" idx="0"/>
              <a:endCxn id="112" idx="2"/>
            </p:cNvCxnSpPr>
            <p:nvPr/>
          </p:nvCxnSpPr>
          <p:spPr>
            <a:xfrm flipV="1">
              <a:off x="3220534" y="3370425"/>
              <a:ext cx="1" cy="177860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oup 114"/>
            <p:cNvGrpSpPr/>
            <p:nvPr/>
          </p:nvGrpSpPr>
          <p:grpSpPr>
            <a:xfrm>
              <a:off x="2527390" y="3548285"/>
              <a:ext cx="1386288" cy="749866"/>
              <a:chOff x="1868228" y="1383746"/>
              <a:chExt cx="1386288" cy="749866"/>
            </a:xfrm>
          </p:grpSpPr>
          <p:sp>
            <p:nvSpPr>
              <p:cNvPr id="120" name="Rectangle 119"/>
              <p:cNvSpPr/>
              <p:nvPr/>
            </p:nvSpPr>
            <p:spPr>
              <a:xfrm>
                <a:off x="2496722" y="1383746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1" name="Group 120"/>
              <p:cNvGrpSpPr/>
              <p:nvPr/>
            </p:nvGrpSpPr>
            <p:grpSpPr>
              <a:xfrm>
                <a:off x="1868228" y="1492493"/>
                <a:ext cx="1386288" cy="641119"/>
                <a:chOff x="1878740" y="1492493"/>
                <a:chExt cx="1386288" cy="641119"/>
              </a:xfrm>
            </p:grpSpPr>
            <p:sp>
              <p:nvSpPr>
                <p:cNvPr id="122" name="Rounded Rectangle 121"/>
                <p:cNvSpPr/>
                <p:nvPr/>
              </p:nvSpPr>
              <p:spPr>
                <a:xfrm rot="5400000">
                  <a:off x="2340573" y="1030660"/>
                  <a:ext cx="462622" cy="1386288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/>
                <p:cNvSpPr/>
                <p:nvPr/>
              </p:nvSpPr>
              <p:spPr>
                <a:xfrm>
                  <a:off x="2049407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/>
                <p:cNvSpPr/>
                <p:nvPr/>
              </p:nvSpPr>
              <p:spPr>
                <a:xfrm>
                  <a:off x="2178707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/>
                <p:cNvSpPr/>
                <p:nvPr/>
              </p:nvSpPr>
              <p:spPr>
                <a:xfrm>
                  <a:off x="2308008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/>
                <p:cNvSpPr/>
                <p:nvPr/>
              </p:nvSpPr>
              <p:spPr>
                <a:xfrm>
                  <a:off x="2437308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/>
                <p:cNvSpPr/>
                <p:nvPr/>
              </p:nvSpPr>
              <p:spPr>
                <a:xfrm>
                  <a:off x="2566609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/>
                <p:cNvSpPr/>
                <p:nvPr/>
              </p:nvSpPr>
              <p:spPr>
                <a:xfrm>
                  <a:off x="2695909" y="1844844"/>
                  <a:ext cx="129300" cy="10556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 128"/>
                <p:cNvSpPr/>
                <p:nvPr/>
              </p:nvSpPr>
              <p:spPr>
                <a:xfrm>
                  <a:off x="2825209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/>
                <p:cNvSpPr/>
                <p:nvPr/>
              </p:nvSpPr>
              <p:spPr>
                <a:xfrm>
                  <a:off x="2954510" y="1844844"/>
                  <a:ext cx="129300" cy="10556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/>
                <p:cNvSpPr/>
                <p:nvPr/>
              </p:nvSpPr>
              <p:spPr>
                <a:xfrm>
                  <a:off x="2049407" y="1540319"/>
                  <a:ext cx="1034403" cy="17290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2" name="Group 131"/>
                <p:cNvGrpSpPr/>
                <p:nvPr/>
              </p:nvGrpSpPr>
              <p:grpSpPr>
                <a:xfrm>
                  <a:off x="2300915" y="1576123"/>
                  <a:ext cx="518247" cy="101049"/>
                  <a:chOff x="3379831" y="5943600"/>
                  <a:chExt cx="1107381" cy="385233"/>
                </a:xfrm>
              </p:grpSpPr>
              <p:grpSp>
                <p:nvGrpSpPr>
                  <p:cNvPr id="149" name="Group 148"/>
                  <p:cNvGrpSpPr/>
                  <p:nvPr/>
                </p:nvGrpSpPr>
                <p:grpSpPr>
                  <a:xfrm>
                    <a:off x="3379831" y="5943600"/>
                    <a:ext cx="1107381" cy="381000"/>
                    <a:chOff x="3311977" y="5943600"/>
                    <a:chExt cx="1175235" cy="381000"/>
                  </a:xfrm>
                </p:grpSpPr>
                <p:cxnSp>
                  <p:nvCxnSpPr>
                    <p:cNvPr id="154" name="Straight Connector 153"/>
                    <p:cNvCxnSpPr/>
                    <p:nvPr/>
                  </p:nvCxnSpPr>
                  <p:spPr>
                    <a:xfrm>
                      <a:off x="3772481" y="5943600"/>
                      <a:ext cx="247168" cy="38100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/>
                    <p:cNvCxnSpPr/>
                    <p:nvPr/>
                  </p:nvCxnSpPr>
                  <p:spPr>
                    <a:xfrm>
                      <a:off x="3311977" y="5943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Straight Connector 155"/>
                    <p:cNvCxnSpPr/>
                    <p:nvPr/>
                  </p:nvCxnSpPr>
                  <p:spPr>
                    <a:xfrm>
                      <a:off x="4010050" y="6324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0" name="Group 149"/>
                  <p:cNvGrpSpPr/>
                  <p:nvPr/>
                </p:nvGrpSpPr>
                <p:grpSpPr>
                  <a:xfrm rot="10800000" flipH="1">
                    <a:off x="3379831" y="5947833"/>
                    <a:ext cx="1107381" cy="381000"/>
                    <a:chOff x="3311977" y="5943600"/>
                    <a:chExt cx="1175235" cy="381000"/>
                  </a:xfrm>
                </p:grpSpPr>
                <p:cxnSp>
                  <p:nvCxnSpPr>
                    <p:cNvPr id="151" name="Straight Connector 150"/>
                    <p:cNvCxnSpPr/>
                    <p:nvPr/>
                  </p:nvCxnSpPr>
                  <p:spPr>
                    <a:xfrm>
                      <a:off x="3772481" y="5943600"/>
                      <a:ext cx="247168" cy="38100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Straight Connector 151"/>
                    <p:cNvCxnSpPr/>
                    <p:nvPr/>
                  </p:nvCxnSpPr>
                  <p:spPr>
                    <a:xfrm>
                      <a:off x="3311977" y="5943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4010050" y="6324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3" name="Straight Arrow Connector 132"/>
                <p:cNvCxnSpPr>
                  <a:stCxn id="124" idx="0"/>
                </p:cNvCxnSpPr>
                <p:nvPr/>
              </p:nvCxnSpPr>
              <p:spPr>
                <a:xfrm flipH="1" flipV="1">
                  <a:off x="2243357" y="1713221"/>
                  <a:ext cx="1" cy="131622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/>
                <p:cNvCxnSpPr/>
                <p:nvPr/>
              </p:nvCxnSpPr>
              <p:spPr>
                <a:xfrm flipV="1">
                  <a:off x="2384751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/>
                <p:cNvCxnSpPr>
                  <a:stCxn id="126" idx="0"/>
                </p:cNvCxnSpPr>
                <p:nvPr/>
              </p:nvCxnSpPr>
              <p:spPr>
                <a:xfrm flipH="1" flipV="1">
                  <a:off x="2501958" y="1719090"/>
                  <a:ext cx="1" cy="125754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/>
                <p:cNvCxnSpPr>
                  <a:stCxn id="123" idx="0"/>
                </p:cNvCxnSpPr>
                <p:nvPr/>
              </p:nvCxnSpPr>
              <p:spPr>
                <a:xfrm flipV="1">
                  <a:off x="2114057" y="1723803"/>
                  <a:ext cx="0" cy="121041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/>
                <p:cNvCxnSpPr/>
                <p:nvPr/>
              </p:nvCxnSpPr>
              <p:spPr>
                <a:xfrm flipV="1">
                  <a:off x="2636259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/>
                <p:cNvCxnSpPr/>
                <p:nvPr/>
              </p:nvCxnSpPr>
              <p:spPr>
                <a:xfrm flipV="1">
                  <a:off x="2762013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/>
                <p:cNvCxnSpPr/>
                <p:nvPr/>
              </p:nvCxnSpPr>
              <p:spPr>
                <a:xfrm flipV="1">
                  <a:off x="2887767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/>
                <p:cNvCxnSpPr/>
                <p:nvPr/>
              </p:nvCxnSpPr>
              <p:spPr>
                <a:xfrm flipV="1">
                  <a:off x="3013521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/>
                <p:cNvCxnSpPr/>
                <p:nvPr/>
              </p:nvCxnSpPr>
              <p:spPr>
                <a:xfrm flipH="1">
                  <a:off x="2123374" y="1965888"/>
                  <a:ext cx="9870" cy="16772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/>
                <p:cNvCxnSpPr/>
                <p:nvPr/>
              </p:nvCxnSpPr>
              <p:spPr>
                <a:xfrm>
                  <a:off x="2258997" y="1965940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Arrow Connector 142"/>
                <p:cNvCxnSpPr/>
                <p:nvPr/>
              </p:nvCxnSpPr>
              <p:spPr>
                <a:xfrm>
                  <a:off x="2384752" y="1965940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>
                  <a:off x="2510505" y="1955117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/>
                <p:cNvCxnSpPr/>
                <p:nvPr/>
              </p:nvCxnSpPr>
              <p:spPr>
                <a:xfrm>
                  <a:off x="2636259" y="1950406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45"/>
                <p:cNvCxnSpPr/>
                <p:nvPr/>
              </p:nvCxnSpPr>
              <p:spPr>
                <a:xfrm>
                  <a:off x="2762013" y="1955117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/>
                <p:cNvCxnSpPr/>
                <p:nvPr/>
              </p:nvCxnSpPr>
              <p:spPr>
                <a:xfrm>
                  <a:off x="2887767" y="1955117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/>
                <p:cNvCxnSpPr/>
                <p:nvPr/>
              </p:nvCxnSpPr>
              <p:spPr>
                <a:xfrm>
                  <a:off x="3032151" y="1950406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Rectangle 115"/>
            <p:cNvSpPr/>
            <p:nvPr/>
          </p:nvSpPr>
          <p:spPr>
            <a:xfrm>
              <a:off x="741507" y="2531455"/>
              <a:ext cx="3639730" cy="19365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0" bIns="0" rtlCol="0" anchor="t" anchorCtr="0"/>
            <a:lstStyle/>
            <a:p>
              <a:pPr marL="0" lvl="1" algn="ctr">
                <a:lnSpc>
                  <a:spcPct val="80000"/>
                </a:lnSpc>
              </a:pPr>
              <a:r>
                <a:rPr lang="en-US" sz="1300" b="1" dirty="0" smtClean="0">
                  <a:solidFill>
                    <a:schemeClr val="tx1"/>
                  </a:solidFill>
                </a:rPr>
                <a:t>L2 Switching with Traffic to/from</a:t>
              </a:r>
            </a:p>
            <a:p>
              <a:pPr marL="0" lvl="1" algn="ctr">
                <a:lnSpc>
                  <a:spcPct val="80000"/>
                </a:lnSpc>
              </a:pPr>
              <a:r>
                <a:rPr lang="en-US" sz="1300" b="1" dirty="0" smtClean="0">
                  <a:solidFill>
                    <a:schemeClr val="tx1"/>
                  </a:solidFill>
                </a:rPr>
                <a:t>Compute Cores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178626" y="4264888"/>
              <a:ext cx="276550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 algn="ctr"/>
              <a:r>
                <a:rPr lang="en-US" sz="800" dirty="0" smtClean="0"/>
                <a:t>Traffic from any external port to Jacinto 7 compute cores</a:t>
              </a:r>
              <a:endParaRPr lang="en-US" sz="800" dirty="0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1569939" y="3053717"/>
              <a:ext cx="775801" cy="42956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smtClean="0">
                  <a:solidFill>
                    <a:schemeClr val="tx1"/>
                  </a:solidFill>
                </a:rPr>
                <a:t>A72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19" name="Straight Arrow Connector 118"/>
            <p:cNvCxnSpPr>
              <a:stCxn id="120" idx="0"/>
              <a:endCxn id="118" idx="3"/>
            </p:cNvCxnSpPr>
            <p:nvPr/>
          </p:nvCxnSpPr>
          <p:spPr>
            <a:xfrm flipH="1" flipV="1">
              <a:off x="2345740" y="3268500"/>
              <a:ext cx="874794" cy="279785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57" name="Group 156"/>
          <p:cNvGrpSpPr/>
          <p:nvPr/>
        </p:nvGrpSpPr>
        <p:grpSpPr>
          <a:xfrm>
            <a:off x="4810457" y="2531455"/>
            <a:ext cx="3639730" cy="1936599"/>
            <a:chOff x="4810457" y="2531455"/>
            <a:chExt cx="3639730" cy="1936599"/>
          </a:xfrm>
        </p:grpSpPr>
        <p:sp>
          <p:nvSpPr>
            <p:cNvPr id="158" name="Rounded Rectangle 157"/>
            <p:cNvSpPr/>
            <p:nvPr/>
          </p:nvSpPr>
          <p:spPr>
            <a:xfrm rot="5400000">
              <a:off x="6047914" y="2006757"/>
              <a:ext cx="1124533" cy="3101263"/>
            </a:xfrm>
            <a:prstGeom prst="roundRect">
              <a:avLst>
                <a:gd name="adj" fmla="val 6333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rtlCol="0" anchor="t"/>
            <a:lstStyle/>
            <a:p>
              <a:r>
                <a:rPr lang="en-US" sz="1200" dirty="0" smtClean="0">
                  <a:solidFill>
                    <a:schemeClr val="tx1"/>
                  </a:solidFill>
                </a:rPr>
                <a:t>J7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9" name="Rounded Rectangle 158"/>
            <p:cNvSpPr/>
            <p:nvPr/>
          </p:nvSpPr>
          <p:spPr>
            <a:xfrm>
              <a:off x="6901584" y="3045270"/>
              <a:ext cx="775801" cy="32515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ARM R5F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7303405" y="3475133"/>
              <a:ext cx="6030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/>
                <a:t>Host port</a:t>
              </a:r>
              <a:endParaRPr lang="en-US" sz="800" dirty="0"/>
            </a:p>
          </p:txBody>
        </p:sp>
        <p:cxnSp>
          <p:nvCxnSpPr>
            <p:cNvPr id="161" name="Straight Arrow Connector 160"/>
            <p:cNvCxnSpPr>
              <a:stCxn id="169" idx="0"/>
              <a:endCxn id="159" idx="2"/>
            </p:cNvCxnSpPr>
            <p:nvPr/>
          </p:nvCxnSpPr>
          <p:spPr>
            <a:xfrm flipV="1">
              <a:off x="7289484" y="3370425"/>
              <a:ext cx="1" cy="177860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Group 161"/>
            <p:cNvGrpSpPr/>
            <p:nvPr/>
          </p:nvGrpSpPr>
          <p:grpSpPr>
            <a:xfrm>
              <a:off x="6596340" y="3548285"/>
              <a:ext cx="1386288" cy="749866"/>
              <a:chOff x="1868228" y="1383746"/>
              <a:chExt cx="1386288" cy="749866"/>
            </a:xfrm>
          </p:grpSpPr>
          <p:sp>
            <p:nvSpPr>
              <p:cNvPr id="169" name="Rectangle 168"/>
              <p:cNvSpPr/>
              <p:nvPr/>
            </p:nvSpPr>
            <p:spPr>
              <a:xfrm>
                <a:off x="2496722" y="1383746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0" name="Group 169"/>
              <p:cNvGrpSpPr/>
              <p:nvPr/>
            </p:nvGrpSpPr>
            <p:grpSpPr>
              <a:xfrm>
                <a:off x="1868228" y="1492493"/>
                <a:ext cx="1386288" cy="641119"/>
                <a:chOff x="1878740" y="1492493"/>
                <a:chExt cx="1386288" cy="641119"/>
              </a:xfrm>
            </p:grpSpPr>
            <p:sp>
              <p:nvSpPr>
                <p:cNvPr id="171" name="Rounded Rectangle 170"/>
                <p:cNvSpPr/>
                <p:nvPr/>
              </p:nvSpPr>
              <p:spPr>
                <a:xfrm rot="5400000">
                  <a:off x="2340573" y="1030660"/>
                  <a:ext cx="462622" cy="1386288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 171"/>
                <p:cNvSpPr/>
                <p:nvPr/>
              </p:nvSpPr>
              <p:spPr>
                <a:xfrm>
                  <a:off x="2049407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 172"/>
                <p:cNvSpPr/>
                <p:nvPr/>
              </p:nvSpPr>
              <p:spPr>
                <a:xfrm>
                  <a:off x="2178707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2308008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Rectangle 174"/>
                <p:cNvSpPr/>
                <p:nvPr/>
              </p:nvSpPr>
              <p:spPr>
                <a:xfrm>
                  <a:off x="2437308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2566609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Rectangle 176"/>
                <p:cNvSpPr/>
                <p:nvPr/>
              </p:nvSpPr>
              <p:spPr>
                <a:xfrm>
                  <a:off x="2695909" y="1844844"/>
                  <a:ext cx="129300" cy="10556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Rectangle 177"/>
                <p:cNvSpPr/>
                <p:nvPr/>
              </p:nvSpPr>
              <p:spPr>
                <a:xfrm>
                  <a:off x="2825209" y="1844844"/>
                  <a:ext cx="129300" cy="10875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 178"/>
                <p:cNvSpPr/>
                <p:nvPr/>
              </p:nvSpPr>
              <p:spPr>
                <a:xfrm>
                  <a:off x="2954510" y="1844844"/>
                  <a:ext cx="129300" cy="10556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/>
                <p:cNvSpPr/>
                <p:nvPr/>
              </p:nvSpPr>
              <p:spPr>
                <a:xfrm>
                  <a:off x="2049407" y="1540319"/>
                  <a:ext cx="1034403" cy="17290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1" name="Group 180"/>
                <p:cNvGrpSpPr/>
                <p:nvPr/>
              </p:nvGrpSpPr>
              <p:grpSpPr>
                <a:xfrm>
                  <a:off x="2300915" y="1576123"/>
                  <a:ext cx="518247" cy="101049"/>
                  <a:chOff x="3379831" y="5943600"/>
                  <a:chExt cx="1107381" cy="385233"/>
                </a:xfrm>
              </p:grpSpPr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3379831" y="5943600"/>
                    <a:ext cx="1107381" cy="381000"/>
                    <a:chOff x="3311977" y="5943600"/>
                    <a:chExt cx="1175235" cy="381000"/>
                  </a:xfrm>
                </p:grpSpPr>
                <p:cxnSp>
                  <p:nvCxnSpPr>
                    <p:cNvPr id="203" name="Straight Connector 202"/>
                    <p:cNvCxnSpPr/>
                    <p:nvPr/>
                  </p:nvCxnSpPr>
                  <p:spPr>
                    <a:xfrm>
                      <a:off x="3772481" y="5943600"/>
                      <a:ext cx="247168" cy="38100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4" name="Straight Connector 203"/>
                    <p:cNvCxnSpPr/>
                    <p:nvPr/>
                  </p:nvCxnSpPr>
                  <p:spPr>
                    <a:xfrm>
                      <a:off x="3311977" y="5943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>
                      <a:off x="4010050" y="6324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9" name="Group 198"/>
                  <p:cNvGrpSpPr/>
                  <p:nvPr/>
                </p:nvGrpSpPr>
                <p:grpSpPr>
                  <a:xfrm rot="10800000" flipH="1">
                    <a:off x="3379831" y="5947833"/>
                    <a:ext cx="1107381" cy="381000"/>
                    <a:chOff x="3311977" y="5943600"/>
                    <a:chExt cx="1175235" cy="381000"/>
                  </a:xfrm>
                </p:grpSpPr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3772481" y="5943600"/>
                      <a:ext cx="247168" cy="38100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Straight Connector 200"/>
                    <p:cNvCxnSpPr/>
                    <p:nvPr/>
                  </p:nvCxnSpPr>
                  <p:spPr>
                    <a:xfrm>
                      <a:off x="3311977" y="5943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" name="Straight Connector 201"/>
                    <p:cNvCxnSpPr/>
                    <p:nvPr/>
                  </p:nvCxnSpPr>
                  <p:spPr>
                    <a:xfrm>
                      <a:off x="4010050" y="6324600"/>
                      <a:ext cx="477162" cy="0"/>
                    </a:xfrm>
                    <a:prstGeom prst="line">
                      <a:avLst/>
                    </a:prstGeom>
                    <a:ln w="12700"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82" name="Straight Arrow Connector 181"/>
                <p:cNvCxnSpPr>
                  <a:stCxn id="173" idx="0"/>
                </p:cNvCxnSpPr>
                <p:nvPr/>
              </p:nvCxnSpPr>
              <p:spPr>
                <a:xfrm flipH="1" flipV="1">
                  <a:off x="2243357" y="1713221"/>
                  <a:ext cx="1" cy="131622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Arrow Connector 182"/>
                <p:cNvCxnSpPr/>
                <p:nvPr/>
              </p:nvCxnSpPr>
              <p:spPr>
                <a:xfrm flipV="1">
                  <a:off x="2384751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Arrow Connector 183"/>
                <p:cNvCxnSpPr>
                  <a:stCxn id="175" idx="0"/>
                </p:cNvCxnSpPr>
                <p:nvPr/>
              </p:nvCxnSpPr>
              <p:spPr>
                <a:xfrm flipH="1" flipV="1">
                  <a:off x="2501958" y="1719090"/>
                  <a:ext cx="1" cy="125754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/>
                <p:cNvCxnSpPr>
                  <a:stCxn id="172" idx="0"/>
                </p:cNvCxnSpPr>
                <p:nvPr/>
              </p:nvCxnSpPr>
              <p:spPr>
                <a:xfrm flipV="1">
                  <a:off x="2114057" y="1723803"/>
                  <a:ext cx="0" cy="121041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Arrow Connector 185"/>
                <p:cNvCxnSpPr/>
                <p:nvPr/>
              </p:nvCxnSpPr>
              <p:spPr>
                <a:xfrm flipV="1">
                  <a:off x="2636259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/>
                <p:cNvCxnSpPr/>
                <p:nvPr/>
              </p:nvCxnSpPr>
              <p:spPr>
                <a:xfrm flipV="1">
                  <a:off x="2762013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Arrow Connector 187"/>
                <p:cNvCxnSpPr/>
                <p:nvPr/>
              </p:nvCxnSpPr>
              <p:spPr>
                <a:xfrm flipV="1">
                  <a:off x="2887767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Arrow Connector 188"/>
                <p:cNvCxnSpPr/>
                <p:nvPr/>
              </p:nvCxnSpPr>
              <p:spPr>
                <a:xfrm flipV="1">
                  <a:off x="3013521" y="1719090"/>
                  <a:ext cx="0" cy="125753"/>
                </a:xfrm>
                <a:prstGeom prst="straightConnector1">
                  <a:avLst/>
                </a:prstGeom>
                <a:ln w="12700"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Arrow Connector 189"/>
                <p:cNvCxnSpPr/>
                <p:nvPr/>
              </p:nvCxnSpPr>
              <p:spPr>
                <a:xfrm flipH="1">
                  <a:off x="2123374" y="1965888"/>
                  <a:ext cx="9870" cy="16772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Arrow Connector 190"/>
                <p:cNvCxnSpPr/>
                <p:nvPr/>
              </p:nvCxnSpPr>
              <p:spPr>
                <a:xfrm>
                  <a:off x="2258997" y="1965940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Arrow Connector 191"/>
                <p:cNvCxnSpPr/>
                <p:nvPr/>
              </p:nvCxnSpPr>
              <p:spPr>
                <a:xfrm>
                  <a:off x="2384752" y="1965940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Arrow Connector 192"/>
                <p:cNvCxnSpPr/>
                <p:nvPr/>
              </p:nvCxnSpPr>
              <p:spPr>
                <a:xfrm>
                  <a:off x="2510505" y="1955117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Arrow Connector 193"/>
                <p:cNvCxnSpPr/>
                <p:nvPr/>
              </p:nvCxnSpPr>
              <p:spPr>
                <a:xfrm>
                  <a:off x="2636259" y="1950406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Arrow Connector 194"/>
                <p:cNvCxnSpPr/>
                <p:nvPr/>
              </p:nvCxnSpPr>
              <p:spPr>
                <a:xfrm>
                  <a:off x="2762013" y="1955117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2887767" y="1955117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Arrow Connector 196"/>
                <p:cNvCxnSpPr/>
                <p:nvPr/>
              </p:nvCxnSpPr>
              <p:spPr>
                <a:xfrm>
                  <a:off x="3032151" y="1950406"/>
                  <a:ext cx="1" cy="1676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sm" len="sm"/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63" name="Rectangle 162"/>
            <p:cNvSpPr/>
            <p:nvPr/>
          </p:nvSpPr>
          <p:spPr>
            <a:xfrm>
              <a:off x="4810457" y="2531455"/>
              <a:ext cx="3639730" cy="19365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0" bIns="0" rtlCol="0" anchor="t" anchorCtr="0"/>
            <a:lstStyle/>
            <a:p>
              <a:pPr marL="0" lvl="1" algn="ctr">
                <a:lnSpc>
                  <a:spcPct val="80000"/>
                </a:lnSpc>
              </a:pPr>
              <a:r>
                <a:rPr lang="en-US" sz="1300" b="1" dirty="0" err="1" smtClean="0">
                  <a:solidFill>
                    <a:schemeClr val="tx1"/>
                  </a:solidFill>
                </a:rPr>
                <a:t>PCIe</a:t>
              </a:r>
              <a:r>
                <a:rPr lang="en-US" sz="1300" b="1" dirty="0">
                  <a:solidFill>
                    <a:schemeClr val="tx1"/>
                  </a:solidFill>
                </a:rPr>
                <a:t> </a:t>
              </a:r>
              <a:r>
                <a:rPr lang="en-US" sz="1300" b="1" dirty="0" smtClean="0">
                  <a:solidFill>
                    <a:schemeClr val="tx1"/>
                  </a:solidFill>
                </a:rPr>
                <a:t>/ Ethernet Bridge</a:t>
              </a:r>
            </a:p>
          </p:txBody>
        </p:sp>
        <p:sp>
          <p:nvSpPr>
            <p:cNvPr id="164" name="Rounded Rectangle 163"/>
            <p:cNvSpPr/>
            <p:nvPr/>
          </p:nvSpPr>
          <p:spPr>
            <a:xfrm>
              <a:off x="5574970" y="3053717"/>
              <a:ext cx="775801" cy="42956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smtClean="0">
                  <a:solidFill>
                    <a:schemeClr val="tx1"/>
                  </a:solidFill>
                </a:rPr>
                <a:t>A72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65" name="Straight Arrow Connector 164"/>
            <p:cNvCxnSpPr>
              <a:stCxn id="169" idx="0"/>
              <a:endCxn id="164" idx="3"/>
            </p:cNvCxnSpPr>
            <p:nvPr/>
          </p:nvCxnSpPr>
          <p:spPr>
            <a:xfrm flipH="1" flipV="1">
              <a:off x="6350771" y="3268500"/>
              <a:ext cx="938713" cy="279785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66" name="Rounded Rectangle 165"/>
            <p:cNvSpPr/>
            <p:nvPr/>
          </p:nvSpPr>
          <p:spPr>
            <a:xfrm>
              <a:off x="5574970" y="3720643"/>
              <a:ext cx="775801" cy="23794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 smtClean="0">
                  <a:solidFill>
                    <a:schemeClr val="tx1"/>
                  </a:solidFill>
                </a:rPr>
                <a:t>PCIe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67" name="Straight Arrow Connector 166"/>
            <p:cNvCxnSpPr>
              <a:stCxn id="166" idx="0"/>
              <a:endCxn id="164" idx="2"/>
            </p:cNvCxnSpPr>
            <p:nvPr/>
          </p:nvCxnSpPr>
          <p:spPr>
            <a:xfrm flipV="1">
              <a:off x="5962871" y="3483283"/>
              <a:ext cx="0" cy="237360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8" name="Straight Arrow Connector 167"/>
            <p:cNvCxnSpPr>
              <a:endCxn id="166" idx="2"/>
            </p:cNvCxnSpPr>
            <p:nvPr/>
          </p:nvCxnSpPr>
          <p:spPr>
            <a:xfrm flipV="1">
              <a:off x="5962870" y="3958583"/>
              <a:ext cx="1" cy="171896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602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Integrated Switch Key Value Propositions</a:t>
            </a: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352631"/>
              </p:ext>
            </p:extLst>
          </p:nvPr>
        </p:nvGraphicFramePr>
        <p:xfrm>
          <a:off x="458788" y="674349"/>
          <a:ext cx="8226425" cy="366526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42298"/>
                <a:gridCol w="3107564"/>
                <a:gridCol w="2976563"/>
              </a:tblGrid>
              <a:tr h="38104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Use-case</a:t>
                      </a:r>
                      <a:endParaRPr lang="en-US" sz="1200" dirty="0"/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Key Features</a:t>
                      </a:r>
                      <a:endParaRPr lang="en-US" sz="1200" dirty="0"/>
                    </a:p>
                  </a:txBody>
                  <a:tcPr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Software Enablement</a:t>
                      </a:r>
                      <a:endParaRPr lang="en-US" sz="1200" dirty="0"/>
                    </a:p>
                  </a:txBody>
                  <a:tcPr marT="34290" marB="34290" anchor="ctr"/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lang="en-US" sz="1100" b="1" dirty="0" smtClean="0"/>
                        <a:t>Gateway – Network Security</a:t>
                      </a:r>
                      <a:endParaRPr lang="en-US" sz="11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smtClean="0"/>
                        <a:t>IP</a:t>
                      </a:r>
                      <a:r>
                        <a:rPr lang="en-US" sz="1000" baseline="0" dirty="0" smtClean="0"/>
                        <a:t> address whitelisting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aseline="0" dirty="0" smtClean="0"/>
                        <a:t>Protocol whitelisting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aseline="0" dirty="0" smtClean="0"/>
                        <a:t>Rate limiting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aseline="0" dirty="0" smtClean="0"/>
                        <a:t>Traffic shaping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aseline="0" dirty="0" smtClean="0"/>
                        <a:t>MAC Authentication</a:t>
                      </a:r>
                      <a:endParaRPr lang="en-US" sz="10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182880" indent="-137160" algn="l" defTabSz="6858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 driver with full IP entitlement</a:t>
                      </a:r>
                    </a:p>
                    <a:p>
                      <a:pPr marL="182880" indent="-137160" algn="l" defTabSz="6858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 for switch configuration via AUTOSAR/Linux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/>
                </a:tc>
              </a:tr>
              <a:tr h="661416">
                <a:tc>
                  <a:txBody>
                    <a:bodyPr/>
                    <a:lstStyle/>
                    <a:p>
                      <a:pPr marL="0" marR="0" indent="0" algn="l" defTabSz="8528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 smtClean="0"/>
                        <a:t>IO Hub</a:t>
                      </a:r>
                    </a:p>
                    <a:p>
                      <a:endParaRPr lang="en-US" sz="1100" b="1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smtClean="0"/>
                        <a:t>Support</a:t>
                      </a:r>
                      <a:r>
                        <a:rPr lang="en-US" sz="1000" baseline="0" dirty="0" smtClean="0"/>
                        <a:t> for 2-port driver &amp; 9-port driver to connect vehicle network to switch</a:t>
                      </a:r>
                      <a:endParaRPr lang="en-US" sz="10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182880" indent="-137160" algn="l" defTabSz="6858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 for multicore data planes using packet based classifications (flows)</a:t>
                      </a:r>
                    </a:p>
                    <a:p>
                      <a:pPr marL="182880" indent="-137160" algn="l" defTabSz="6858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Single driver supporting all CPSW IP variants on Jacinto 7, Maxwell, Pascal.</a:t>
                      </a:r>
                    </a:p>
                    <a:p>
                      <a:pPr marL="182880" indent="-137160" algn="l" defTabSz="6858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Scatter-gather 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/>
                </a:tc>
              </a:tr>
              <a:tr h="32004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>
                          <a:effectLst/>
                        </a:rPr>
                        <a:t>Central Gateway</a:t>
                      </a:r>
                    </a:p>
                  </a:txBody>
                  <a:tcPr marL="76200" marR="76200" marT="40005" marB="40005"/>
                </a:tc>
                <a:tc>
                  <a:txBody>
                    <a:bodyPr/>
                    <a:lstStyle/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smtClean="0"/>
                        <a:t>Programmable</a:t>
                      </a:r>
                      <a:r>
                        <a:rPr lang="en-US" sz="1000" baseline="0" dirty="0" smtClean="0"/>
                        <a:t> L3 routing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aseline="0" dirty="0" err="1" smtClean="0"/>
                        <a:t>InterVLAN</a:t>
                      </a:r>
                      <a:r>
                        <a:rPr lang="en-US" sz="1000" baseline="0" dirty="0" smtClean="0"/>
                        <a:t> routing (4 hardware routes)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smtClean="0"/>
                        <a:t>200ms Etherne</a:t>
                      </a:r>
                      <a:r>
                        <a:rPr lang="en-US" sz="1000" baseline="0" dirty="0" smtClean="0"/>
                        <a:t>t response</a:t>
                      </a:r>
                      <a:endParaRPr lang="en-US" sz="10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182880" marR="0" lvl="0" indent="-13716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AUTOSAR MCAL switch dev</a:t>
                      </a:r>
                    </a:p>
                    <a:p>
                      <a:pPr marL="182880" indent="-137160" algn="l" defTabSz="6858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LCPD Virtual </a:t>
                      </a:r>
                      <a:r>
                        <a:rPr lang="en-US" sz="10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netdev</a:t>
                      </a: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driver</a:t>
                      </a:r>
                    </a:p>
                    <a:p>
                      <a:pPr marL="182880" marR="0" lvl="0" indent="-13716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TCP/IP stack (NDK integration)</a:t>
                      </a:r>
                    </a:p>
                    <a:p>
                      <a:pPr marL="182880" marR="0" lvl="0" indent="-13716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Performance optimizations</a:t>
                      </a:r>
                      <a:endParaRPr lang="en-US" sz="1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/>
                </a:tc>
              </a:tr>
              <a:tr h="38709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dirty="0" smtClean="0">
                          <a:effectLst/>
                        </a:rPr>
                        <a:t>Ethernet</a:t>
                      </a:r>
                      <a:r>
                        <a:rPr lang="en-US" sz="1100" b="1" baseline="0" dirty="0" smtClean="0">
                          <a:effectLst/>
                        </a:rPr>
                        <a:t> Surround View</a:t>
                      </a:r>
                      <a:endParaRPr lang="en-US" sz="1100" b="1" dirty="0">
                        <a:effectLst/>
                      </a:endParaRPr>
                    </a:p>
                  </a:txBody>
                  <a:tcPr marL="76200" marR="76200" marT="40005" marB="40005"/>
                </a:tc>
                <a:tc>
                  <a:txBody>
                    <a:bodyPr/>
                    <a:lstStyle/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smtClean="0"/>
                        <a:t>IET/EST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smtClean="0"/>
                        <a:t>802.1AS</a:t>
                      </a:r>
                      <a:r>
                        <a:rPr lang="en-US" sz="1000" baseline="0" dirty="0" smtClean="0"/>
                        <a:t> (PTP)</a:t>
                      </a:r>
                    </a:p>
                    <a:p>
                      <a:pPr marL="182880" indent="-13716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smtClean="0"/>
                        <a:t>IEEE 802.1Qav (Forwarding)</a:t>
                      </a:r>
                      <a:endParaRPr lang="en-US" sz="1000" dirty="0"/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182880" marR="0" lvl="0" indent="-13716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 sync support</a:t>
                      </a:r>
                    </a:p>
                    <a:p>
                      <a:pPr marL="182880" marR="0" lvl="0" indent="-13716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TSN support</a:t>
                      </a:r>
                    </a:p>
                  </a:txBody>
                  <a:tcPr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77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Release Plan</a:t>
            </a:r>
            <a:endParaRPr lang="en-GB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96249383"/>
              </p:ext>
            </p:extLst>
          </p:nvPr>
        </p:nvGraphicFramePr>
        <p:xfrm>
          <a:off x="702627" y="804124"/>
          <a:ext cx="7738747" cy="34336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78865"/>
                <a:gridCol w="1898227"/>
                <a:gridCol w="1898227"/>
                <a:gridCol w="1898227"/>
                <a:gridCol w="965201"/>
              </a:tblGrid>
              <a:tr h="315549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Milestone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CPSW_LLD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EthFw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Demos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Date</a:t>
                      </a:r>
                      <a:endParaRPr lang="en-US" sz="1050" dirty="0"/>
                    </a:p>
                  </a:txBody>
                  <a:tcPr anchor="ctr"/>
                </a:tc>
              </a:tr>
              <a:tr h="609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effectLst/>
                        </a:rPr>
                        <a:t>SDK 0.8</a:t>
                      </a: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Basic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Switching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VLAN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RGMII</a:t>
                      </a:r>
                      <a:endParaRPr 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1G / 100M</a:t>
                      </a:r>
                      <a:endParaRPr 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Host TX / RX</a:t>
                      </a:r>
                      <a:endParaRPr 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effectLst/>
                        </a:rPr>
                        <a:t>Switch </a:t>
                      </a:r>
                      <a:r>
                        <a:rPr lang="en-US" sz="900" kern="1200" dirty="0" err="1" smtClean="0">
                          <a:effectLst/>
                        </a:rPr>
                        <a:t>config</a:t>
                      </a:r>
                      <a:r>
                        <a:rPr lang="en-US" sz="900" kern="1200" dirty="0" smtClean="0">
                          <a:effectLst/>
                        </a:rPr>
                        <a:t> via UART</a:t>
                      </a:r>
                      <a:endParaRPr lang="en-US" sz="9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0" algn="ctr" defTabSz="1218864" rtl="0" eaLnBrk="1" fontAlgn="t" latinLnBrk="0" hangingPunct="1"/>
                      <a:r>
                        <a:rPr lang="en-US" sz="900" kern="1200" dirty="0" smtClean="0">
                          <a:effectLst/>
                        </a:rPr>
                        <a:t>30</a:t>
                      </a:r>
                      <a:r>
                        <a:rPr lang="en-US" sz="900" kern="1200" baseline="0" dirty="0" smtClean="0">
                          <a:effectLst/>
                        </a:rPr>
                        <a:t> March</a:t>
                      </a:r>
                      <a:r>
                        <a:rPr lang="en-US" sz="900" kern="1200" dirty="0" smtClean="0">
                          <a:effectLst/>
                        </a:rPr>
                        <a:t> </a:t>
                      </a:r>
                      <a:r>
                        <a:rPr lang="en-US" sz="900" kern="1200" dirty="0">
                          <a:effectLst/>
                        </a:rPr>
                        <a:t>2019</a:t>
                      </a:r>
                      <a:endParaRPr 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3340" marB="53340"/>
                </a:tc>
              </a:tr>
              <a:tr h="1231939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effectLst/>
                        </a:rPr>
                        <a:t>SDK </a:t>
                      </a:r>
                      <a:r>
                        <a:rPr lang="en-US" sz="900" b="1" dirty="0" smtClean="0">
                          <a:effectLst/>
                        </a:rPr>
                        <a:t>0.9</a:t>
                      </a:r>
                    </a:p>
                    <a:p>
                      <a:pPr algn="ctr" fontAlgn="t"/>
                      <a:r>
                        <a:rPr lang="en-US" sz="900" b="1" dirty="0" smtClean="0">
                          <a:effectLst/>
                        </a:rPr>
                        <a:t>Bring-up</a:t>
                      </a:r>
                      <a:endParaRPr lang="en-US" sz="900" b="1" dirty="0">
                        <a:effectLst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Multicast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switching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InterVLAN</a:t>
                      </a: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routing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Ethernet PHY</a:t>
                      </a:r>
                      <a:endParaRPr 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smtClean="0">
                          <a:effectLst/>
                        </a:rPr>
                        <a:t>TCP/IP stack (NDK integration)</a:t>
                      </a:r>
                    </a:p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smtClean="0">
                          <a:effectLst/>
                        </a:rPr>
                        <a:t>Switch </a:t>
                      </a:r>
                      <a:r>
                        <a:rPr lang="en-US" sz="900" kern="1200" dirty="0" err="1" smtClean="0">
                          <a:effectLst/>
                        </a:rPr>
                        <a:t>config</a:t>
                      </a:r>
                      <a:r>
                        <a:rPr lang="en-US" sz="900" kern="1200" dirty="0" smtClean="0">
                          <a:effectLst/>
                        </a:rPr>
                        <a:t> via telnet</a:t>
                      </a:r>
                    </a:p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smtClean="0">
                          <a:effectLst/>
                        </a:rPr>
                        <a:t>A72 remote core support</a:t>
                      </a:r>
                    </a:p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smtClean="0">
                          <a:effectLst/>
                        </a:rPr>
                        <a:t>Main R5_1 as packet source/sink</a:t>
                      </a:r>
                    </a:p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smtClean="0">
                          <a:effectLst/>
                        </a:rPr>
                        <a:t>Bring-up complete on EVM</a:t>
                      </a:r>
                    </a:p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effectLst/>
                        </a:rPr>
                        <a:t>CAN ↔ Ethernet gateway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L2 Switching</a:t>
                      </a:r>
                      <a:r>
                        <a:rPr lang="en-US" sz="9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multicast, VLAN</a:t>
                      </a:r>
                      <a:endParaRPr lang="en-US" sz="9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dirty="0" smtClean="0">
                          <a:effectLst/>
                        </a:rPr>
                        <a:t>30 June </a:t>
                      </a:r>
                      <a:r>
                        <a:rPr lang="en-US" sz="900" dirty="0">
                          <a:effectLst/>
                        </a:rPr>
                        <a:t>2019</a:t>
                      </a:r>
                    </a:p>
                  </a:txBody>
                  <a:tcPr marL="76200" marR="76200" marT="53340" marB="53340"/>
                </a:tc>
              </a:tr>
              <a:tr h="713228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 smtClean="0">
                          <a:effectLst/>
                        </a:rPr>
                        <a:t>SDK 1.0</a:t>
                      </a:r>
                    </a:p>
                    <a:p>
                      <a:pPr algn="ctr" fontAlgn="t"/>
                      <a:r>
                        <a:rPr lang="en-US" sz="900" b="1" dirty="0" smtClean="0">
                          <a:effectLst/>
                        </a:rPr>
                        <a:t>RTM</a:t>
                      </a:r>
                      <a:endParaRPr lang="en-US" sz="900" b="1" dirty="0">
                        <a:effectLst/>
                      </a:endParaRP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Security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Classifier/Policer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QoS</a:t>
                      </a: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/Packet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Priority </a:t>
                      </a: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regeneration</a:t>
                      </a:r>
                    </a:p>
                    <a:p>
                      <a:pPr marL="91440" marR="0" lvl="1" indent="-91440" algn="l" defTabSz="1218864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Traffic Shaping</a:t>
                      </a: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smtClean="0">
                          <a:effectLst/>
                        </a:rPr>
                        <a:t>Linux A72 Virtual driver integration</a:t>
                      </a: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smtClean="0">
                          <a:effectLst/>
                        </a:rPr>
                        <a:t>Firewall Demo</a:t>
                      </a:r>
                    </a:p>
                    <a:p>
                      <a:pPr marL="91440" lvl="1" indent="-91440" algn="l" defTabSz="1218864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900" kern="1200" dirty="0" err="1" smtClean="0">
                          <a:effectLst/>
                        </a:rPr>
                        <a:t>InterVLAN</a:t>
                      </a:r>
                      <a:r>
                        <a:rPr lang="en-US" sz="900" kern="1200" dirty="0" smtClean="0">
                          <a:effectLst/>
                        </a:rPr>
                        <a:t> routing and Traffic Classification demo</a:t>
                      </a:r>
                    </a:p>
                  </a:txBody>
                  <a:tcPr marL="76200" marR="76200" marT="53340" marB="533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dirty="0" smtClean="0">
                          <a:effectLst/>
                        </a:rPr>
                        <a:t>30 </a:t>
                      </a:r>
                      <a:r>
                        <a:rPr lang="en-US" sz="900" dirty="0">
                          <a:effectLst/>
                        </a:rPr>
                        <a:t>Sep 2019</a:t>
                      </a:r>
                    </a:p>
                  </a:txBody>
                  <a:tcPr marL="76200" marR="76200" marT="53340" marB="53340"/>
                </a:tc>
              </a:tr>
            </a:tbl>
          </a:graphicData>
        </a:graphic>
      </p:graphicFrame>
      <p:sp>
        <p:nvSpPr>
          <p:cNvPr id="2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png;base64,iVBORw0KGgoAAAANSUhEUgAABBMAAAJ5CAYAAAD8eXhbAAAgAElEQVR4XuydB3QUVRfH/wJC6KE36V1QFELvSBFEAqKUj16kg6B0DFVQioAYRHpXQKSJdJAelC41gBA6odcQ+nfuxLdOJrvZ3dlpu3vnHI5k57377vvdGcz9733vvfbq1atX4IsJMAEmwASYABNgAkyACTABvyWwZs0a7N+/H1euXMHVq1dx7do16b8ZM2bEvn37/JYLT9w5gaCgIFy/fh1ZsmRB5syZpf9mzZoV9Hnt2rWdG+AWXkvgNRYTvDZ27DgTYAJMgAkwASbABJgAE1BF4Pbt21i1apXtT61atVC6dGlJPFAmhYkSJVI1BnfyDwLPnz+PI0LduHEDYWFh2LhxI+rVq2f7kyZNGv+A4iezZDHBTwLN02QCTIAJMAEmwASYABNgAnv27MH06dOxYsWKWElewoQJGQ4T0JwACQ1y0apBgwbo2LEjSpUqpflYbNB4AiwmGM+cR2QCTIAJMAEmwASYABNgAoYSCA8PR79+/RAZGYkJEyagTJkyho7PgzEBIrBr1y58/vnnyJYtG0aPHo38+fMzGC8mwGKCFwePXWcCTIAJMAEmwASYABNgAvERoLXs/fv3x+7du6XkLTg4mIExAdMJLF++XBK3KlWqJD2X6dKlM90ndsB9AiwmuM+MezABJsAEmAATYAJMgAkwAcsT2LRpEyZOnIiGDRuiTZs2lveXHfQ/AjNnzsSyZcvQu3dvVK1a1f8AePmMWUzw8gCy+0yACTABJsAEmAATYAJMQEmAljLQCQ20AZ4/XTdn7cL5dvOQ9n+lkHN6CyRIllia/vObD3GmbihSVimAbN98FOezTL1rSvcf/XkuDi65LWFfNFKOIx9L2Mrcr5ZtTNHvcv9luDZ6PZT3hJ9KP5KXzo18q7shUfoUPhnOatWqoX79+ujRo4dPzs9XJ8Vigq9GlufFBJgAE2ACTIAJMAEm4JcE2rZti8DAQIwfP96v5v8y6inOfzoft3/6C4lzpkX+tT0QUDiLS2KCEBiosRAMCm79AikqF7AxJAHg9qK9NrtivCf/3IiV6FO7pxfvSGIGtSdxQ25LLhgoRQJnoofcT18L7meffYaoqChpg1C+vIMAiwneESf2kgkwASbABJgAE2ACTIAJOCVApeItW7b0y2UN0Seu4nTtSUhd5y3cW3MEWQbXRfq25TURE4RtuU0yrPxcCAwPd52JJWbIA/dw2ymEV/lWqkqg6gR7QoO8gkLYJBvyagunD4MXNpgxYwaWLl2KdevWeaH3/ucyiwn+F3OeMRNgAkyACTABJsAEmIAPEiAhoXPnzmjUqJEPzs75lKii4Orw1ci7tBMiJ2ySOojk251v/O1VJjiqVlDalVdH0PjK6gb6jCoXHmw9hVxzWiOi9RyHSy/sLcfw5coEEeGFCxdizpw5frdEx/kTbr0WLCZYLybsERNgAkyACTABJsAEmAATcIsALW2oWLGiX1YkECjlt/e0vICEBbHUQQsxQW5PBMde1YCoVnh6/rbUTL6vgtIPISyI/RAc7Zlgb98Ftx4QL2tMSx327t2LadOmeZnn/uUuiwn+FW+eLRNgAkyACTABJsAEmICPEaDNFi9evOh3eyTIw6hcbqD8WQsxQbn3AY1vz65c3KD9G+jKObOltORCLHEQFQvKn+2JDbQUQvT3sUc33unQZoz58+dH9+7d/WnaXjVXFhO8KlzsLBNgAkyACTABJsAEmAAT+I8AHf84evRovy8JF6cjKJ8NscEhnepAmzMmzp7G7mkOzjZgdHXPBOX4ol/aJiWlPRzEBpHKdqJ6gSod5KdOCHHh2bV7Dvdg8OX3gZbuDBkyBFWqVPHlaXrt3FhM8NrQseNMgAkwASbABJgAE2AC/kzg+vXroOUNq1ev9mcMtuqAJHkzxNqgULnPgfI0BmVVgIAY32kO8g0TRaJP/cQyBbl4QAKFXIRIUTaPtEEkCQty8ULuV6IMKeMcYSn88belDiIederUwYIFC5A2bVq/fs6tOHkWE6wYFfaJCTABJsAEmAATYAJMgAk4IeDv+yQIPEIUUC4FUCb2ys0Rqb+95QOOxARqL+6JseX7ISj9ET8LEcCRXbn/gfWKxRET5H7b29DR118U3j/BuhFmMcG6sWHPmAATYAJMgAkwASbABJiAXQLh4eEIDg7GyZMnmRAT8HkC+fLlw/r165E3b16fn6s3TZDFBG+KFvvKBJgAE2ACTIAJMAEmwAQA1K9fXzq5gQQFM66Ht+7h8O+7cePsVUQ/iML9O/fNcCPOmKkCUyJpquTIkC8bin1QDsnTpLSEX0onnj95hv0rd+D6qYu4ffUmnjx+Yhk/kyRNgrRZ0yNTgRwoUb8iEr6eyHTffv31V/z8889YunSp6b6wA/8RYDGBnwYmwASYABNgAkyACTABJuBFBPbs2YNevXohLCzMFK8Prw3D4VW7kDVhAJInSoTkiV5HotcSmOJLnCT95Us8fPEMj54/w5UXT1C8fkW8Vau0JXwTTpza+Td2zF2DHEmSI1nCGH6JEyS0jI9PX77Aw+fP8PjFC5yPfoDKbeoif/m3TPevZMmSmDJlCoKCgkz3hR2IIcBiAj8JTIAJMAEmwASYABNgAkzAiwi0a9cOn376KcqUKWO413sXbUbk3nDkSZTM8LHVDPjP8yhkLV0YJRpVVdNd8z5Hfw/D6Y37UDCJNSsm7E04/OlDFHy/FN6sVUpzHu4Y3LlzJ+bOnQvaQ4EvaxBgMcEacWAvmAATYAJMgAkwASbABJiAUwK3b99G/vz5cevWLadttW5weN0eXNx0EHle9w4hQcz/n2ePkKtmEN6qaW4yTBUJx37djoIB3iMkCIYnH9/H202qIl+Zolo/Vm7ZS506NS5evIhUqVK51Y8b60OAxQR9uLJVJsAEmAATYAJMgAkwASagOYE5c+Zg27ZtmD17tua24zNIeyQsHzITQanTGzquVoPtvXMDDUd2MG0PBdojYW63b1EuY1atpmS4nZ2Rl9H2x75ImMi8JRktWrRArVq10Lx5c8PnzwPGJcBiAj8VTIAJMAEmwASYABNgAkzASwh89NFHoISqQYMGhnq8e+EGPD5wFlmTpjB0XK0Guxz1EMlL5kXZpjW0MumWnb3LtuJB2ClkSeJdVR3ySV5+GoXAcoUQVL+SW3PXsvEvv/wC+rNkyRItzbItlQRYTFAJjrsxASbABJgAE2ACTIAJMAGjCSRKlAhPnjxBwoTGfju8cvhsZHz0EoFJAoyesibj3Y2OxvWUCREc0loTe+4aWf31fKS58wRpA5K629Uy7W8/foy76QPwQT/zqgLo2aelDtHR0Zbh4s+OsJjgz9HnuTMBJsAEmAATYAJMgAl4DYE1a9Zg8uTJ+P333w33eVHvUBRNFohECaxxaoO7AJ6/fIljUXfReFw3d7tq0n5u12/xbtqMSGywCKSJ8/8aefriBQ7duYGWoZ9radZtW7TM4YsvvkDNmjXd7ssdtCXAYoK2PNkaE2ACTIAJMAEmwASYABPQhcDw4cMlu4MHD9bFfnxGp7UdhUq5chs+rpYDbo84hw6zBmpp0mVbvsCPJmsmQwF7yJAhCAgIwIABA1zmzw31IcBigj5c2SoTYAJMgAkwASbABJgAE9CUQOfOnVGsWDF06tRJU7uuGJOS4dx5XWlq2Tbbz/1jrpjg5fwkMcFEhuLBouqcEydOIDQ01LLPmr84xmKCv0Sa58kEmAATYAJMgAkwASbg1QTq16+PNm3aIDg42PB5kJhQOW8+w8fVcsBt/5wxVUzwdn4UCzMZimdh+fLlmD9/PpYtW6bl48G2VBBgMUEFNO7CBJgAE2ACTIAJMAEmwASMJlCmTBl89913KF26tNFDQxIT8uc3fFwtB9x2+rS5YoKX85PEBBMZimdhz5496NWrF8LCwrR8PNiWCgIsJqiAxl2YABNgAkyACTABJsAEmIDRBHLmzIkdO3YgR44cRg8dIyYULGD4uFoOuC38lLligpfzk8QEExmKZ+H8+fOoXLkyIiIitHw82JYKAiwmqIDGXZgAE2ACTIAJMAEmwASYgNEESpYsKX0bS8dDGn2RmFClUEGjh9V0vK0nw00VE7ydHwXDTIbiYXj+/DnKli2LvXv3avp8sDH3CbCY4D4z7sEEmAATYAJMgAkwASbABAwn8Nprr+HVq1eGj0sDSmLCm4VNGVurQbceP2GumODl/CQxwUSG8ufAzHdBq+fRF+ywmOALUeQ5MAEmwASYABNgAkyACfg8ATMTKElMKPqmVzPeevS4uWKCl/OTxAQTGbKYYL3Xj8UE68WEPWICTIAJMAEmwASYABNgAnEImC0mVH27iFdH5Y+/j5kqJng7Pwq+mQxZTLDe68digvViwh4xASbABJgAE2ACTIAJMAHriQnFinp1VP44fNRcMcHL+UligokMWUyw3uvHYoL1YsIeMQEmwASYABNgAkyACTAB64kJ777t1VH54+Df5ooJXs5PEhNMZMhigvVePxYTrBcT9ogJMAEmwASYABNgAkyACVhOTKhWophXR2XL/sOmignezo+CbyZDFhOs9/qxmGC9mLBHTIAJMAEmwASYABNgAkzAemJCyXe8Oipb9h4yV0zwcn6SmGAiQxYTrPf6sZhgvZiwR0yACTABJsAEmAATYAJMwHpiQql3vToqW/46aK6Y4OX8JDHBRIYsJljv9WMxwXoxYY+YABNgAkyACTABJsAEmIDlxIT3yhT36qhs3nPAVDHB2/lR8M1kyGKC9V4/FhOsFxP2iAkwASbABJiAZQm8evkc967uwpP75xB97yxePHuAJw+vWNZfsxxLkjwLEiZOhYDUeRCQKg9SZSmP1xIkNMsdaVx/j50VY+LuA2H20ZDvlQty12WErl6IiSvnxen3bbt+CC5TTbqfPX0W6e/7zxzDirDNGNS4IwISJ3F7LGcdNu/eZ66YoIKfszkZfd9MhiwmGB1t5+OxmOCcEbdgAkyACTABJsAEADyI3Itrx2YgeersSJI8PQKSZ0JAisxImCgx81EQePH8CaIfRiL6Ef25iah7F5G5aAekzFjCFFYcO8BqMVHzIJguJlQo6bbbob8tlPp0+7CZ3b50P3uGzAgu8x72nyYxYRMGNemkj5iwc6+5YoIDfiv3bMYX00fH4dOzfiuJG92/eOOa9HdnjJS2vv2URJv3XI6bPB72Om02kSGLCS6H0bCGLCYYhpoHYgJMgAkwASbgvQSuHPoOL57eQvbCwd47CRM9f/XqJS6dWIWEARmRtVh3Qz3h2NnHbWZM1D4AZosJ1SuWctv10FULYsSEes3j9F0ZthmfT/9G+nz8p/3xRvpMWB62CSkCkmP6uiWoVDQI4zsMQJoUqdwe116HTTv+MlVMcMSPOOw9fQRfNulsV0Sh+xdvXJUY7j99VGJkry21IzFGMLvz8D4+n/Y16petjuCyrgkKFK/sGbI4bG8mQxYTNHkNNDXCYoKmONkYE2ACTIAJMAFfI/AKF/d+hZSB2RGY+S1fm5zh87lz9TAe3b+GN4IGGjA2x84VyMbGxBWPHLcxXUyoXNrtCYSu/FdMCI4rJpAxup89Y0zySolyo5E9sWTQRBTJmR9f/TwFmQPTo5uDvu46s2nbn+aKCQ74SWLCqSP4smlcMUEwobn2atAaZd98B8t3k+CSDNPXLkGlt4IwvuNASXCxx1rYrlOyMtbs3SaNQRexLVngLYn72asX8d2KeShdqBhC5k6MEXc6DrArKJjJkMUEd594/duzmKA/Yx6BCTABJsAEmIDXEqBvtZMmT400LCRoFsM7Vw/h8eMo3SsUOHauh8yomLjukf2WposJVcu6PYXQFfMxYdnsWP0K58iLSV0HI0+W7KD7kphQrjr2nzqK0JXzMb7TQKRJmRord2/CxetX0a1+C7fHtddh0x9h5ooJDvjRPPeGH8GXzbrYr0yQcSBGjb7qgSVfTkKRXPnx1cIfkDlNeomRuNe06odxbN15cA/fLp2FLz5uK6GhvxP/tu9/LPULO35QsiGPh9UYspigyWugqREWEzTFycaYABNgAkyACfgOgQfX/sLdC6t5aYMOIb14fDkCczVAykz67KHAsXM/aHrHxH2P4vYwXUx4r5zb0whdHrP5YrcGLe32pfvZM2ZFcHkSE45g+c6N+LJ5VympXrmLxIQrDvu668ymzbvNFRMc8KN5fj5lZJzpLBk8CSUKvBWLAzGihH9850ExgouCUfTTJ/hqwWT8vOU3yV7Tah9KPOmizxtUqCH1O3ruFC5EXkGz6sFYuGklyhZ5VxpLHg+7YoKJDFlMcPeJ17+9JcWEESNGSDMPCQmxEQgPD8fQoUMRGhqKdOnSaUrm1q1b6Natm2S/YMGCDm272s6eAZrT4MGD0bFjR0yYMAFJkybVdA7xGdOTnWGT4IGYABNgAkzAUAK08/+ZrV2Rv2QHQ8f1l8Fovf6Z/TORr3IoXkuQSNNpc+zU4dQzJuo8itvLbDGhRvXybk/l+3/FhO4OxAS6n4MqE8rXwL7wI1ixSy4mbMSF61fhqK+7zmzctMtUMcERv5W7NsZUJvwroijnRfcFB3cZyfmTHXFlS58Zf589iTJvvotVuzehUeU6yJM1B+TxsMfXTIYsJrj7xOvfnsUEAK6KBK62U4bt8ePHGDJkCNq1axevWKF/uHkEJsAEmAATYAKuEbh7eRuirm1H1gJ1XOvArdwmcDl8NVJkfQ+ps1Zwu298HTh26nHqFRP1HsXuabqYUNP9Z/X7ZXOlSXT/qJVdDHQ/B1UmVPhXTNixAV+27BZTmbCTkugrDvu6y3Xjhp3migkO+NE895782zbvOGKCjIMkJthh9GndJpj4yyw0qvqBJAqIS97+ys1IbD20R7pV5Z0yOHI2HFFPonH+2iX0/KStxFweD7tigokMWUxw94nXv73Xignim35CNHz4cFsVA30L37hxYxw+fBi1atXCwoULpUqGXbt2Se0iIyNRpkyZWNUBcpEgR44c6NWrF7JlyyZVEgj7vXv3lj6fOnUqihUrhsWLF0O0pc/o2rlzJ8qXLw/yoUePHtJnL1++lGzNnRvzDym1KVSoEJo1a4b169fb7IsqDPJF3JP772he8keEmOTJk0fqTxfN/ezZs2jUqFGsqg76vHnzmE1wxFziq8jQ/zHkEZgAE2ACTMBqBCKPz0aiBE+QLpv7R8FZbS5W9efW5b/w/FVSZCrcWlMXOXbqceoVE/Uexe5pupjwfiW3p/L9r3MwYcnMOP16NWqH7g1bY+WODegVOgITuoUgW8YsWLF9Pb5s1T1GTNixIUZMaKjNO7Jx3XZzxQQH/Giekpjw77yVsOQcJHHAASOlHWnJw9zvkSlteomhtG/Coul4EPUQQ9v2kn6e9fsSlCz0NoIr1pSGpXhJ4s6/Pyt9MZOh3Bcz3wW3XwIf7uCVYsLJkycxf/58SRCgS3zrnz59eimRpsScknpKri9fviy1O3DgALp27SqJAMrE2Z6YQHaV/ci+fDmEfDkGiRXCPvUlQWPy5MmSH1SZQEJEixYtULx4cenvFStWlHwVwsOkSZNs4gS1o35CDOjSpYvDecmXS5APci5iTPJbLBEhduS3EFnsLSnx4eedp8YEmAATYAIuEji/ZzDSZ3sXyQP/+4bLxa7czEUCj+6ex80rh5Cz9HAXe7jWjGPnGid7rfSKiXqPrCUm1KxTWaupmGJnw5ptpooJjvhRpUGvSXH/HfhfjWCEtOqBo+fC8UlIF3zeuD3KFi2O5dvXS58HJEkiVSlcjLyC7h/HCC5KW9RH3JPEgqVzpHb0GYkJQ2ZOkKoS8mSL+bde9J/QYzDq2xEUzGTIYoIpr028g3q9mKBMpuWJsnyvAGUSLadiT0wQyb78nlxMUAoXcsGA7lFlAgkEJFzI75FI4Ghs+tzevhAkEjial3z/CLkwIbd18+ZNh/tNCMFCvj+F9R5T9ogJMAEmwASMJnB2R0/kLNoYCRMlNnpovxnvxfOnOH90CfJUjPlyRKuLY6eepF4xUe9R7J5mfhs7re0o1PygilZTMcXOht+3mismeDk/CpqZDFlMMOW18T0xgRJoean+ggULpG/uKemuUCH2Wi5Rxk8JtfjWXrn5oT0xQVQHOBMTxFIFQZl8CQoKipW8K8UEpZ9yH+WigbAZ37zkVRbycSIiIqQlDiQSyEWVZMmS2ZZrCPvyZSLWe0TZIybABJgAEzCDwIm1jVG4Ql8zhvarMU/sHIPCtRdrOmeOnWc49YiJZx7919t0MeHDqlpNxRQ7G377w1wxwcv5SWKCiQxZTDDltfE+McHet+XKb+fFrOQJNH3mSDCQLwHQSkxwdAKE8vQEuY9ivwSxFEMuVpD/jioTHM1LGV3Bjj6vVq2abQ8HYXfdunXYsWOHbc8Irkyw3kvJHjEBJsAErECAE1JjoqBH4sqx8yx2esTEM4+sIybUCq6m1VRMsbN+5RZTxQRv50dBM5MhiwmmvDbeJybI9x+QLxOgjQwpCZcnwPKTEpRLD6gdJeH0X/k+C1qICeSXfL8BsUEi7ZMg36OAqijiExPIt7Fjx0p7OdjznxL/L7/8Eu3bt7ftBSGfl/KYTOFH5syZbfsiyMUNuZgQFRUlVXTQ0gte5mC9l5M9YgJMgAmYSYATUmPo65G4cuw8i50eMfHMIwuJCQ2qazUVU+ysX77JXDHBy/lJYoKJDFlMMOW18T4xgTxWlvbLS/FFci5OURDLHKif/NQD+UkFWlQmiNMb9uzZY/c0B+FHfJUJYmNFcZoCzYE2hxTLKhyd2uBoXsroCjZCeBFMRGUC/Sw/LaJz585Yu3ZtrNMtrPeYskdMgAkwASZgNAFOSI0hrkfiyrHzLHZ6xMQzjywkJnxUQ6upmGJn/bKN5ooJXs5PEhNMZMhigimvjXeKCdZDxR4xASbABJgAE/AfApyQGhNrPRJXjp1nsdMjJp55ZB0x4f2PY44P9NZr3dINpooJ3s6P4m4mQxYTrPfmWfI0B+thYo+YABNgAkyACfgXAU5IjYm3Hokrx86z2OkRE888spCY0KiWVlMxxc66JevNFRO8nJ8kJpjIkMUEU16beAdlMcF6MWGPmAATYAJMgAmYToATUmNCoEfiyrHzLHZ6xMQzjywkJjSprdVUTLGzbtFac8UEL+cniQkmMmQxwZTXhsUE62Fnj5gAE2ACTIAJWJsAJ6TGxEePxNXM2C1cvBbNPw1Bx7YfYcLXnyNp0gAJZPjpCDRuPRCHj5yKBXbB9BFo1rg2RoyegcEjf5Tu1apeFgtnjEC6tIHGBEExih4x0WoiZh8NWbtpHa2mYoqdtT+vMVVM8HZ+FDQzGbKYYMprw2KC9bCzR0yACTABJsAErE3AzITU2mS09U6PxNWs2D1+HI1eA8Zj6qxlKPZWASyeMwoF8+eKA0y0i7hwVRINTp6KQIWa7bFzwwwUL1ZIspEtS0aE9GuvLWwXrekRExeHdtrMdDGh2QdOfbRyg7ULfzdXTPByfpKYYCJDFhOs93ZZapkDHXlIRyFOmDAB4vjGW7duoVu3bqDTCOg4RnHRsYyXL1+O01acVCBH3bFjR6ndhQsX0LhxYxw+fDhOJOQnQshvKk+OqFWrlu3IRWpHPouTGeT9du7cKR25qLzkR0GK+Tiao7Kvq+3UPGbEM0+ePNJJD3wxASbABJgAEzArIfU38nokrmbFTlQf1KxWBhu27EGfHi2kqgPltWvPIZt4UL7MO3HuU5XCrj8Pm1adoEdMtHquTRcTWtTVaiqm2Fk7f7W5YoKX85PEBBMZsphgymsT76BeKSbQMYkkDtDVq1cvm8hAyTYlwyEhIbZEXogBFStWjJUo2xMu7CXvZI+ObRRJNh0x2bVrV+loSBID7NmhNpSc07106dLFMivEB/lRl66KBK62U/OYsZighhr3YQJMgAn4LgGzElLfJWp/ZnokrmbFjpY4jJ00H3OmDMGPs36VJixf6kA/i6oEe/foMyFIlClZNE5fo54NPWKile9miwl1Wn2o1VRMsbNm7m+mignezo+CZiZDFhNMeW18T0yghFxcZ8+elcQDuuyJCfQ5tZe3E58pqyCUpOz1U9pzp5pCPm5ERIRN9FCKBMpqCKpyKF68uCScTJ06FcWKFZOqIagdzV05bxIz5s+fH6caQ15VQeLBsWPHJFGEqjKIj6hMILGGKjgmT55st7rCeo8xe8QEmAATYAJaEzArIdV6Hla3p0fiakbslCLBslV/SMKCcqmDEAvsVS3cun0XzdqHYP2mMIi9FMyInx4x0WoeposJrYO1moopdtbMWWmumODl/CQxwUSGLCaY8tr4lphACfSQIUPQrl07pE+fHoMGDcLIkSOlCgAtKxNEQk9VCcrlCvLKg3Xr1sVZmuGsMoES92rVqtkS/qioqFhLOSjRp4uEAnklBM1XLPmg+zNnzsSwYcOk5RvEpGnTpggODpbEE7ref/99qaJCVFbIl4aMGzcu1jIRUZkQFBQkLSkJDQ2NU1VhvceXPWICTIAJMAG9CJiRkOo1Fyvb1SNxNSN2SpHAkWggqheUIoN8vwXl5o1Gx0+PmGg1BzPFhEX9pqB0rXJ4PfHrWk3HUDvPnj7Dn+t3ocnoLoaOKwab12MCytetjCTJYjYl9cYrOioau1dvR8tJPU1338x3wfTJW8gBr1vmQN+aiySa9lWgJJgSc0r4hZiwfv36WIjlSwrEDWfLHOITE8gHkXCTmKDcM4EqB8QyCGWsRbVD7969pUoDWn5BSb8QCUgwkC/VkPtRqFChWO1En5s3b4L+/P333+jSpQtGjx4tiS10yYUB8rtHjx6YNGkSlixZIt0XVR3EMUWKFPjrr7/i7E9hoeeVXWECTIAJMAGDCJiRkBo0NUsNo0fiakbs5KcxyAHLT2aIb4mD6G/2SQ7kux4x0eqhMzOBWjlyLnIVzI30WTNoNR1D7dy8fB3nT59HvalvUs0AACAASURBVIEtDR1XDPb72IXImiMrMmbPbMr4Wgx6/cI1XLl0FR/0/p8W5jyyYea74JHjPtbZ68QEexseCrFAWZkgT57lmzdSDLUUE+TLJeRVBfaeFfnSCSFKUHUBVRZQ4i/EBKUgQksR5KIDzUcIKSQAVK1aFb/99pu0PGH8+PFStcbJkydj7d0gX05BYoJ8w0WyRVUQtBQiY8aMvBGjj73oPB0mwASYgLsEXE1IxWZ6wr6yPJ2SxDy5stmO/xN/d9cfR+3tJbHxnSSg1bjCjnx+amzrkbi6Gjs1/trrI5Yn5MqRJdY+B+KYSDqlgTZaFO3Kly4W66QG8QwZGbf45q5HTLRibWYCteunDXj16Clyv5VPq+kYaufs36eRKGVSlG1a3dBxxWB7l23Dk1sPvJYfzYMYJs2YGkH1K5nCUD6ome+C6ZO3kAOWEhPka/3FaQ5yQUD5rT1xlCfI9u5T8k77Byg3Q3QmJgjBQbnXgvJzpR0haMg3bZTHW7kPg1h6cO/ePZuYYO/0CuVcSUwgXrTvQWRkpFSRMG/ePCRPnlz6mSoO5BUUtAxEWZmgFBPoZ6VgYaFnlV1hAkyACTABAwm4kpBSsjh/8Rrbrvvim2f5sX5GiAmERX6MIPm1I+ygIRv4sZgACDFAKSSJpQ4N61WT4uNITLAnCJlZocBigv1/aB7deYBfh8zEe83qGPgvkXZDbVqwGp981RHJUifXzqgbll48e47ZXcahdvuP3OhlraZrpv2KdtP7IUGCBKY7xmKC6SGQHLCUmGBv4z/5Ov8DBw7EOSVBflqD2CPA6qc52Ns08tq1a7alEfLqBjkT+TIHEhPoHlU05MiRQ9o7gfh8//336N69e6xlH472TLAnJtASC0cbT1rjkWUvmAATYAJMwAgCzsQESgy79R6DoQM6oGD+XDaX5J/vO3ACzT+N2SSZEs2zEZeRIkVSrN+8R9pkb/igTjYRQL5mntqLb7MpUR0+egYir9+GvR3+KRFVigmUxA79ehpCx/VFurSBtmSX2snX41NfpT9UOUE+K78llye8ImkW37yL+dExiPbaxRcvPRJXZ7Ez4vnx5jH0iIlWPMxOoI5s+AuXj5zD25WKazUlQ+wc3rYP2d/Jj6LVgwwZz9Egp8OO4OSWAyhRs5ypfqgZfN+63ShSMwh5SxdR013zPma/C5pPyEsNWkpMIIYieT58+LCEtGPHjtKpBGJ/BOkXhn9PbxDMRfWBSKTlYgK1UR7nSJ+5UplA7ZQnK8hPRHBkR/TJli2bXV+V1Q5K/5Rj0hIHSvLF53v27JGEBxIRxL4LdF9ZiaDkqTzNwZGYEN9+EV76nLPbTIAJMAEm4CYBZwkpJfnzF61xePRfxbLvxlnaQIn2rj8PS5UMN2/dRePWAzH5275SCbxcFCDbXb8YI50EQO3E3+WihZiOPTFBXplw4dI19Og7DpPG9EaONzKj14DxEJUT9vwR36LL7corMOz5LZZuKMeVz88Rfj0SV2exc/NR8LvmesREK4hWSKAOrNqJyFMXUaxqSa2mpaudQ5v/RNYiufHOB9ZI4E9sPYBTO/5GyToVdJ23lsb/+n0nCld9BwUrvqOlWY9sWeFd8GgCPtLZcmKCj3DlaTABJsAEmAAT8GoCzhJSR2ICTdrR0gZ5gi4qEVo0qYNCBXJJRwKG9G0nCQvye5K9MTNtSymUUJ2VyCuXPMj9HjdpgWROlODLKy2oH1VS0D3lUgb5PMS9j+pVlYQKIaIoObCY4D2vA4sJzmN1dNM+HPxtJ/IUL4SUaVIhdaa0ljnlgU5tuBd5Gw/u3Mc/+0+gRP1KKFKthPNJGdjizJ5j2DrzNxQs8xZSpk2FVBnSICB5UgM9iH+o6EePce/GHTy8fR8nd/+Nah2Ckbf0m5bxjxxhMcEa4WAxwRpxYC+YABNgAkyACViKgF5igvgW356YQEsf5BctJ8iVM4vdCgjRzp5AIU/o5UsRRB+xHv+H6Uttm0Mql20IMaF3j+ZxRAJ7QoMQE6bOWhZrDvKlHPYCrEfi6ix2lnrQLOiMHjHRappWSqBoD4UjG//CjbNX8PhBFO5evaXVND2yQ8JGssAUyJA7C96uVca0PRKcTeLF8xc4uHoXIs9cwq0L1xH9MMpZF8PuB6RMhnTZMyFTvmwoXq+CJfZIUE7eSu+CYYGx4EAsJlgwKOwSE2ACTIAJMAGzCThLSF3ZM4GWJTiqUlCKCfb2XyAG8VVA0H3lMgex6Z9YPiFP/JVM5b45EhPcrUygSguqrnD10iNxdRY7V33z13Z6xEQrlr6cQP3000949OgRPv30U61w+ZWdp0+fSsvDZ8yYgYQJE/r83H35XfCm4LGY4E3RYl+ZABNgAkyACRhEwJWE1JPTHORignLPBLkgQNO1tzeDwODOnglC3Lh89bq01wMtcxCVEvGJCWr2TIh6HC0t3WjRuI60d4SjS4/ENb7YOTrpQhkPPR4zcZqDWM4ixpB/vmXbPltM5D44Eq/c8dOZMCVs6RETd/yMr60vJ1C0P9qLFy9ASTFf7hMYPnw4vvnmG+lPjx493DfgZT18+V3wplCwmOBN0WJfmQATYAJMgAkYRMAVMYFcEccCCreUxwOKZQbiNAd7yxzk+ySIZQLCjrME0J6YIJJTkcjLfZQfOehqZQLNzdEpDfL5KU9zcLbEgezqkbiqERMMeqziVJKIZyi+fTGoDYsJMRHy1QSKNlunE8pISKCN1AcNGmTUI+kz4yROnBjPnj2Tjol/+PChz8zL0UR89V3wtsCxmOBtEWN/mQATYAJMgAkYQMBVMcEAV3x6CKuICfLKhPTpAqWjNVOnSgEh7oijOuUCjHKjTHkFiaPlJSTsKIUDextaBhUvLJ3CQdfLly+RLWtGzF242nZk55Jlm2wVDMqqCqXAJT9mNL4qF/Gg6RETrR5iX02gkiVLJp1aRhclxU+ePNEKmV/YoaqEUaNGSdxSpkyJr776yuerE3z1XfC2B5bFBG+LGPsbhwD9kpEgQQLLk6HSPX9Yw2b5QBjgoLc8k69evZK+5eKLCdgjwGKCMc+FHomrmsoEpZhAx1r26dHCdrynvaUhyiSeBAS63q9RFrS5JW1emTRpQCyQyqUOyooDIVaQmCA/WtNRO6oGUfoujgKlZS3yZR0HDp+Md8kMiwnGPPPKUURVwoMHD6RbSZIk4eoEN0MhqhJEN3+oTmAxwc2HRKfmLCboBJbN6kfg0uUrWL9+A06ePIHTp07htdde4Urkbf0G1MhygVxZEfXkOQoULIiChQqjYYNgST220vXX3n2gP+EnjuPChQu4dsP6XIlf8SL5cP/RExQoVAiF3yyCRh9/ZChWEop+XrQEJ08cx6lTp5AqWWIcOXXeUB/UDBaYMjleT5wYBQvkQ4GChVGlciUULFhAjSnu44MEWEwwJqhWFRPkCbnyOM34lqoMGTUNh4+ewuB+7R1uRCmvblAuY5GLCXIfXBUTlJtfyu2zmGDMM+3uKPKqBNGXqxNcpyivShC9/KE6gcUE158RPVtaSkyIjo7G3LnzcPzYEZw6cw63797Xc+5sOx4CaQNToWD+PHizSFG0bt1aKjmzwkUJ24Y1K1GmQAYUypYS+bOlQdZ0Kazgmks+XLzxAKcu3Ub4lYdYtfs0unbrig/rfuBSX70bjR07Fs/vXkG21K+hYNZUKJg9LQJTxP5GSW8fPLF/+vIdie3ley+xdNsxjPnma7zzTjFPTLrUd9PmLQgZMgwtar2LfJmSocAbaZArU2qX+lqh0fU7jxB+6Q5OXX2Ao5ceoWjxMmjXrq0VXGMfTCbAYoIxAbCqmEDLHELH9UW6tIGxTtSQb1ppb9NGZ3tcEFXRZuTgLhg0/AfIj/KUiwlyH9wRE+T7W9B4Hdt+JG24yWKCMc+0O6NQVcLAgQOlCtPcuXNLXc+dOyeV6w8bNoz3TnAB5uuvvy79nk4CwvXr15E+fXrpVAyqPoyKss5xky5Mxa0mLCa4hUu3xpYRE9auW4+vvxmDznXfln4Rp1/I06VKqtvE2XD8BG7df4zwS7dx4fp9hK48hJBBA1CrVk1TsfXr0xuZA6LRq/7bpvqh5eAjFu1HQLqc6NN/oJZm3bL1/PlzfFivPtrWKopPKuRxq69VG999GI2+s/9E46bN8F6tOrq5OXvGVJw+shejWpbSbQyjDU9ddwJhp25jzty5Rg/N41mMAIsJxgTEm8UEe0sWSBwomD8nMqZP6/AUCzqtg6oOurT/BIt+XW8TLYi4GjFB7odkY8xMLJwxIo4QwmKCMc+0O6OUKlUKOXPmBIkKM2fOlBLg9u3bo1evXvjnn39w4MABd8z5Xdu1a9fif//7HyZPnozGjRtLS0To97p58+ZJDJcsWYL33nvPJ7mwmGCNsFpCTPht+S/YuXkNRrcpaw0q7EUcAn1nhaFKrXqoU6+BKXS6d+uKSnmS4JPKhUwZX89Bp6/5G+ejU+GrkaP0HMah7WrVa2L25zWQ04u+TXcVVL+ZO1G88gfS/2C1vsaNHYPX7vyDLxqW0Nq06fY2HziPOdsuYP6C+ab7wg6YR4DFBGPYe6OYIPZPoOS8Qs32kG/OWK1yEIoXKwRa7tCuZT3QvgXKS1Q00OaOyhMv3BET7PkhFxOSJQ1ArwHjpeG5MsGY59ndUe7fv49UqVJJ3agSgcSEoUOHSj/L77lr11/ay/c+oiWXQkzwh/mzmGCNKJsuJqxduw7bfl+Mb1hIsMYTEY8XfWbuQo0GLVCzRnVDfV326zKc2rsB/T8pbui4Rg7Wf84e1KzfHNXeq2bksBgxfDjeSf8YH5aOKS30xavukFWYNWsWMmbMqNn09u8/gBmh4zClWxXNbFrN0I9rjiFxtrfRtm07q7nG/hhEgMUEY0CbISY0/zQk1uRoGcCowV0xcPhktGhSB+I0B3vLHKIeR6NZ+xCs3xSGPp+1xP0HD6U+Eeev4mzEZYT0ay/ZpuoD+TIFJU1xpKYQIsR9R2KCECD27D2KxXNGST7a84OEDBIQSKgo9lYBDBvY0Vb9cPJUBG/AaMxjrWoUpZigyogfd2IxwY+Db+LUTRUTaI+Emu9/gO3fav+toYlMfXro8r1+xtbNG0Drs4y4aO1XSP8vMLVrRSOGM3WMFt9uwYzZcyVV2Yhr+/Yd2L12Mfp/7DvLRuxxO3PlDqb9cQ1jxk/QBCv9z7pj+7b4rn0pJA8w5j3QxHEVRr6Y+Sc6fT4A+fPlU9Gbu3g7AbPFBEpGaTf/w0dO2da808kA8mP/xFp4+pyS0GMnz2LxrxuwYPoI2ykEg0f+KIVCfEZ/l9uoVb2srSTejJgZLSaYMUdvG1OPmGjFwJe/jWUxwbOnhMUEz/hxb3UETBUTpk2bgVQPw9Gkcn513nMvwwks3HoaUYFv4tN2bQwZe/nyFTi5+zcMaFLakPHMHKT/zB2o+Ul7VKta2RA3hg8djOIZnqBumbyGjGfmIHUHr8Ss2bM1qU44cPAQpk38Bj/2MLaKxAx+U347hIAcJdCGqxPMwG/6mGaKCa4cFyi+gc6WJaP0bTiJCaLsncQF+ZGAFy5dsx0zWKhALnTrPQZDB3SQSvDFcYZ0xKAZlx6Jq5mxM4Oh1mPqEROtfGQxQSuSvmeHxQTfi6k3zMhUMeGzzz5Dk6A0KPtmVm9gxT7StznHLmPpgfuYMFGbb3mdQf161EgUSn4HDSr4/nF1s9cfQXSaIujcuZMzLJrcb/a//2Fok2LSiRi+fvWevgP1mnVEpYoVPJ7qokVLcOXvTfi8YZDHtqxuYMuhC9hwMhrfjB1ndVfZPx0ImJmQOjoRQPk5/Sw22/th+lKJAgkLoiTe3ikB79coG0tM0AGdWyb1SFzNjJ1bk7doYz1iotVUWUzQiqTv2WExwfdi6g0zMlVMqF2nLhb0qcGnNnjDk/Kvj3TKQ/OxG7F2zWpDvG7TujV6f1gARXKlN2Q8MweJEWruYsLE73R3gzbsKVO+Mv78vrnuY1lhgBlr/8bLjMXQocOnHrszdMgQlMr8BHVK+cbJF/EBuXzzAbr9uAvLly/zmBsb8D4CZiak8qoCqjIQl/Jz+bp8EhPy5MomLW+Qb/AnJy82+3O0hMKMKOmRuJoZOzMYaj2mHjHRykcWE7Qi6Xt2WEzwvZh6w4xMFRNKl6vkN8mMNzwMrvpYuvsC/Ll7u6vNPWr38ccfY0qXCsiQOplHdryh85nLtzFy+UnMnj1Hd3evX7+BTp0+xbJB+h2bqPsk3Bhg9Z4zOPogLfr37+9GL/tNe/b8DM1Kp0XJAlk8tmV1A8+ev0CdkJXYuGGd1V1l/3QgYGZCqrYyQSkm0MaA5cu8Ey8dEijkGwfqgDJek3okrmbGzmh+eoynR0y08pPFBK1I+p4dFhN8L6beMCMWE7whShbz0Ugx4cMPgzHzsyrImCa5xSho787pS7cxbMkRLFi4UHvjCovXb9xA29ZtsHp4Pd3HssIAq8JO48jdQAz6cpDH7nTr2hUty2VEqUK+LyY8ffYc1fotxc5tWzzmxga8j4CZCSlVDvToOw6TxvSW9jWg/RDoavRRddveB/b2TBBiArWVVzGIEwhaNK6DoOKFY50ywHsmxDybxGHspPnSSQniOEfl3hWOnuL4Tm4QpzbI+8o3zlTaFFUlrghBer1VLCboRTZ+u7wBo2fcWUzwjB/3VkeAxQR13Py6F4sJ+oSfxQR9uJJVFhPUsWUxQR03X+llpphADB2d2hDfaQ5yMYFskAghTnMQSxxE4iyOR4wvsTUilnokrmpiJ5J+OSetxIQdYQcx4evPIZasKDfLNIKzO2PoERN3xo+vLVcmaEXS9+ywmOB7MfWGGbGY4A1RspiPLCboExAWE/ThymKCeq4sJqhn5ws91SSkvjBvo+egR+KqJnaikiPiwlWE9G0nLQ9RignKvSh2bpgBOh2jWfsQrN8UBnvHbNrb/4LsUh8aR1SY3L33UDrWc/NvP2DJ8k1o1KC69F95hQKJEEIwcueIUHdjqkdM3PXBUXsWE7Qi6Xt2WEzwvZh6w4xYTPCGKFnMRxYT9AkIiwn6cGUxQT1XFhPUs/OFnmoSUl+Yt9Fz0CNxVRM7sXdEtcpBmL9ojVRJQMtD5MdoiuUmdGIGJfNdvxgjLYuga+jX0xA6ri/SpQ2MhdDRZppCGPioXlX0GjAe4ohP+TKHiPNXbftZyIUNGkAsg8nxRuZY/bWoetAjJlo9V74uJty5cwe9evXSCpfmdqzMn8SE/Pnzg/7rD5eVY+EP/MUcWUzwp2hrNFcWEzQCqTDDYoI+XFlMUM+VxQT17Hyhp5qE1BfmbfQc9Ehc1cROiAm9ezSXknM6VlN+jGb6dIG2agKqWpAn/XTPUzFBHOMpt0uxEEd/njwVYRM5lq36A/KlE/INO8dNWiCFkAQPtZceMVHri7KfLydQhw8fRu3atZE4cWKtcGlq5/Hjx1KiniJFCk3tammsUqVKmDdvnpYmLWvLl98Fy0K34xiLCd4ULYv4ymKCPoFgMUEfriwmqOfKYoJ6dr7QU01C6gvzNnoOeiSuamInP9VCbKg4bGBHDBk1FUMHdIAQE2g5g/xaMH1EnE0t5fftVSYIwYAEBFGZIJYzyMUEWkIhKiOWLNtkW+Jgb1NHscRCfkSo2ljqERO1vviTmKAVI73sfPfddxgyZAju3r2r1xBs1w0CLCa4AUvHpj4lJoyY8TsG/7jKhmvnjD4o/04+l/CFR1zD0GmrEdq3CW7efWj7e7pA++qjvL2jNvKBdx06gwrtx9o+WjCiLZrVLu2Sb44aifm2Cy4vNWnzYTmX5+vJwCwmeELPcV8WE/ThymKCeq4sJqhn5ws91SSkvjBvo+egR+KqJnbKIzLFcoF79x/axAT5kgc5J2enOSg3YLS3Z4I9MYEqIMiPTBnT4szZS2jXsp500kR8x3nK91VQG0s9YqLWFxYTtCLnuR0WEzxnqKUFFhO0pKnels+ICZRYX75+FxM+/wRJAxKDkv3GA6djct+mbifYrggFrrQRYSEhoeuYn7F41KcomCszHkc/Ra/xv6Diu/lUCwpkY8i039CuXnnJppEXiwn60GYxQR+uLCao58pignp2vtBTTULqC/M2eg56JK5qYqdM0EXCfy3ylu24SPmeCSQgNG49EJO/7StVLbizzEG+rwHxpmUVjsQEsdGi/NQNe0eHXr56XdrngZY5KE/1cDemesTEXR8ctecESiuS7tthMcF9Znr24HdBT7qu2/YJMcFRck4CA115sqXH2cs3EdL+A9y6+xDNQmYhpF0dSWSgRH/+mj/R+eNK+GbOegzv9CG6j12M9WHHUKtsESwc0VayQX3kn4nqhVJFcuHzCb+gWIE3bGKBHL8j35RihLxyoeNHlSRRRPof7PhfkC1joK3iYnineujdvIb0+dRl26U2m3/oiSWbDqBFndK2OYkqCGovF1lcfzQct2QxQQuKcW2wmKAPVxYT1HNlMUE9O1/oqSYh9YV5Gz0HPRJXNbGz922/fJNFqghQnuZASxyaNa4tnfpApzPQtXDGiFibMNpbkiAXBuTLGpR7MYgTJch2i8Z1pLHEJT/NQX6KBFcmGP0E+/Z4VapUwaNHj7B3717IxYQpU6ZISx5+++03lC7tWaWxbxPUb3YsJujH1h3LPiEmSP/zWvsnmofMAiXPJBrIL0rcZ67ahWEdPsSFa7elb/Sb1iqJ4MrvSP3oCiqc0+4yh2QBiaXEXSTq1J6EiUbVS0iVD31a1JSqC5SVEWJ8GrvHuMWY1LuxwwoCeRVF8UI5bAKCEA3IFokLB05esFU45Mic1uaX6EM+FsqV2SaWiM9Ff6rY0OJiMUELiiwm6EPRvtVVYadx5G4gBn05yONhu3XtipblMqJUoSwe27K6ARYTrB4hff1Tk5Dq65FvWreKmOCbdNXNSo+YqPMkbi9OoLQi6Zqdvn37YuzYmGXKuXPnRmRkpPT3qKgoUCxevnzpmiFupTkBfhc0R6rKoM+ICTR7UXVAFQR0CWGBPu82ZhGGdqgr7Ydw895D/H36Mrp8XBmj562XlgrQZW/PBEf7JyhFAlHhIJZZiGi4shxC2Zd+HjFzDWZ82QJfzVxjWw4hn4cjMYHGpUoL4Ycjv1Q9Lf92YjHBE3qO+3Jlgj5cySqLCerYspigjpuv9GIxwZhI6pG4cuw8i50eMfHMo/96cwKlFUnX7SRKlMjucYt9+vTBmDFjXDfELTUlwO+CpjhVG/MpMUFOQbm8gCoHqgUVxF/HIlA1qCB+2/E3GtcIwviFmzCyS3CsTRflAsLJiGtSYk/LHeQbLdpbpiBP4uVigrPKBKp22HHwTKz9HkjYGPtZQ0lMEFURrogJEVdvxbLFYoLqd8Pwjiwm6IecxQR1bFlMUMfNV3pxQmpMJPVIXDl2nsVOj5h45hGLCVrxU2OnX79+cUSDhAkT4vnz52rMcR+NCLCYoBFID834hJhASfagH1ZKooA84RdLEmjZAyXVx85eReTt+1JFwrzf9yB50iTSz3Tf0WkO8VUmiEoGGtNR0u5ozwS5zyRYKKsJ5JUJ7ogJ9DxwZYKHb4VJ3VlM0A88iwnq2LKYoI6br/TihNSYSOqRuHLsPIudHjHxzCMWE7Tip9aOsjqBqxLUktSuH4sJ2rH0xJJPiAkEQGy2KPZLEEseKBGnPQ1ILKC9Emh5AO2dQPsPfL/kD3RvVFXatNCRmEC25Rs2iioCsWEjHSUZn5hA/R2d5kAbKwohQ5w8YW/PBHfEBN4zwZPXwdy+LCbox5/FBHVsWUxQx81Xep3d/hlyvtUYCRMl8ZUpWW4eL54/wfkji5Gn0nea+saxU49Tr5io9yh2T06gtCLpnh15dQJXJbjHTq/W/C7oRdY9uz4jJghBYfCPq2wEFoxoazt6UVkhoFymIP9ZCAj0X1reQNUJlOwfPnXJdsKDsmLB2XIC+WkNZFe5UWR8pzm4IyaIEyroNAc6YaLLx1Uk4US5l4N7j0ns1rxngif0HPdlMUEfrmSVxQR1bFlMUMfNV3qd3zMY6bO9i+SBOXxlSpabx6O753HzymHkLD1MU984dupx6hUT9R6xmKAVO0/tiOoErkrwlKQ2/VlM0Iajp1Z8SkzwFIYv9ldWbGgxR28VE4SgJCpCtGChpQ2riAn2hDWxqamYr71TU+wJevSZo2NT3WFHzzEd8UpVRmous8QEccqM0mclP/mJLiQIistef3s8iY8QUpX3XTlRxhFTFhPUPG2+0yfyxBwkei0a6bKV9J1JWWwmty79hedIhkyFW2nqGcdOPU69YqLeIxYTtGLnqZ1hw4ZJeyfQUZF8mU+AxQTzY0AesJhgjTho5oVISqiKgq6OH1XStCqBbHqrmCCqR2gOyv01NAuAB4asLCaEtKsjLQeiS4gyomJGPmV74pVyg1E1iLxZTJBvrupo7oIb3ZcfbWuPnbwKitrT0bVygUwpTLCYoOaJ4z5E4N7l7Xh4bRuyFajDQHQicDn8d6TIWg2ps1bQdASOnXqcesVEvUfWExPuXr2FfSu248qJ84h+GKXV1NiORQkEpEiGbG/mQlCDSkidKa1lvGQxwRqhYDHBGnHwKi+8VUwQJ3ps2Rce61tukZylShGAsfM22Jay0F4Y1CdF0iRYv+c46Nt5+TfK8qUptcoWiXPih7tB9RYxgeblKLm3JybYW1KkXDZkb98RsYEqVSQ0D5kl4RRLl+JbFnT3YRQWb9iHnTP62AQQMysTnIkJYjPWz5tVx5Cpv0lH2BbMlVmarz0xQc5TuXmreObkgsOFa7fh7EQZR88qVya4+xb7VvtXL1/gzNYuyBfUHq+9lsC3JmeB2bx8+RxnD8xB3sqheC1BQk094tipw6lnTNR5FLeX2QnUzYirWD/pF7xdtSSSp06BgORJtZoa27EogehHj/Ho3gMc2rIXdXo1QbocmSzhqdnvgiUgWMAJFhMsGNAKJQAAIABJREFUEARvc8EbxQT56Rm038XMVbukjTiTBiSWNsikPSZEoipPiOnvv245gMWjPkX6wBS2zThpo8tuYxbZEj9K+uhSW4ZPfb1FTBCbm8qrFcQz7KwyISr6qcRQbIxK7S9fvytVz9DeHvKTSOSnscjFC/k37bShqvhmvnfzGnG+pRd+WVlMoOePBC6qSFA+R/bEBPln4xZstLv8Q86IGLCY4G3/ylrH3weR+3A3YiWyv1nfOk75iCcXji1D2jwfI0XGd3WZEcfOfax6x8R9j6wlJlBFwuqxC1G1yftaTIVteCGBP35ei3oDWiJVxjSme89igukhkBxgMcEacfAqL7xRTJAnbFSmTyd7tKtXXvoGmO7RUZy02SZ9Qy7/5veHpduk2IjSc5Hg0vGicjFBiwBaWUxQ7pkg39xUPnf52n3xubxqw16Vgkh0SeRxRUxQJtjiW/hRXYMxcPJKVHw3XxxRx0wxQVRVyDnJqyZExYw4VUYudNnbM0HO01GFCAk+4vlkMUGLt9O/bVw5HIqkyZIhTeZi/g1Cw9nfvnIQT54+RZa3umhoNa4pjp3reI2Kiese2W9pZgK1ecpyZMiUAemypPd0GtzfSwncvHIDt27cQrVO5gvMZr4LXho+Xdz2GzFBuZcA0dRiYzhPoyL/Zpa+JfeGyxvFBHtJrrxkXp7EKsUE+cZ/8m/L5c+UFntTWFlMsFeFYO9ZlVcmKE9QofZK4Uae9LojJigTdEqwZ3zZAl/NXCNVPcg3MaRxzRQT4lvmIKo85GKN/N8lZ/tNsJjgDf9i+oaPl/aNQvJUmZAmyzu+MSETZ3H7ygE8fngL2Ur0N8QLjp1zzEbHxLlHjluYmUDN6zEB5etWRpJkAZ5Mgft6MYHoqGjsXr0dLSf1NH0WZr4Lpk/eQg74lZigLPWlxKbrmJ+lEnaxRtnI2FAyOuGnzdKQvf73nik+qJmvt4kJ9jagU647l1cmyBNeZWWCo9Mx5CKDGqbUx9fEBJqTvc0Ah05bjdC+TWxVII4qE5TLTYSo44h1fBtDWlVMcLSM4ezlm7ZlD/GJEY6OpOU9E9S+hdwvPgJXDn+PF9GReKNwMO+hoOJRofX4l06swuvJsiLL211VWFDfhWNnn52ZMVEbTTMTqGltR6FOq3pqXed+PkJgzdxV6DBroOmzMfNdMH3yFnLAr8UEioO9b1KnLtsuhUiUIovEs1SRXPh8wi9SRcPkvk2l0njlpnzyb6udbcon1kfTWCJ5EAkYJVzy8YTgEd9mgUY9V94mJthL2OTr/okb7Zkg4q1MYncd/kdaAkEXrfenb+lp/wR5UuxPeybE95x5umeCEPfE/hTli+WVkmpHeyaQCCiqe8QyB2+pTLBXuUFs5WLWurBjiE9MsHfcKZ/mYNS/hP45zoPr+xF5bAaSpsyEgBSZEJCc/psFCRN5R2WdkVF78fwJoh9eQ/TDSEQ/ikTUg0hkKdoBKTLos0eCs7lx7ACrxcRZzOzdNzOBIjGhdvO6atzmPj5EYO2C1Swm+FA8PZ2K34sJ8m/waDMzuih5kVct0Ge0+3yfFjWltdjyTfnonvhmVSRA9jaXUy5hkK/bp36DflhpO65QJAMNqxWP8+0kbVLnaLNATx8GV/t7k5jgKGETQhJt/teoeglMX7FTmv6iDXtjHadJsX4QFY0Ne46DjtuU7xUgX8/Oyxxinh57YoIQbsR7EZ/gJpajkBBXq8ybePj4ie0doKUN9k5zEKJdsoDE0gaMVhMT7O2ZQM9L548roe+kZZjUu3GsqiQ5L2Lq7DQIwX3wj6ukGCiXb3myxItPc3D1X0X/avfq5XPcvxaG6LunEX0/Ai+ePcCTh1f8C4ILsw1IngUJkqRGQKpcCEidD6kyl9P81AYX3IjVxN9jZ8WYuBtD08WEprXddZnb+xiBtT+vZTHBx2LqyXRYTDh0Rtr07ct2ddD+q/nSt8603lpeMk3JvnyJhLzMWrnRmaMSbuUyCvoFX77RmnITNvl4ynXljjYLpM0Djbi8SUxwhYejUnGRpMn3THDFnto2VlnmoNZ/K/cza5mDlZm44huLCa5Q4jZWIRAREYGqVavi3LlzVnGJ/bBDgOPk2WNhtpjwfqNank2Ae3s9gXVL1rOY4PVR1G4Cfi8miBJ4ISbY27U+qHDOOCXtYllCfIm+/J5STLC3S/vwTvWkb2GVO97Ht0mdsq12j4ZjSywm6EOZxQR9uJJVFhPUsWUxQR037mUOgdatW2Pu3LmYPXs26O98WZMAx8mzuJgtJtRqWMOzCXBvryew/teNLCZ4fRS1m4DfiwmiLDu+o/6UCbunlQny9fpi1/n4jnKTbyBIO9472iyQKxO0ezHMsMRign7UWUxQx5bFBHXcuJfxBOjb7ty5c0sD58qVi6sTjA+BSyNynFzCFG8j08WE+u95Pgm24NUE1q/YzGKCV0dQW+f9WkxQnuYgX+8t38TM3mZ79ioTXN0zQXk8HoVUvrafKiHkezTINxAUeybY2yxQ20fDsTVfq0wwipuzcVhMcEZI/X0WE9SxYzFBHTfuZTwB8W23GJmrE4yPgSsjcpxcoRR/G7PFhJp1q3o+Cbbg1QQ2rP6DxQSvjqC2zvuVmEAJOm2iJy7lRmUioRenOYjN3lytTKClDK6c5hDf8YK0f8OwDnUx8ectSJ0iKcgX+akQJESELtkqTUG5WaC2jwaLCUbxFOOwmKAfcRYT1LFlMUEdN+5lLAH5t91iZK5OMDYGrozGcXKFkvM2posJtSs7d9KDFtFPn2DE3EnInCYDun/833Kls1cuYOjsiRjapifyZM1hG+H7pXOQPVNWvJ23ELpNGIwT58/EGX1C98GoX7Gm9Dm1H79khvT3wjnzIbTX8Fj2aBy5nf/VCEZIqx4ISJzEZteRj3ce3EPPScOx/fCfsXyQ21DaV/pGHeXzpp+F3e4NWyGo0NuxbK/YsQG9vh/ucDwPQuGw64a121hM0AOsl9r0GzHBm+IT3z4I8W0WaNQcuTJBH9IsJujDlayymKCOLYsJ6rhxL2MJiG+78+TJg7NnzyJ9+vS4efMm751gbBicjibilDdvXvzzzz8cJ6fE7DcwW0yoUbOCSs9d67Yv/AgoQabri8btkSZlaunvlIQPmzsJQ1r1iC0mLJuLHBmzIrjCf3s5rNy5EXtP/o0vW3aziQAkAHw1LxSZ0qZH949a2Wx2nzQMw9r0RFDBt6Qx5D9To++XzUXk7ZuxbDnykZL+XqFfodtHLSV7dIlxSxZ6G7VKVcLEX2ahUdUPpDko50RjSWLCv/4JYvbsinv25mrPZ9fou9Zq44adLCa4hsovWrGYYMEws5jwX1A+/DAYMz+rgoxpklswUtq6xGKCtjzl1lhMUMeWxQR13LiXcQTk33bXr18fK1asQIcOHTBt2jTeO8G4MDgdSR6nhg0b4tdff0X79u0xY8YMjpNTerEbmC4mvFfOTY/da/798nkoW+RdhB07GCMSlK8ek/hfvYBh877HkJbdkSeLrDJh+bxY7ajtyl2bsDf8b3zZvKtNTNh36ghW7NwY6zNqK//8aMQphK6YjwmdB/0nYtgZ15GPUtI/ZSS61W+BoAIxYoLw58L1K+jeoGUsGJLQsGAyShZ8W5on2aVL2c6RXUdzja+9e9Gw33rj5t0sJmgB0kdssJjgI4E0chpcmaAPbRYT9OFKVllMUMeWxQR13LiXcQTEt92tWrXCixcvsGDBAunPoEGDcP78ea5OMC4U8Y4kjxM1pFM36M/gwYM5Tm7GyGwxoXqVMm567HrzOw/v4duls/DFx21x58F9LNm+Fj0btJIEgbNXL2L4glAMbt4NebJktxkNXTkf2TNkQXC5GNFBSrB3b8LeU0fw5f+62MQEe+2ordxumpSp8PmPX+PGvduY1CUk1jjCdnw+0j3q361ec5QoUFTqIgkGP/2AkgXeiuUj3VO2Jx/p6hbcIhY0e3bjmyvdczRf16PhuOWmrXtYTNACpI/YYDHBRwJp5DRYTNCHNosJ+nAlqywmqGPLYoI6btzLGALyb7vPnTuHkJAQm5jw7NkztGnThr/1NiYU8Y6ijNPQoUNtYsLLly85Tm7GyGwx4b2Kpdz02PXm+08fRdiJQ1IyTkn4dyvm4ZOK70tJPSX9I36ajJD/dY0tJqxaECMmlP3vlImVYZux7/QRDGrS+T8xwU67mIT+PoYtCEWP4BY2u9T/i+nfSI4Xzp4X33UaZLsXn49k6/NpX2PH0X2xJt2zfitpTsordNWCGPHg33vKn0V7Ybfbh81QIn+MSCEue3Ole2RLycX1SMTfcvOOv1hM0AqmD9hhMcEHgmj0FFhM0Ic4iwn6cCWrLCaoY8tigjpu3MsYAocOHULPnj0lwWDOnDlo0aKFTUxo1qyZ9HmVKlUwceJEBAYGGuMUjxKHgDJOokqBKhNatmzJcXLzmTFdTCgX5KbHrjcPXb0QE1fGlPqL69t2/RBcphrOXruIET9PQUjTzsiTWVaZsHohsqfPIrWxJdh7tmDf6aMY1Ljjf2KCnXbUXhITfpqMHvWax7IrbO0/cwyhq3/C+Pb9kCZFKsTno5T0zxiNbnX/hxL5ijj0WUr2Vy9E5J1bcXyke93qNovFQGlXfnOlnbmSEDNy8VQE5S8ai4vrkYi/5ebd+1hM0AqmD9gxVUyoXacuFvSpgXSpkvoASv+Yws17j9Hy241Y8/tqQybMeybog/n6jRto27oNVg+vp88AFrPKYoK6gLCYoI4b9zKHgFJMMMcLHtUZAaWY4Kw9349NwGwxoVrp4rqE5Oy1SxixZApCGpFY8IY0Bn32/eoFGNyki/Tz8EU/oHtdSvpj7ktJ8y/TUDJfEdQr/Z+YsOrPLdh75hgGfdLBJiaQKLDizy2xPiMb8s83HNwl2ZXbokRejEv3nPn4xawx6FqnqSQm0EW+0Ljftu0riRHC58yB6dD1g//FYjn595+kn5Wfkw9Ku6KjvbnG116L4G358wCLCVqA9BEbpooJPT/7DI2CAlHuzWw+gtP3p7Hr6GUsPXgPEyZONGSyLCbog5nFBPVcu3XtipblMqJUoSzqjXhJTxYTvCRQ7KZEgMUE73gQWEzwLE6miwlBxTybgIPeq/ZujREAGra3CQBSUjxnHLrWboIi2fNi5K8zICXhtZtIVvb/cxzDFk/BxHb9kCdTjMAgJfB2bElJvKL/2chL6DlzNIY07owSed8E/Tzil6kI+aSjzR7ZksSA1r2x48SBeH0kH4S/ZI8uMa4keJSsgslrF8UIBv/OQY7D0T05B2E3vrmSnWt3b8ViqWXQtuw7zGKClkC93JapYsK0aTOQ6v5xNKlayMsx+o/7CzcfR3S6t9GuXVtDJs1igj6YWUxQz5XFBPXsuCcT0JMAiwl60tXONosJnrE0W0yo+u5/pxR4NpP/elPCPWr5TATlfRP1gqrEMjt53WJE3ruFgQ3aSZ9Tu0W71kl/L5QtNya27hNLSJDEhH1bse+f41If2rwxVsK+bjG+W7PQYX9JYJgzFicvn5PaVCxcHONafo6krydx6mOXmo0waFEoutRqhBJ5YsQEuvafPY5hv0zF8Ead8f26RZIoIb/IPs2b5ip8E/c/q9MM/6tYG73njY/T7+ee3+Dy7evSPfnVpPz7dueuVbz+OHiExQStYPqAHVPFhKdPn6Ja9VrYOaGpD6D0jymU7bEQO7dvQcKECQ2ZMIsJ+mBmMUE9VxYT1LPjnkxATwIsJuhJVzvbLCZ4xtJ0MeGtmPJ9vvyXwB9HjrGY4L/hjzNzU8UE8mb9+vXYtPJnjG2n77m1HHPPCXwxfSdqf9wS1av/d/yO51bjt8Bigj6EWUxQz5XFBPXsuCcT0JMAiwl60tXONosJnrE0W0yo8mZhzybAvb2ewNbjJ1hM8PooajcB08UEmsrvK3/F1rXLMPbTytrNjC1pSuCLqX+gZr3GqFW3vqZ2nRlr07o1+tUvhELZ0zpr6vX3/zx5FT/9eRPfTfpe97nQeeyVq1b3m6qg2euP4Gn6t9Gxw6cesx0yeDDKZX2GWiVze2zL6gau3X6ELj/swLLly6zuKvvHBHjPBC95BlhM8CxQZosJlQsW9GwC3NvrCWwLD2cxweujqN0ELCEm0HQ2bNyEYcNHosuHxZArc2opeeRTHrQLtLuW6NSG8Iu3EXH9HkJXHMSIYYNRvfp/Z/i6a09t+5EjR6JoqnsILpdPrQmv6Td341E8TFkYXbt2NsTnpk2a4qtm7yJvVt8/Mq3vzF2o07gdqlSu5DHbhT8tws3jW/FZA312tPbYQQ0NbPv7IlYff4yxY8dpaJVNMQF9CHBlgj5ctbbKYoJnRE0XE/Ll92wC3NvrCWw7c5rFBK+PonYTsIyYQFN69uwZ5s6dh2NHDuPk6bO4ffe+djM10NLtWzfxOOoR0qRNj2TJkxs4snZDpUuTCgXz50XRom+jdZvWhu2RoJzB0mXLcfavdej7SQntJmdRSwPnhKFa/Rao/t5/xxvp6erQIUNQKvMT1CmVR89hLGE7eNhv+HHadGTJnNljf/bt249ZP4zHD119v5Jq6u9/I9EbQWjXtrXH3NgAE9CbAIsJehPWxj6LCZ5xNFtMqJTb939n8CxCvt97+7mzLCb4fphdnqGlxASXvbZ4w+bNm2PhwoWYP38+6O98qSdw/sJFfDd2JMa39v1vgTv9uAffjB2PwEBjKgU2bdqC42Fr0aOOb3/LcOnmQ0xYdwHfTtDmONPnz5+jU4cO+LFTKSRKmED9w+0FPUMWHUGjVp3wVlHecMsLwuX3LrKY4B2PAIsJnsXJTDFhbtdv8W7ajEhs0CbcnpHi3noQePLiOQ7fuYmWoZ/rYd4tm2a+C2456uONWUzQIcAsJmgLdeHCn3HzVBg+q1dUW8MWsjbs5wMIqloPH3xQx1CvBg4chGp5EqD6u9kNHdfIwT4ZtQ7jxk9Ezpw5NBt2164wLF0wHRPal9HMptUMzd18Cg+T50HXrl2s5hr7wwTsEmAxwTseDBYTPIuTmQnUpklLkeLiXaQOCPBsEtzbawncjX6MqJxp8V63hqbPwcx3wfTJW8gBFhN0CAaLCdpDbd+uPRqVzoiaJXJpb9xki4u3hWPv5dcw7ltz1qWXq1gFG7/5BMkDXjeZhPbDD1vwJ3IWq4TWrVtpbnzEiBHIiEh0rPO25rbNNnjwTCRGLj2Cpb8sMdsVHp8JuEyAxQSXUZnakMUEz/CbmUDdi7yNVcNmIygwg2eT4N5eS2DvnetoMKI9UqY3poo2PlBmvgteG0AdHGcxQQeoLCZoD/XVq1fo3KkjSuVKgbY1C2k/gEkWJ638G9efp8RXo742yQPg8eNo1KhVG4Obl0PNEjlN80PLgel56TMrDOWr1UaDjxtraTqWrQljx+DJrQj0/+Qd3cYw2vDi7aexeMdZLF36CxIk8O1lHEaz5fH0JcBigr58tbLOYoJnJM1OoG6euojfx/6E/CkCkSxhIl7y4Fk4vaL30xcvEPX8GU4/uoe6A1siXe4slvDb7HfBEhAs4ASLCToEgcUEHaD+a/LHKVNw7EAYKhZOjwJvpEXBN9IiaZJE+g2oseUHUU8Rfuk2Tl26gxV7IlCvQUPL7Kvx5aBByJDoAXJnCPiXbRrQP9Tect24F4VTF+/g8s0H+PbXfRjzzUhUrlRRd/eXLVuO6dOnoUW1gsiXNQ0KvJEGgSm8pwT0ybMXOPXvM3no/H0EZiuAL3r31p0bD8AEtCbAYoLWRPWxx2KCZ1ytkEDdv34Hfy7ciKtnLiL68RPPJsS9LU8gIGkSZM2fHaWb17RERYIAZoV3wfLBM8BBFhN0gMxigg5QZSaPHz+BNWt+x6nwcISfOYccWTMg8uZdTQelb7a1TqRzv5EJZy5cRcF8eVCgYEF88kkjZMuWVVO/PTW2ecsfCNu9E6fCT+Pilat4PZH2Qg2d2vL669ouqSiSPwdORVxBgX9PIGnXrq2nKNzqf+v2bfy08CeEnzyBU2fOoWDurAg/d9ktG84a6/FMpk6RDNdu3kGBvLlRoEB+VH2vOkqVDHLmCt9nApYkwGKCJcMSxykWEzyLEydQnvHzpHfVqlWxdetW6U/lyr5/opMnrIzoy++CEZSdj8FignNGbrdgMcFtZB51uHPnruaJf5UqVbBy5UqkTp3aI9/knV++fIG0adNqZs8IQ3fv3tN0mClTpuDevXvo37+/pnapgELLWHnq3O07d5DgNe2WCFy8eBH169fH/v37PXUtVv9Xr14iTZo0mtpkY0zALAIsJphF3r1xWUxwj5eyNSdQnvHzpDeLCZ7Q074vvwvaM1VjkcUENdSc9GExQQeoBpqcM2cO2rRpgyFDhmDo0KEGjuzbQ929exe5c+eWJnnu3DnDjsD0Baril+/Zs2eD/s4XE2ACcQmwmOAdTwWLCZ7FiRMoz/h50pvFBE/oad+X3wXtmaqxyGKCGmosJuhAzTomc+XKhfPnz0vJLie92sWFhJlhw4ZJBlmocZ1rRESETYShZ5OeSb6YABNgMcFbnwEWEzyLHCdQnvHzpDeLCZ7Q074vvwvaM1VjkcUENdRYTNCBmjVMiqoE4Q0nvdrERVQl0H/pYqHGda7iF2/Rg6sTXGfHLf2LAFcmeEe8WUzwLE6cQHnGz5PeLCZ4Qk/7vvwuaM9UjUUWE9RQYzFBB2rWMCmqEoQ3nPRqExd5VQILNa4zlVcliF5cneA6P27puwRoA7R33nkn1nIpR2ICtaWL9sLhy1gC9uLkSEygf+9IcKa48uWYACdQ5j0dLCaYx97eyPwuWCMeLCboEAfeM0EHqAaYVFYlcNKrDXRlVQInxa5zVVYliJ5cneA6Q27pmwQoSaVNSXv16oXPPvtMEhWUYgK1oaVVBw8eBCWq1IYvYwnYi5NSTKDYUJyWL1/OcXIhPJxAuQBJgyb0JQgJkHIR0p6YQL/jfPfddwgODmYhTAPu7pjgd8EdWvq1ZTFBB7YsJugA1QCTyqoEMSRXJ3gG315VAifFzpnaq0pgIcY5N27hPwTol/xt27ZJIkHPnj1x/PhxLFmyBIMGDcKuXbuk49vo4uVq5j4TyjiFh4fj559/xrhx43D06FGQkM9xcj1GnEC5zsqTlvTvB4kH9PzSvyH0X7mYUKxYMUlEmDhxIujv4t8bT8bkvu4R4HfBPV56tWYxQQeyLCboAFVnk46qEsSw/MuougA4qkrgpNg5T0dVCSzEOGfHLfyDgPhlX8w2ceLEePr0aazJ05GxXJVg7vPAcdKWPydQ2vKMz5oQwqgN/Z1+pzl06JB0qtKKFSukn+n6448/eBmVcWGxjcTvggnQ7QzJYoIOcWAxQQeoOpt0VJUghuXqBHUBiK8qgZNix0zjq0pgIUbds8i9fJOA/Jd9ezNkIdgacec4aRcHTqC0Y+nMklIIs9e+cuXKXJXgDKRO9/ld0Amsm2ZZTHATmCvNWUxwhZJ12sirEuhbrLJly2LdunWoXr06Tp8+LR0TSRf/UupezJRVCU2bNpVKW5MnT46goCCpPJku3lAwLld5VULOnDmRI0cO7NixA/Xq1ZO43bt3T+rEeye490xya98jEN8v+1yVYJ14c5y0iwUnUNqxdMWSMyGMqxJcoahPG34X9OHqrlUWE9wl5kJ7FhNcgGShJpTMUuJLa27pz9y5c6X/9ujRQ1oPR2IDfcNOCdy5c+d4Ey8XYyeqElq1aiXxo+qONGnSgH7BJ970yyV9TskxJ8X/QRVVCSQiEB8SFtq1a4dZs2ZhxowZaNiwobRGk/4QT3om+WIC/kzA0S/7LABb66ngOGkTD06gtOHoqpX4hDCuSnCVoj7t+F3Qh6u7VllMcJeYC+1ZTHABkkWa0Jo3Wv9G4oHY6ZsEBLmYIFwVm0RRcsdX/ARILKBEmDiSWEMXfSYXE4QF+h81sRV8/Z0tcSNm8udMLibQ3wVPEhToGDXa1Z4vJuCvBOz9ss9VCdZ7GjhO2sSEEyhtOLpjxZEQxlUJ7lDUvi2/C9ozVWORxQQ11Jz0YTFBB6gGmnQkJhjogk8O5UhM8MnJajwpe2KCxkOwOSbg1QSUv+xzVYI1w8lx8jwunEB5ztBdC/aEMK5KcJei9u35XdCeqRqLLCaoocZigg7UrGOSxQR9YsFignquLCaoZ8c9/YOA/Jd9rkqwbsw5Tp7HhhMozxmqsaAUwrgqQQ1Fbfvwu6AtT7XWWExQSy6eflyZoANUA02ymKAPbBYT1HNlMUE9O+7pPwTEL/tclWDtmHOcPIsPJ1Ce8VPbWy6EcVWCWora9uN3QVueaq2xmKCWHIsJOpCzhkkWE/SJA4sJ6rmymKCeHff0HwL0yz7tH0KbmIo9cPxn9t4zU46TZ7HiBMozfp70FkIYVyV4QlG7vvwuaMfSE0ssJnhCz0FfrkzQAaqBJkNDQ9G9e3d06dIFkydPNnBk3x7q2rVryJIlCzJlygT6O1+uE6ATMebNm8enXriOjFtqTODGqcV4eH0fXkv4Oh7f/Udj6/5jLllgXrx88QwpMpVEhvyNNJ/4rXO/48G13Xj18hmi78cca8yX+wQCUuXEawkSI1Xmckibu477BnTswQmUjnCdmBanUNF/+TKfAL8L5seAPGAxQYc4sJigA1QDTS5cuBAUw+rVq2Pjxo0GjuzbQ8mPPKS/8+U6gXLlyiEsLAx0+khwcLDrHbklE9CAwJk/uiD9GyWRJEVGBCTPBPoFji91BF69eonoh9cR/SgSNy/tR/6q2gnWEWGDkDJNTiRNmQkBKTIjQYJE6pzkXpLgE/0wElEPruLR/avIWXqYZahYIYG6e/UW9q3YjisnziP6YZRl2LAj+hAISJEM2d7MhaAGlZA6U1p9BlFh1Qrvggq3fa4Liwk6hJTFBB2gGmhy/fr1eP/996Vv0a9cuWLgyL49FIsJ6uObIkUKPHr0CDt27ECFChXUG+JL6wH1AAAgAElEQVSeTMBNAqf/6IKs+Wsgeeocbvbk5s4IPLxzDpHntiFv5e+dNXV6n4SEwAwFEJipqNO23MA9Anev/Y17t84iZ5kR7nXUqbXZCdTNiKtYP+kXvF21JJKnToGA5El1mimbtQqB6EeP8ejeAxzashd1ejVBuhyZLOGa2e+CJSBYwAkWE3QIAosJOkA10OSNGzeQMWNGacQHDx6AEjm+PCfAYoI6hmJ5CP1P886dO6Cd6vliAkYQuHHmFyR69RhpMhcxYji/HOPOtSN48VpKpM/XUPX8b51bDTy5jHTZglTb4I7xE7h58S+8liwn0uUyf8mDmQkUVSSsHrsQVZu8z4+MnxL44+e1qDegJVJlTGM6ATPfBdMnbyEHWEzQIRgsJugA1WCTpUqVwt69exESEoLhw4cbPLpvDsdigrq49u/fH6NHj0bFihWxfft2dUa4FxNQQeDczj7InLcKkqbIrKI3d3GFwOMHV3Ht3A7kLj/aleZ220SEDUTGHKWRLNUbqm1wx/gJRN27iOsX9yFX2a9MR2VmArV5ynJkyJQB6bKkN50DO2AOgZtXbuDWjVuo1qm+OQ7IRjXzXTB98hZygMUEHYLBYoIOUA02uWjRIjRt2lRaG0wb7VSqVMlgD3xvOBYT3I8piQe0e/SrV6/wyy+/4OOPP3bfCPdgAioJRIQNQM4iDXmPBJX8XOlG7/b5o8uQq9woV5rbbXNuVx/kLPox75GgmqDzjrSHwvljvyJ3+bHOG+vcwswEal6PCShftzKSJAvQeZZs3qoEoqOisXv1drSc1NN0F818F0yfvIUcYDFBh2CwmKADVBNMli9fHrt370bSpEmlCoUBAwaY4IXvDMlignuxnDt3Lvr164fIyEjQBoy7du1yzwC3ZgIeEjixtjEKV+jroRXu7ozAiZ1jULj2YmfNHN7nOKlG51ZHT+Pk1mDxNDYzgZrWdhTqtKqn1VRMs7P3yEF81L2lbfxJg75Ggxp1pZ//uXAOXYb3wfEz4bH8i69N83qfYEjXmH8rh00eg49qfIiSb70r/SzGWvb9vFiffTd/Kr4f9A3SpA40jYPagdfMXYUOswaq7a5ZPzPfBc0m4QOGWEzQIYgsJugA1QST9+7dkzZi3LNnjzR6rly58M0336BEiRLIly+fCR5595AsJjiP35kzZ3Do0CEMGzYMR48elToUL14cmzdvRmCg9/3C4XzG3MLKBIxOUm/dvotm7UOwflOYhKVj248w4evPkTRpAJT3BLfhgzohpF976Udlm1rVy2LhjBFIlzYQI0bPQJ5c2dCscW2pbfjpCDRuPRB9erSI9VmPvuMwaUxvFMyfy7DQeJqkcpyMCZWncdLKSzMTKBITajePSbq99dp79CBCJn2NySFjkDd7LkQ/icawH8ai1FvF0aD6B/jnYgSGhH6DYd36S/fpunPvLkK+/xq9WnWWfu46oi9G9BiAkkVjBAMSBq7dvI4hXfpg6pK5yJHlDckWXcs3/Y5NYdtQIFdefNaio+2zC1cv2X72NpZrF6xmMcHbgqajvywm6ACXxQQdoJpocuzYsfjqq69w//79WF688cYbyJkzJxIl4uO3EiZMKG1aSSdgZMuWDcSGkuD8+fPbmDkSE06fPo0DBw7g4sWLuHz5Mq5evYrr16/j5cuXJkbduKGfP38OYkNzl1+08SdVwwwcaL76bxwNHslKBIxMUoUQ0KJxHVtyv3DxWuwIOygJClGPoyWhIaRvO5Qv846E6fHjaPQaMB4tmtRBoQK5pPvK/vMXr5EEhXUbw3A24rJNeNi15xCGj56BYkULYNjADpJgQZ/NX7TGJmAYFQtPk1SOkzGR8jROWnlpupjQNEaQ88ZLEg5+/Balir6LBu/9t5kmCQgT5k/FiG79cPveXQz5YSyGdeljExNEv4/+FQgmLZyOSf1HIk2q/7N3LnA2lP8f/6yUO+tS7vcKUXIplXuF/JNE4ZdIKHIrJaXcFSVRiBRRqFDy20pU7oRSqF8XuSeUsIvF5rb/13e2WbPjnD1zzs4zZ2bOZ14vL7vnPPN9vt/3d87seT7zfZ4nTeTXBIh/zzlyLAkLvvoMQ3s8qb037t03ULvq9UhYsUSzL+e8Nuct3HL9Dbihatq9zGvH5+9/TjHBa0lT6C/FBAVwKSYogOoCkzNmzMAXX3yhTX34/fffXeCR+12QbQxHjRqlLR7466+/okqVKqhUqZL285dffqktbrlmzRr3B+KQh6VLl9amNDRp0gT333+/NsWGBwlEi4CTg1SjcCADezkCiQVGMUHa6BUHtWtWgbmqQBco5JwiheMxbPSbmDR2QHqlwnXVrsIHHy3BsIGPaJUI4oMcevWCU9yzOkhlnpzJVFbzZJeX0RYT7mjbzK5QHLez44/dGDZlLIY92h8VSwWuPgrUxvhaofzxeGzMYPydeBiTBo66yE7isSS8/M5kPPVgTy0++blP+66YkTAX7Zq1hJw/ZPIYPP7AI0F9cBxMmB0unreEYkKYzPzcnGKCguxSTFAA1WUmT548iT/++EN7gi5PlmP9OHfuHPbs2aM9YZf/f/jhB61cXz+mTp0K2SGjRo0aqF69Om644QZMmzYt/X0ZQIvIIFNJpNpDBtXZsmWLCaxS2VK0aFGtoiN37twxETOD9AYBpwapumhQ/+YaQQfyRmFAr0wwvlazemWtSmHq2wuw5otp6dULOmnpY+ioN9G1U0uUKVUs/ed5C77CrQ1rQz9fqhx0+05lKauDVObJmUxlNU92eRltMaFZmyZ2heK4nR1/7MGr772FET2eQsH8gbdZljZ9XnoWP+/alsG/D8e8hdrXVE9/beGKxXh87BDt92vKX4WJT4uwUFabNjFy2qu4p3FaBcfXP2xE3/ZdIe3luPbKKpj3RQL6dXgYOXN4cyHLJR99STHB8avXvR1STFCQG4oJCqDSpOcILFq0SCvTF2FBDllMULY4LFCgAGQ9CjluuukmjB07FrLYJQ8SIAF3EXB6kJrZQD7Ymgmz3xqZQYCQqQr1mqatoSCHUVgwVjFMfzdBm97w/ZZfsWzlRvR8+F48N2IyXhjSU6tccPLI6iCVeXImW1nNk11eRl1MaHWbXaE4bmfHvj0Y/tY4DH34CVQsWTZg/1bamE/c+MsWTJw7A68+MVwTKRauTBMO5Ch1RXHUrlId0ubrH77DLdfV0v7v266L4/Hb1eGShUspJtgF0wd2KCYoSCLFBAVQadKzBPr3749XXnnlIv9Hjx6NZ555xrNx0XES8DsBpwep4VYmhOIviywapz6I0CDCgVQi7N5zQBMhpI0IC/ff1wzvzV+Svn5CKNt2vp/VQSrzZGc2gtvKap7s8jLaYkLTFo3tCsVxOyn//IORM1/DDVWqo1WDC9M1Eo8fxdj3pqL//d0h0xSGTR+PYV37oUIAwWHhqiWa3+bzh057BY+37aqds3PfHnz29TIknzqJdre10F6TPmYvXoAi8YVwVenyqF35Osfjt6vDLz5dTjHBLpg+sEMxQUESKSYogEqTniYgizFu2rQpPYbbb79dWzOBBwmQgHsJODVIFQKB1kyQ16WaQAb/+gKL5jUTdHq6UKDv7CCvG9dckKkLUt0w+a0PcTz5JO6+s4E2nUHajJ0wG7J+QnLyScfXSxA/szpIZZ6c+QxlNU92eRl1MaF5Q7tCiYqdjb/+gCHTx2FSvxGoUKIMUk7/g5HvTECxgpejz72dsXP/7xg241UMe+hx7X3zEej9hau/wMerluDVvkNQMF8BTTgY+8GbyJsrD/q17Yqcl+XQ+nkr4X3N3APN7tHaefX44vOVFBO8mjwFflNMUACVYoICqDTpaQKy4OJ1112HM2fOQHZ+kJ0bZOcHHiRAAu4l4OQgNdhuDvpuDELJvJuDkVygNRVEYOj15BjMnTlKW2BRXzfh2PHkDNMZxr8+B8nJp9C29e2Obgmp+5/VQSrz5MxnKKt5ssvLaIsJTZrWsyuUqNnZuPVHtB3WO73/fvd1QZ/WD2q/i1gw/J0JGPpg34Bigt6mz4Th+GXPdu2cBtfdiPG9B2UQCCYueEd7T7crP/93zZf49tcfMKhTb01g8Orx5RdrKCZ4NXkK/KaYoAAqxQQFUGnS8wSuvPJK7NixA7Ll4fHjxz0fDwMgAb8TcHKQKizN6yI0u/1mbVtHWcMgkFhg5m8+v/q1V6cLCXrbQBUQIjqMHDM9vS+n85rVQSrz5EzGsponu7yMuphw2y12hUI7HiXw5dKvKSZ4NHcq3KaYoIAqxQQFUGnS8wQqV66MrVu3Il++fDh27Jjn42EAJOB3Ak4PUv3OM1h8WR2kMk/OXDlZzZNdXkZbTLi90U12hUI7HiXw1Yr1FBM8mjsVblNMUECVYoICqDTpeQJVqlSBTHeIj49HYmKi5+NhACTgdwIcpDqT4awOUpknb+TJLi9la+V169ZBthV2+nizyyjcVv9Gp7tlfy4jsHT1N1EXE2Rb9ptvvhnffvuty+jEnjsUExTknGKCAqg06XkCemVCoUKFcPjwYc/HwwBIwO8EOEh1JsMUE5zhnNVespqnrPavn1+2bFmsXr0aZcpcvDigXX0Es6OJCbfUVt0N7bucwNKvN0ZdTNizZw8aNmyI3bt3u5yW/92jmKAgxxQTFEClSc8ToJjg+RQygBgjQDHBmYRndZDKPHkjT3Z5edNNN+G1115DnTp17DJp2Y6ICbfWqWm5PRv6k8CyDd9HXUxYv349+vXrp1Xp8IguAYoJCvhTTFAAlSY9T4BigudTyABijAAHqc4knGKCM5yz2ktW85TV/vXzW7VqhYceegh33323XSYt29HEhNrVLbdX1TDh2xV4cubYdPMfPDEGtSpeE3F3sm3jCx9NwwdrPkenRnfhyPGjGNK2BwrmzR+WzWB+6fZb3dhYsznxs/cisi/OJCYfw4h5b6DPnfejQtFSYflnV+NlG7dEXUxYsGAB5syZg48++siusGgnQgIUEyIEl9lpFBMUQKVJzxOgmOD5FDKAGCMQqZggOyY88PDgdFprvpiGujddHzE92dKx38BxmPr2AvTt0R4HDx3BpLEDtF0ewjmC+aXb79j+/1CkcDyGjX4zIvvii+wo0bv/GAwb+IjlbSazOkhlnsK7DqKVp3Cu1czaPvroo6hevTp69Ohhl0nLdkRMaFzjWsvtVTRM2LgC//12BcZ2egIF8+RH4olj6P/uOPRs1ha1KkQmKIiN8Z/ORr8WD2g2Izky86tqqYoY9fF03H1Do4h91H0SX0fMn4o+zf8TNTFh+aYfoy4mvP766/jll18wadKkSNLFc2wkQDHBRpi6KYoJCqDSpKcIdOvWDbLi9FtvvZXudzAxQdrKMW3aNE/FSGdJwO8EIhmkyoB91txFYW3pGIqjDNCfGzEZLwzpGbaAoNvOzK+a1StrYoWICVkRPaI1SGWeQl1BF78fDdEnfC8DnzFy5Ejt7+ugQYPsMmnZjiYmXFvVcnu7G2rCwezx6Nm0LWqVr5Ju/rtdv+C/G1fg2VZdtNdGLXwbH6xbov38fp/RWtudB/dh4pIPkC9n7gzvVbiipGZz9dZNqFyiPJ68syMWblyOIa0f1oSFhO9Wov+c8dp79Spdjzw5cqFX07YZQgvl1xN3PoBxn83G3bUbaTbFD92++P6fiQM1e+1vbpYhhqIFCuO1xe9p7z12x/3o2vju9NjEn1c79Yf47/Sx/Mefoi4mDBs2DDly5MDAgWnseESPAMUEBewpJiiASpOeIiAL45QrV05bbbpz586aqGAWE0REeOeddyAr8soCOrKoFA8SIAH3EAh3kCoDtA7dBmPwgK4ZBuVr12/GrA8WYfzoJ7Tg9CoD+VmvWti6bbdWEVAgf16tAkF/r/LV5TSbS75ah+rXXo0Xh/XCO+9/ll45oFcbyHtNb70J+fLmxuCn0wRK/Qjl16ghvfDsiNc1McFcmSC+12uaZq97l9YZYihZ/AoMeeEN7b0Rz/VA/74PpMcm/sydOcpSdYLTlQmheDBPgT+DWc2TXZ/szz//HBMnTsSiRYvsMmnZjogJja65MIi3fKJNDWXgPWXpfLz8n34omCdfQKuTv5qPv44exsCWD+GnP3ZixMK3ML7Dk2n3njmvoGvDVmhZswGM7U6dPo2RC99C7ybttHaTvpyLwa0e1qoeXvjvdDx3d1dNBHjq/fGoWa4Ket5+X4a+Q/mVcuYfjE6YgZY1G2p2AtkvUbCI1kYEhC4NW2o/y2GOQ87XfY2GkCA+rfj5l6iLCU2bNsVTTz2FJk2a2HR10UykBCgmREouk/MoJiiASpOeI9CoUSOsXLlS81tEhTx58uDo0aO47LLLcP78eU1EkENW412xYoXn4qPDJOB3AuGKCTLwHjlmenpVQiA+I1+ahn0HDmqD8u+3/IpeT47RBt1ytOv8LJ7q2xEd2jWHsd3JUynpUweknT4N4dDhJPQdMBYTxvTXRAARHerWqX6RmBDKr2DTHIz2y5QqpgkFIiDoooH4Yo5D/HD7NIdQPCQu5uniq9ctYoJ4dumll+LUqVOObw8pYkLDSpWiduv7fvev+O+mlRjYojNyXprjIj+0QfunM3F3jYaoWa4y9N9rl6uCaqUq4vmEtzGoZReUv7wkjLZETHg+YRp6355WcTDpq3kY1LIb1vy2CXuPHETP2+7VXv9k06oMv+sOhOOXiCBG+xt3/5Iej26nX7P7MX7JexC/76rRAIknjqf7F587f/rPEkc0jpVbt0ZVTEhJSUHBggW1zwCP6BOgmKAgBxQTFEClSc8R0KsTQjnOqoRQhPg+CUSHQCRigl6BkCtXzoucNg7aZTqB/nv9m2ugds0q6cJApavKwVjNEExMWPzlOuzcvS9dPJAqBePvugNGW6H8MlYmiP3V6zZpgoGcp9vRKxnEbxE+jCXzXhETmCfnRR87P8Vt2rRBhw4d0Lp1azvNhrSliQlXXhWynaoG3+/5FZOXf4SX2/ZFwdwXVyYknjyOp+ZNQM/GbVCzbGXNjcnLP0TpgkVRrWRFTFo2H4Pu6qKdK7b+u3k1Bv7fgzh15h88/8nb6H1rWsWB3u79DWlTJXo2/ldM2LwaexP/Sv89XUwI4VfKmdMYvegd3H19fRTMnT/d/prfNuOp+RMz4Kp3VXU8f08PTFmxQGsvcUhcun/xefKl/1z+8hKqUGdqd+X2bVEVE+bNm6ctvDh37tyoxM9OMxKgmKDgiqCYoAAqTXqSgLE6IVAArErwZFrpdIwQiERMyKwyIVB5vTwBr1CupCYmGBc+tCImTH7rQy0T+rSGzMSEzPwKVpkgYoJxIUnpq9ntN2PapEF4fsz09DUWvCgmME/eFhNkiuDy5csxc+ZMR+9GIiY0KF/B0T6NnSWJWPDhJDzaqDVqlrlQIbHr0H589N1ydKt/N1796gO0lEF4mUqQQfyLn7+LWmUro1rJCpi0/CMMvrMz4kVM+H0rEjavxjPNO2kVDCM/m4nejdukiQn/tlu9bQv+SDyo9SfHJ1vWZPhd9y0cv0TICGZft6f7rcch9nX/5Hz95/JFoiMmrNq1M6pigoyzmjdvrglqPKJPgGKCghxQTFAAlSY9SSBUdQKrEjyZVjodIwTCFROCzcWX9RCmv5uAZ/o9mL42QaDKhHDFBKuVCeH4Za5MCFTpYK6w8JqYEA4P5unCh91N0xwSExNRsWJFHDlyxNG70Tu9XkGNQlfgsksucbRfY2ef/LAWCT+swcute2qigDaQXzAZLa+rh7uuq4spKz/GX8cT8UyzB/DzgV0YuWgmxt3bJ00kWLkAg5s/eEFM+GGt1k4TEz5/B70bpokGejupCHhh8bt47o5OWjWD9FOz9NV4tOE9F8WfmV9NqtyAF5fMRsvr6mp2AtkXYUD3/fFb2+LVZfO09iKKaGLCv/5pYsK/P0dDTPjn3FlsSTyETpPS1sCJxpE/f37s27cP+fIFXjcjGj7Fcp8UExRkn2KCAqg06VkCwaoTWJXg2ZTS8RghEK6YIFiC7ZrQsd3/XbQWgnnNhHDFBKtrJoTyq3XLxum7ORjFBKN9mXqhryNgXLBRBtteExNC8TCvWcE8pX3g3SQmiD9du3ZFly5dULduXcfuSF9N+BB59yahQM6LpzE55oRUCPz4NZ7+75T0Ll+6+1Hcde0t2u/aU/0v52De98u032c/OFgTAHYdPoDXVy3AoGad0sSEvb8h4ce1eKZJB01MeH7Ju+jVIE1MMLbT+6pX4VrUrXgdTp5OwaP1WwUMN5hfuk8tr00TE8x+PPDOSM2e9DGm1aPaehASg7QX30VM0P0rnr+w9t4P+7bjlda9Ub5wcSfRIynlFE6WLYTbeqdVcTh9rFq1CrNnz8abb77pdNfsLwgBigkKLg2KCQqg0qRnCQSrTmBVgmdTSsdjhMCedQNRpmprxMVlCytifYcF/aTZb43UhAQ59Kf6xh0bZECu7+YwaewAbftHK9McpJ3el0w/aHbbTUhOPnXRAoy6H8H8CjbNQfdD381B+pgzbSRy58qZYStJo5igL9S4/tv/WdrNITX1PH7/6WOUvTltEcpIjkhEH+mHeRoHq3kSXm4TE7755hv06dMHGzZsiOSyieico38dQcLwGagdf3lE53v5JE0QWPoeapW6GndVSxMuYvH4NvEg7hnZDfmKxEcl/Fq1amk7hNWsWTMq/bPTiwlQTFBwVVBMUACVJj1NwFydwKoET6eTzscIgV1rn0Kx8o2QK18x10dsXMxRFy5c77SIK8cP4M9dq1C+7piI3d21pj/KVrsX2S65NGIbTp3o1TydP3cGe/73EcrXe9kpVJb6kQUYO3bsiHvuubjs3pKBCBod+m0vPnv5PVyVNx65L8ke1SkPEbgf1inf/7ENHd+7IPT1rncPHr2lZVg2/ND49LlzOHn2DLadOIoWz3ZC4fLOVkPoDOfPnw/5Jwsw8nAPAYoJCnJBMUEBVJr0NAFzdQKrEjydTjofIwT+3jYf2VOPo2Dx6q6MWKoX9KoBcXDEcz2CViW4MgAAiQc241y2eBS5MvKS4d3rnsMVpW9E7gKlXBmmH/J08uheHNy7EeVuft5VjLdt24Y777wTv/32m6N+HTuYiA1zvsSB7XuRcuofR/tmZ84TyJkrB0pcVRp1HmgatYoEibpChQpYunQpypcv7zwE9hiUAMUEBRcHxQQFUGnS8wSqVauGn376CYULF8ahQ4c8Hw8DIIFYILB9RW8Uq9AIeQvyy5vd+T5+eAcO7lmLig1fy5LpI7s+w/mUP1CkVO0s2eHJwQn8vfcbXJK7HAqVS5uu46ajW7duuPnmm7U1FHioJSAPQoYNG+b4Lhpqo/KG9alTp2LTpk144403vOFwDHlJMUFBsikmKIAaRZOpqamIi4uLogf+6HrixIno27cvWrRogU8++cQfQUUxCl6XUYQfY13vWNkHhUrUQs48RZAzbzHeD7OQf1kjISX5L6Qk/40jf25GxQZZExJ0V/ZsGIoChcohvth1WfCOpwYicOTAZiQn7UOZG4e4EtDhw4fRqVMnfPbZZ670z09Ode7cGbIt565du1CuXDk/heb6WGQryPfffx/x8dFZq8H1gKLoIMUEBfApJiiA6rDJ9+fOwzfr12Hb9h04c/oMko6fcNgD/3V34kQy/jqwDwULFUbBQkX8F6DDERWJz4+4S7Lh6quuRJ2bbka7tvc57AG7iyUCh7Z/jON/rUdctktwKmlHLIVua6y5C1bE+XPnka/YTShSMfCK8JF2uGf9YOTJXxy585fQRB8vrKEQaayqz5M1ElKS/8SJo3/gVPJhlKkzVHWXWbK/fPlyjBw5EsuWpe1gwMN+AlKVoJfXP/jgg6xOsB9xUIsNGjTACy+8gPr16zvYK7uySoBiglVSYbSjmBAGLJc1PXr0KHr16o0WtUqgdKGcuKpkPK4omMdlXtIdEkgjcDDxBH7bl4i9h1OwePNfmPT6JO67zIsjZgkkJSXhoYcewscffxyzDA7v+hTH/1yH1PNnkHJsT8xyyGrguQqUBeIuRf7it6BQuTuzas6R8ydMmIAdO3bgtdfsqXZxxGkPdaJXJeguszrBmeT16tULVatWRc+ePZ3pkL2ETYBiQtjIQp9AMSE0Ize2OJp0BE8/2Q9PtKyCq0sVcqOL9IkEghL45ffDeO3TX/Hy+InIlz8/SZFAzBGQuczDhw+HPKWVHWR4uJOAPOFt3LixVirOw14CDz/8MOrUqQNZR4GHfQSMVQm6VVYn2Mc3mCVZH2HLli2YMmWK+s7YQ8QEKCZEjC74iRQTFEB1wKTkbch91SgkOMCaXaghIILCiwu34p13ZqrpgFZJwKUEpCpBSpDlfxESRFDg4U4C+hPeGTNmQH7mYS+BO+64Q9suskOHDvYajmFr5qoEHQWrE9RdFHJ/+Oijj/Dpp5+q64SWbSFAMcEWjBmNUExQAFWxSVnUJe7AZrRvWFFxTzRPAmoJvLdyB7KXrIm27dqp7YjWScBFBPSqBN0lVie4KDkGV4xPeGUBO1YnqMlTkyZN0LZtW0ilAo+sEQhUlaBbZHVC1tgGO1sqEkREoJCghq/dVikm2E0UAMUEBVAVm+z3WB/cW7MQ6lYrqbgnmicBtQRW/bgXCVuOYex4zptVS5rW3ULAWJUgW8/K6vasTnBLdjL6YX7Cy+oEdXl65JFHkDNnTshaCjwiJxCsKkG3yOqEyNkGOlPWSDh//jynNtiLVak1igkK8FJMUABVsckWd7XE24815mKLijnTvHoCfyWeQLfXluOTTxLUd8YeSMAFBPSqhCuuuAIHDx5E7ty5cfLkSa6d4ILcGF0I9ISX1QlqkyRbMi9YsIDTfiLEnFlVgm6S1QkRwg1wmuza0L59ey62aB9SRyxRTFCAmWKCAqgKTaampqJ58zux+AV7t+lS6DJNk0CmBJo99zEWf74IcXFxJEUCviZgrEq4/S6scewAACAASURBVPbb8dVXX+Gee+7RdnRgdYK7Uh/sCS+rE9TmacWKFRgzZoz2ueC0h/BYG6/ZsmXLapUeW7duRbNmzbBkyZJ0Y6xOCI+rufXUqVOxcOFCPPvss9z+MWsoo3I2xQQF2CkmKICq2GSdWxpgw8QHFPdC8yTgDIE6fWZjw9ernOmMvZBAFAnoVQkNGzZEqVKlMGfOHMh826effhqy1S/XTohicgxdZ/aEl9UJ6nN05MgRPPPMM1i2bBleeukltGnTRn2nHu9Bv2ZFRJD7jAgLIlCuXLlSu6/IdSuvv/POO2B1QmTJnj9/vnavbtq0KV588UXEx8dHZohnRZUAxQQF+CkmKICq2CTFBMWAad5RAhQTHMXNzqJEwFiVIF/up02bpokJs2bNwvbt27VtIlmdEKXkmLoNNe+c1QnO5GnHjh3a4G3Pnj0YP3486tWr50zHHuxFhAIRDIw7jhjFBH37WREdpK3e3oOhOu7yqlWr0K9fP1SsWFETt2QnHh7eJUAxQUHuKCYogKrYJMUExYBp3lECFBMcxc3OokRAymKldFuqEqSU2/i3t0WLFtpAQI7Nmzen/xwlV2O6Wyvzzlmd4OwlsnHjRkhp+bx589CyZcv0fzly5HDWEY/1FkhM8FgIUXE3JSUFCQkJ6f9kXYQePXqgZs2aUfGHndpLgGKCvTw1axQTFEBVbJJigmLANO8oAYoJjuJmZ1EkIANVqVC4/vrrL/rbKwKDvM7S2SgmCNCe7EopuBxSMl6yZEl8/fXXaNWqlVYuLtNR5GB1gvN5OnbsWIZBnghzN910E2Qx0xIlSqB48eLaP8lZ9uzZnXfQZT1STAiekLNnz2Lfvn04cOAA9u/fr/3/999/a5/11atXZxCt8uXL57LM0p2sEKCYkBV6Qc6lmKAAqmKTFBMUA6Z5RwlQTHAUNztzCQH+7XVJIgxuBJp33qlTJ20qiggM8lT81Vdf1f4VLFgQspAdj+gR+OKLLyBVCzIY1AeEMii8/PLLtdd5kEAwArVr19bEAxGfdCFK1rGpVasWmjRpQnA+JkAxQUFy+YVGAVTFJikmKAZM844SoJjgKG525hIC/NvrkkQY3Ag079woJsjPckh1iQgKUkkiFQs8SMCNBFiZ4Mas0KdoE6CYoCAD/EKjAKpikxQTFAOmeUcJUExwFDc7cwkB/u11SSJCuBFITPCG5/Qy1glQTIj1K4DxByJAMUHBdcEvNAqgKjZJMUExYJp3lADFBEdxszOXEODfXpckgmKCNxJBL8MmQDEhbGQ8IQYIUExQkGR+oVEAVbFJigmKAdO8owQoJjiKm525hAD/9rokERQTvJEIehk2AYoJYSPjCTFAgGKCgiTzC40CqIpNUkxQDJjmHSVAMcFR3OzMJQT4t9clibBBTJgzZw527tyJwYMHY+vWrWjXrh22bNmSwfLs2bPRoUOH9NfkHLkG9GPNmjWoW7euN6DQS08QoJjgiTTRSYcJUExQAJxfaBRAVWySYkJkgLfu/hPtnn0LT3Vsig7N66QbGTntM1QoWUR7bc7nG/DA4LczdNC9dQOMf+I+5Mp5mfa6tJdjcLc7M9j4aNn3mDvqYVQqVywyB2P0LIoJMZr4GA+bf3u9cQFYWTPBLCb07dsXEyZMQKVKlbQgDx8+jN69e0MWeJTXpL3sECH/Fy5cWHtfhAYRIygoeOO68IKXFBO8kCX66DQBigkKiPMLjQKoik1STIgMsC4mFCtcAHNGdkHh+Lzp4oBRTFi9aftF4sG+g0npr5nFBPnd+H5k3sXuWRQTYjf3sRw5//Z6I/t2iAmnTp1Cv3790LFjR1SuXDmgcLB27VpNYBg/fjxy5crlDTj00tUEKCa4Oj10LkoEKCYoAM8vNAqgKjZJMSEywCImDHvzUxTImwslr4hPrywwVyaYxYTDScnoMPhtDO76f6h7/ZUZKhOkksHcPjLvYvcsigmxm/tYjpx/e72RfTvEBJn6oFcrHDp0CCNHjkyvSvAGBXrpRQIUE7yYNfqsmgDFBAWE+YVGAVTFJikmRAZYFxOGd78LQ6d+gmGPtNCmJIQSE6Q3Yxu9MkGqGWYt2pChyiEyz2L7LIoJsZ3/WI2ef3u9kflIxIRAayboayKwAsEbefeDlxQT/JBFxmA3AYoJdhMFtAWA9Pl7xsWAFHRFkzYRoJgQGUhdTJg0oD0Wr/spvaJg7OwvM6yZEKjSwCwmDHkjQXOi2c1VKSZElo70sygmZBEgT/ckAf7t9UbaIhETzGsmGCMVMYGVCd7Ivde9pJjg9QzSfxUEKCYooMovNAqgKjZJMSEywEYxIXfOy9Bv3Hx0/L86WLZxa6ZiwqmU01rb+jWu1BZpFGFh7ZYdmogw+cOVXC8hsnRQTMgiN57ubQL82+uN/NktJgRbbFGmQkyfPh3Dhw/nmgneuDRc7yXFBNeniA5GgQDFBAXQ+YVGAVTFJikmRAbYKCbI4otrN2/HyOmLUK544XShINAaCJmtmWAWGiLzLLbPYmVCbOc/VqPn315vZN5uMUGiDrabgyzQaNw+0huE6KVbCVBMcGtm6Fc0CVBMUECfX2gUQFVskmJCZIDNYoJYkSoDmbIwe2SX9K0hw93NQd8l4vUB/9EWaOQRHgGKCeHxYmt/EODfXm/kUYWYoAsKxqmls2fPppDgjUvCM15STPBMquiogwQoJiiAzS80CqAqNkkxITLAgcQEvepApjvIFAapTHhg8NsZOujeusFFW0VKg8Hd7kxvp5+3ZtpTFBTCTA/FhDCBsbkvCPBvrzfSaEVM8EYk9DLWCFBMiLWMM14rBCgmWKEUZht+oQkTmAuaU0xwQRLogm0EKCbYhpKGPESAf3u9kSyKCd7IE728mADFBF4VJHAxAYoJCq4KfqFRAFWxSYoJigHTvKMEKCY4ipuduYQA//a6JBEh3KCY4I080UuKCbwGSMAKAYoJViiF2YZfaMIE5oLmFBNckAS6YBsBigm2oaQhDxFw699eWRxw586dGDx4MGSHgXbt2mHLli0ZyJrn98s5xvn/a9asQd26dT2UjeCuUkywJ428ruzhGI4VViaEQ4ttY4UAxQQFmXbrFxoFofrGJMUE36SSgQCgmMDLIBYJuPVvr3nQ17dvX0yYMAGVKlXS0iRbG/bu3RvDhg3TXgu2M4GIEX4QFCgm2PPp5HVlD8dwrFBMCIcW28YKAYoJCjLt1i80CkL1jUmKCb5JJQOhmMBrIEYJuPVvb6hB36lTp9CvXz/INoaVK1fWdiAwCwdr167FrFmzMH78eOTKlcvTGaaYYE/6eF3ZwzEcKxQTwqHFtrFCgGKCgky79QuNglB9Y5Jigm9SyUAoJvAaiFECbv3bG2rQJ1Mf9GqFQ4cOYeTIkVp1QuHChX2ZSYoJ9qSV15U9HMOxQjEhHFpsGysEKCYoyLRbv9AoCNU3Jikm+CaVDIRiAq+BGCXg1r+9Vua262si+KkCIdhlSDHBng8oryt7OIZj5cYbb8S3334L+Zzecsst4ZzKtiTgWwIUExSk1q1faBSE6huTFBN8k0oGQjGB10CMEnj44Ycxbdo0bT2CPn36uIZCqCfIRkdlkMLKBNekztWO8LpyPj358uVDcnIyfvnlF21KEg8SIAGAYoKCq4BiggKoik1STFAMmOYdJcAFGB3Fzc5cQmDAgAF4+eWX8dhjj+HVV191iVfQpiwYd3MwL8BodFQWYwy0ZoJMhZg+fTqGDx/u+TUTevXqhcmTJ2v/Hn30UdfkyWuO8LpyNmNHjhxJn3p08OBBXH755c46wN5IwKUEKCYoSAzFBAVQFZukmKAYMM07SoBigqO42ZlLCIwePRrPPvssWrRogU8++cQlXoUnJojTwXZzkAUaRWjw+vHCCy9g0KBBGDJkiCaO8IiMQDhiQixcV5FRtH7WN998gzp16qBQoULaDiw8SIAE0ghQTFBwJVBMUABVocnU1FTceeddWDSypcJeaJoEnCNw55AEfPJJArJly+Zcp+yJBKJMICEhAXfffTeqVKmCn3/+OcreXOg+3EGfPvCT7xL6MXv2bF8ICRLPjBkz0KVLF3Tv3h1vvPGGa/LkNUd4XTmbMakomjhxIu69917Mnz/f2c7ZGwm4mADFBAXJoZigAKpiky3uaom3H2uMKwrmUdwTzZOAWgJ/JZ5Atwkr8EnCf9V2ROsk4DICJ06cQHx8PM6ePYsff/wR1apVc5mHdEcILF68GM2bN0erVq3w8ccfEwoJuJ7A9u3btTUSzp07hw8//BBt2rRxvc90kAScIkAxQQFpigkKoCo2+US/fmh9fT7Uq1ZKcU80TwJqCaz6cS8SfjiBsePGqe2I1knAhQTkS/6CBQvQuHFjLFu2zIUe0qUffvgB1atX1+af//nnn8iePTuhkICrCTRt2hRffvklSpUqhT179rDqz9XZonNOE6CYoIA4xQQFUBWbnDt3Ls7vXY//NK6iuCeaJwG1BGYv/QmXlauHtm3vU9sRrZOACwno85rFtc8//xx33HGHC72MbZekcqRs2bLYv38/3n//fbRv3z62gTB61xKQa1Sm5CxZskQTEL744gvcdtttrvWXjpFANAhQTFBAnWKCAqgOmHzwgQ54pk01VClT2IHe2AUJ2E/gf7sPYVzCL3j7nVn2G6dFEvAIgaFDh2LEiBEoUKAARo0ape0YEBcX5xHvY8PN119/Hb1790aDBg2wcuXK2AiaUXqCwKlTp7Br1y5NjBw8eDDkdzlkfQ9Z54MHCZBARgIUExRcERQTFEB1wOTx48fx1OO98ViLyhQUHODNLuwlIELCpEVb8cqEyciTh2t/2EuX1rxGQF8sTfy+4YYb8Pzzz6NYsWLamgryL3/+/F4LyVf+nj59WisZ//vvvyFber744ouOCD5SubJu3Trs2LEDBw4cwKFDhyCLMPMgARENdu/eDdn20XiUKFECM2fORJMmTQiJBEggAAGKCQouC4oJCqA6ZFIEBXla0qx6UZQqlAOVShVCUS7K6BB9dhMuAVlscesfR/D7oRQs++kQJk6aRCEhXIhs71sCUkIvFQq//vqrb2OMxcBKliwJ+Xfttdfipptu0hZzlN+DHbJ43muvvaYNCJOTk2MRGWMOk8A111yjbQN55513crHFMNmxeewRoJigIOcUExRAddjk3Pkf4tv167B123ac/uc0ko6fcNgDdkcCmRMoHJ8Pl2TPjkpXXYk6N9fFffe2JjISIIEABNavX49Vq1Zh7dq1Wvmy/kSasPxDQLYEFcFA1mIwHrJdaIcOHdJFhPr16+Pqq69GuXLltH8iQnAKjH+ug6xEkiNHDq16qXz58lkxw3NJIOYIUExQkHKKCQqgRtGklEDyy0bWE5CUlIQaNWpg06ZNWpkxj6wROH/+PFeUzhpCnk0CJOACAlJWLlUDsmXktm3b8Mcff0TkVdGiRTXRSMQCOWTOuzxZlr/hpUuX1vq49dZbI7LNk0iABEiABAIToJig4MqgmKAAKk16nsCwYcMwfPhwyOJo8jMPEiABEiABEgiXwG+//abNbZcqExEP3nvvvXQTst3kzz//DNkxQkSFEydOaLtFzJgxAzlz5gy3K7YnARIgARIIQYBigoJLhGKCAqg06WkCUpUgpYPyv1QlyJdAVid4OqV0ngRIgARcQWD16tXo2rWrVtUgR+3atbXF8kaPHo0iRYpg586dyJcvnyt8pRMkQAIk4DcCFBMUZJRiggKoNOlpAnpVgh4EqxM8nU46TwIkQAKuIyAL5sluDXLIbh3Hjh3TKhI6d+7sOl/pEAmQAAn4hQDFBAWZpJigACpNepaAsSpBD4LVCZ5NJx0nARIgAVcSkF07qlatCllPRo5s2bLhzJkzXFvGldmiUyRAAn4hQDFBQSYpJiiASpOeJWCuStADYXWCZ1NKx0mABEjAlQS6dOmiVSPIUa1aNfz444+u9JNOkQAJkIBfCFBMUJBJigkKoNKkJwkEqkrQA2F1gidTSqdJgARIwLUERDy47rrrNP9kJ4dPP/3Utb7SMRIgARLwAwGKCQqySDFBAVSa9CSBYFUJejCsTvBkWuk0CZAACbiSwLlz55A9e3bNtzZt2uDDDz90pZ90igRIgAT8QoBigoJMUkxQAJUmPUcgs6oEPRhWJ3gurXSYBEiABFxNQMQEERXatm2LuXPnutpXOkcCJEACXidAMUFBBikmKIBKk54jYKxKKFu2LGrUqIGFCxeiVatW2LRpE/bs2aPFxOoEz6WWDpMACZCAawnkypULKSkpaN68ORYtWuRaP+kYCZAACfiBAMUEBVmkmKAAKk16ioBelVCgQAGIqCBbcw0fPlz7Wf6JgDBz5kzt56NHj2LXrl2QKgUeJEACJEACJJAVAnnz5sWJEydw6623YunSpVkxxXNJgARIgARCEKCYoOASoZigACpNeoqACAVyGPf3NosJekCB2noqWDpLAiRAAiTgGgIUE1yTCjpCAiQQAwQoJihIMsUEBVBp0vMEgokJng+MAZAACZAACbiGAMUE16SCjpAACcQAAYoJCpJM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FIGZM2ciLi4ODz74YLrfwcQEaStH586dPRUjnSUBEiABEoguAfn7Ua5cOTRq1CjdkWBiQqC20fWevZMACZCA9wlQTFCQQ4oJCqDSpKcIJCUlaV/wChYsiGHDhmmigllMkC928lpiYiJ2796N+Ph4T8VIZ0mABEiABKJLQP52lC9fXhMThg4dqv1vFhP0vzWpqana3xoeJEACJEAC9hGgmGAfy3RLFBMUQKVJzxEQEUHEAjlEWLj++uuxcOFCtGrVCps3b07/UidfAKUtDxIgARIgARIIl4AICCtXrtROk5/Xr1+PlJQUVKlSBadOnUr/WzN27Fg8+eST4ZpnexIgARIggUwIUExQcHlQTFAAlSY9R0CvTjh69GhQ3wsUKMCqBM9llg6TAAmQgHsIzJ8/H23btg3pkFQm8CABEiABErCXAMUEe3lq1igmKIBKk54kYKxOCBQAqxI8mVY6TQIkQAKuIpA/f34cP348qE/169fHqlWrXOUznSEBEiABPxCgmKAgixQTFEClSU8SyKw6gVUJnkwpnSYBEiAB1xEIVZ3AqgTXpYwOkQAJ+IQAxQQFiaSYoAAqTXqWQLDqBFYleDaldJwESIAEXEcgWHUCqxJclyo6RAIk4CMCFBMUJJNiggKoNOlZAoGqE1iV4Nl00nESIAEScCWBYNUJrEpwZbroFAmQgE8IUExQkEiKCQqg0qSnCZirE1iV4Ol00nkSIAEScCUBc3UCqxJcmSY6RQIk4CMCFBMUJJNiggKoNOlpAsbqBFYleDqVdJ4ESIAEXEvAXJ3AqgTXpoqOkQAJ+IQAxQQFiaSYoAAqTXqegF6dwKoEz6eSAZAACZCAawno1QmsSnBtiugYCZCAjwhQTFCQTIoJCqBG0aQ82YiLi4uiB/7oWqoTrr/+emzevBnx8fH+CCqKUai4LlNTzyMuLlsUo7rQ9fnU88im0Bc3xSpRx1q8qmN2W35d8aGKESf06gRWJcRIwgOEqfp+GrtkGTkJXEyAYoKCq4JiggKoDptcumw5Vi5fht+2bUOBPDmx+ZedDnvgz+7+SUlBjpw5/Rmcw1HVqFIRSSdOodLVV6PRrbejcaMGEXmw6fc1+O2vH/DXsb3IfkkOHE4+EJEdu08qnLc4zp47jaL5S+HqotVRo0zdLHfh1lglsFiLV0XMbs5vli9eGgiLQOJfx1GwaL6wzmFj/xBQcT/1Dx1GQgL2EqCYYC9PzRrFBAVQHTQ56LlnER93DNVK5cPVpQqiQnE+RXcQP7sKg8DOA0nY+scR/Pj7cSRnK4gRzz9v+exz589i9vpXkT/35cibIx4FchdB3pzuutaTU5KQdPJvnEhJwvGUI+hQ5zFcku0SyzHqDb0Qq/gaa/HaFbNX8hv2hcsTSIAEIiZg1/00Ygd4oqsIjBwJDBmS0aVmzYA5c4DCha27evgw0Ls3MGwYUKmS9fOstFy7Fpg1Cxg/HsiVy8oZwKlTQL9+wNSpQPfu4Z1rrYfQrSgmhGYUdguKCWEjc8cJqefxWK/uaF79ctxRu5w7fKIXJGCRwGff7MLSnxMxbuIUAJlPyzl7/gxmrH0ZVxatgaIFyljsIbrN/jy6Bzv/2oyH6g7AJdmyW3bGi7FKcLEWb6QxezW/li9gNiQBEsgygUjvp1nu2GTgx2eBA4uA04eBU3/Ybd3d9nKVBC4rAhS/E7j2Bed9FTFBjsGDL/QtQsLOnRlfC+WZ28QEYwwSY4UKQIcOoaKw932KCfby1KxRTFAA1QGTUpFQrwwoJDjAml2oIfDphp3Y+OelGDbi37+aQbp55+uxKFOkqmeEBD0M+UK47/BWdLy5n2WAXo1VH1zHUryRxOzl/Fq+iNmQBEggywQi+fuR5U7/NZC0BVh6I5AKIPW0XVa9aSfuMkCWQ7r9G6DAtc7FEEhM0CsBRo0Cnn0WSEoC5s4F1qwBata88MRfvDS/Vr16WtsyZS5uV/ffWZkiPMjAfskSwFgFsXUr0K4dsGVLxteNlQnffw/Uq5fGJ7MKCooJzl1DjvZEMcFR3LZ0tvSrpdi04mP0v+c6W+zRCAlEi8CYj7bgxib3oVHjRgFd+H7PKuxO3InKxW+IlotZ6vfX/d+gQuGrcb2FNRS8HquAirV4w4nZD/nN0oeBJ5MACYRFIJz7aViGM2m8ZzbwXXfg3Em7LPrDziW5gVpvAWXvdyaeQGKC/lr//mmCQMmSF6oU5L19+9KmDcjAvlevNPGgSJGM0xyCtdNFho4dAREX9EF/z55pAoO8Lv+bz5dpDoMGAU89dWEqhZwrR6CKA12wkHXN5V84UyTsIs/KBLtIGuxQTFAAVbHJIc8NxC2lgTtuKK+4J5onAbUEFn2zE9/svwTDRgauI3z/m0kokq80Sha6Uq0jiqz/cWQbEpP3o90NPUP24PVYJcBYizecmP2Q35AXMRuQAAnYRiCc+6ldnX6Yg9UIwVhmywm0OWUX6cztBFozQV9jQM4UMaF+/bQBu74OgS4E6L/L+3fccUFMMAsGxna1a6eJAZMmZVyTQaoSjK/L7337AhMmAIcOpa2ZYBYTMotMqhmkgkGvlLB7HQcr2aGYYIVSmG0oJoQJzAXN27dvj1EP1ORiiy7IBV3IGoEd+5MwaM73eP+DDwIaem3pQNx8ZQvXLbZoNWpZVGv99s/Q97ZRIU/xeqwSYKzFG07MfshvyIuYDUiABGwjEM791I5O/zcE+GU0gLN2WPOfjUvyAJWeAqoOVR9boMoEvVezeKA/7Zf1FfQpC/p6BEYxQaoURHwI1K5cubSqA/MCjzL4N75uXINBFxOkuuD33y9MhQi2sKJxWsSCBWlChPgiAoZZxFBJmGKCAroUExRAVWhS9qLu0e0hTO15i8JeaJoEnCPQffLXeGPaDMTFZVyIMTX1PKasHI5GVdo654yCnlb8Mh89Gg5BNpl4GeTwS6wSXqzFayVmP+VXwUeEJkmABIIQsHI/tQvel7WApO/tsuZPOwVrAbdvVB9bOGJCtCsTzFMVgi0UaV5wUa++mD3b2UUYKSYouH4pJiiAqthknVsaYMPEBxT3QvMk4AyBOn1mY8PXqwJ2NvLT7mhzQ19nHFHUy0ffTsDgFlNDWvdDrBJkrMVrNWa/5DfkhcwGJEACthGwej+1o8NPSgMpMbZrQ7jccpUCWuwN96zw24cjJoj1rK6ZYK5aEEFg9eq0KQzdumW+ZsKjjwIvvnihuiDYmgnmrSSl3QMPACNGhLdDRfg0M55BMSGrBAOcTzFBAVTFJikmKAZM844SoJiQhtsvg02rX379Ei/FBEdvF+yMBGKKgNX7qR1Q5me+S7MdXfjCxn2yzYXiI1wxQa9OmPrvcwvZzUGmPOivr18fejeHYLs2WNnNQaYtiDAgR7BpDvKeLiDo7V54AXjuuTSxQp+ioRgtKCYoIEwxQQFUxSYpJigGTPOOEqCYQDHB0QtOQWdWvvD7STxRgJAmSYAEuejIzQAAIABJREFUAhCwcm+xCxzFBGsknRATrHnCVpEQoJgQCbUQ51BMUABVsUmKCYoB07yjBCgmUExw9IJT0JmVL/wUExSAp0kS8DkBK/cWuxBQTLBGkmKCNU5ubUUxQUFmKCYogKrYJMUExYBp3lECKsWEKePewME/D+Lp4QOQM1dOfPrRp/huw/fpv+uB6q93f/wRDHlyKNYuX5vOoFLVSnhl6liUvzKyrVitfhn0y2Az1uKVC8VKzH7Jr6M3B3ZGAjFOwMq9xS5EFBOskaSYYI2TW1tRTFCQGYoJCqAqNkkxQTFgmneUgCoxYdf2XXj3zVlaLJ0e6aiJAfLa6EGjMfD5geniQMqpFLw0dAxq1amJeo3rYUCvp9GjXw/UvLGGdm4wAcIqJKtfBv0y2Iy1eCkmWP0ksB0JkEC4BKzeT8O1G6g9xQRrFCkmWOPk1lYUExRkhmKCAqiKTVJMUAyY5h0loEpMEBFAP/bu+QOPPtEDRuGgRZsW2ttGgaFgoYIXiQny/uSxk/HcqOcQXyg+bDZWvwxSTAgbrWtOsJJjv+TXNdDpCAnEAAEr9xa7MFBMsEaSYoI1Tm5tRTFBQWYoJiiAqtgkxQTFgGneUQIqxAQRDV5/+XW0vr81RCB47cUJeOyZvpoYYK40kN91sSHpSFLAygT9/UjAWP0y6JfBZqzFK9eElZj9kt9IPgM8hwRIIDICVu4tkVm++CyKCdZIOiEm6LswlCyZ9W0TZTeGYcPStm789Vdg1ixg/HggVy5r8eqtDh8GevdOs1WmDNCvn7O7MITnbfDWFBPsImmwQzFBAVTFJikmKAZM844SUCEmSDXBgvcWoNdTvbS1EmTthDr16mhTF4yVBvKeTHG46967tPd0McG4ZkLdxnUx5vWXIqpKsDrQlHZ+GWxa/fLrl3it5thP8Tp6g2BnJBDDBKzeT+1ARDHBGkUnxIS1a9MG/XLI9omFC1vzLVAro5iQFTtGMaFSpcj9ifaZFBMUZIBiggKoik1STFAMmOYdJaBCTJBqg6d7PZMhjt4DemeY6iACghxvjH8jXSwIVJkQaJ2FcABZ/TLol8FmrMVLMSGcTwPbkgAJhEPA6v00HJvB2lJMsEbRCTFh5Ejg1luBZcuAChWADh3SfNNFhvz5gZdfBpo1A+bMAXLnTqsUqFkTmDwZ2LIFmD077bzMKhOknyFD0myvWQPUrQuIaCDnLVmS9vqIEUD//mn2p04FqlcH3nkHmDLlQmWC9NGuXVq/uk8iXIi/UhEhxwcfpJ07dy4gYoS8V69e2nvGc6xlIfJWFBMiZxf0TIoJCqAqNkkxQTFgmneUgN1iQiBBQF574dkX0LN/T23hRalU0I/SZUtBXz8h0Ln6Ogt69UK4cKx+GaSYEC5Z97S3kmO/5Nc91OkJCfifQKh7y//+9z9Uq1bNFhAUE6xhVC0myGD+uefSKhIOHQKmTweGD0+blqAPwHWhQMQAOfTB/u7daeKCnNe3LzBhQtr7gaY5LFgA7NyZNo1CFxxEoHj+eaB+/QtChG6nSJHA0xwqV05r27Fj2v/i0759aVMpvv8+TTAQoUKEDhEkZOpGz54XbImwID7LoYsm1jIRWSuKCZFxy/QsigkKoCo2STFBMWCad5SA3WLC999sylBtIMGYF16UNh1bdoR520c3VSaI4DFpTJqkPythVvruEvK7/p7Rfz3Gee/O085p26ntRVtgmhMrdoxiiv6+VGM82b0/Bo0elKFfed9c9fHS6y+mizHyfqgvv3ofdg2udV+79Hwogx96bLf/3+3aVJYt3225aItPPRZzDOF+AKzEbFe84foW7fbmqUPG6zLQtCLxV68ikp/NbYzTjszXb6BrIVRlkfl6Nn/WwuVn/Bx26NYBiYeORLx4azh9G6dvJR5JzNKisYH6Nd6PAt2TwvGVba0TCHZv+fzzz9GvXz8kJibir7/+CmnwzJkz+Pjjj9G2bdugbSkmhMSoNVAtJohgIBUJMsiXtROGDgW6dr3wNF8G6zL4lif/wUQA8VPaSVVD7doXiwmjRgHPPht6zQPj1IZgYoK8rosVuk+6ACGihtFf8VsEDLOYYI28Pa0oJtjDMYMVigkKoCo2STEhPMBbd/+Jds++hac6NkWH5nXSTx457TNUKFlEe83489rN21Gv28sY0aMlBne7M7394aRkdBj8tvb7nJFdcCgpGX3HzsWE/u1QqVyxgHbD8zQ2W9stJuhVB7J7g/GQQUPCh59oUxrkkC0gS5YumWHAHWxwk5UBhpWBpvaH/9PuaHNDX8034yKRB/YdyLCdpfG9n3/8JV04WbN8jXauVFkE2rXCfHXpg4NAA2lj5YaRo5GhLGap82p5713pA/lI4s3Kla8PIItcUSTD2hZmMeH40WNo1LRRup/6Ip1bf96Klve1zCBEhOuPlZhjUUwIdH0Yr1/JgXkrVmMlUIUry2vvG68v4zUo17xxcVRNSBw3BZWuqZS+Xoq89smHnwQU1oJdz8atYcO9FiRm44Kv4Z4fafus7jqTWb/yWTr458F0hpmJjZH6z/MCEzDfW0REePLJJzUB4dixYxgxYgQGDhxoCV+RIkVw+PBhPPPMMxg9evRF50RDTKg6Aqj8NJDtsozuHPsZWFIVuOJW4MZ3gRyXA7++BPz0b0m+tG74FXDFbcDBpcDK2y0hsKWRajHBOPVAd1ivRNCnOegLKJrFBKkOkKkK2neKTMSEQYOAbt3SBAu9vd6XcfqBvKZPTQgmJuh96QKHUYAQMcG44KMuJujVEPrUiO7dI1sUMpKEUkyIhFqIcygmKICq2CTFhPAA62JCscIFNBGgcHzetBttJmLCiGmfoVD+PJg0oH16exEZjK9TTAgvD8Fa2y0m2OOVfVasDDS169EgJhgFEXO1hPFpbKBKCt1z864V+uv6YO2KYldoL5krE/TB0IPdO2k7YuhTQ6RtIKHG3E8k8WaFtj6Iyps/HyQmXfwwiwnXXFsFv+/6PX2QqS/SKX1LhYc+1SUSX6zEHItiQqBrMJBYYB6867mrWr1qBiFNcmO85gsWis/wBF7Oq3TN1fh84efp162+Raw5v8E+O0bxQfqTqha92kcXFY3XnPE9XfyQBVzlmur33ONImJeQXpmgV0HIe3Ub3oLcefPgoUc7X7QIrD4lS/ofPejfQV9cnCaW7dy+S6uq0g/xydivVG706t8Ls9+ald6vXokl5+iVIXps8pnRK6CMFSHm+0WtOjUvqvyRNsYtdwNxMvpfpVoVXFX5ynQ7xp10dIFi609bYaw+0QWiQ38fRvVa1UNWW0Xy+XXzOfq9xSgiHDlyRHM5R44cSElJsez+3Llz0aVLF5w/f147zywqREtMuPpx4LdXLwgFZTsCNV8H9s4Dfn8vTUy4JCeQtPmCaCAiQ+230kSGI9/4R0wQcUB/qq8vcmhe88D4pF8G/vL7tGkZpyfou0HIdIVwKhP09RJ0kcGOyoRgYoLxwjWKDJYv6AgbUkyIEFxmp1FMUABVsUmKCeEBFjFh2JufokDeXCh5RXx6tUFmYsKsRRuQP29O3N2gOupef6XWobQvWig/lm/cqokMFBPCy0Ow1hQT0sgYB5vGqRpSsixfyAc+PxDFSxbPMPDIrAIhWIWGMQ+BpjlI3xvWbNAGCeaBmD4oyWwKhZWBtTnerFxJ+sBOdu4wih9mMaH+rfUCDjLlyXagqR7h+GQl5lgTE6xUxwRb30SvVhABSB/MB6oOMm4BK58NfTvYxQlLtN1b9PMDrXcSaDqUOefGJ/JSBfT8wOe1qTJyyDQgfWqNsZ34ZBQDJo+drA3qjZ9j2a5WYqxxQ42QYoJxupF5yoa5gsnYl/Fn3YbOQwQEXcSQWJ4ePgDG+GRdGeOhiyCBxAZpZ7zXCFczJ326VCChRnKjiyG6qBSMu9mvcD6jXm0r95aDSy7D22+/jZMnT2YIo2jRoihYsKDl0E6fPq1Ni5B/cuTMmTNdVBg0aBAW5c1j2ZZdDaUywSwmiO1mPwEpB4BfRqWJCSf3ADmLARsfBg4uA+S8sv8uSnhil3/EBBlUr16d8Sm9cYAvbPQ1CKSiwLxmgrwvVQu//x56zYSxabey9DUTRMSQtRlkyoIuJog/so6CLJoY6ZoJgcQEmW1jnBrBNRPs+kRFyQ7FhCiBz0K3FBPCg6eLCcO734WhUz/BsEdaaNMSQokJNSuXwV9Hjmnig0xxeG7yf9Hx/+pg0rwVFBPCS0GmrSkmpOExDzb1gbvxKZ158BVswGZloKQPAswDafM2msYtNuWcUGszWBlYB4o30kvKWN4tZe/fbfheGxzNmDJTEwn0NRNk0CIiif6aceBJMSFS+sHPs7JwabBpReapN8Yn69KjUVgwVjHo16oMjCXX/+ncPuiUg8ymPxivc12IMH7WzBUTRlvBxATzlAz9qbyVygQREgMNpI39ynSoQGKCVDIYp3no94aRr4zAG69OhV5xYF6k1pxZc650YSHYPUm4SeWILoSK/0YxROzr/oqPxl11jJ9p83v2X6nutij3007XPqtVESQkJGQQFCpWrIhPP/3UcgDbtm3DQw89pE11MB4iKshYoOm0tyzbsqthIDEhUGVC4vdA4ZuBHVPSKhhkioMcOYuniQ5+mOZgrCYwL0SoL2oog/C3/k2T7I6gTw8QFvrihubdGYLt5qCfIzs0yKHv5iAD+wceSHtN3pNFFGX6hL6A4vr14e3mEKwywdgPpznY9YmKkh2KCVECn4VuKSaEB08XE6SaYPG6n7B603aMf+I+jJ39ZdA1E6QyoUebBnjpnSWacPDr7j+xbONWtL29llblwMqE8HKQWWuKCWl0rExzMD9pDSQmGJ8MhnqSZ65MCDS4My9Sac6luQIimmJCzlw50ys3jMKBPN3WtwKV1+9o2Sx9IPP+zA9YmWDfxzndUqSVCaFcMT+d1ytppBJh/959Wgm9PoXlztZ34rMFn6VPbTHaDiW4BaqaMAoX+kBY1g6xIibIdSaHPg3Hqphg7EfONy+EqFcJBRMTjAKbfD70gXr/If01MUEXS0KJCUZ2xtzWa1xPq7KQqR3GQwQhEV2M/hsFJsmVvt6FWSwSO/p9J/FIUtA1L0JdK35433g/3b9/v7Zegi4qFCpUCHPmzMEdd9xhOdT4+HgcPXpUa58nTx6tOmHs2LHo3LkzojXNIdCaCfo6CPqaCX8uThMT9GoFmeKwZw5Qqo1/xAQrSTSvmaCfowsRxjUTrNiLxTac5qAg6xQTFEBVbJJiQniAjWJC7pyXod+4+VqFgYgDwRZgFDHhhZ5346V3l6Bry7qY99V3WtvaVcpSTAgPf8jWFBMyignBBjH6QCSzNRPMC8qFgm8WEwLNcTcOevSn+UaRwvyEN5pigj6wk6ecsrimPHU1ViZIObUsjleuYjmcPHFSG9gF29EiFDvj+1ZijrVpDsIn2LodevWLubzdzNw45UZ/z1zxIJ8XGaifTD6Bxnfcqu0+Im2kMkXWT5A8B1oPI9iaCboQ0bVPV7w2ekL6YNtcmRCumGC1MiHY03vjtS1rJ5hFjEgrE0KJCcEWlNTvC1L9Ydx215jDQItC6udJOxGAJF+ZVYmEqiAJ53PqxbaB7i26qCC7MxQrVgy7ZT9AC8fUqVPxxBNPIC4uLoOIoJ8aLTHBOM2h9jSgdFvg+17AnlkXFmAUMUEOERT++Aio+Ciw5Qmg8jMUE4QLxQQLH4B/m1BMsM7KckuKCZZRuaYhxYTwUmEUE2TxRVlIceT0RShXvDDq17gy4G4OIiZI9cKC5Ztw8MhxfPPTbm16hBx6ZYL83HvMB+nTJrQbesppTazQ7YbnaWy2ViEmZLaNmfk9oW58+m5cCMyYkUi3D7Qy0JR+QlUm6CvaB9vNIZJyYONA2sqUCfNTTuNijvoT10jizcqVH2jAYtypwigmBJqDTzEhK/QzPzfYbg7mXVWC7Z4QaMBvrrzR101ITj6Bx57pqw2y5Xhn6ruakCBVKMEqdELtTpLZmgnhigmh1kzQFw8Vn96ePCN9bQZzP/p0AL0KR2KVaT3BxATpN7M1E0KJCWLfXH1kzqvxfeNOD+YFMsVWoN1XzHk25sU8TUPd1epOy5ndT0VUmD9/Prp166ZVGYQ6ChcujNTUVIwbN06rRDAfbhATxCdZL+HSAsA3ndI8lDUTREz4eyVw7Wgg5a+0BRlltwd9bQU/THMIlT++bw8Bign2cMxghWKCAqiKTVJMCA+wWUzQBm7TPsOQNxIwe2SXTMWE73/9XdsmsnvrBpq48PufR9LFBL3KwbioowgVvca8j7mjHs6wXWR4HsdWa7vFhFDbmIXakcC8FaNkI5wSYHP2Ihlcm9clMC98pg+WjSJIIJFEL4H+atFXGbbQ0300DqTN5eN6G/PAQV+MTX/f7Fsk8Wblig8kJhh9NooJ8hTUPICkmJAV+qHPNU+dyWwNkEDWzOcHmnYTqAIi1DQGvS/z9WwUDc2fQ/NuDrKwotVpDtJO70sY1G1UN706xihgDhg+AP/b9KO2G4UcgaYJyK4JwqH3U720RUXFDzlkuoEc4ezmYEVMEJvm+0tmnPT3An02AwmQYt/IwJhjViZMwOAW/05qD/1xy7TFmjVrUE9W7wtyuEVMCLRmgogJ+s4OuUoCu6YDG7tRTMjiJRGTp1NMUJB2igkKoCo2STEhPMCBxARZULHD4Le16Q4dmtfJsBijCAJ6ZcLJlNMZ2plt6ZUIUxes0pyqfnUpCgnhpQd2ignBnq4bBYRAYoLxS6/xCaL+RNPKYnLBwnZ6cB0mftubx1q8AtBKzLE4zcH2i8snBq2sJ+GTUBlGFglYubdksYv0090iJohDssBioRuB7a8DIi6ImCDigf66Pg2ClQl2ZT927FBMUJBrigkKoCo2STFBMWCad5SAnWKCOB7ONmZ6oOYt1owrkEubYE/trYCy+mXQL4PNWIuXYoKVTwHbmBcZDLbNIkmRgJGA1fupHdSiISbY4bfTNu5LdbpH9mcnAYoJdtL81xbFBAVQFZukmKAYMM07SsBuMUGcD7aNmbwXaDqAsfQ62JoJgfa5twLK6pdBiglWaLqzjZUc+yW/7swAvSIBfxKwcm+xK3KKCdZIUkywxsmtrSgmKMgMxQQFUBWbpJigGDDNO0pAhZhgDMBcUmyc5hCo3DgrVQiBwFn9MuiXwWasxSs5txKzX/Lr6M2BnZFAjBOwcm+xCxHFBGskKSZY4+TWVhQTFGSGYoICqIpNUkxQDJjmHSVgp5gQahszfStACVDffcC4+rgs0EcxIWvpt/rl10+Daysx+ynerF0hPJsESMAqASv3Fqu2QrWjmBCKUNr7FBOscXJrK4oJCjJDMUEBVMUmKSYoBkzzjhKwU0wQx8PZxkwPNNSaCVkBYvXLoF8Gm7EWr1wbVmL2S36z8lnguSRAAuERsHJvCc9i8NYUE6yRpJhgjZNbW1FMUJAZigkKoCo2STFBMWCad5SA3WKCLihMGjMpPQ7jNmaBdnMwbiVYtXpVmBdgzAoQq18G/TLYjLV4KSZk5dPBc0mABDIjYPV+agdFignWKFJMsMbJra0oJijIDMUEBVAVm6SYoBgwzTtKQIWY4GgAITqz+mWQYoKbshaeL1Zy7Jf8hkeGrUmABLJCwMq9JSv2jedSTLBGkmKCNU5ubUUxQUFmKCYogKrYJMUExYBp3lECFBPScPtlsGn1y69f4pXcWYnZT/E6eoNgZyQQwwSs3FvswkMxwRpJignWOLm1FcUEBZmhmKAAqmKTFBMUA6Z5RwlQTKCY4OgFp6AzK1/4KSYoAE+TJOBzAlbuLXYhoJhgjSTFBGuc3NqKYoKCzFBMUABVsUmKCYoB07yjBIKJCedTz+ONlSPQqMp9jvpjd2crf5mP7g2HIFtctqCm/RKrBBhr8VqJ2U/5tfvzQXskQALBCVi5n9rFL6E48M+fdlnzp50cRYGWZOTp5FJMUJA+igkKoCo0mZqaike7dcEbPW9W2AtNk4BzBHpMWYcpb72NuLi4izqdsPRZ3HTlncibM945h2zsKTklCRu2f4Y+t40KadXrsUqAsRZvODH7Ib8hL2I2IAESsI1AOPdTOzpdci1w7H92WPKvjQLXAU23+De+WIiMYoKCLFNMUABVscn27f+DUQ/UQIXi3hxgKcZD8x4isH1/Ioa8/wPee29OQK/nfTsZ8XlLoFShqzwU1QVX/ziyDUkn/kTb2j1C+u/1WCXAWIs3nJj9kN+QFzEbkAAJ2EYgnPupHZ1ufhLYNs4OS/61cfUAoPpL/o0vFiKjmKAgyxQTFEBVbHLo0GG4qXgKmt9QQXFPNE8Cagl8tmEHNv6dB0OHDgnY0ea9a7Hn8A5cVbyWWkcUWd964FtUKFwJ1UuHriTyeqyCMNbiDSdmP+RX0ceEZkmABAIQCOd+ahfADy8DUs/YZc1fdrLlBNqc8ldMsRgNxQQFWaeYoACqYpPLV6zEt199jAH3XKO4J5onAbUEXlzwE25p3hYN6tUN2tGsdeNRqnBlFC1QRq0zNlv/M2k3DiRtR4c6j1m27NVYJcBI4y1ZuBKKFShrmZGbGoYbs+TXy/G6iT19IQE/Ewj33mIXi8TvgeX1gXMn7bLoDzvZ8wK3rgcKVPVHPLEcBcUEBdmnmKAAqgMmhwwejDolzuLOG8s70Bu7IAH7CSSs24FNh3Nj6NChmRo/d/4cZqwdgwpFq3tm0HkgaRd2HfwBXeo9k+nCi+bAvRirxJCVeN9e+xIqFr3eM7nVcxZJzJJfr8Zr/x2AFkmABAIRiOTeYifJxM3AspuA8//YadW7tqQi4bZvgPhrvRsDPb9AgGKCgquBYoICqA6ZfKJ3D9xapQBa3FTRoR7ZDQnYQyDh621Yvf0EXn5tsiWD58+fw5wNE5AnZzzy5iyI+NyXu25RRlksK+nk30hOScTJf47i/jp9wxISdBBeiFV8jbV47YrZK/m19MFkIxIgAVsI2HU/tcWZf41sfAQ4tBo4cwxI2W+nZffbylkcuLQAUKQBUHuq+/2lh9YJUEywzspyS4oJllG5suGwIYOR++wRVCudD5VKFULFElyU0ZWJolOQxRa37j2CH38/jn9yFMHQ4SPCprJl79fY+tcP+PPo78h+yWU4nHwgbBsqTiictzjOnjuNYgXKoFLR6pbWSAjlh1tjFb9jLV4VMbs5v6GuTb5PAiRgHwEV91P7vKMlEvAXAYoJCvJJMUEBVIdNLl+5CiuXL8XWrb8hf+4c2PzLToc9YHckkDmBGlUq4tjJf1Cp0tVofFsTNKgffI0EqyzPp56P6Mm/0f7EiRNRunRptGrVymq3AdvZ4UtmDthh/9y5c+jatSumTp2KHDly+D5eCXDMmDGoUaMGmjRpkqV45WQ7chDMCZW2sxw4DSglsG/fPrzwwguYPNlalZZSZ2g8KgT4+Y8KdnYaowQoJihIPMUEBVCjaDI1NRVxcXFR9MAfXZ88eRIfffQR2rdvj0svvdQfQUUxCjdel+JTtmzZUKhQIRw+fDiKdJzpWoSTp59+WvsXap0KZzxS20tiYiKKFy+Oyy+/HHv37lXbGa2TQIQEOnXqhAULFuC9995Dy5YtI7TC00iABEiABKwQoJhghVKYbSgmhAmMzWOCwJQpU/DEE09gzpw5aN26dUzEHGtByqB6woQJyJ49O1577TV06dLF1wjy5s2LEydOaPGeOeP/vb969OiBd999VxNXZ82axc+xr69ubwb3999/o0yZMkhJScFVV12F3377zZuB0GsSIAES8AgBigkKEkUxQQFUmvQ8gQIFCuDYsWMoVaoUn2p6PpsXB6BXJejv+L06QaoSnnvuORw/flyb4jBw4EBfVydIVUKJEiW0QZoc/Bz78EPsg5CkKkGELjkKFy6Mt99+m9UJPsgrQyABEnAvAYoJCnJDMUEBVJr0NAGpShgwYACSk5ORO3duPtX0dDYDO69XJeiDTXlq7+fqBL0qQafh9+oEvSrh1KlTWsj8HPvwQ+zxkIxVCXoorE7weFLpPgmQgOsJUExQkCKKCQqg0qSnCehVCXoQfKrp6XRe5Ly5KkFv4NfqBGNVgh6rn6sTjFUJEuc//6Rtls7Psb8+x16PxliVIOvyyNQjVid4Pav0nwRIwO0EKCYoyBDFBAVQadKzBIxVCXoQfKrp2XQGdFyqEsaNG4dLLrlEm6csx549e3D69GltRXW/rZ2QJ08eLUb5XxaalAUJZbqDDLLPnj3rr+QC0KsSZPeKypUrQ8QjWYBRFlV9//33uXaC7zLuvYCkKkHELakYio+P16rgZD0TuVaLFSuGHTt2eC8oekwCJEACHiBAMUFBkigmKIBKk54lIFUJUvouA8vLLrtM+3InC7hdccUVXDvBs1nN6LgMMOvUqYNXXnlF25KtbNmyaNGiBR577DFtwLl8+XKfRAosW7YM9913H8aPHw95EipPQKX0f968eejdu7e2wGjz5s19E6/kr2bNmtpWkKNHj0afPn3QsGFD1K5dG3379tUGbwkJCb6Jl4F4k4CIli+99BJEvK5UqRKaNWuG7du3awvCynW7ePFiVK9e3ZvB0WsSIAEScDEBigkKkkMxQQFUmvQkgQ8//FAbeMnidLJYXdGiRXHw4EHt9zfeeANffvklGjRo4MnY6PQFAvIEUH9a369fP01MePzxx7UGR48ehQhKfj10MUHWTJDDjVt2ZpW9VFzI9AY5HnroIU1M6Ny5s/Z7UlKS9iSYBwlEk4CIXlLxJodUIehiQjR9Yt8kQAIkEAsEKCYoyDLFBAVQadKTBGTOqgy25JABp4gJUn4qhzzNzZUrlyfjotPBCZjFBL+zMosJfo/XLCb4PV7G5z0CFBO8lzN6TAIk4F0CFBMU5I5iggKoNOl5AmYxwfMBMYCABCgm+PvCoJjg7/z6ITqKCX7IImMgARLwCgGKCQoyRTFBAVSa9DwBigmBNiz7AAAgAElEQVSeT6GlACgmWMLk2UYUEzybuphxnGJCzKSagZIACbiAAMUEBUmgmKAAKk16ngDFBM+n0FIAFBMsYfJsI4oJnk1dzDhOMSFmUs1ASYAEXECAYoKCJFBMUACVJj1PgGKC51NoKQCKCZYwebYRxQTPpi5mHKeYEDOpZqAkQAIuIEAxQUESKCYogEqTnidAMcHzKbQUAMUES5g824higmdTFzOOU0yImVQzUBIgARcQoJigIAkUExRApUnPE6CY4PkUWgqAYoIlTJ5tRDHBs6mLGccpJsRMqhkoCZCACwhQTFCQBIoJCqDSpOcJUEzwfAotBUAxwRImzzaimODZ1MWM4xQTYibVDJQESMAFBCgmKEgCxQQFUGnS8wQoJng+hZYCoJhgCZNnG1FM8GzqYsZxigkxk2oGSgIk4AICFBMUJIFiggKoNOl5AiImXHHFFViwYIHnY2EAwQlMmTIFZ86cwS233BITmAYPHgy552fLli0m4l21ahVy5cqFEiVKKI+3Q4cOKF68uPJ+2IG/COzfvx/Dhw/H7t27/RUYoyEBEiABFxKgmKAgKRQTFEClSc8TOH/+PGTg9d1333k+FgYQnEBycjJ++eUXxMXFxQSmkydP4uzZszERqwQpn2P5p/pITU3VumjWrJnqrmjfZwTk+rz33nvxyCOP+CwyhkMCJEAC7iNAMUFBTigmKIBKkyRAAiRAAjFDoHLlyti6dSt0USFmAmegJEACJEACJOAhAhQTFCSLYoICqDRJAiRAAiQQMwQoJsRMqhkoCZAACZCAhwlQTFCQPIoJCqDSJAmQAAmQQMwQoJgQM6lmoCRAAiRAAh4mQDFBQfIoJiiASpMkQAIkQAIxQ4BiQsykmoGSAAmQAAl4mADFBAXJo5igACpNkgAJkAAJxAwBigkxk2oGSgIkQAIk4GECFBMUJI9iggKoNEkCJEACJBAzBCgmxEyqGSgJkAAJkICHCVBMUJA8igkKoNIkCZAACZBAzBCgmBAzqWagJEACJEACHiZAMUFB8igmKIBKkyRAAiRAAjFDgGJCzKSagZIACZAACXiYAMUEBcmjmKAAKk2SAAmQAAnEDAGKCTGTagZKAiRAAiTgYQIUExQkj2KCAqg0SQIkQAIkEDMEKCbETKoZKAmQAAmQgIcJUExQkDyKCQqg0iQJkAAJkICvCaxatQoNGjTQYjSLCUlJSYiPj/d1/AyOBEiABEiABLxGgGKCgoxRTFAAlSZJgARIgAR8TSB79uw4d+4cOnfujHXr1mHr1q3Yu3cvrrrqKqSkpODzzz/HHXfc4WsGDI4ESIAESIAEvESAYoKCbFFMUACVJkmABEiABHxNoHXr1vj4448DxpgtWzZNaOBBAiRAAiRAAiTgHgIUExTkgmKCAqg0SQIkQAIk4HsCcXFxAWOcNGkSevXq5fv4GSAJkAAJkAAJeIkAxQQF2aKYoAAqTZIACZAACfieQKDqBFYl+D7tDJAESIAESMCjBCgmKEgcxQQFUGmSBEiABEggJgiYqxNYlRATaWeQJEACJEACHiRAMUFB0igmKIBKkyRAAiRAAjFBwFidwKqEmEg5gyQBEiABEvAoAYoJChJHMUEBVJokARIgARKIGQJ6dQKrEmIm5QyUBEiABEjAgwQoJihIGsUEBVCjbPJ8aiqyBVkYLMqusXsSIAES8B2Bxo0bY/Xq1Th79qzvYmNAJEACJOBWAvy+69bMuNcvigkKckMxQQHUKJhcvH43dh04jn2HkpEK4FjyP1Hwgl2SAAmQQGwSuDx/dvx9jGJCbGafUZMACUSDQMG8OXEeqShZJC/Kl8iPO+qUjYYb7NNDBCgmKEgWxQQFUB00+fOuw3gz4X+oW6M88ufJicsL5kG+PDkd9IBdkQAJkAAJkAAJkAAJkIDzBI6dSMGhxBM4lpyCr7fsxiMtq6FKuULOO8IePUGAYoKCNFFMUADVIZNbth3CFxv3okXDash+STaHemU3JEACJEACJEACJEACJOAuAmfPnkPCyv+h+Y1lcN2VRdzlHL1xBQGKCQrSQDFBAVQHTP606zA+W/877rn1Ogd6YxckQAIkQAIkQAIkQAIk4H4CC77agpZ1y7FCwf2pctxDigkKkFNMUADVAZOPv7YS3e+7hRUJDrBmFyRAAiRAAiRAAiRAAt4gcObsOUxbsB7j+jTwhsP00jECFBMUoO7YsSNmz56Nd999F/IzD/cTWLxhD06cjsN1V5d0v7P0kARIgARIgARIgARIgAQcJLBl6x8okBNociMXZXQQu+u7opigIEU9e/bElClT8NJLL2HAgAEKeqBJuwm8sfBHlC9dFBVKFbbbNO2RAAmQAAmQAAmQAAmQgKcJ7Nh7CHv2/Y3ud1fzdBx03l4CFBPs5alZe+655zBq1Cg88sgjmDp1qoIeaNJuAoPeWofWt13HXRvsBkt7JEACJEACJEACJEACnicguzwsXPoDRj58s+djYQD2EaCYYB/LdEszZsxAly5dcNttt+Grr75S0ANN2kngfGoqBk9bj84tb7TTLG2RAAn4mMDr457Ha2OGZYjwsQHD0OuJQRle27l9Kx7vfj9+/WlLUBrvJ6xErRvrXvR+oHPrN26Ksa/PQsFCaVVUiUcOo3+vjli9/Au07/QInh3+CnLmyqW9l3LqFEYNfRIfvPum9rvZP6P9QL5bSZ8VH812Ej56D/17dQrJLlj/gdgHamtmZSUeO9ro/pnzYYdtu23ovkaLld3x0B4JkIBaAu988i1GdK2DbHFxajuidc8QoJigIFU//fQTqlWrhnLlymHXrl0KeqBJM4GZM2eiVatWiI+PjwhOn/Er0Pf++hGdy5NIgARih0AocaBy1ep4dep7qHBlJQ1KqPY6ubGvv4uWbe5PBxlqwKwLEEbBwDwgNPdtHtx+981a/KdlQ61Pc/9WMmrVR92WUfjIyuA/VL+67WgNkCkmWLl62IYESMCLBCa8txoT+zXyouv0WREBigkKwJ4/fx558+bFqVOnsHLlSjRowJVPFWDOYFLEhH79+uHxxx/HY489FraoQDFBdYZonwS8T8CqMGActFs9xzjwtXKOsb0+eDULGeYKgGDvm1+3kqlwfRSbgSoSzH1ZqZCgmGAlQ9basDLBGie2IgESSCNAMYFXgpkAxQRF10SPHj209RKkOuHnn39Grn/LThV1R7OAxnrPnj2akBCuqEAxgZcQCZBAKALGQaz5Kb95cK1XDhhfNz/9N09D0M8xDrqN5wRrb6wwME6ZCDToDvR+JE/ww/XR6Htm1RuR+BJqQByoIiKzXEhu/9PpETz9WNf06SnhVG5EUplgFlqMooqRnVlsMb6XWeWJXNuBpl2EYhfqM8H3SYAEYosAxYTYyreVaCkmWKEUQZt9+/bhmmuuwbFjx/DAAw/gzTffpKAQAcdwTpHqhIceeij9lHBEBYoJ4ZBmWxKIPQKZrU2g05BB/fCBfYNOcwg0IA0kBOgDy0AVA4HEiUBrHxj9HTh8LNas+EJbV0EfjBrft1INYM54uD5mNugV25nZC3W1ZTYgNvI12zEOrs1CTaA+rXIKR0zIrF+jsKLzyWwqSyghSWIyX1MUE0JdXXyfBEjASIBiAq8HMwGKCQqviaVLl6Jp06aQaQ9ly5aFLMzYuHFjhT3StF6dYCRhRVSgmMBrhwRIIDMCmVUYRHpesEqDUGsdmPsLNFDfv+/39IUfZZC5fs1ybcFIfQBtfD+cp+563+H6aBQMdBuR9BuIdbABsVEwMQ7CA60VEWyxyswqKoLlPRwxIZCIYvRbZ2TkbRQNAokMgQSqYNUNFBN43yMBEgiHAMWEcGjFRluKCYrzvHjxYrRv3x5Hjx7VemrYsCGuvvpqlC9fXivLL1asGFJTU7X35H/9Xzi/h9M2q32Zz3db35s2bcLChQsDZjUzUYFiguIPAs2TgMcJBJtKECosK2sLiA3zE+fM1hcINAg3DwpXL1+i7Zig29V/159MJx45pC2+GMl6CXrM4fqY2VP4rPgRbECcWc7M5+TKlTt954vMnv5bEUCsigmZTV/Q2erijzDXd+bQKyRCCQTBpj0EWm8jkukloa59vk8CJOA/AhQT/JfTrEZEMSGrBC2cv3v3brz66quYPn06kpOTLZzBJioJSJXIihUrNDFHPygmqCRO2yTgfQKqxYRA20NmJkRktpjiS69Nx/vvvqltCakPPM1PtvVKhawOIsPx0YoIEcl2isHEhMyeupsrAkqULJM+WM9si02dZ6D1KHShwaqYEGp3C7PIZK5CEEFI33Y00O4ewT51xmuHlQnevzcxAhJwkgDFBCdpe6MvigkO52nDhg1Yt24dduzYgf379+Pw4cOaB3Fxcen/wvk9nLbSh53t7bQVrm/B+v7hhx+QkJAQMKsFChTQFmaUf+YtJCkmOPxBYHck4DECkW6jGKoyIZzBvHkAG2zXCOMaCfoA1/gUu1vP/khOPqaJDZEM3jNLXWY+BjrPyuKIoS6VSMQEszhU9dqaFz351/sNNI1k+pRXtGkjxkOFmGAc+JsFoX1792SoPilYqDCsrP0gPuviA8WEUFcX3ycBEjASoJjA68FMgGICrwlfEQi0ZkJmIoIePMUEX10GDIYEbCdgZQFGfbA3dPQE1LqxruZDuGsthFqoUGwGmicfaFAebLG9eo2a4NDfB7WdCqyU7ZthRuKj8Sl6oD4zK/kPlcxIxAS3VSZYWdwxmCAUbOcHK0IRxYRQVxffJwESoJjAayAzAhQTeH34hoB5NwcrIgLFBN+kn4GQgHIC4WwNGWjhPKsDd2M/5kFmsEUFAz2RNlc9BNrZIND0Cisgw/VRbPbv1VHbUUIOc79G36wMrI0++mHNBCsDf6OQZIzfzDIcgSCctlauC7YhARLwNwFWJvg7v5FERzEhEmo8x5UE9KqEcEQEigmuTCWdIgFXEgg1ZUF32jiID7cyQWxktp2hEYx5AGpeENE8KDf7H84UC3NCIvEx0DoDgRJtVXTRz3Xrbg6ZXcR67r5Y9LE2VeH/2TsTeJuq9o//TLnm4XIR6UqGRJrMqUh4FSoVJVIpSSl/QyFTEqH0iuZB5OVmVpQGKvNVbySzRJJ5Hq4h9/4/a993H/scZ9jn7LXX3mef3/58+uTus9bzPOv7rL3P3r+zBnHo7Q43CiZwBEqwHAYTZoxiExdgdOXthUGRQFwQoJgQF2lSGiTFBKW46cwuAmJUgr4eQrA1ESL55TSHSIT4OQmQgCAQSVAInFoQi5gg/ITbKUF8Hmz3g8AX/MCX8sDRC2Z/DQ+V+WhjNDOfP5aYwv26Hk70MPoyE5vZERNmRJNguzQEcg61w0W4USGBAkuw3BlHMnBkAu9rJEAC0RCgmBANrcQoSzEhMfLs+VaK7SBvvfXWixZWNNtwiglmSbEcCZCAIBDshTHYy2asYkI44SLUS63xV2srL6LRZDiUuBLuxTuUCGF1ykWokRbBhIJwQot40X+g4xN4/tnHtHUlxBHNaIloxISkfPk0+4F1wo0aMbuzSCDnYH2CYkI0vZ1lSYAEKCawDwQSoJjAPkECACgmsBuQAAmQQOISMLOoZOLSYctJgARIIJsAxQT2BIoJ7AMkEIQAxQR2CxIgARJIXAIUExI392w5CZCAeQIUE8yzSpSSHJmQKJlmO8MSoJjADkICJJDIBCKtf2BkY3btgHjiSTEhnrLFWEmABJwiQDHBKfLu9Usxwb25YWQKCVBMUAibrkiABFxHgGJCBl4Z1BNTJ76HWBaBdF1CGRAJkAAJ2ECAYoINUOPcJMWEOE8gw5dDgGKCHI60QgIkQAIkQAIkQAIk4E0CFBO8mVcrraKYYIUe63qGAMUEz6SSDSEBEiABEiABEiABErCBAMUEG6DGuUmKCXGewGjDz8zMRM6cOaOt5mj58+fPI1euXLbGQDHBVrw0TgIkQAIkQAIkQAIkEOcEKCbEeQJtCJ9igg1Q3WRyZfoqrF+/AZs2r8OWLVuRP39ubN6y200hRoylcqUyOHXqH1SqdCWqVL4aV19dDbVr3RixXjQFKCZEQ4tlSYAESIAESIAESIAEEo0AxYREy3jk9lJMiMwobksMHTYESUn7UbDgaVSpXBCVKhXGZeUKxGV7dv51Elu2HMOmzSdw4ngSzp4rhf59B0hrC8UEaShpiARIgASwbesmPNflQWxct0ajMWXuD7ihdoOLyASWC4YusO7P6UvxQKtbwtplCkiABEiABOQToJggn2m8W6SYEO8ZDBL/tm2/o3OXJ9Hj2avQ8s6yHmwhMGfuX3hz/Ga8/+47qJBawXIbKSZYRkgDJEACJOAjELg7RKjtJM2ICcLo6PET0arNg5p9ignsaCRAAiTgDAGKCc5wd7NXigluzk4MsW3blo4xb7yG4a/UQMGCeWKwED9Vjh07h34v/oqe/9cbFVJrWQqcYoIlfKxMAiRAAj4CpzMubLOon6x6dU288e5/cMWVVfxImRUTGjZqitHjJ6FY8WSKCexrJEACJOAQAYoJDoF3sVuKCS5OTiyhNb79dsyddYvnhQSdzdGjZ3Fv26X45quvYsHlq0MxwRI+ViYBEiABHwGjQND5qV5Y8sM32nQH4+gCvbCxbODngaKEPt0h1MiEw4cOole3Dli86GtfLEYRgikiARIgARKwRoBigjV+XqxNMcFDWR06bACurXkYLe+8zEOtityU2XN2Yv2Gkuj3wqDIhUOUoJgQMzpWJAESIAE/AvoUB/EiP+y19/DWG69g6sT30K7jE+g35DUk5csXVHgIJjYEEw6CnQs3wiHUqAimjQRIgARIIDoCFBOi45UIpSkmeCTLYteGHxd/it49L/VIi6JrxqujdqFxo4dR68Yboqv4v9IUE2LCxkokQAIk4EfAODpAXydBFxeCvdTLGpkw/vWX8e+Rg2EciRAsFqaLBEiABEggdgIUE2Jn59WaFBM8ktmPJ0zE6TPL0LWL9cUI4xHJW2//gfwFbkKnjg/FFD7FhJiwsRIJkAAJ+BGINGogcCFGWWsm6GKCCCbUzhFMFQmQAAmQgDUCFBOs8fNibYoJHsnqC/36oentp9C4URmPtCi6Zny3cDe+/S4/hg97JbqK/ytNMSEmbKxEAiRAAn4Ego0QEAVCnTcrJhgFgmCCReDuEXpQoXaRYNpIgARIgASiJ0AxIXpmXq9BMcEjGW5z3714Y0w1XFaugEdaFF0zdv51Es/1WI8Z06ZHV5FiQky8WIkESIAEAgkEWwAxGCWjMBBJTAi2gGKoBRiNoxMC/QZbj4EZJAESIAESiI4AxYToeCVCaYoJHshyZmYmHn6kLSZ9cqMHWhN7Ezo8/DMmfDQFuXLlitoIRyZEjYwVSIAESMCPgPElPxwa40KM4dZMCGUjlJiglw8WB3d1YGclARIgAesEKCZYZ+g1CxQTPJLROvVvxspld3ikNbE1o079eVi57MeYKlNMiAkbK5EACZCAj0C4kQFGTMaFGO0QE4y+wi3+yNSRAAmQAAlER4BiQnS8EqE0xQSPZJliAkAxwSOdmc0gARKIOwJGUSDUOgXGEQP6tAMZYsLVNa7HK4N6attPBo5ACLVWQ9wBZsAkQAIk4AICFBNckASXhUAxwWUJiTUcigkUE2LtO6xHAiRAAlYJGBdADLWbgnFNBf2l//ChA3iuy4PYuG4NzK5rEGnHiGBtMWvbKgfWJwESIAEvE6CY4OXsxtY2igmxcXNdLYoJsYsJmVlZGPxhOjq0TOw1J1zXqRkQCZBAXBA4nZERcmRAYAMCt3AsVryEFDFB+Am2AKRxSkVcwGSQJEACJOBiApPmrsLgznWQM0cOF0fJ0FQSoJigkraNvigmxC4miLQMeH857rrtGhQukGRjlmiaBEiABEiABEiABEiABOKPwLETpzF70a8Y2rle/AXPiG0jQDHBNrRqDVNMsCYmvD17La64rBSuKJesNnH0RgIkQAIkQAIkQAIkQAIuJ/D7zgPYsWs/urSu7vJIGZ5KAhQTVNK20RfFBGtiwoKV23HsTE5cW6WsjVmiaRIgARIgARIgARIgARKIPwK/bPgLRfMDTWtfHn/BM2LbCFBMsA2tWsMUE6yJCSJbPcb+iCfa1EXu3LnUJo/eSIAESIAESIAESIAESMClBM6e+wcfzU7Ha083dGmEDMspAhQTnCIv2S/FBOtiwvo/DuKL5Ttw9201JWeH5kiABEiABEiABEiABEggPglM/2Y17m5YAVUvLx6fDWDUthGgmGAbWrWGKSZYFxNExtb+ni0otG5UHXk4QkFtJ6Y3EiABEiABEiABEiAB1xAQIxLmfr8OLRtcjuoVuK6YaxLjokAoJrgoGVZCoZggR0wQOdi44xDem/sb6l5zuba7Q8niBbnLg5XOybokQAIkQAIkQAIkQAJxQUDs2rD/8AmI/6/87U880ao6qpQvFhexM0j1BCgmqGdui0eKCfLEBD1BC9J34I+/j+Ov/ceRBeDYiTO25I5GSYAESIAE/Al8/n5f/P37anQZ8SXRkAAJkAAJKCJQrFASspCFsiUL4YoyhdG0dnlFnq27mTwZ2LYNGDAgvC2z5QKtbNoEtG0LrFkDLFkCNGhgPeZgFoYOBa64Amjf3h77sq1STJBN1CF7FBPkiwnGVGZmZSFnjhwOZZduSYAESCCxCBQsWBAnT55EVpaQcnmQAAmQAAmoIBDPz7tmRQKz5QJ5L10KLFwYWaywmieKCVYJsn5MBCgm2CsmxJQUViIBEiABEoiJAMWEmLCxEgmQAAkkLAGjSCBe/MeNy0YxdSpQsyaQlgYcOADcdFP2+ZdeyhYGRFn9XJcuwJgxQL58gHipX7cuu97AgdnlxaGXmTkTeOih7HO6/SpVsv8WseifffrphVEGwqawJQ7jeWPSjGLCwYPZdRcsuBBzr15Ajx5Ahw4XRkeIOo0bZ/9tpj2hfMfSeTgyIRZqLqxDMYFiggu7JUMiARIggZgIUEyICRsrkQAJkEDCEggUE4RAIKYjXH999st32bLZ4oGxnJi60L07MHYsUL68fznxgr5r1wVxQbykT5qU/fd//5stNghbycnZ/xaHLk7o5U6dAp5+Ghg8GPjpJ2Dx4uz6f/6ZPWVi/PiLp0voYsI992TH07BhtqBgjFXY0qd0CMGhf39g2LBsscRse2R1FIoJskg6bIdiAsUEh7sg3ZMACZCANAIUE6ShpCESIAESSAgCgWKC8WXf+Fngv/UXfDEawSgYjB59QSAQ/zJ+JsoaD6PNYNMUMjL8hQFRN9R0hlDnhWigCxOi/ocfAkOGZAsb+vQLEYfZ9sjqFBQTZJF02A7FBIoJDndBuicBEiABaQQoJkhDSUMkQAIkkBAEAsUEfXSAePEPJybo0xF0SM2aZZd/6y3/hRCNYoIoK0YNvPvuBbRiGoQ+BUEfTaB/qosJxvLiM32qhTFBRjHBOGVBlNGnU4hRFIMGAY89Bnz22YUpDsbpFZHaI6tTUEyQRdJhOxQTKCY43AXpngRIgASkEaCYIA0lDZEACZBAQhCIVUwItQNE4AgBo5gg1kswjgAwOzLBuM5BqKTofps3z57eIKZOiLUQjCMTxNoMwue+fdnTH8QUBzHdItziknYt7EgxwSOXF8UEigke6cpsBgmQAAmAYgI7AQmQAAmQQDQEYhETjOsQiBd04zoJYpqDcYvGUGKCWBdBvPSLF359TQZdaNA/E+e3b78gQOjnhbgQuAVkKDFBtG/UqOwFIUWs+laVbdpc2GEimvZEwzZcWYoJskg6bIdiAsUEh7sg3ZMACZCANAIUE6ShpCESIAESSAgCZsUEfepAsN0c9CkO+qKKocQEXQwQuyyIOl27Al9+6b8TRLBdG4y7OQSb4iASZRxBYJy2IKZIiPUR9NEN+tSJwNEOxqkR4dojq1NQTJBF0mE7FBMoJjjcBemeBEiABKQRoJggDSUNkQAJkAAJeJCAGIUgdokQW2AK8cOpg2KCU+Ql+6WYQDFBcpeiORIgARJwjADFBMfQ0zEJkAAJkIDLCeijD8TWl2J6hZMHxQQn6Uv0TTGBYoLE7kRTJEACJOAoAYoJjuKncxIgARIgARIwRYBigilM7i9EMYFigvt7KSMkARIgAXMEKCaY48RSJEACJEACJOAkAYoJTtKX6JtiAsUEid2JpkiABEjAUQIUExzFT+ckQAIkQAIkYIoAxQRTmNxfiGICxQT391JGSAIkQALmCFBMMMeJpUiABEiABEjASQIUE5ykL9E3xQSKCRK7E02RAAmQgKMEKCY4ip/OSYAESIAESMAUAYoJpjC5vxDFBIoJ7u+ljJAESIAEzBGgmGCOE0uRAAmQAAmQgJMEKCY4SV+ib4oJFBMkdieaIgESIAFHCVBMcBQ/nZMACZAACZCAKQIUE0xhcn8higkUE9zfSxkhCZAACZgjQDHBHCeWIgESIAESIAEnCVBMcJK+RN8UEygmSOxONEUCJEACjhKgmOAofjonARIgARIgAVMEKCaYwuT+QhQTKCa4v5cyQhIgARIwR4BigjlOLEUCJEACJEACThKgmOAkfYm+KSZQTJDYnWiKBEiABBwlQDHBUfx0TgIkQAIkQAKmCFBMMIXJ/YUoJlBMcH8vZYQkQAIkYI4AxQRznFiKBEiABEiABJwkQDHBSfoSfVNMoJggsTvRFAmQAAk4SoBigqP46ZwESIAESIAETBGgmGAKk/sLUUxwj5hw/vx55MqVS+s0zz77LP766y/88MMPWLNmDUaPHo033nhD+0z8X3wujh49evA8ObA/8LrgfYD3Ad4HeB/gfYD3gbi7D3Tt2hVbt25FgQIFMGLECFStWtX9L0+MUAoBiglSMDpvhGKCs2KCEBAmTpyo/TdmzBhce+21WqdYvHgxSpUqheTkZO0/HiRAAiRAApEJcGRCZEYsQQIkQAJuIXDixAns3LkTmzdvRvXq1VGxYkUttAT9ub0AACAASURBVD59+qBatWro2LEjcubM6ZZwGYdEAhQTJMJ00hTFBGfFhJYtW2oCwm233YZbb73Vya5A3yRAAiQQ9wQoJsR9CtkAEiABEsDatWuRlpaG4cOH4++//9Z+YOPhLQIUEzyST4oJ6sWE6dOn49577/VID2IzSIAESMA9BCgmuCcXjIQESIAEZBA4cuQIihYtqokKl156qQyTtOECAhQTXJAEGSFQTFAnJoj1DwYNGoR+/fqhadOmMtJHGyRAAiRAAgYCFBPYHUiABEjAmwT279+Pq666CjNmzMAtt9zizUYmUKsoJngk2RQT1IkJd999t7Y2QqFChTzSe9gMEiABEnAXAYoJ7soHoyEBEiABmQQOHjyIRx55BK+88oq2xgKP+CVAMSF+c+cXOcUEdWKCR7oMm0ECJEACriVAMcG1qWFgJEACJCCNwKZNm1ClShVp9mhIPQGKCeqZ2+KRYoK9YkL37t0xduxYW3JHoyRAAiRAAv4EKCawR5AACZBAYhA4c+YMdu/ejdTU1MRosMdaSTHBIwmlmGCfmNCzZ0+0bdsWtWvX9khvYTNIgARIwN0EKCa4Oz+MjgRIgARkEkhPT8cLL7yAhQsXyjRLWwoIUExQAFmFC4oJ9ogJQ4YMQcOGDdG4cWMVabTNxz///IPz58/bZp+GYyfA3MTOTmVN5kklbWi/UJ06dUrbt5yHtwjkypULuXPn9lajPNga5klOUt3IMW/evHIaJ9nKnDlz8PHHH2P27NmSLdOcnQQoJthJV6Ftign2iAkKU2ibqxMnTuD222/HL7/8YpsPGo6dwNmzZ5GVlRW7AdYkARIgARIgARJwJYEcOXLgkksucU1smZmZmD9/Ppo0aeKamIyBCBFZ/PjFRc5dmZ6gQVFMiJ9chY2UYgLFhFAdZO/evahZsyb27Nnjkd7unWasW7dOm0Lz22+/eadRHmwJ86Q+qfyFSj1zVR5LliyJDRs2oESJEqpc0k8MBC677DIsX74c5cqVi6E2q+gEKlSogEWLFrlmPQAx4lb8gDF48GAmiQSkEKCYIAWj80YoJsgVE66//nr8+OOPEPN24/2gmODeDPIl1b25MUbGPKnPE8UE9cxVeaSYoIq0NT8UE6zxo5gQO7/Tp09j8uTJeOyxx2I3wprKCFBMUIbaXkcUE+SJCSNGjECxYsXQpUsXe5OmyDrFBEWgY3DDl9QYoDlQhXlSD51ignrmqjxSTFBF2pofignW+FFMsMbv9ddfx8mTJzFgwABrhljbdgIUE2xHrMYBxQQ5YsLRo0fRqVMnzJo1S03iFHihmKAAcowu+JIaIzjF1ZgnxcABUExQz1yVR4oJqkhb80MxwRo/ignW+RUtWhQ7duxAkSJFrBujBdsIUEywDa1awxQT5IgJarOmxhvFBDWcY/HCl9RYqKmvwzypZ04xQT1zVR4pJqgibc0PxQRr/CgmWOe3b98+nDlzBqIv8nAvAYoJ7s1NVJFRTKCYEKrDUEyI6lJSWpgvqUpxx+yMeYoZXcwVKSbEjM71FSkmuD5FWoAUE+TkiQswyuFIK+4lQDHBvbmJKjKKCdbFhFWrVmH//v1o0aJFVOzdXphignszxJdU9+bGGBnzpD5PFBPUM1flkWKCKtLW/FBMsMZPr00xQQ5HWnEvAYoJ7s1NVJFRTLAuJtx2220YOHAgbrnllqjYu70wxQT3Zogvqe7NDcUEZ3NDMcFZ/nZ6p5hgJ115tikmyGFJMcEax++++w7Dhw/Ht99+a80Qa9tGgGKCbWjVGqaYYE1MECvGlipVCidOnFCbOAXeKCYogByjC4oJMYJTXI15UgycCzCqB67QI8UEhbAtuKKYYAGeoSrFBOscmzVrhhkzZnhiu3brNNxngWKC+3ISU0QUE6yJCZs2bcLatWtx7733xsTfzZUoJrg3O3xJdW9ujJExT+rzxJEJ6pmr8kgxQRVpa34oJljjp9emmGCdY6tWrfDUU0+hefPm1o3RgnQCFBOkI3XGIMUEa2KCM1lT45VighrOsXjhS2os1NTXYZ7UM6eYoJ65Ko8UE1SRtuaHYoI1fhQT5PCjFfcToJjg/hyZipBiAsWEUB2FYoKpS8iRQnxJdQR71E6Zp6iRWa4wb948TJs2DRMmTLBsiwbcRYBigrvyESoaigly8uSGkQk7duzA5ZdfrjVoyJAhyMrKwuDBg7W/jZ/JaTGtJBoBigkeyTjFBGtiwujRo9GxY0ekpKR4pEdcaAbFBPemlC+p7s2NMTLmSX2eODJBPXNVHikmqCJtzQ/FBGv89NpuEBNq1KihCQjjx4/H999/r/27UaNG6NatG3LkyKFN83XzIeLNyMhA/vz53RxmwsZGMcEjqaeYYE1MqFKlClauXImiRYt6pEdQTIiHRPIlNR6yBDBP6vNEMUE9c1UeKSaoIm3ND8UEa/zcJCZ88sknePLJJ5GUlKT9J47Tp09r/7399tvo1KmTnMbaZEVs23711Vdj3759NnmgWSsEKCZYoeeiuhQTrIkJefLk0VTP3LlzuyirckLhyAQ5HO2wwpdUO6jKt8k8yWcaySLFhEiE4vdzignxkTuKCXLy5IaRCaIl4ro7cOCAX6OSk5MvOien1XKt/PPPP7j22mvx22+/yTVMa1IIUEyQgtF5IxQTrIkJaWlpaNu2rfOJtCECigk2QJVkki+pkkDabIZ5shlwEPMUE9QzV+WRYoIq0tb8UEywxk+v7RYxQYxOENMaxFbo4ihQoADGjRvn+lEJOkfxjC6e1Xm4jwDFBPflJKaIKCZYExNigh4nlSgmuDdRfEl1b26MkTFP6vNEMUE9c1UeKSaoIm3ND8UEa/zcJiaIeIyjE+JlVIKcLNCKnQQoJthJV6FtigkUE0J1N4oJCi/EKF3xJTVKYA4VZ57Ug6eYoJ65Ko8UE1SRtuaHYoI1fm4UE/TRCSK2eBqVICcTtGIXAYoJdpFVbJdigjUx4YEHHsCUKVMUZ02NO4oJajjH4oUvqbFQU1+HeVLPnGKCeuaqPFJMUEXamh+KCdb4uVFMEDEVL15cC+3QoUNyGqjIyqZNmyAWS+fhPgIUE9yXk5giophgTUwQW+OIrWe8eFBMcG9W+ZLq3twYI2Oe1OeJYoJ65qo8UkxQRdqaH4oJ1vjJEhPEs6l4RpV1LF26FJmZmWjYsKEsk9rzs8wYgwXm5ed0aYlwyBDFBIfAy3ZLMYFiQqg+RTFB9tUmzx5fUuWxtNMS82Qn3eC2KSaoZ67KI8UEVaSt+aGYYI2fFTHhv5v3Yc3WA/hr3wkk5c2DP/cclROMTVYuL10EGWfO4bKUQriuUgnUrFRSuieKCdKRSjNIMUEaSmcNUUywJiZwNwdn+2+ieudLanxknnlSnyeKCeqZq/JIMUEVaWt+KCZY4xermPDhF+uQI2dulEwujJJFCyC5aAE5gdhs5eCRk9h/+CT2HTqGHFnn8egd1aR6vOqqq7BhwwapNmlMDgGKCXI4Om6FYoI1McHxBNoYAEcm2AjXomm+pFoEqKg686QItMENxQT1zFV5pJigirQ1PxQTrPGLRUz497Q1qFg+BVVSU+Q4d8jK+j/24s9dB/BMm2scioBuVRKgmKCSto2+KCZQTAjVvSgm2HjhWTTNl1SLABVVZ54UgaaYoB60Ax4pJjgAPQaXFBNigBakSoUKFbBo0SKkpqaGNShGJKSUKIaqFUrJceywlfXb9uLQ4SN4pIXcEQoON4vugxCgmOCRbkExwZqYwN0cPHIhxFkz+JIaHwljntTniSMT1DNX5ZFigirS1vxQTLDGT69tRkz4ZdM+/LLtMBpef6Ucpy6x8uNPW3BD5eK4tpL1kRbczcElSaWY4N5EWI2MYoI1McHLC7twZILVq8u++nxJtY+tTMvMk0ya5mxRTDDHKR5LUUyIj6xRTJCTJzNiwkfz1qOkGJUQ59MbAolt2LYXBw8fxSMtrrIM08vP6ZbhOGyAIxMcToAs9xQTKCaE6ksUE2RdZfLt8CVVPlM7LDJPdlANb5NignrmqjxSTFBF2pofignW+Om1zYgJQyek4/Z6VeNmsUWzZMSijN8s34gBnWqbrRKyHMUEywhtM0AxwTa0ag1TTLAmJnA3B7X9ld6yCfAlNT56AvOkPk8UE9QzV+WRYoIq0tb8UEywxs+smJCVlYXXpv6C1o1rynHoMiuzF/6KXu2uhRADrBzczcEKPXvrUkywl68y6xQTrIkJyhLlgCOOTHAAukmXfEk1CcrhYsyT+gRQTFDPXJVHigmqSFvzQzHBGj+zYoIo98yY79H9wYZyHLrMytj/LMabPW51WVQMRyYBigkyaTpoi2ICxYRQ3Y9igoMXZgTXfEl1b26MkTFP6vNEMUE9c1UeKSaoIm3ND8UEa/woJmQToJggpx+52QrFBDdnJ4rYKCZYExO4m0MUnY1FpRHgS6o0lLYaYp5sxRvUOMUE9cxVeaSYoIq0NT8UE6zxsyomzJ3xH/Tq1tEviClzf8CunTvwwVuv4Y13/4MrrqyC8a+/rJV5sFNX9OrWAYsXfe2r067jE6h5XW307dHZz86zfQaj2/+9eFEDA32K+v2GvIav58/CTyuXaP9OypfP57PuTY0wpG93Xyyi/pzpn2L0+EkoVjxZqpjA3Rzk9Ec7rFBMsIOqAzYpJlgTE7y8sAtHJjhwQZp0yZdUk6AcLsY8qU8AxQT1zFV5pJigirQ1PxQTrPGTISYYX+B1e/oLvy4IBIoJT/XojxtqNwgqFOzcsS2oiGC0rfsU514Z1BM31rlJ+ziYmPBY155amVKlL/WJGa3vfQit2jzo8y9rZIKXn9Pl9DTnrFBMcI69VM8UEygmhOpQFBOkXmpSjfElVSpO24wxT7ahDWmYYoJ65qo8UkxQRdqaH4oJ1vjZLSZUvbqmNiLgy7nTNFf6yARZYkJGxiltpIOwJ0ZDBBMTxOiGbVs34eUXn0PVajVx4sQx3+gFvf0UE+T0IzdboZjg5uxEERvFBGtiAndziKKzsag0AnxJlYbSVkPMk614gxqnmKCeuSqPFBNUkbbmh2KCNX4yxATjNIeGjZpq0wcWL1qgvdgXLFgYBQoW9AUZbJrD6PETfaMExIgGMyMTjD6N0xwCp1wYp0qI0RH/HjkYYhpG4KgIWWICd3OQ0x/tsEIxwQ6qDtikmGBNTHAgZcpccmSCMtRRO+JLatTIHKnAPKnHTjFBPXNVHikmqCJtzQ/FBGv8ZIgJoaY5iPMPdHwCzz/7GDauWwPxYi97ZIJYG0E/hBARamSCKPNz+lK8NWaY31oJel1ZYoKcbNCKHQQoJthB1QGbFBMoJoTqdhQTHLggTbrkS6pJUA4XY57UJ4BignrmqjxSTFBF2pofignW+NktJugLI4oRAxQT5OSKVmIjQDEhNm6uq0UxwZqYwN0cXNelEyIgvqTGR5qZJ/V5opignrkqjxQTVJG25odigjV+ZsWErKwsvJa2Gq0bXePnMNxuDvooAX1dg+tr1Q+5m4O+A4PZaQ7hRkME7uag7wgRbmTCnIW/ome7ayEWULRycDcHK/TsrUsxwV6+yqxTTLAmJnh5lViOTFB2GUbtiC+pUSNzpALzpB47xQT1zFV5pJigirQ1PxQTrPEzKyaIci9PSEeTelWRXLSAHKcusXLgyEksXLEJ/R+uZTkiLz+nW4bjsAGKCQ4nQJZ7igkUE0L1JYoJsq4y+Xb4kiqfqR0WmSc7qIa3STFBPXNVHikmqCJtzQ/FBGv8ohETJszfgOTiRVG1QoocpxGsiJEED7S6xa+Uvtiica0Eq8Fs2LYXR44eRcfmV1k1pY1sEKM4eLiPAMUE9+UkpogoJlgTE7ibQ0zdjpUsEuBLqkWAiqozT4pAG9xQTFDPXJVHigmqSFvzQzHBGr9oxITVW/bjv1sOoeENV8px6hIrP/68FbWrJKNGxRKWI+JuDpYR2maAYoJtaNUapphgTUxQmy213jgyQS3vaLzxJTUaWs6VZZ7Us6eYoJ65Ko8UE1SRtuaHYoI1ftGICaLsx/PWo4QYnXBFKTmOHbaybuseHD12DA//y/qoBIebQvcRCFBM8EgXoZhAMSFUV6aY4N6LnC+p7s2NMTLmSX2eKCaoZ67KI8UEVaSt+aGYYI1ftGKCKP/m9F9Rvmwyql1RWo5zh6wIIeGvvQfx9D3+i0o6FA7d2kyAYoLNgFWZp5hgTUzgbg6qeir98CU1/voAxQT1OaOYoJ65Ko8UE1SRtuaHYoI1frGICaLOx/PX43xWLqQUL4SU4gXjZlFGsdji/kMnsPfgMeTJlYVOkkckcDcHOf3RDisUE+yg6oBNignWxAQvL+zCkQkOXJAmXfIl1SQoh4sxT+oTQDFBPXNVHikmqCJtzQ/FBGv8YhUTRL01W/dj9ZYD2LnvOJIuyY0de47JCcYmK5eXLoLTZ//BZSkFcV3lkrhGwhoJgaF6+TndprQoM0sxQRlqex1RTKCYEKqHUUyw99qzYp0vqVboqavLPKljrXuimKCeuSqPFBNUkbbmh2KCNX5WxASjZ7GDgXiRlnU8+eSTuO6669ClSxdZJrVdFmTGGCwwignS0iXdEMUE6UidMUgxwZqYwN0cnOm3ie6VL6nx0QOYJ/V5opignrkqjxQTVJG25odigjV+ssQEOVFcsPLUU0+hRo0a6Nq1q2zTttrjbg624rVknGKCJXzuqUwxwZqY4J5Myo+EIxPkM5VlkS+pskjaa4d5spdvMOsUE9QzV+WRYoIq0tb8UEywxs+tYsLTTz8N8WLerVs3OQ2klYQnQDHBI12AYgLFhFBdmWKCey9yvqS6NzfGyJgn9XmimKCeuSqPFBNUkbbmh2KCNX5uFROeeeYZVKlSBUJU4EECMghQTJBB0QU2KCZYExO4m4MLOnEChsCX1PhIOvOkPk8UE9QzV+WRYoIq0tb8UEywxs+tYsKzzz6LihUronv37nIaqMgKd3NQBDoGNxQTYoDmxioUE6yJCV5b2OXMmTPImzev1lU5MsFdV+yJEydQsGBBLSi+pLorN8ZomCf1uTl8+DCKFSumOQ4UE/755x/kzp1bfVD0KJ1AoJhw9uxZXHLJJdL90KA1AoFiwunTp5GUlGTNaILU3rZtG6644gqttRUqVMCiRYuQmpoK8WyWkZGBokWLKiWxceNGVK1aVfP53HPPaTEJUUEca9eu1dZQcPvhted0t/OOJj6KCdHQcnFZigkUE4zd85NPPkHv3r3x9ttv46abbkLNmjWxZ88ejB8/HoMGDcK8efNQp04dF/do74Y2evRovPnmm3jnnXdQvnx5tG3bFr/99hteeukljBs3Dt9//z2qVavmXQBx0jLmSX2iHnnkEfz88894//33tfvVxx9/DLE47gsvvIBZs2bhp59+QokSJdQHRo+WCKxYsQJ33HEHXn75ZW3RN11MEC9YYjG4N954A+3bt7fkg5WtExDXXrNmzbRnBDEUXhcTVq1apeVN5K9z587WHXncgviRoF69erj11lsxatQoNG/eHF999ZX2nT927Fjt+1/0e5WHEDZy5cqF119/XRM2RG6LFCmiCQrVq1fH8uXLVYYTky+KCTFhU1KJYoISzPY7oZhgTUzw2m4OQv3Onz+/9iuC+MI4deoUMjMztf8KFCigjVbg4QyBXbt2aUMMRR7ErxPiV4oDBw5owVSuXFkTFng4T4B5Up+DH374AS1atNBGIJQqVUp7+N26dau25VirVq0wffp09UHRoxQCQkAQ9zqRU/E9JEZnHTt2DOLXbvF9xVEnUjBbNnLppZdqeRGHGC0iniGOHj2Kc+fO4dChQ75RdZYdedxA/fr1tRd08fyVJ08eiFFXoo+Lvi9G4qg+PvjgA21ag3guFDGIfIojZ86cmDlzJm677TbVIUXtj7s5RI1MWQWKCcpQ2+uIYoI1McHe7DhjvUePHtrIBPGgph/ii+TDDz9Eu3btnAmKXjUCgr8QsIyHEBamTZuGJk2akJJLCDBP6hMh9j9fvXq1n2Px4imG4ophwjzik8DkyZO1fe1Pnjzpa4CYiicWgROjgHi4g8CMGTPQsWNH7QcI/RCCghiRIH5R52GOgBjlIUYmiOly+iHEmRdffBEDBgwwZ0RyqeTkZE0QMh5iVIK4t/IgASsEKCZYoeeiuhQTKCYEdkchIohfv8+fP+/7qHTp0ti9e7eLem5ihiJ+9RajEIwPbPxSd19fYJ7U50SMTmjdurX2a6h+tGnThqMS1KdCukcx2mTfvn0+u+JXUY5KkI7ZssFy5cpB3PuML8EHDx7kqIQoyeqjE/RqYoSCE6MSdP8TJkzQxDtd0BPr00yZMkWb2sKDBKwQoJhghZ6L6lJMsCYmeHU3B+PoBI5KcNEFGzA6gaMS3JUbYzTG0QnMk5o8GUcncFSCGuYqvBhHJ3BUggrisfkwjk7gqITYGIpaxtEJTo9K0FuRkpKC/fv3a3+KaQPr16+PvYGKa3I3B8XAo3BHMSEKWG4uSjHBmpjg1YVdjKMTOCrBXVew8VdvjkpwV26M0TBP6nNjHJ3AUQnq+dvpUR+dwFEJdlK2blsfnSBegjkqIXae+ugEp0cl6C3QBT0h5omFuu+8887YG6e4plef0xVjtMUdxQRbsKo3SjGBYkKoXidGJ4hVhMXK6FwrQf21Gc6jyMfnn3+ubYPHtRLclRtjNMyT+tyI0QnilyjxyxnXSlDP3y6P4mVGzL/v1q0b10qwC7IEu2J0wkMPPcS1EiyyFKMTGjRogP79+zu2VkJgE8SOOGLE1/bt2y22Tm11iglqeUfjjWJCNLRcXJZigjUxwWu7ORi76pEjR7St1YSgwMNdBMSXudgqSmzXxMO9BJgn9blZuXIlvv76a9c8gKsn4F2PYiFGsWVe4cKFvdtID7RMCD5DhgzhdqwWcpmVlYUvv/wSt9xyi7aGlRsOIdKKkUGVKlVyQzimY+BuDqZRKS9IMUE5cnscUkywJibYkZV9q1bij8+mIjMjA8cSfCvGwimlkLNAflRo+yBSbrjRDtxR2WRuLuByW26MiWSe1OdJMN8+dw4yz57B0W3borquvFi4SIUrkDNvXqTedY8r7l1mGPO6UX/dmMlLYBnmiXmKpd84WcfNzwtOckl03xQTPNIDKCa4S0zY/fVX2J42BZdecgny5cmt7ZOeyEdmVhZOn/sHf589i9SHOqJMI+f2NGZu/Huim3JjjIx5Up+n3Yt/wM55n6NCg4YoULIkcubKlci3La3tmefP4+T+/di2+AdNUChV/yZXM+F1o/66iaVDME/MUyz9xuk6bn1ecJpLovunmOCRHkAxwZqYIHM3h70rluOPD9/DlYULeaR3yW3GlqPHULFLV6TUqiPXsAlrzE14SE7mxhgZ86Q+T3tXrsCOmdNxzV13m7iSErPImlkzUOH+B5ByYy1XAuB1o/66iaUjME/MUyz9xm11VD8vcDcHt/WAC/FQTHBvbqKKjGKCNTFB5sIuK5/vidKnM1Agb96ocpgohU+eOYO9+Qqg9ohRypvM3IRH7mRujJExT+rzlP5iX6Redz0KlSql/LqMF4fH9uzBn7+uQa2XhrkyZF436q+bWDoC88Q8xdJv3FZH9fOCzOd0t7GM93goJsR7Bv8XP8UE94gJy595ClcWzI+cCT61IdSlJYbJbT2ZgXpjxyu/+pib8MidzI0xMuZJfZ5W9P4/1Gj+L05tCINeTHlY+9WXqDvKnQum8rpRf93E8iXGPJnI04lTqPfmW7HglVaHeTKRJ4XPchQTpHVt6YYoJkhH6oxBWWLCpk370bbtf7BmzW6tIS+9dDsGDPCf3z506HcYOPAbX0OXLHkSDRqk+jV86dLt6NZtDtLSHkSVKiV9n4m64gi0KYNanfrzsHLZjzGZkrmbw4L77saNVavGFEeiVPpp40Y0mzZLeXOZm8jIncqNMTLmSX2eBPOGT3aN7DjBSyx+521H7l1msPO6iUyJ97fIjNxQgnlyQxYix6AyT9zNIXI+nCpBMcEp8pL9yhATggkA4uV/165jGDPmTuTLlweBf+viw/jxrX2CQkbGOQwalC021KxZBu3bX+d6MUFmOsQDXa3qV8s06Tlbq35b58gDOXMTuSs5lZtAMYHXUPhcyc6TJiZ0fiJyB0nwEos/eM+Re5cZ7Ly/RaYk+7qJ7PHiEsxTZGrMU2RGbijhhjy5gUOix0AxwSM9wKqYIASAHj2+QIcO1/mNMjCev/76slqZhg1TwwoEQmD48MNVePDBa/Hqqz9g3LhWSE7O3l/XrSMTZHYD7UGhZk2ZJj1na9WaNY48kDM3kbuSU7m5SEzgNRQ2WbLzJK6Nmx55NHIHSfASSz7+yJF7lxnsvL9FpiT7uonsMYSYwPub0vsb8xQLgch13HA9RY6SJewmQDHBbsKK7FsVE4QAMHjwt34v/nroRgFg8uRf8NBDaUGnP+jlRRlxiBEJom7jxhV9AoVbxQSZuzmIB7raN9ygKPPx6Sb9558deSBnbiL3F6dyEygm8BoKnyvZedLEhA4dI3eQBC+xZNJER+5dZrDz/haZkuzrJrLH4GIC729q72/MUywEItdReT1xN4fI+XCqBMUEp8hL9munmCDEgW3bDvnWOTh48CTat0/DggWbtVYY11XQpzg89lgtba0EMXVi4cLffXXdKibIXNhFe6CrXVtyhr1lLj093ZEHcuYmcj9yKjcXiQm8hsImS3aexLXR4MH2kTtIgpdY+p/Jjty7zGDn/S0yJdnXTWSPIcQE3t+U3t+Yp1gIRK6j8nqS+ZweuWUsEQ0BignR0HJxWZVighGDPg1Cn/oQuICjKNusWWVMntxWm+qQKGJCnfr1XdxbnA9t5bJljjyQi4dt5iZ8/p3KTaCYwDypzZMmJtzf1vmbg8sjWPpZmiP3LjNYeH+LTIn3t8iM3FCCeXJDFiLHoDJPFBMi58OpEhQTnCIv2a9VkIbTBQAAIABJREFUMcHMmglVq5ZE//5fY9iwpr41EEQzjCMXgokF4twVVxT3TXsQdby+m0OdhjdLzvAFc1v27sOjn0zEb7v+9p2sXvZSfPRwR1QqlYKMs+fQf9ZsrNqxw3dOLzjtp5/xxKTJeK9De9x344WpGCu2/YHe02dcVN6uRqxc/KMjD+Taw7aJ3Oic9PZ/+ewzqHtFBe3PUQu+xivzv/JDc1vVKniv40PYvHcf/vXvN4Ni020E5u+R+vUw7O67kO+SPGFxC7/i6N2sqV+5QydP4omJn6JXs6a+GPUCkfpKMIdO5eYiMcFEngLj1/t+maJF/DgJDi/MnIUR99ytXSPGIzDX+mf9WjS/iHWgv1A5idaf2T5g9C87T+LaqN+mjV8Tt/y9G30+mYSRD3dApUvL+D57deZspKakoO1NF0RTcW7YtBlamRqXl8eE7k/71RG2Oo0dh7U7/tTKPHpbYwzvmD0Sou/Eyfjou4UXdUdRpvc9rfHMux/g21/X+n3e/742eP6eu3znAu0Hfp62ZBkeH//2RT6+HjwAdatUhjF+Y6Em19TAB093RfFChbTTy2bMcOTeFfbm8L8Pzd7fzNgKVkZ8T4j7W+C1od+DRB1xHyxeIHuNpFDXo2473H021hgj1ZN93UTyF+xz2XkK5Kh/vwe7/+vxGJ8BxH1s95Gjvu+hYN9xop7+PSfyG8pnLDyC1fFinozXhJnns2B5MF574rrrM30mnm/ezPe9pl9zHy9brmE15kxWbox2VOaJuznYkUE5NikmyOHouBWrYoJogNndHERZXQzQpzyIhRubN6+sTX8YMKCx3yKOQmxYvHi7tiPE6NHZWze6TUyQmUDxoFC3USOZJv1sbdm7F89Pm4lX77sHlUqV0j5b8fs29E6bjo8eexjlihVDvxmzcDQjA81rVMf9tW7834PdWQyf96UmQrSrU+ui86JQ9XJlfedta4CId9EiRx7IzeTms1U/IW3lKrzfqSOKFyyAQydO4vEJE9H7X81Qt+IVGPnlAg1Nn3818yESdbYfOOh3Llg5kbtHP/wEo9req9kShyi3+8gRvNLmbuS75JKQ2IPZE4UD4zMaiNRX9P5jrONUbowxmMlTMFDiOkhLX5V9j2l5p5Y/cQTjoNcXuVu+9feI/IP5C5WTaP2Z7QN25kkTE1pfeDnXuO3ejT6TJmNkh/aoVMYgJsyeky0m1K+HjLNn0XfyFJQpVhTP39U6m/fu3eg07m289nAH1K1c6aK/RZlXZ8/B7sNHMLz9A75+H8zfoeMn0Pntd9HnrlaaLXHoPts1qK+dW7F5C3p+MgkTnu7qizPQftqy5Vi+abOfP1Fv5Oy5+KBrFxQvVFCzHcyfkfuyObMduXeZuR/Het2YsS3KiOtL9NVi+fNj1P33+q6vcOeDXY/CVqT7rNmYoi0Xz/e3YG0NxbGt4Tte5x3sPifuVW8t/F4z/VTjW33PFOG+W8z6jDY3dt7fYonFjutJ3LvMPp8Ffr/odcsULao9a4jv/t6fTccLdzTX8qY/Cxhzb3w2DPZ9HwsXt+XJahtY3zoBignWGbrCggwxQTQkcJqCcT0EvaFipMHAgdlbP4rj00/baqMOhBgxdOhC35QG/XPj9pFi/QRjXVEmmI9YoNapPw8rl2WLFU4e2hdQk9ttC2HLnr14/rNpePX++1CpdLaYII6R877U/v/M7beh37QZqFn+Mmzbvx9977xDe1gX9SYtW6aVqV62HO6vU0v7t37+vlq18MaCrzGq3f0oXjD7wdquY8W33zjyQB4pN4dOnMDjH01A7xb/Qt0rK/qav2Lr70hbmY5X7muDN7/5Tjvf545/Bf1cFwT0fASWGzX/S7z/aCcf41D5DGQfzJ4oEypmPbfh+ooxNt2fU7kxtjdSnkL1S8Ho5iqV8eOmzUgtUcKvjwfjIOx8tnIVlm/dquU2nJgTzGeonITLaTB/4XIYqq2y8ySY17vzTj93W3bvQZ/JUzCy/QOoVKb0hXvNnM+RmlIS99erixVbtmLqsuUY/kBbP37G82t2/ImRcz/HB10ev9Dvg9gO5k+w6fzu++jTqiXqVrryohha3nA9+k5JQ7v69fw+1wQHw/nPlq/Ass1b/OIUtntN+g/63tXK175Q/nTHy7/4wpF7l5l7cazXjRnboox+HyyULwktrrnGd48U10FK4UJYvGmz3/dHqOvRzH022mvRdBsc+u6RcX8zew8Kdo8JdZ8T5/Vj+4EDft9rofIU7L5n5T4arF2y729m+4ddedLtaoKAyeezYJyN3y3JBQug99TP8MKdd2jPgiIHgTnUv+OCnY+FSWAdN+RJRjtowxoBignW+LmmtiwxwTUNiiEQK2KC7N0c6jW/8KIZQ1PCVtmyZw/6TEnDyAfaolLpCw/4K7ZuxdTlKzHw7tZ4adYc3F79asxY9RP6trpTK/fZipWa3e37DyC1ZAncX7eO9rd+Xvw98vN5uPmqKqh75YWHdtnxC3vLv/rSkQdy7YUpTG4Ew5Gfz8cHjz8aUlARjMTRp+UdPjRmz2kvKu9/hH3HjuLjLo/75S8S52A+RB3dZp+WLS7KW6S+MrztfRe9QDuVm8CHuGivIcFB9HvR/w+eOIFJi5eib+uW/xPSgl8zev9ftmUrgrGINSehuIfzJ/JrvC4j+Zadp2DXRqh2GGMNFbexbnLBgqb6fTB/wfq38ZywPXzuFxj9YLuLrlnjNSPuc4F5Dna9h7uenLx3ReoP4vNI9zczNsKV0b9japYvj/3Hjmn3QP26a1evDt5b+L0vD+GuRzP3Wauxhqov+7qJJU6ZeRIsm40YhUduuTnsPSxY/xcvtsPnfI4ODRtAXEf6/VP/MSHUtWDWZyxs9Dpey5PeLk3kTJtm6vks2He+Xl9cb5VLl0av/0zVnvHKFS+u2RXnA5/f7LzeVOaJuzlYuaLsrUsxwV6+yqxTTACsiAkyF3YJ9gufzI4Q6tdC/ZfAgW3uxkszZmm/1P24foP2C6L49W74rDnocHNDzEpf5ftVUXuY+N958cujsCHq9GndUmbIF9ly6te9SLkJ9SursQEj53yOYbPm+LXpkUa3XPTLrCiniQ5BWIpfSR9/9wPt8xrlL8PHXbv4/fIbDH4oe+F+SY3UVwJ/TdZellzwy2ukPAXjY+y7gf06FAft5d6QC6PdBf1f8PulO5qcRPIX+Au5sC3yq//ab+bik52nYL9qi1/BHv3gQ6z9a9dFIb33SCdt5If49cw4CkQvKPql8VczjfXKVXji4wnZ/b5cWXzU+TG/0VXBRnTov45+t36DXwy6f1FnxBfzgo6oMv5SZ/StGwoWQ6RRIm7+JS6W68ZMX9PL6PfHRxvdgjfmfYXRHR7E5t17tO+Mu2vXwvDZc7Vz4mU03PVo5j4bTVzRlJV93UTjWy8rO0/6KJyPF/2guQj2fRRsZI64T036cTH63t1aE13FPejmalf57nvhvlvM+IyFjV7Hi3kSbTOOmIr0fBbsO99Yv3KZ0r6RVeWSiwcdoSV8ijwbr00reQmsqzJPMp/TZTKgLYBigkd6AcUEd4kJgXOPZXazUPOY9TnBA+9rg5emzYCYTyyOH9avxz11amP4zNkY3bED3v/uO998Z31u89o/sxdFE0eTGjX85hDLjF235dS842Dzwo3tCzaHOrD9Yi62OPT54aH4mC1nxqfwEcpeuDnekfqKcb6607kxcoyUp2DMBZ9hM2b5ffR+1y7avP5QHEThYHPpzfb5UDmJ1p++BkC9KpW1eM0csq+hYPODQ639IObyppZI1tZXMf7bGHfgfN7ANom5vKO+XOBbm0R8HsxfuDVB9Doj5n3lN4df92VcyyRwbYxY1iARdt0w5z5U/4jlujHT1/Qy4l41dekyDLy3DcbMm4eOt9yMmSvTte+T6yuk+r5jxPoT4a5Hs/e8aGIzW1b2dWPWr9X7WzR+gt2Xgt3nxLnH337Xz3T/Nnf7vtsirR9irGj2+85sO7yaJ+N6L4JFuOezYEyNOalcpgx6TZyEvvfchXLJydraNfo6MkbO4vtIf/7T14Yxm4dI5VTmiWJCpGw49znFBOfYS/VMMcGamJCWloa2beVsixZsVXSZyQ63wrrw0/3OFtrq6O0aNkDlS8vgpbTp2qrqJ06f1lY/N67ELv4tDuOq6MFWapcZv7Dl1IrokXJz6PhxdB73Nvrcc5e2wrt+COYTF/2Afvfdg7FfzL+IWTA+wdiKFeXFYVwFX/jsNWEi+ra5x2/1+0CbweyJMqFiFp9F6ivGvOv+nMrNRQ/bATsLhOuDwdopzg2fMROjO3XEweMngu5KIGyKnCzfuEnbWSDaedqhchKKeyh/4XIYqt2y8xRshflQu1KIVcZTk5O1HWHECv/iRT1wRxLj+S9+/VVrhnEHmWArkQfzF263EmFTX71cCBv6jivBzovV55f/vs0Xp263ba0bL4or1O4owq7K1cujve9Gur9Fay+w/IpNmzF18VLtWpmb/hMOHDuGn3//Xbt3iSPc9Wa8HkXZSPfZaK9Fs22Tfd2Y9Wvl/hbKh3gxfWXaTHRsdIvfd4cxTzrHwPtcsHtO4HdRsDLR+IyFTTx/D5lpryYmWHg+M363JBcq6PfsIHK8fd8+v+c5/Tsn2Hkz8UYqo/J64m4OkbLh3OcUE5xjL9UzxQRrYoLMZIgHOjv3a9/899/o8/EnGPnIw6h86aVa6OJlqOeHH2NCj+64rEQJvPDJRLRr2BDXXlFB+/dH33yHr18ajHpVq+DV6TORWioFTa6tic5jx6FPm3u08/qRtngJlm3ciBEPd4z65cosR6f2ajeTG9H+qT8uxgfdn0ZyoUI4KASGsePQ7uaGaNvwJo2fOJ6/N/sBOtQRrFyw3AX6i8aeKKvHF5hH8VmkvqL3H6NPp3IT+LAdzTUUrM8auSQXLnTRNSOjv4fqC8G4h/Mn7Px9+FBU15zsPGliQv0LWz2KeLfs24cXZs3FiLtboVLKhS01R339LVKTi+O+G65Hxrlz6D/7c5QpUhi9mzbRminqPTpxMka1uRt1K6QGtTPt5/8i7af/4r2HHvBtJRjMn/bS/+kU9GraRLMV7Fjxx3b0njELH3Vs74tTxLj76DEMu6sl8uXJA+Fv+bbtvr+FHVFv9Nff+sUQyZ/KfdXN3k/1cmbub9HaNJYX3zNTFy/W+unqbX+g6cDBePT227S/dx44gOHTZmD0o53w7eo1F32HBN6nIt1nrcQZrq7s6yaWOGXmKfDeJ15WxXf+pcWK+31HBZYTuRw5Y6bve060Q69bv2pV7bsu1HeLWZ+xsNHreC1Pert0xpGez4I9awTmVuSn10cT0Pe+NtqzYOCzivBpfDYM9n1vJUeirhvyZLUNrG+dAMUE6wxdYYFigsvEhAez90+349i8axc6vfYG1m7f7jNfIzUVE3o+h8plyyLjzBm88PEnaHfLzah3VVWk/bgYU7//ER/06K69HL86bTpSS5VC+ZIlMXLaDN953Zhu/7XHH9Pq23Es/c9kxxZgbGAiN4JZ5zfG+pr+wXPd0fbmhtrfgp84nr/v3rBoQpULzF+Ta6+9KAfBDAt7L09J8/voxQfaonPzZug8Ziy+Xb3a77Ovhw2FeIkO11eC+XEqN8ZYtIdtE3kSdfT+Xr/aVb4c6bYEs78PHkLnZk3R5c3xQa+ZX37f5pdrve6jTW/HiEceRr68eUPmOVRO7q5fLyT3YP7M+AoMQnaeBPPatWv7udmybz/6zv0Cw8UiriklfZ+N+nYhUosXx33XX+t3bvjX32p/Vy9TBh+2b+dXR9h6bPJU/LZ7t1amceVKeO+BtiheIL/PRjB/h06ewhNT0tC7SWPUSb08ZC4C7fdt2kSrox/T/rsay7dvx7CWd2jigtZ3hBDy+TyUKVzYVzaSv/T0dEfuXWbuw9FcN2bsBZZZvmEjpv7wo3ZdnDp7VrvvtLv1Zu26E/e14WnT8PLDHbTvlXDXo35dhbvPxhKfmTqyrxszPgPLyM5TIEfxvRD4/STKLFu/wXdPC/X9ZHxeEHGLHPe5r81FzwJmfMbCRq/jxTwZv68iPZ+JayrU94ueW01MeP9D9G17n/bsZ7T/0dfZO66Zfb6INVduyFOssbOePAIUE+SxdNQSxQRrYoLs3Rxu6tDR0f7gdudLJk105IFcPMQxN+F7h1O5MUbFPEW+gmXnSRMTbrghsuMEL5H+88+O3LvMYOd1E5mS7OsmsseLSzBPkakxT5EZuaGEyjxxNwc3ZDx4DBQT3JubqCKjmGBNTJC5sIv2oPDIo1HlL9EKL/n4I0ceyN2cm+Xr1+P23i8E7QovPtQeLzwgZ02PSH3NqdxcJCa44BoaMSUNL386OSiyb0aNQL1q1SLhtO1z2XkS10atmjVti9crhletWePIvcsMPzff38zEr6KM7OsmlpiZp8jUmKfIjNxQQmWeZD6nu4Gdl2KgmOCRbFJMcJeY0LDzEx7pWfY0Y/EH7znyQC4e4pib8Dl1KjeBYgLzpDZPmphQ/Wp7LngPWV312zpH7l1mEPL+FpkS72+RGbmhBPPkhixEjkFlnigmRM6HUyUoJjhFXrJfignWxATZuzk0fLKr5Ax7y9zid9525IFce9hmbsJ2Jqdyc5GYwDwpzZO4Nm6sas8aKV66e/20caMj9y4zDHl/i0yJ97fIjNxQgnlyQxYix6AyT9zNIXI+nCpBMcEp8pL9UkywJibITMfyXj1wzb9aIGeuXDLNesZW5vnz+HX+PNR77Q3lbWJuwiN3MjfGyJgn9Xla1q0LKhUuhJw5cii/LuPFYWZmFracOIH6495xZci8btRfN7F0BOaJeYql37itjlueF9zGJRHjoZjgkaxTTHCPmJA+oB9Sr7sOhVJKeaR3yW3G8b17sGPtWtQaPFSuYRPWmJvwkJzMjTEy5kl9ntL79kHpUyeQP8zuFSYuMU8XOXnmDPYVLIxaw0a4sp28btRfN7F0BOaJeYql37itjlueF9zGJRHjoZjgkaxTTLAmJsjczWHfzz/hj7T/oObdbTzSu+Q2Y83M6aj4YAeUuO56uYZNWGNuwkNyMjfGyJgn9XkSzH9/9y1UKlTQxJWUmEU2HzuOyk8948i9ywxxXjfqrxszeQkswzwxT7H0G7fVUf28wN0c3NYDLsRDMcG9uYkqMooJ1sQE2Qu77FmyGDtmz0CFm29BwZRSCT/lIfOff3Bi/35s+34RUu+7H6XrNYiqf8sszNz403RTboyRMU/q8/T311/hj4kTULZQQeTLk4dTHgBkZmUh49w57Dp+AhUfeRSlb2sq83Yk3RavG/XXTSxJZJ6Yp1j6jdN1nHxekP2c7jRLL/mnmOCRbFJMcJeYILrV/p9/wvY5s3H+TAaObtvmkZ4WWzOKVLgCufLlQ4W77nHFr3rMzYU8ui03xh7GPKnPk2C+LW0KMk+dxLG9e2O74D1Uq3BKKeQqWBBXtHvQFfcuM2h53ai/bszkJbAM88Q8xdJvnKzj5PMCxQQnMx/eN8UE9+YmqsgoJlgTE2Tu5hBV4liYBEiABEiABEiABEiABEggJAHu5uDezkExwb25iSoyignWxISoYLMwCZAACZAACZAACZAACZAACSQ4AYoJHukAFBMoJnikK7MZJEACJEACJEACJEACJEACcUCAYkIcJMlMiBQTrIkJMndzMJMvliEBEiABEiABEiABEiABEohMgLs5RGbkVAmKCU6Rl+yXYoI1MYELu0jukDRHAiRAAiRAAiRAAiRAAhII8DldAkSbTFBMsAmsarMUEygmqO5z9EcCJEACJEACJEACJEACdhOgmGA34djtU0yInZ2ralJMsCYmcDcHV3VnBkMCJEACJEACJEACJEACGgHu5uDejkAxwb25iSoyignWxISoYLNwXBPIzMxEzpw547oNDJ4ESIAESIAESIAEnCTA5ykn6bvHN8UE9+TCUiQUEygmWOpAHq986vhp/LZ0C7b9uhMnj2fgbMZZj7eYzSMBEohnAiXLJmP/roPx3ATGTgIk4HECSfnzIl+hJFSsUR7VG1ZCvgJ5Pd5iNi8YAYoJHukXFBOsiQl27+Zw4uBanNr/K04f+x1nT+7GudOHPNLzQjejQLErcf6fs8hbuAKSilyJ4pc3daTNQkj44t3vUahwIZQqm4LCRQs5EgedkgAJkAAJkAAJkICXCBw7fBx7d+3D8ePH0bJrI9sEBe7m4N5eQzHBvbmJKjKKCdbEBDsXdtmz7kNknTuCPHnzI6lASSQVLIXcefJHld94LZxxYg/OnNyHc2dO4+i+tSh3Qx8kFU5V2pz0+Wtx8K9jqHR1RaV+6YwESIAESIAESIAEEoHAlt9+R4nLC6NW8xq2NNfO53RbAk4goxQTPJJsignuExOyMs9j6/dPIblcbRQvc61HelrszTh7+ij+2jgXpap2QoGS6nhMHTkfla+uxBEJsaeONUmABEiABEiABEggJIFjR45j87otaNenhS2UKCbYglWKUYoJUjA6b4RigjUxwY7dHDZ/+xjKV79PG43A4wKBP3+bjiLlW6BI2Ya2YxGLA00YNAs3N29guy86IAESIAESIAESIIFEJfDjgmXoNPguWxa55m4O7u1VFBPcm5uoIqOYYE1MiAq2icK7f30LSfnyo1hpe4Z7mQjB1UU2LnsdlZt8jJy5LrE9zrd7TcHtdzey3Q8dkAAJkAAJkAAJkECiEvhm1iJ0Hf1AojY/YdtNMcEjqaeY4B4x4fien3D87+9waaUmHuld8ptx8uhOHDnwB8pe20O+8QCLFBNsR0wHJEACJEACJEACCU6AYkJidgCKCR7JO8UEa2KCzN0c/l4zFvkLFEbRUhyVEO7y2rhsDCrf9gFy5k6y9SqkmGArXhonARIgARIgARIgAdgpJnA3B/d2MIoJ7s1NVJFRTLAmJshc2GXb4p649MrbtF0beIQmsP3XKUip9jjyF6tiKyaKCbbipXESIAESIAESIAESsFVMkPmczlTJJUAxQS5Px6xRTHCPmLDhy7a46qY+jvWFeHG85/fvcEmxa1D88ua2hkwxwVa8NE4CJGAgMH7CGO2vbp0uTOHa9udWvPnRaxjYYxiKFSkektfPv6Zj9oLp6N99CNZtWot2T7XGVVdejcfbd0P66uXa+aS8+UzxFrbGfzIGrw0cH9anKWMsRAIkQAImCNg5MoFigokEOFSEYoJD4GW7pZhgTUyQtZvDudMH8efKQah4/SOyU+w5ewd3pSMzZzGUrNzO1rZRTLAVL42TAAlIEhOMIOd+PUP7s1XTNjHxpZgQEzZWIgESsEDATjGBuzlYSIzNVSkm2AxYlXmKCdbEBFl5+uf0Ifyx7HlUqvWkLJOetXPwr5U4n7MIUqq0t7WNFBNsxUvjJEACUYgJh48e0kYpFCxQCFPnTNJqTn1rDm64pjb0kQk1q12PvsOzRzY817kP6l7fwDdiQZwbNnbQRXXFeTEC4rmBT2LD1nVavZ/XpnNkAnsnCZCAMgJ2ignKGkFHUROgmBA1MndWoJhAMcGdPTN0VBQT4i1jjJcESCASgUjTHISYIF74Oz/YVRt1IMrv2b/bN7VBn+bw9Q/zsfPvP7XpEsbpDx9OeUcLQT8/5PV+eOOld7SpDD1f6oa7mt3rs0sxIVK2+DkJkIBMAhQTZNKMH1sUE+InV2EjpZhgTUyQtZsDRyaYv6AoJphnxZIkQALxQcCMmDD0jQEY8NxQXFH+Sj+hQKyTEE5M6Pbwc+j3ak90e7iHNpLh9JkMbZSCEBCKFS3uty6D2XUa4oMqoyQBEogHAnaKCdzNwb09gGKCe3MTVWQUE6yJCbIWdqGYYL7bUkwwz4olSYAE4oOAGTHBuBhj4KKLZsSExSu/94Px2sBxKFv6Mr8FFykmxEd/YZQk4CUCdooJsp7TvcTbLW2hmOCWTFiMg2ICxQSLXUh5dYoJypHTIQmQgM0ExMKJ+vQE3ZVxMUR9zQR9Z4doxYRX3xqKZx7tqY1qMB6B4gHFBJsTTfMkQAIXEaCYkJidgmKCR/JOMcGamCBrNweOTDB/QVFMMM+KJUmABOKDgBAH9HUMxAu/PhWhdMky2joHgS/50YgJYmtI45oJ+oKLg/7vFVxdpYY25aFWzTpcMyE+ugqjJAHPEbBTTOBuDu7tLhQT3JubqCKjmGBNTIgKdpjCFBPMk6SYYJ4VS5IACcQPASEQtHuqtS9gsbOCEBLEYVVMEDaMuzmIKQ769pHG3Rz6PTNE8/V/T7ygLc7IgwRIgATsJmCnmGB37LQfOwGKCbGzc1VNigkUE1zVIU0EQzHBBCQWIQESIAESIAESIIE4IOAmMWHoUGDgwAvQliwBGjQID3HTJmDwYGDcOCA5OXRZUa5tW6BuXWDMGCBfvuyyGRlAjx7AihVAWhpQpYr5pE2eDCxe7G8vsLbZ+Mx7lVOSYoIcjo5boZhgTUzgbg7quzDFBPXM6ZEESIAESIAESIAE7CBgp5gQzW4OQkjYtevCi7n+8j9+fHhBwezLuijXvTtQrBgwZMgF0UCcHzQIOHwYGDuWYoIdfYw2bSRAMcGamCBrlVhOczDfyVWICZmZmfhkyGw0bFrffGAsSQIkQAIkQAIkQAIkEBWBxQuW4eHBdyFnzpxR1TNT2Oxzuj46oGFDoH37C5aFwCCOXr2yRw906JAtLBw8CDz9dPaIBHGI/9euDfzf/wE1awYfYaCLDqJcSsoFP2J0wb59QHp6th0xMkEXMtasAZo1A0QZfdTD0qXATTdl+2naFDh2DHjlFaBfv/Dx6SMn9Poi7i5dLognxvOBPs2wjrYMRyZES8yl5SkmUExwadcMGZYKMUE4nzpyPipXq4TCxQrFGyLGSwIkQAIkQAIkQAKuJ3D08DFs3bAVbXu3sCVWs2KCcC5e2B96CHjpJWDAAP9wdLEhlJggpi+0aZNdL9TUA11MaNcO+PLL7Jd4cYjkygs+AAAe40lEQVRRCa1bZ0+TEGJCiRLZQoPwJf5vHDHx55/ZUyXEaInrr88WOMRhVkw4cCB7dIQYAVG+fHb9smWBp566II4IMUO0QRxGYUV2gigmyCbqkD2KCdbEBO7moL7jqhIT0uevxcGdx1CpekX1jaRHEiABEiABEiABEvA4gc2/bUXJy4uiVvPqtrQ02t0cxIgD8QK9YEF2OLqwEElM0F/QxYu4cdSCcf0DXUwQUxyEgKCPavjww+wX/N69/Uc66CMJ9OkRQgAQYsCkSf6jCcTfZsWEr77yX2NBjEYQ9V988YL/aNZssJI0iglW6LmoLsUEa2KCrFRymoN5kqrEhIyTZzB33EIULloYpcqloHBRjlAwnyWWJAESkEng8NFD6PlSNyxe+b1mtl3rDhBbPiblzV7BK/DzhnVuxWsDx2s7MuifdXu4B264prbMsGiLBEiABGIiIEYk7N21D8ePHkfrbo2RVCBvTHbsrGSc+nDPPZGnOegv/5HEBFHurbeAxo2B7duBbdv8RwYIwUCMRtCnNhjt/fRTcDEgGjFBjL4wHvqUBuFXjHoQUyuM0x/sYkwxwS6yiu1STKCYoLjLWXanSkwQgQpBYfW3G7F94y6cOpGBsxlnLcdPAyRAAiQQDYETGccxYf541K52E2pfdZNWNX3DEmz9axPuvbUDzv5zxvf5nU1aY9+ug9rn6euXoFOLblp5Uf9fde9GxbJRLBMeTZAsSwIkQAImCSTlz4t8BZNwedWyuO62qq4QEsQLe//+wLBh/jsyiBd68bIfuGaCcbSAaLZxZILxs2AjE4SYsHEjMGdO9noHYjpD1aoXr8FgZWRCYHz6bhNiZIJoT+A0jsDU6e2OVM5kyoMWo5hghZ6L6lJMsCYmcDcH9Z1ZpZhgbJ1YlNGOxYHUE6RHEiCBeCIwefJkLF68GGPGjEG+/+0llpGRgR49eqBDhw4oUaIEunfvjrFjx6LK/55cDx48iPbt22PAgAGoWrWq798NIu1xFk9gGCsJkEBcElD5PBXtbg4CqP4CrU95EC/7+sgEsb6Avi7CqFHZCy2KQ/yiL6YpiCkSkdZMECKBPgqgdOkL6xPoCzqGWzPh1KlsHyKGYGsmhIpPFxOMayaIrwt9PYauXYERIy5sb8k1E+Ly0nImaIoJ1sSEaBZ2CZdhM9McNm3Zju59RmPsyF6oUinVZ27oqx/gitSyaN/2XxD/HjjsHT9XL/V/EgOe76ydEzbaduqHurWqY8zw/0O+fEna+YyM0+jR93WsWPUb0ia8cpH9Xbv3+ZUPbIvwq92A/+dH//zgoSNo33kABvR5DA3qXutXTY9lzdrNvvM1a1S+yH+gL6fEBGeuUHolARJIZAK6aNCwYUNNEAh26GXeffddLFmyBIGCgVFYoJiQyL2JbSeBxCMQ7XO6eLkeOPACp08/vbAIoXGHhddfv7D7giht3M0h1E4Ixi0k8+e/sPihEAYCp0aY2c1B+H33XWDr1uytJvXFGcU0hWDxBdvNwRirvgClsMtpDol3rcTcYooJ3hMTjC/1ukhQtkyK9qKvCxLFihbGkH5P+EQDcX7QK+/h8JFjfmKFOD9m/H+0/tWj24N+IoOx08UqJgSKI0tXrEa3niPDCgoUE2K+3FmRBEggzggYRyBEEgKWLl2Km8R+Yf87dGGBYkKcJZ3hkgAJSCMQrZggzTENRSTAaQ4REcVHAYoJ1sQElbs5mB2ZYBQTxL+N9TT1dPh7qH3D1UgpUVwbzSCOyWlfYt+BQ0j/eR0G970gMojz+rFt+66LRh7on8kSE4S9ULZ0XxQT4uPewihJgASsEzAzMiGYFzG0V5/6IKZB6FMeIgkS1iOmBRIgARJwD4Fod3NwT+Tej4RigkdyTDHBmpggqxvInOYQKCbooxM6tGuBEslFNTGhXZtm+PKbpdrUBXGIUQmt77gZ4977zCcmiHri/GMdW2n1+r/0FoYNfArJxYte1GyZYoIYnTBp6vyQ0yooJsjqdbRDAiQQDwSCrZmgCa9Dh6KxWA4cwMKFC7X1EfTDOKKBaybEQ5YZIwmQAAkkFgGKCR7JN8WExBQThvTrgkGvvKsJB+L4cOJcdH+yLXoP+LdPTBAjGsR5MR1CrK0gBIPGt9x40doH2kNtjGsmBFsDgmKCR24ubAYJkIAUAvo0BbHYor5ughAYJk2aBPF/cQSOPBBTHrp16wYxeo4jE6SkgUZIgARIgAQkEqCYIBGmk6YoJlgTE1Tu5hDrNAfjIoj6yIRxo/vgrfena+LA9h27IaYwPPX4vXi610ifmCCmODz0+IVfukQ/NS7maOy3MsUE4Xfx8l84MsHJGwN9kwAJuIqALigsWLBAi6tZs2aakJCcnKz9Hfh5zZo1NSFB7O4Q+JnesGCLNbqq0QyGBEiABCwSiGY3B4uuWD1KAhQTogTm1uIUE6yJCbIWdjEzzUGIAsaXfdGn9CkMDetd59vNQZw37qoQbM0EISZs3Lwdc+b9iGPHT0BMgahaOdVnX4gOgbswBPOv92uZYgLXTHDr3YJxkQAJkAAJkAAJkED8EJD1nB4/LY6fSCkmxE+uwkZKMSF+xITAnRlEYgN3Pwh8EQ+2m4NYM0GICQcOHtG2iSxdKhmTPxiq9RNdrBCfDR35oXZeXyMhULgwdixZYoLbdnNQuReyR24pbAYJkAAJkAAJkAAJhCSg8tmKYoJ7OyLFBPfmJqrIKCZYExNU7uYgEqu/0L/70UwtzzVrVPbbRlG81A8c9o5fHzBOTRCjFHQxIX++JPTo+zr0bSONIw8+m/mtZsM4wkH8LaYgTEqb7ycyiPOh/IqpE2KEw4Jvl/vFtOTrD7RFHYWYsWbtZt9nge0J1pntXoDx1PHTWLdsC7at3YmTxzJw5tTZqK4pFiYBEiAB1QRy5MyBrMws1W7pjwRIgASiJpBUIC/yF0pCxWvK4+oGlZCvQN6obZitwN0czJJSX45ignrmtnikmGBNTJCVFDPTHGT5inc7dooJQkiY9/73KFKiEMqkpmj/50ECJEACJEACJEACJCCPwNEDx7H7j304evA47uzSyFZBQV7UtCSTAMUEmTQdtEUxgWKCg90vJtd2ignpC9biyN5jqHpjxZhiYyUSIAESIAESIAESIAFzBDas+h3FyxRGraY1zFVgKc8QoJjgkVRSTLAmJqjczcEjXc5yM+wUE6aOmo+r61TiiATLWaIBEiABEiABEiABEghPQIxQWLdyC9r1bmELKu7mYAtWKUYpJkjB6LwRignWxARZC7twmoP5a8EuMUEsCDRh8Cw0adfAfDAsSQIkQAIkQAIkQAIkEDOBb6cuQ6fBdyFnzpwx2whVUdZzuvTAaBAUEzzSCSgmUEyIt65sl5ggOLzdawrueLRRvCFhvCRAAiRAAiRAAiQQlwTmfbQIXUc/YEvsFBNswSrFKMUEKRidN0IxwZqYoHo3B+d7jPMRUExwPgeMgARIgARIgARIgARkELBTTOBuDjIyZI8Nign2cFVulWKCNTFBVsI4zcE8SYoJ5lmxJAmQAAmQAAmQAAm4mYCdYoKb253osVFM8EgPoJhAMSHeujLFhHjLGOMlARIgARIgARIggeAEKCYkZs+gmOCRvFNMsCYm3HPPPZg4cSIKFixoqUdwZIJ5fBQTzLNiSRIgAXsJ/P7HVgwePgCD+w5FxQpX+pyNfXsMyl9WHnfd2SZkAKLuG2+9hpf6D0O+pHx46dVBmPzZJDzSvjMOHj6gnS9WtLipBhw+cgjP9umG7k/2wI3X176ojv75D0u/1z5rf38HDHx+CJKS8ml/B35+S4Nb8e+R4zX/4WyLNjzd80ms37TOz2fPp/uge9cepmJnIRIggcQmYJeYcO7cOaxatQr169dPbMAubT3FBJcmJtqwKCZYExNatWqFUaNGoUqVKtGi9ytPMcE8PooJ5lmxJAmQgL0ErIgJxsjEC/uof49A72dfMC0gBNYPJSboYsA9re71iRuzv5iB9J9XaoJCxukMTYgI/Hzm3OmaoCCOULaDtT+SsGFvRmidBEgg3gjYJSasXr0ajzzyCH755Zd4Q5IQ8VJM8EiaKSZYFxMef/xxtGzZ0lKPoJhgHh/FBPOsWJIESMBeApHEhOZNWmgjDkqnlMFr40Zqwei/2usjE/7v6d4YNKw/xKiBalWuxvM9+mHG3Gm+kQk//TcdbTq01uoaRxScPp3hG80gzv+1a2fQkQlG4UAfiaDXvaflvShWrPhFoyuMgkDFK66MSkwQcZoZmWFvZmidBEggXgjYJSbMnz8fc+bMwbvvvhsvKBIqTooJHkk3xQRrYsJff/2FPHnyoFSpUpZ6BMUE8/goJphnxZIkQAL2EjArJogoxCiA39avxYCX+2Hca+9ogenTHLTPh/XHc0/19Dt/6PAh34t+2TJlfcKEmEIgXtj37NvtsysEhxmT5vhNc9BFg9o31Ak55cIoSgTWF8FEmuYQOM2DIxPs7XO0TgJeI2CXmDB16lRkZmbiwQcf9BoyT7SHYoIn0ihepG/GymV3eKQ1sTWjTv15WLnsx9gqS6pFMcE8SIoJ5lmxJAmQgL0EzIoJ+su8eNEOJhqEEhN+WLLINx1BjCoQoxRmfj4dfZ7ti5H/Hg4xskCskWAcaWBcMyHU+WBUjCMgxOe6sBBJTAi2ZsK/Xx0Xdr0Ie7NC6yRAAvFEwC4xIZ4YJGKsFBM8knWKCdZGJsjqBhQTzJOkmGCeFUuSAAnYS8CsmKC/9MciJjz7/NN+jRCLIw7pP0ybGqEvuBhJTAg3MiEYIWO7ihcrbnqagxAkxr4zxrd4o730aZ0ESMALBCgmeCGL0beBYkL0zFxZg2KCdTGhc+fO6Nq1K2644YaYc0wxwTw6ignmWbEkCZCAvQSM4oC+m4NxaoG+ZoIVMeHPnX9etDNCoHgQbgRCsDUTBBUxTaJ+nQYaoGUrl/r5MNqLds0E4/QLfY0Ge7NA6yRAAvFMwA4x4eDBg9iwYQNuuummeEbj6dgpJngkvRQTrIsJYmvI33//HUOGDIm5V2RlZWLT1x1Qtf7/xWwjUSru3bYQeYpUQ/FU+dNz3u41BXc82ihRULKdJEACFgnoL91igUV9K0Tx67y+LoK+zkGsYoJxzQQhVhhf1L/6dr5vCoRYiyHYmgmieaF2cwi3W4OxDdGMTDD6C7VNpUXkrE4CJOAxAnaICeKHvnr16uGxxx7zGC3vNIdigkdySTHBupggFncRizCeP3/eUq/Y9uNzuLRycyQVKGnJjtcr71ibhhJVO6FA8WrSm0oxQTpSGiQBzxMwLmAoGit2ZBALLIqX/8ARA9FOcyhWtLi2ToK+m4OY4iC2axTnA3dzKFiwEJo2aua3AKMOXxcUxI4R4jDaMQoA+ufGNgTW1W2KNRWC7QQhPhejIXSxQsTKgwRIgARCEbBDTLjsssuwc+dOQncxAYoJLk5ONKFRTLAuJgjeGRkZyJUrFy655JJo8PuV3bX63yhYqBiKpFwds41EqLhp+Vhc2eht5MqTX3pzKSZIR0qDJEACJEACJEACJBCSgGwxYcWKFTh06BBatGhB6i4mQDHBxcmJJjSKCXLEhGiYhyp79O8lOH1oNUpdXk+GOU/ayDi5Hwd3r0O567K3T5N9UEyQTZT2SIAESIAESIAESCA0AdliAlnHBwGKCfGRp4hRUkyQJyZs2rQJefPmRWpqakTuoQr89d9RKFzsMhQuUSlmG16uuCX9baQ2GIU8ScWkN1NMV5n40mw0vr++dNs0SAIkQAIkQAIkQAIkcDGBhWnL0HHQXciZMyfxJBABigkeSTbFBHligugSKSkpWLduHUqWjH3dgw1ftkWV+j2RM2cuj/QyOc34a+MXyF+yNoqn/kuOwSBW0kbPR7XalVCkRCHbfNAwCZAACZAACZAACZAAcOTAMWxI34q2vaxPSRBTG1q1aoUlS5YQbRwQoJgQB0kyEyLFBLliwvfff4+hQ4fiu+++M4M/aJnz/2Rg87ePomzlO1G4ZNWY7XilYub5s9i5YS6KXtYURcrZu9PCqgVrcXjPMVStVdEr+NgOEiABEiABEiABEnAlASEkJJctihtvr245vkcffRRiF4f69TnC1DJMBQYoJiiArMIFxQS5YoLI2bZt27TdHcRKslaOv/77GnLnzomkfEWRt2AKkgqUQo4cOayYjJu6504fw+mT+3D29FHs37EY5W7ohYIlatoef8bJM5j79kIULVkYl1ZI4QgF24nTAQmQAAmQAAmQQKIRECMSdm/bh6MHj6PVk42RVCCvJQQzZ87UpkncddddluywsjoCFBPUsbbVE8UE+WKCnrCTJ0+iQIEClvJ3dPcKnNz/X5w59gfOntqLHDlyW7IXD5WTilyOMyd3I6nQ5chXrCpKVLxbadhCUFjz/UZsX78Lp45n4Myps0r90xkJkAAJREsgR84cyMrMirYay5MACZCAcgJCOMhfKAmp1cqi5i1VLQsJyhtAh1IIUEyQgtF5IxQT7BMTVq9ejXPnzqFWrVrSEn3+7HFptlxrKEcO5MpT0BXhiUUZuSCQK1LBIEiABEiABEiABDxAQOaz1apVq6Q+Z3sAb9w0gWJC3KQqfKAUE+wTEwT5O++8E48//jhat27tkR7DZpAACZAACZAACZAACZCAswTmzp2LtLQ0TJ482dlA6D0mAhQTYsLmvkoUE+wVE0TGxfytWbNmJcx6B+7r5YyIBEiABEiABEiABEjAKwRWrlyJSZMmYdy4cV5pUsK1g2KCR1JOMcF+MUF0FX1I1+nTp5GUlOSR3sNmkAAJkAAJkAAJkAAJkIAaAllZWdqPcytWrEDdunXVOKUXWwhQTLAFq3qjFBPUiAl6Zl955RVtUcZnn31WfbLpkQRIgARIgARIgARIgATikMCwYcPQtWtXFC9ePA6jZ8iBBCgmeKRPUExQKyaIbjNixAiMHDkSO3futLzbg0e6IZtBAiRAAiRAAiRAAiRAAhcRWLRoEV588UU0atQIL7/8Mgl5hADFBI8kkmKCejFBdJ3Dhw9rw7SKFi2K48ePIz09HbfddptHehWbQQIkQAIkQAIkQAIkQAKxEdi8eTMqV66sVZ45cyZuvfVWjkiIDaVra1FMcG1qoguMYoIzYoIxSxkZGWjZsiXEPLDLLrsMEyZM0D4+e/asJjoUK1YMl1xySXSJZWkSIAESIAESIAESIAEScCkB8Zx75swZFCpUSIvwl19+wYABA7B+/Xr06NEDzzzzjEsjZ1gyCFBMkEHRBTYoJjgvJujd4OTJkxCr0zZu3Fg79ccff6BevXooXLiwpsi+99572vnvvvsOTZo00f4t/v/NN9/wPDmwP/C64H2A9wHeB3gf4H2A94G4uA8MHToUOXPmxFVXXYXx48drMYtRuvv379eeg/Ply+eCtySGYCcBigl20lVom2KCe8QEhWmnKxIgARIgARIgARIgARIgARJwhADFBEewy3dKMYFigvxeRYskQAIkQAIkQAIkQAIkQAIkEJwAxQSP9AyKCXLFhKzM88iRM5dHegebQQIkQAIkQAIkQAIkQAL2EOBzsz1c48EqxYR4yJKJGCkmWBcT/snYh6O/Dcex7bNx7tQBZJ47YYI8i5AACZAACagikK94JWQc2qLKHf2QAAmQAAmYIJArb2HkTkpG4dS7UKRGP+ROKmGiFot4gQDFBC9kEeJF+masXHaHR1oTWzPq1J+Hlct+jKmyEBJ2zauDfJccReGihZCUPykmO6xEAiRAAiRAAiRAAiRAAolG4PSp0zh25DhOnS2CcneuoqCQIB2AYoJHEk0xwdrIhIMrn8H5PZORUibZIz2CzSABEiABEiABEiABEiABtQT27T6AXJd2QnKtMWod05sjBCgmOIJdvlOKCdbEhD8+uxxlUjKRlC+v/OTQIgmQAAmQAAmQAAmQAAkkAIHTGWewe19OVLh/RwK0lk2kmOCRPkAxIXYxQSwas+XTIqhcKcUjvYHNIAESIAESIAESIAESIAFnCGzZsh9XPnSEi5k7g1+pV4oJSnHb54xiQuxigsjKxg9yoOpVl9uXIFomARIgARIgARIgARIggQQgsHHDDlTtnJUALWUTKSZ4pA9QTJAgJlQt75HewGaQAAmQAAmQAAmQAAmQgDMENm78k2KCM+iVe6WYoBy5PQ4pJkgQEyqXsyc5tEoCJEACJEACJEACJEACCUJg4+a/KCYkSK4pJngk0RQTJIgJV17qkd7AZpAACZBA/BGY/O0pLP71LMZ0K4J8eXNoDTh4NBNPjz2KwQ8XwoGjmZj0zSnf5xlnstBj/FGtnF5HP9fwmkvQvkn++IPAiEmABEjAAwQ2bv2bYoIH8mimCRQTzFCKgzIUEySICRXLxEGmGSIJkAAJeJPA5G8zsHjtWYx5qrC/mPBmtpggjsGfHMe4Z4oguUjObKHhzaPIygKGdCqEKpfl9p37//buNbapMg4D+NOddOvKLsp9yy64sFUZicK+YBYTgSmfdCpqgG2MyMXhLaJkLJDJjA4hRGoMcldB6CIioCHBmLgxIEtAvMWw5XTL2IRxmQwYZWvP1p7NnFOzuSiynnZd2/OcT13z/t/zvr//+bIn55wq45W/eVCAAhSgQPAFxOarDBOCzz4qZ2SYMCrsgT8pw4QAhAkPTAp8YzgjBShAAQoMS8BWrYQJblhXxg+GCQ4lMHCgYnEc0iYKWLX9DoryTMidHo26872o+a1XnTsjSUDB3FjYL3nw6XcuvFscNzDHsE7OQRSgAAUoEDABsaWdYULANEN7IoYJod2fYa+OYUIAwoT0CcP25kAKUIACFAisgK1awunzblhLBoOAG0qYsLULFUVm9U4DZYxyFMw1DXyeMllQQ4XygjHqdxeuyepnHhSgAAUoMDoC4h/XGSaMDn3Qz8owIejkI3NChgkBCBPSxo9MczgrBShAAQrcU8BWI6FwU9e/xj2cIeDgWu9jC3X1buyv7kHlEjM2feXC0nkxGJ8YhXV7nep3245JmPOIEbnZxnuejwMoQAEKUGBkBMSLHQwTRoY25GZlmBByLfF9QbIsY8lLi7B/30zfiyOooqj4F+z9rAqCIPi8K3GPAQ+mjPW5jgUUoAAFKBAYAVtND07Xe2BdYR76mMM2JyoKY2FJEaDcqbBunwtvPWvCwVO9WD3fpJ58/QEXFj0ejaraXjVgUMbyoAAFKECB0REQ224yTBgd+qCflWFC0MlH5oTzX5iPj6zZSE3R562dl9q68eaqehw+dFgTsBomJN+nqZZFFKAABSjgv4DtRK83TFgeOzRM2O5CRYFpICCwfiNhTIwB7Z39KF/oDROU2rhYA35vkbH6uRi+L8H/dnAGClCAApoFxCudDBM064VXIcOE8OrXXVdbtnYNnnyiB3Nm6/MXCX6ovoKaE7HY8P5GTR1Vw4SkRE21LKIABShAAf8FbLVKmCDDusw0NEzYIaFi0eDdBsq4Y2c9eP2paORO8/5iQ12DB9+ecat/58/iIw7+d4MzUIACFNAuIF69zTBBO19YVTJMCKt23X2xn+/9AlLPSax8OStCduTbNj7Z1oi4+NkoLir0rfDv0WqYMMn702M8KEABClAg+AK2WjdON8iwLh28s+CGox+v7ZRQsVAJE6LURdnb+vDGbgkfL1fuVvB+p4wr2OJC+YsxyJ3GRxyC3z2ekQIUoMCggNh+h2GCTi4IhgkR0uiz587h5KkqlL49OUJ25Ns2Nm2+hrw5i5GTM8O3wn+GCRP0+YiIJjAWUYACFKAABShAAQpQ4D8ExOvdDBN0cmUwTIigRld+UInp2R3If1pfgcKRo1fQ2JSMstI1mrup3pkw3qy5noUUoAAFKEABClCAAhSgACB2OBkm6ORCYJgQYY3OmzcPRw49hoQEfTwzeutWDxYUnMH3x4/71Uk1TBjrfZEXDwpQgAIUoAAFKEABClBAm4B4U2KYoI0u7KoYJoRdy/5/wS2trfhwSxkq38tGYmJ0hO1u6HaUIKF8fQNKV29GWlqq5r3298loPnA/ppp7NM/BQgpQgAIUoAAFKEABClAAaHJGY2phJwxRfIdNpF8PDBMisMMtrS1YUVKCV1dm4pl87f9khzLNkaMXsXN3M3bv2Im0tHS/l9ryZSqScA0mweD3XJyAAhSgAAUoQAEKUIACehRwefrQbkjGlAUX9bh93e2ZYUIEt3zDxvUQhMuIj5NhsSQiKysBqSnh+ZLBS23dsNtvw253oKsrCv1IR1npOwHr3o26EsjNuzAxxvtmcB4UoAAFKEABClCAAhSggG8Cf0p9ELJewbhHt/pWyNFhKcAwISzbNvxFn/vpZ9Q3/Aq7XURj4wWYzUY0Nl0d/gQhMDIrMwlOpxsWSwYslocwfdoM5OTMDOjKPFIHLn+dCbOnE/FGA0zMFALqy8koQAEKUIACFKAABSJXQOoDHJ5+OIWxSH2+EYJpXORuljsbEGCYoLOLQZZlCEJ4Pb8UrDXLUgc665bhTvuPcLsdkN3dOrs6uF0KUIACoS0wJmEKuh2tob1Iro4CFKCAzgQEYxyMxgQkTJ6FxNxdEGIYJOjlEvgL3EbvmeZd7Fw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6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err="1" smtClean="0"/>
              <a:t>Usecases</a:t>
            </a:r>
            <a:r>
              <a:rPr lang="en-US" sz="1800" dirty="0" smtClean="0"/>
              <a:t> Entitlement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spcBef>
                <a:spcPts val="1200"/>
              </a:spcBef>
              <a:spcAft>
                <a:spcPts val="600"/>
              </a:spcAft>
            </a:pPr>
            <a:r>
              <a:rPr lang="en-US" sz="1600" kern="1200" dirty="0">
                <a:solidFill>
                  <a:srgbClr val="000000"/>
                </a:solidFill>
              </a:rPr>
              <a:t>Latency </a:t>
            </a:r>
            <a:r>
              <a:rPr lang="en-US" sz="1600" kern="1200" dirty="0" smtClean="0">
                <a:solidFill>
                  <a:srgbClr val="000000"/>
                </a:solidFill>
              </a:rPr>
              <a:t>improvement </a:t>
            </a:r>
            <a:r>
              <a:rPr lang="en-US" sz="1600" kern="1200" dirty="0">
                <a:solidFill>
                  <a:srgbClr val="000000"/>
                </a:solidFill>
              </a:rPr>
              <a:t>to meet requirements</a:t>
            </a: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Direct data path from AUTOSAR R5 to </a:t>
            </a:r>
            <a:r>
              <a:rPr lang="en-US" sz="1200" kern="1200" dirty="0" smtClean="0">
                <a:solidFill>
                  <a:srgbClr val="000000"/>
                </a:solidFill>
              </a:rPr>
              <a:t>Switch </a:t>
            </a:r>
            <a:r>
              <a:rPr lang="en-US" sz="1200" kern="1200" dirty="0">
                <a:solidFill>
                  <a:srgbClr val="000000"/>
                </a:solidFill>
              </a:rPr>
              <a:t>– eliminates need of </a:t>
            </a:r>
            <a:r>
              <a:rPr lang="en-US" sz="1200" kern="1200" dirty="0" smtClean="0">
                <a:solidFill>
                  <a:srgbClr val="000000"/>
                </a:solidFill>
              </a:rPr>
              <a:t>IPC</a:t>
            </a:r>
            <a:endParaRPr lang="en-US" sz="1200" kern="1200" dirty="0">
              <a:solidFill>
                <a:srgbClr val="000000"/>
              </a:solidFill>
            </a:endParaRP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Plan for TSN features to enable deterministic latency like EST, IET and switch FIFO </a:t>
            </a:r>
            <a:r>
              <a:rPr lang="en-US" sz="1200" kern="1200" dirty="0" smtClean="0">
                <a:solidFill>
                  <a:srgbClr val="000000"/>
                </a:solidFill>
              </a:rPr>
              <a:t>tuning</a:t>
            </a:r>
            <a:endParaRPr lang="en-US" sz="1200" kern="1200" dirty="0">
              <a:solidFill>
                <a:srgbClr val="000000"/>
              </a:solidFill>
            </a:endParaRPr>
          </a:p>
          <a:p>
            <a:pPr fontAlgn="t">
              <a:spcBef>
                <a:spcPts val="1200"/>
              </a:spcBef>
              <a:spcAft>
                <a:spcPts val="600"/>
              </a:spcAft>
            </a:pPr>
            <a:r>
              <a:rPr lang="en-US" sz="1600" kern="1200" dirty="0">
                <a:solidFill>
                  <a:srgbClr val="000000"/>
                </a:solidFill>
              </a:rPr>
              <a:t>Optimized ETH driver for CPU load</a:t>
            </a: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Receive and transmit interrupt pacing</a:t>
            </a: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Support for scatter-gather to enable zero copy </a:t>
            </a:r>
            <a:r>
              <a:rPr lang="en-US" sz="1200" kern="1200" dirty="0" smtClean="0">
                <a:solidFill>
                  <a:srgbClr val="000000"/>
                </a:solidFill>
              </a:rPr>
              <a:t>transmit</a:t>
            </a:r>
            <a:endParaRPr lang="en-US" sz="1200" kern="1200" dirty="0">
              <a:solidFill>
                <a:srgbClr val="000000"/>
              </a:solidFill>
            </a:endParaRP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L3 </a:t>
            </a:r>
            <a:r>
              <a:rPr lang="en-US" sz="1200" kern="1200" dirty="0" smtClean="0">
                <a:solidFill>
                  <a:srgbClr val="000000"/>
                </a:solidFill>
              </a:rPr>
              <a:t>checksum </a:t>
            </a:r>
            <a:r>
              <a:rPr lang="en-US" sz="1200" kern="1200" dirty="0">
                <a:solidFill>
                  <a:srgbClr val="000000"/>
                </a:solidFill>
              </a:rPr>
              <a:t>offload support</a:t>
            </a: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Support for enabling </a:t>
            </a:r>
            <a:r>
              <a:rPr lang="en-US" sz="1200" kern="1200" dirty="0" err="1">
                <a:solidFill>
                  <a:srgbClr val="000000"/>
                </a:solidFill>
              </a:rPr>
              <a:t>InterVLAN</a:t>
            </a:r>
            <a:r>
              <a:rPr lang="en-US" sz="1200" kern="1200" dirty="0">
                <a:solidFill>
                  <a:srgbClr val="000000"/>
                </a:solidFill>
              </a:rPr>
              <a:t> routing in </a:t>
            </a:r>
            <a:r>
              <a:rPr lang="en-US" sz="1200" kern="1200" dirty="0" smtClean="0">
                <a:solidFill>
                  <a:srgbClr val="000000"/>
                </a:solidFill>
              </a:rPr>
              <a:t>hardware</a:t>
            </a:r>
            <a:endParaRPr lang="en-US" sz="1200" kern="1200" dirty="0">
              <a:solidFill>
                <a:srgbClr val="000000"/>
              </a:solidFill>
            </a:endParaRPr>
          </a:p>
          <a:p>
            <a:pPr fontAlgn="t">
              <a:spcBef>
                <a:spcPts val="1200"/>
              </a:spcBef>
              <a:spcAft>
                <a:spcPts val="600"/>
              </a:spcAft>
            </a:pPr>
            <a:r>
              <a:rPr lang="en-US" sz="1600" kern="1200" dirty="0">
                <a:solidFill>
                  <a:srgbClr val="000000"/>
                </a:solidFill>
              </a:rPr>
              <a:t>L3 routing</a:t>
            </a: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Dedicated switch R5 for Ethernet switch (CPSW9G) control – can be controlled via AUTOSAR or Linux</a:t>
            </a: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Multi-core support – support direct data path for each core (no IPC during data movement)</a:t>
            </a:r>
          </a:p>
          <a:p>
            <a:pPr lvl="2" fontAlgn="t">
              <a:spcBef>
                <a:spcPts val="200"/>
              </a:spcBef>
              <a:spcAft>
                <a:spcPts val="0"/>
              </a:spcAft>
            </a:pPr>
            <a:r>
              <a:rPr lang="en-US" sz="1100" kern="1200" dirty="0">
                <a:solidFill>
                  <a:srgbClr val="000000"/>
                </a:solidFill>
              </a:rPr>
              <a:t>Support for enabling hardware features to classify and route traffic to intended </a:t>
            </a:r>
            <a:r>
              <a:rPr lang="en-US" sz="1100" kern="1200" dirty="0" smtClean="0">
                <a:solidFill>
                  <a:srgbClr val="000000"/>
                </a:solidFill>
              </a:rPr>
              <a:t>core</a:t>
            </a:r>
            <a:endParaRPr lang="en-US" sz="1100" kern="1200" dirty="0">
              <a:solidFill>
                <a:srgbClr val="000000"/>
              </a:solidFill>
            </a:endParaRPr>
          </a:p>
          <a:p>
            <a:pPr lvl="1" fontAlgn="t">
              <a:spcBef>
                <a:spcPts val="20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</a:rPr>
              <a:t>Linux Virtual </a:t>
            </a:r>
            <a:r>
              <a:rPr lang="en-US" sz="1200" kern="1200" dirty="0" err="1">
                <a:solidFill>
                  <a:srgbClr val="000000"/>
                </a:solidFill>
              </a:rPr>
              <a:t>netdev</a:t>
            </a:r>
            <a:r>
              <a:rPr lang="en-US" sz="1200" kern="1200" dirty="0">
                <a:solidFill>
                  <a:srgbClr val="000000"/>
                </a:solidFill>
              </a:rPr>
              <a:t> driver &amp; AUTOSAR Ethernet switch (CPSW9G) driver </a:t>
            </a:r>
            <a:r>
              <a:rPr lang="en-US" sz="1200" kern="1200" dirty="0" smtClean="0">
                <a:solidFill>
                  <a:srgbClr val="000000"/>
                </a:solidFill>
              </a:rPr>
              <a:t>enablement</a:t>
            </a:r>
            <a:endParaRPr lang="en-US" sz="1200" kern="12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2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Arrow 10"/>
          <p:cNvSpPr/>
          <p:nvPr/>
        </p:nvSpPr>
        <p:spPr>
          <a:xfrm>
            <a:off x="1527471" y="2692400"/>
            <a:ext cx="5510724" cy="2062480"/>
          </a:xfrm>
          <a:prstGeom prst="rightArrow">
            <a:avLst/>
          </a:prstGeom>
          <a:solidFill>
            <a:srgbClr val="32B4CE">
              <a:alpha val="18039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Customer Enablement &amp; Demos</a:t>
            </a:r>
            <a:endParaRPr lang="en-GB" dirty="0"/>
          </a:p>
        </p:txBody>
      </p:sp>
      <p:sp>
        <p:nvSpPr>
          <p:cNvPr id="2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data:image/png;base64,iVBORw0KGgoAAAANSUhEUgAAA58AAAETCAYAAACx/LL2AAAgAElEQVR4Xu2dB5gURfrG3wWBXWCXnHPmAOWUDHJ3ioIRFFQQBAwoCogiiCICC4gooCgHKIoBERUVREyAAZUM4v+Q4BIkSt4lwy5p9/9UY489vT3TPZ1n5p3nueekp+qrr37fVzX9blVXJ+Tk5ORA47Nq9Rps2vQ7tmzdiC1btqFgwcuwZet+raK+vVa7VjmcOXMBtWvXRO1a9VG/fj00bdLYcX8XrNqFHftOYG/6KQAJOH4qy/E22QAJkAAJkIB1AlXLFcHO/cetG6IFEiABEiABxwkUT07CxZxsVChZGNUrpKBd0yqOt8kGrBFI0BKfo8eMRGLiYSQXzkKtWoVRu3YKKlUsZK0lj2rv+fM0tmw5ga1bT+HkyUScO18GQ4cMc8SbTTsy8Mb8Dbj6qmpIKZiIksULI7lgAUfaolESIAESIAESIAESIAESiHcCJ09nIf3oaRw/dRbL1+3AQ+0b4B9Vi8c7Ft/2P0h8bt/+B3r1fhgDHvsHbr2lgm+dtuLY5/P/xH+nbMGb015HtarVrJgKqrtuazoW/bIHt/y7AS7Lm8c2uzREAiRAAiRAAiRAAiRAAiSgT+DChYuY/9MG3Ni0Mq6oWVK/Aku4TiAgPrdvX42Jr7yEsc9fjsKF87nuiJsNnjhxHs88+xsGPvEkqlVtYrnpjTsy8NXK3bj92iss26IBEiABEiABEiABEiABEiAB8wTmfrcO7VtV5QqoeYSO1QyIz2uvvx7zP/t3zAtPmeTx4+dwR+dl+HbBAstwH3/1J/S+syVXPC2TpAESIAESIAESIAESIAESsEbg/IWLmD53JV5+9F/WDLG27QQk8Tl6zDD8s+FR3HpLJdsb8LPBeZ/vwabfS+GZp0eYdlMcLnT6XAKuqB2b25RNg2FFEiABEiABEiABEiABEvCIwLrNf6JIInA9DyHyKALazSasWrUm56clM/HkwPK+cswtZ14cvxfXXtMTTRo3MtXk6/PWo1qlMqhesYSp+qxEAiRAAiRAAiRAAiRAAiRgL4E/9qRj197D6N2hgb2Gac0SgYS335mRc/bscjzc277Ddyx55HLlqa/tQMFCV+PeHveYavnZN1egY5srkFwo0VR9ViIBEiABowSmvPwcXh2XGlT8scGp6PvEs0HXtm/bjMd7d0XaxnUhTX84/yc0atoq1/dadVtf0xYTpsxEseKX/sh29EgGBvXtjiWLF6FLj4fwzMiXkJiUJH2XlZmJ50cMxEfvvSH9W+2f0r6W70ZYGPFRbWf+nA8wqG8PXXah2tdir1VWzcpIf+woI/unjocdtu22IfvqFSu7+0N7JEAC/iRw4nQW5n3/G0Y/2MKfDsapVwlPP/N0znVtMtHm2nJxieD7H/bju+8LYuyY5yPuf3ZODoZNX4l72zeNuC4rkAAJkIBRAnpism79hnhl2geoXrOOZFKvvNzuhCnvoX2nrgE39ASWLFiVAlMtINRtq8XQ2tXLcHf7f0ttqts3wsOoj7ItpVC2Ihb12pVteyWoKD6NZA/LkAAJxBuBGV+swagHmiFPQkK8dd23/U3oeEennFcm1ova93haJSveA/r4gE2Y88mnpkw9OvFH9O/a2lRdViIBEiABPQJGhaRS5BmtoxRKRuooy8tiRy181SuMob5XX9fjYFRUq8Wf1oqnui0jK7AUn0YiZKwMVz6NcWIpEiAB6wQmfbAE/x3wH+uGaME2Agn39LgjZ+aMxrYZjEZD3Xuuxbtvf4i8efNG7D7FZ8TIWIEESCACAkrRo15FVAtGeWVSeV29uqjeFivXUYo0ZZ1Q5ZUrmMotvFoiTet7MyuEkfqo9D3c6rAZX/QElNaKa7hYiNje3eMhPPXYA4Ht0pGsDJtZ+VQLc6UIV7JTi3Pld+FWtkWaa20D1mMXwfBgURIgARIIS4Di038JktC0ReucVctv9p9nLnrUrOVXWLX8Z1MtUnyawsZKJEACBgiEe7ZSri5E4Mgh/UNuu9USMFrCURYiWiuSWmJW69lNpb9DRk7A0h8XSc+FyuJF+b2R1UY1okh9DCeShO1w9vTCE05AKfmq7SjFmFrYa7VplFMk4jNcu0ohLvMJt7Va7w8Pok/qnKL41Msufk8CJGAXAYpPu0jaZ4fiEwDFp30JRUskQAL2EQi3ghmuFTMrn3rPaqrb0xJ2+/buDhx0JETJyqWLpQOSZMGl/D6SVT257Uh9VApM2YaZdrVYhxJQSoGtFG1az7qGOpwp3IptqLhHIj61RLfSb5mRkrdSZGqJUq0/aIRaPaX4tG+OoCUSIIHwBCg+/ZchFJ8Un/7LSnpEAiQgEQi1tVUPj5HnN4WNSJ6P1BJtahGxZPFC6URZ2a78b3nl6+iRdOmwITPPe8p9DvcMp5aP4Vb5rPgRSkCFi5m6TlJSwcDJwOFWF40IZqPiM9x2Wpmt/McCwVw+uVhegdUTlKG24Wo9L2xmu7Ne7vN7EiABElASoPj0Xz5QfFJ8+i8r6REJkIAr4lPrdSvhhGu4w4NefPUtfPjeG9IrVmShol45k1dCrYqOSHw0IlrNvJ4klPgMt6qnXnEsX6FyQNyFe2WNzFPreVpZmBoVn3qn/6r/KKFe5RR/QJBf46N1+nGooavMHa58coIjARJwiwDFp1ukjbdD8UnxaTxbWJIESMBVAmZfS6K38hmJ+FMLnlCn6iqf8ZQFkXKVrFefQTh16oQkTs2IvXDgw/moVc/IYUB6gTYjPtWrovUvvyrXyqLcrta25rdeeynXe16dEJ9Koaj+A8LePbuCVrfFu1+NPLsq+iWLVYpPvezi9yRAAnYRoPi0i6R9dig+KT7tyyZaIgESsJWAkQOHZHEwYuwkNGraSmo/0mdF9Q7mETa1nvPTEnGhDpe5+j/XI/3wIekkVyPbSNUgzfioXKXT25Jr9GAf2S8z4tNvK59G+hzqDwihTsY18ocFik9bpwkaIwESCEOA4tN/6UHxSfHpv6ykRyRAAgECkbxqReugGKNCT9mOWpSEOkRHa8VLvaqqdfKr1nZfIyGP1Edhc1Df7tKJu8qVN7ktpW9GhJjSx1h45tOIUFT+4UHZf3UMIxGUkZQ1khcsQwIkQAKhCFB8+i83KD4pPv2XlfSIBEggQEBvC61cUCn6Il35FDbCvR5EGQ61YAn3rkhRT+1/JFt+1Wlgxket5yS10suoSJfr+vW023BDR47doq8/k7bOio/c73Cr7OoVbq0Yagl55R8neOAQJzUSIAEvCFB8ekE9fJsUnxSf/stKekQCJBBEQE+Aqre6mhGfosFwJ8mK77VOh1ULQrWIU6+OGl1tC5UCkfpo5HlEMz759T2fRsSnKCOfYqsuH+oE4HCrzmpBruWD1vtArfwhglMECZAACRghQPFphJK7ZSg+KT7dzTi2RgIkYJqA1iqe1nZRs+JTOBZK6IbalqpcFbMiXCKBEqmP4YS11S3AoQSUlugNJ8yFAL67x0N46rEHpOdixSeS1VgjK7xqka2uE04MGn3tj/qPA1o5wW23kWQ7y5IACVghQPFphZ4zdSk+KT6dySxaJQESIAESCEvAyCFKREgCJEACJGCeAMWneXZO1aT4pPh0KrdolwRIgARIIAwBik+mBwmQAAk4S4Di01m+ZqxTfFJ8mskb1iEBEiABywT0nt9UNhDpabSWnXPBAMWnC5DZBAmQQFwTiFR8ZmRkoF+/fkhNTUWdOnVCsjNaTsvA6NGjMXz4cPTu3RsTJ05EUlKS7THavHmz1IfJkyejRIkSttu3YpDik+LTSv6wLgmQAAmYJkDxmRk4+MfMoUemwbMiCZAACcQJAb+Jz8zMTIwYMQIPPPBAWHFrNTwUn1YJOly/WcuvsGr5z6ZaeXTij+jftbWpuqxEAiRAAiRAAiRAAiRAAiTgDAEr4rNy5coYMGAAKlSoIK1Uis+oUaMwaNAg6fq0adPQsGFDzJ49G3JZcU18li5dilatWkGIwP79+0vXsrOzJVszZswIlKlbty66deuGhQsXBuwPGzZM+m+xuip/165dO8yaNUtaxRQ2O3fujHXr1kF5XUlQLT5F3XvuuUcqIvucnp6OmTNnBlZfRZ233noLI0eOlMrJfQzVn4SEhIBPkUSPK59c+YwkX1iWBEiABEiABEiABEiABKKCgB3iU3RUbI/99ddf0bdvX0lslixZMmh7rthKKz5COC5btixQTlwTQnHKlCmSGBUrn0LUde/eHVdddZX0361bt5ZEpixUJ02aFBCzopyoJ8Tj9u3b0adPH6msaEdcF+3u3bs31/ZdpfhMS0uTysniVfZV2FJuMRbfi4+wb7Q/ZpKA4pPi00zesA4JkAAJkAAJkAAJkAAJ+JqAHeJTFofK5zyV4lP8t1IQKgWm+E6sfApBKZ4hVX4nxKPyo7Qvrms9symErVJIhtpeG27brSxkhYAVtq699lpJCMvbgSPpj5ngU3xSfJrJG9YhARIgARIgARIgARIgAV8TsEN8yquPeuJT3jorA3n//ffRuHHjIBGpFp9CTF599dUBhsotsUqRKRdQlxfX5TrKA5KU4rNgwYJBW2hFHbF9WF6l/eGHH3DXXXcFttyeOXMmaCtwuP6YCT7FJ8WnmbxhHRIgARLwHYHt2zbj8d5dkbZxneTbh/N/QqOmwX9ZFtfV5bQ6oq67dvUy3N3+32Ht+g4IHSIBEiCBOCfglvgMdUKuegVSKT7l5z3lLbRGVz6Vz2mGCq+y3QULFmDJkiWBrbnKlU/R5tChQ6VV2dKlS0uiM9xJvnYcZETxSfEZ59MSu08CJBArBNSn54Z6PYsR8SmYTJjyHtp36irhofiMlSxhP0iABOKJgBviUwg35TOS8oFA4jlPsYVVuX02nPgUonD8+PGBZ0qVW3nFd0JAPvvss+jVq1fgmU9xXYhR+XlOObahxKe8qim2/MoHGwnf58yZI7Urr54a7Y+ZXKL4pPg0kzesQwIkQAK+IqB8Z6bsWN36DfHKtA9QvWbwu9qMis/W17TFhCkzUax4CYpPX0WbzpAACZCAMQJOiU/5dNuVK1dqnnYrttzKhwiFEp/yQULyKbTipFxxqJG8zTfUqbbK61pbbgUZpfgU/1aemvvII4/gm2++CayEiq286tVUWSTLp/eG6o+xKASXovik+DSTN6xDAiRAAr4ioBSUvfoMwtKfvpW23ypXL2WHlWXV36tFrLz9NtTK59EjGRjUtzuWLF4U4KEUrb6CRGdIgARIIM4IRCo+4wyP1F2xylm9enVJoLrxofik+HQjz9gGCZAACThKQN5yK4TfmJfewNRXnsdH772BLj0ewjMjX0JiUlKg/XDiUxTSEppa18KtoIZadXUUAo2TAAmQAAkEEaD4DJ0Q8uqmKCFeJZOk+J10Mo0oPik+ncwv2iYBEiABxwkoVx/l5zxlMaolAu1a+Zzy8nN4dVwqlCudWr44DoANkAAJkAAJaBKg+PRfYlB8Unz6LyvpEQmQAAlEQEBvVVJ98JBdz3zK4lO4Gupk3Qi6waIkQAIkQAI2E6D4tBmoDeYoPik+bUgjmiABEiAB7whorUAKb0JdNyo+lYJSS+CqT9eVCYQ6Zdc7QmyZBEiABOKTAMWn/+JO8Unx6b+spEckQAIkYJCA1oE/WlWVQlJPfGodGBTqwCHl6qe6Xa3Djgx2i8VIgARIgARsIEDxaQNEm01QfFJ82pxSNEcCJEAC7hFQisJwrSoPHtI7cEjLjt57PrX84Km37uUBWyIBEiABLQIUn/7LC4pPik//ZSU9IgESIAGDBMKtPCpNKA8eckJ8KtsKd9iRwW6xGAmQAAmQgA0EKD5tgGizCYpPik+bU4rmSIAESMAdAkoRGeo5S+WKpLwN1g7xWf/yq/D8iIHS61zUK5yhnjV1hwpbIQESIAESkAlQfPovFyg+KT79l5X0iARIgAQMEFAe+BPqtFnlM6GySDx6JB2P9+6KtI3rYPS5TL0TdbXcNWrbQFdZhARIgARIwAQBik8T0ByuQvFJ8elwitE8CZAACdhPICszM+TKo7o19StRihUvaYv4FO1oHXik9W5R+wnQIgmQAAmQgB4Bik89Qu5/T/FpQXxm5+Qg9a3V6H5rY/cjxxZJgARIgARIgARIgARIgARCEpg5fw1SezVDnoQEUvIJAYpPC+JTxHDYmytwW5srkFIo0SchpRskQAIkQAIkQAIkQAIkEN8ETpzKwrzFv2F0rxbxDcJnvaf4tCg+X5u3HtUrlUH1iiV8Flq6QwIkQAIkQAIkQAIkQALxSeCPPenYtfcwendoEJ8AfNprik+L4nPhqp04cTYP/lmngk9DTLdIgARIgARIgARIgARIIL4I/N/vf6JoQaBt0yrx1XGf95bi06L4FPEdMOlnPNSpOS67LK/Pw033SIAESIAESIAESIAESCC2CZw7fwFvz1uNl/q1ju2ORmHvKD5tEJ+bdmTgyxW7cHubhlGYAnSZBEiABEiABEiABEiABGKHwKff/g+3t66GulWKx06nYqQnFJ82iE+RC+v/uCRAO1zTAPm4Ahojw4PdIAESIAESIAESIAESiBYCYsVz/o8bcWurKmhQjeex+DFuFJ82iU8R3LRdR/DG/A1ofkUV6fTbUsUL8xRcP2Y9fSIBEiABEiABEiABEogJAuJU28NHT0H8/6oNu/FQ+waoU7lYTPQtFjtB8Wmj+JQTZOHqXdix7yT+PHwSOQBOnDobi7nDPpEACZBAzBGY/MQ16Pfy4pjrFztEAiRAArFIoFhyInKQgwqlklG9XAraNq0ci92MqT5RfDogPpUZkp2TwxfbxtSQYWdIgARimUBCQgJycsSfDfkhARIgARLwOwHeZ/s9Qrn9o/h0WHxGX0rQYxIgARKIXwIUn/Ebe/acBEiABEjAeQIUnxSfzmcZWyABEiCBKCFA8RklgaKbJEACJEACUUmA4pPiMyoTl06TAAmQgBMEKD6doEqbJEACJEACJHCJAMUnxSfHAgmQAAmQwF8EKD6ZCiRAAiRAAiTgHAGKT4pP57KLlkmABEggyghQfEZZwOguCZAACZBAVBGg+KT4jKqEpbMkQAIk4CQBik8n6dI2CZAACZBAvBOg+KT4jPcxwP6TAAmQQIAAxSeTgQRIgARIgAScI0DxSfHpXHbRMgmQAAlEGQGKzygLGN0lARIgARKIKgIUnxSfUZWwdJYESIAEnCRA8ekkXdomARIgARKIdwIUnxSf8T4G2H8SIAESCBCg+GQykAAJkAAJkIBzBCg+KT6dyy5aJgESIIEoI0DxGWUBo7skQAIkQAJRRYDik+IzqhKWzpIACZCAkwQoPp2kS9skQAIkQALxToDik+Iz3scA+08CJEACAQIUn0wGEiABEiABEnCOAMUnxadz2UXLJEACJBBlBCg+oyxgdJcESIAESCCqCFB8OiA+N2zYgLfeegstW7bEnXfeiVq1amHbtm1SYoj/r1GjhvTfvE4OzAeOC84D/poHatasiZycHM7P/J3i7zXvWzgP+HweqFatGhYvXowqVapI99Vbt26VYsaPvwlQfNosPhcuXIjhw4fj7rvvxgMPPIDk5GR/ZwC9IwESIAESCBDgyieTgQRIgASik0CrVq2khZ/x48dHZwfixGuKT5vFp1jJEn8554cESIAESCD6CFB8Rl/M6DEJkAAJyAQ+++wzLFmyBC+//DKh+JQAxadN4nPTpk2oV6+eT8NMt0iABEiABIwQoPg0QollSIAESMC/BI4dO4aiRYv618E494zi0wbxef/996N169a477774jyd2H0SIAESiG4CFJ/RHT96TwIkQAIk4G8CFJ8Wxac4XKh3795YtmyZvyNN70iABEiABHQJUHzqImIBEiABEogKAmJh6N133w0c9BkVTseBkxSfFsXnV199hTJlyqBx48ZxkC7sIgmQAAnENgGKz9iOL3tHAiQQPwSE8Ny9e7d0ECg//iFA8WlRfPonlPSEBEiABEjAKgGKT6sEWZ8ESIAE/EFg3bp16NWrF9asWeMPh+iFRIDik+KTQ4EESIAESOAvAhSfTAUSIAESIAEScI4AxadF8TlgwABMnDjRuQjRMgmQAAmQgGsEKD5dQ82GSIAESIAE4pAAxadF8ckblTgcNewyCZBAzBLgnB6zoWXHSIAE4pDA8ePHUaRIkTjsuX+7TPFJ8enf7KRnJEACJOAyAYpPl4GzORIgARJwkADndAfhmjRN8WlRfL766qt47LHHTOJnNRIgARIgAT8R4I2Kn6JBX0iABEjAGgHO6db4OVGb4tOi+HQiKLRJAiRAAiTgDQHeqHjDna2SAAmQgBMEihUrhqNHjzphmjZNEqD4pPg0mTqsRgIkQAKxR4DiM/Ziyh6RAAmQAAn4hwDFp0XxydNu/ZPM9IQESIAErBKg+LRKkPVJgARIgARIIDQBik+L4pM3KhxeJEACJBA7BDinx04s2RMSIAES4Gm3/ssBik+KT/9lJT0iARIgAY8IUHx6BJ7NkgAJkIADBDinOwDVokmKT4vik6fdWsxAVicBEiABHxHgjYqPgkFXSIAELBFYtn4f1vx+CMdOnUXG8UxLtuysXKJIEoolF0DTf5RBiwbl7DSdyxbndEfxmjJO8WlRfJqizkokQAIkQAK+JMAbFV+GhU6RAAlESGD6lxuRP38BVCxTDKWLF0aB/JdFaMG54lnnzuPwkdPYvf8IcrIv4L6b/uFYYzzt1jG0pg1TfFJ8mk4eViQBEiCBWCNA8RlrEWV/SCD+CAjhWahQITSuV8n3nV+zcTfOZmU5KkB9DyHOHKT4tCg+edptnI0YdpcESCCmCVB8xnR42TkSiHkCy9fvw7b9Z9CiYbWo6euy/23HPyoWRrP6zm7BjRogMe4oxadF8ckblRgfIeweCZBAXBHgnB5X4WZnSSDmCLzy8f9wRZ1KqFS2aNT0bff+o9i49U/0v/OftvvM025tR2rZIMUnxaflJKIBEiABEogVAhSfsRJJ9oMEYpPAt99+i+uvvz5k51LfXoU7rv+nr57x1IvE2XMXMOe7/2HEfc30ikb8Pef0iJE5XoHi06L45Gm3jucoGyABEiAB1wjwRsU11GyIBEjABIEiRYrg7NmzSE1NxdNPP53LwqMTf0T/rq1NWPa2yqQPluC/A/5juxOc021HatkgxadF8Wk5AjRAAiRAAiTgGwK8UfFNKOgICZCABoEZM2agT58+uHjxIsR8NWLEiCARKovPo0cyMKhvdyxZvChgpUuPh9Dn8WcwdOBDuKpJS/R94lls37YZzz37OJ597hVsWLcWg/r2CGr1jffnY+Zbk4Ps1K3fEKPGTcV/J4wMuv7h/J9QvWZdqd0+A4aiUdNWAftPDnsBH86YhjJly0vtyv51uOMetO/UFU6JT552679hRPFJ8Rk2K0eOHOm/rKVHEoEff/yRJKKAwM6dO6PAy9hyMSsrC+J/Zj7Hjh3Df/5j/1/fzfgSz3UYg+iIvhA+/LhPoFSpUkhPT5caLlCgQECEDhw4EE9MXiatfMriThaBspfy9cOHDuKVaR9Il5Xi85dVS/HMyJeQmJQU1DFRb9Qz/fHooOGoXrNOLvtrVy/D1IljMGzMqxg99LFc4lOI26NH0jFySH+pXSF0P//0fUyYMhPFipdwTHy6Hx22qEeA4tOi+Izl026F8Fy8eDFvxPRGkQff//TTT9ixYweqVq3qQets0iiBXbt24ejRoyhaNHoOfjDaNz+XE9zF1jQzn5MnTyI7O9tMVdYhARIgAc8I5MuXD126dEGRK+83JD7Fiuhjg1NxY/s7bRGf8+d8ACFc5ZVV9cqnEJ9CtE55+TkcPLAPe/fsDAhUAc2plU/PAsKGQxKg+LQoPmN5i5YQnzk5OdJzBfz4iwBj4694hPKGcfImTrE8L3tD1N1WOW7c5W22NcbJLDlj9cLxVa585s+fP2jlc+CU5UHiU7ntdsKU99D6mnbStti2N92OhV/NRdd7H8EH776mue229TVtAyuToVY+lfaV226V18U2XbHaKcSn2Ob7eO+u+GejZkErrE6JT552ayzf3CxF8UnxGTLf+MPi5lCMrC3GJjJeXpVmnLwhT/HpDXe7WuW4sYuks3YYJ2/4ys98XrhwISA6hwwZEnBG/cxnqG234vrKpYvx6rhUyOJQbIU1u+1WdkC93Vf5TKkQn1mZmXh+xEA0bna19Kyn/HFKfPL3wNk8NWOd4tOi+Izl0275w2JmSLlTh7Fxh7PVVhgnqwTN1efNhjlufqnFceOXSIT3g3FyNk6h+IpHCsQz7WJXmlJ0yt5EIj7lw4Hk5z8pPp2NKa1fIkDxaVF8xnIi8YfFv9FlbPwbG6VnjJM3caL49Ia7Xa1y3NhF0lk7jJM3fBctWoS2bduGbDz1rZXo1PafyDx1Iuxpt/KKqHhWc/rUlwKHAKlPuxVbacWptXoHDskOmVn5zDp7HnO+W4fU++1/zydPu3U2T81Yp/ik+AyZN/xhMTOk3KnD2LjD2WorjJNVgubqU3ya4+aXWhw3fokEVz69jITZcfDqJ//D5bUroVLZ6Dnobtf+o9i0bS/639HQS+Rs2yUCFJ8WxWesn3bLA4dcGokRNmP2RynCZljcIgHGySJAk9UpPk2C80k1jhufBELHDcbJ2TiZ5btiwz6k7TmFq6+q4ayDNlpf+usfqFclBc3qlbXRKk35lQDFp0XxGcs3OWYnPr8meyz5xdhERzQZJ2/iFMvzsjdE3W2V48Zd3mZbY5zMkjNWzwrfd77+HYmJSWhcv5KxxjwstXrDLlw8fw49bqjriBc87dYRrJaMUnxSfIZMICsTn6WsZGVdAoyNLiJfFGCcvAkDxac33O1qlePGLpLO2mGc/M1XCNCEPJehUtliKFMiGQXyX+aswxFYF894HjxyCnv2H0HehGzHhKdwib8HEQTGpaIUnxbFJ0+7dSlT2UwQAf7oR0dCME7exIk3G95wt6tVjhn+jtQAACAASURBVBu7SDprh3HyP9+VG/dj9aaDOHrqLNKPZTrrcATWSxZJQrGURDSrV8bxrbb8PYggMC4Vpfi0KD5dipMnzfCHxRPshhplbAxh8rwQ4+RNCHiz4Q13u1rluLGLpLN2GKf44xuNcytPu3U2T81Yp/ik+AyZN/xhMTOk3KnD2LjD2WorjJNVgubqR+MNkrmexmYtjpvoiCvj5Gyc/MiXc6uzMY8X6xSfFsUnT7uNl6Hir3768UfJX4T84Q3j5E0ceIPkDXe7WuW4sYuks3YYp/jjy7nV2ZjHi3WKT4viM5YHIn9Y/DsNMDb+jY3SM8bJmzjF8rzsDVF3W+W4cZe32dYYJ7PkjNXzI99onFt52q2xfHOzFMUnxWfIfPPjxOfm4PBzW4yNn6Pzt2+MkzdxisYbJG9I+bNVjht/xkXtFePkbJz8yDca59Zo9NnZzPLeOsWnRfHJ0269T+J49MCPP0rxGAe9PjNOeoSc+Z43G85wdcsqx41bpK21wzhZ46dX2498o3FujUaf9XIj2r+n+LQoPqM9AcL578eJL5Z5R9I3xiYSWt6VZZy8Yc+bDW+429Uqx41dJJ21wzjFH99onFt52q2zeWrGOsUnxWfIvOEPi5kh5U4dxsYdzlZbYZysEjRXPxpvkMz1NDZrcdxER1wZJ2fj5Ee+nFudjXm8WKf4tCg+edptvAwVf/XTjz9K/iLkD28YJ2/iwBskb7jb1SrHjV0knbXDOMUfX86tzsY8XqxTfFoUn7E8EPnD4t9pgLHxb2yUnjFO3sQpludlb4i62yrHjbu8zbbGOJklZ6yeH/lG49zK026N5ZubpSg+KT5D5psfJz43B4ef22Js/Bydv31jnLyJUzTeIHlDyp+tctz4My5qrxgnZ+PkR77ROLdGo8/OZpb31ik+LYpPnnbrfRLHowd+/FGKxzjo9Zlx0iPkzPe82XCGq1tWOW7cIm2tHcbJGj+92n7kG41zazT6rJcb0f49xadF8RntCRDOfz9OfLHMO5K+MTaR0PKuLOPkDXvebHjD3a5WOW7sIumsHcYp/vhG49zK026dzVMz1ik+KT5D5g1/WMwMKXfqMDbucLbaCuNklaC5+tF4g2Sup7FZi+MmOuLKODkbJz/y5dzqbMzjxTrFp0XxydNu42Wo+KuffvxR8hchf3jDOHkTB94gecPdrlY5buwi6awdxin++HJudTbm8WKd4tOi+IzlgcgfFv9OA4yNf2Oj9Ixx8iZOsTwve0PU3VY5btzlbbY1xsksOWP1/Mg3GudWnnZrLN/cLGWr+Bw9+nsMH/6t5H/DhuUwe3ZX1KlTKtCfzZsPo3PnD7Bu3X7pWu/ezTBx4i1ISsoXKJOZeR4DBnyJChVSMGxYm6C6/fvPx6RJ7YNs2gGrWcuvsGr5z6ZMReNANNpRP058Rn2P9XKMTXREmHHyJk6xPC97Q9TdVjlu3OVttjXGySw5Y/X8yDca59Zo9NlYhkRvKVvEp5ZglIXmlCkd0KpVVaj/LZAJsbp374kgAbps2U7MnPl/EtExY9qiRIlC0n+L+n4UnzztNnqTP5o99+OPUjTzdMp3xskpsuHt8mbDG+52tcpxYxdJZ+0wTvHHNxrn1mj02dnM8t66LeJTFozqVUzl9V9/3YvRo3/ArFmdwwpKIUivvbYGfvjhD1SvXhzdul3pa/HpfQid84A/LM6xtWqZsbFK0J36jJM7nNWt8GbDG+52tcpxYxdJZ+0wTvHHNxrnVp5262yemrFui/gUglEpFGVHlKuVJUsWRLdus3HgwMlc23Hl8hkZpzF06CJpxTM9/QzeemsNRo68XtqW69eVTzPQo6UOf1j8GynGxr+xUXrGOHkTp2i8QfKGlD9b5bjxZ1zUXjFOzsbJj3w5tzob83ix7qj4FGKyX7/5SE29LvCc5qxZ/4d77pkt8VU/FypWSsWKp3jWU2zlHTHiWzzwQBOprl/FJ0+7jZeh4q9++vFHyV+E/OEN4+RNHHiD5A13u1rluLGLpLN2GKf448u51dmYx4t118WnEqwQm8qtuMoDi+Ry77/fWdp661fxGcsDkT8s/p0GGBv/xoYrn97HJpbnZe/pOu8B5zfnGdvRAuNkB8XQNvzINxrnVp5262yemrFui/g08szn3LkbJP/kZzjFfytXRsW/1QcKCcGZmvodJk9uL23D9eOBQ9E4EI0mih8nPqO+x3o5xiY6Isw4eROnWJ6XvSHqbqscN+7yNtsa42SWnLF6fuQbjXNrNPpsLEOit5Qt4tPoabdq8Si24IqTbcUhRAsWbMGSJTuDTr4V4lQ8Jzps2LUoWbKQL8VnrJ12q/wLkXri41+PvB3ojI23/I22zjgZJeVcOd5sOMfWKcscN06Rtdcu42QvT7U1v/ONxrk1Gn12Nsu8t26L+JS7Eel7Ptu1qy0Jz4IF80vv9mzdumrQyqiwK7+O5ZFHmqNnz48D7wgV32m9S9QMUivv+TTTnp/rXHnllahWrRomTpyId999Fzk5Objvvvsgnm3dsWMH/u//Lr0Ghx/3CTA27jM30yLjZIaatTrffvst7rjjDkyaNAk9e/aEfLMxY8YM9O/fH5988gnatm1rrRHWdpQAx42jeG0zzjjZhlLTkN/4xsLcytNunc1ZM9ZtFZ9mHPBDHYrPv6Pwwgsv4Nlnn0VSUhIqV64sfbF7925kZmZi9OjRGDJkiB9CFpc+MDbREXbGyZs4JSYm4rLLLpPmrvT0dJQsWVKat86fP4+zZ8964xRbNUyA48YwKk8LMk7O4vcjX86tzsY8Hq1TfAKwIj5j8bRbcfOWlZUVNB4KFCiQ61o8Dhiv+8zYeB0BY+0zTsY42VlK3LSNGDEC586dC5jNnz8/UlNT+UczO0E7aIvjxkG4NppmnGyEqWHKb3w5tzob73i0TvFpUXzG4l5y9UTDGzj/TA2MjX9iEc4TxsmbOKlv2vhHM2/iYLZVjhuz5Nytxzg5y9uPfKN5buV5Jc7mqxnrFJ8Un5p5o5xoeANnZmg5V4excY6tnZYZJztpGrOlvGnjH82MMfNbKY4bv0VE2x/Gydk4+Y1vNM+tsbhI5Gz2OW+d4tOi+Iy1027llJMnGvFvbltzfiBG0gJjEwkt78oyTt6wl2/a+Eczb/hbbZXjxipBd+ozTs5y9iPfaJ1bKT6dzVUz1ik+LYpPM9CjpY54yFx81M9/Rov/sewnYxMd0WWc3I+TuGkbPnw4xKuieECa+/ztaJHjxg6KzttgnJxl7De+0Tq38rRbZ/PUjHWKT4rPkHnzzjvvSK9auf/++83kFus4SICxcRCujaYZJxthGjQlTrft1asX3nzzTYitt/xEHwGOm+iIGePkbJz8xpdzq7PxjifrFJ8WxacTp90eWrMKOz7+CNmZmThx8GA85WOuvqaULoM8hQqiWueuKN2osecsGJu/Q+C32CiTg3FyP06C+c75nyP73Fkc377d87HqtQNFqlVHngIFUPW2jr6Yu4zw4Lhxf9wYiYu6DOPEOJnJGy/r+Pl+wUsu8do2xadF8Wn3XvL9ixZg5+wPUT5/fiTlu0x6WXo8f7JzcpB1/gL2nTuHqvf0QLlr2niGg7EJRu+n2Cg9Y5zcj9P+JT9hz1dfoFqr1ihUqhTy5M3r2Tj1S8PZFy/i9OHD2L7kJ0mAlml5tV9c0/SD48b9cWMmIRgnxslM3nhdx8v7BZ5263X0c7dP8ekj8Xlw5QrseOsN1ExJ9l+m+MCjrcdPoEbvR1C6STPXvWFswiP3MjZKzxgn9+N0cNVK7Jr7Ka647XbXx2W0NLjuszmodtfdKN24iS9d5rhxf9yYSQTGiXEykzd+q+P2/YLdi0R+4xmN/lB8WhSfdp52u+qpgSiblYlCBQpEYy457vPps2dxMKkQmr4w3vG21A0wNuGRexkbpWeMk/txWv3sEFS98ioklynj+riMlgZPHDiA3b+tQ5NRY3zpMseN++PGTCIwToyTmbzxWx237xcoPv2WAQDFp0XxaWdIVzzaBzULF0SeON9qG4qp2Lax7XQmWkyaYid2Q7YYm/CYpNicOoMW/51qiKdThRgnA3GyeQytfPIJXH7DjdxqGwa92IK7fsE3aD7+ZadS35Jdjhv3x42ZgDFOjJOZvPFbHbfv5Xjard8ygOJTikizll9h1fKfPY/OwjtvR+O6dT33w88O/JKWhnaffOa6i4yNPnKvYqP0jHFyP06CeeuHH9FvOM5LLHn9NU/mLiPYOW70KXF+02fkhxKMkx+ioO+DH+Kk7yVLOEWAK58Wxaedp92KG4AmDeo7FeuYsLtmw0ZPbuAYG/308So2avHJMRQ+VnbHSRKfvR7ST5A4L7Fk+huezF1GsHN+06dk97jRbzF3CcZJnxrjpM/IDyX8ECc/cIhXHyg+LYpPO/eSSz8sDRvGay4a6veades8uYFjbPTD41VscolPjqGwwbI7TmJsXH0f3wWsN0KWvvO2J3OXnl/ie85v+pTsHjf6LYYQn5zfXJ3fGCczBPTruDmeeNqtfjzcLkHx6TPx2bRRI7dzIKraW712rSc3cOLmjLEJnypexUYtPhknd+Mkic/uPaJqHvHC2aUz3/Nk7jLSV85v+pQ4v+kz8kMJxskPUdD3wc042blIpN8zljBCgOLTovi087Rb6QagaVMjcYvbMqtXr/bkBo6x0U85r2KTS3xyDIUNlt1xEmOjVddu+gkS5yWWfTDLk7nLCHbOb/qU7B43+i3mLsE46VNjnPQZ+aGEm3Gi+PRDxIN9oPi0KD7tDKn4YWnWsqWdJoNsbT10CPe/Nwsb9u0PXG9Qvhze7tENtUqXRub58xg67wus2bUrcE0u+MnaX/HQrI/wRrcuuLPRVYH6K3fsxJNzPstV3qlOrFq+3JMbOKdiI/jdqDghVslXK16CqyhzyxWXS7F6Z8XKXKjva9EcY267FZnnzuGh9z/E95u3SGXa1KmNN+65G8ULFXIkPF7FRi0+nRxDanCh8n/8ou+kok+2vU53DLoRG6UTdsdJEp93dQ408eKnc6X/fuqOjoFrW/btw9hP5mDC/feiRPKl9xiLa/dOnIT1u3ZJ/372rjuD6ohrwtZzH38SsLNoVCpa1K2DFWmb0XZ4qmYeizK7Dx9Gr/8Gn4p9eZUqeHdAf9QuXz7IV9m++vuMkyfRa9JkfLfut6B27r++DV7o2QN70tOD/FcWmv5oX3RufXVQvWUfz/Zk7jIy2PXmN5HPzy9YhG8e7YPm1aoGzf9i/nrmhrZBuS7PXeM73R5UXlSUf2fkuUs9L8ltKf1Wl9GzIf9eqfsu+6/Vht44tHvcGImLuoxenCK1eeT06ZC/EUYYqeMc6jdL+CX/toVrM1L/tcrHYpyU48bI/ZlW7JRjVMRg8Nx5eKrd9dK9n5FxaUdsnPwdCucfT7u1O3rW7VF8+k18tv6X9aiGsLD14CE8PfczvNDxdtQqc2nCWbl9B578dA7e7tkDFYsVw9DP5uF4ZiZuaFAfdza+tAU489x5vPDNAmzYtw9dmjTOdV2UaVChfOC6Yx0AsGrJz57cwEk/+jbHRslexENwFvxb1KgusdSKl/Sj8elcPHVDu0AMQ5V76L330VkRr09+WYvZa37BGz3ucUSAehUbZb45EadQ+SyPC638H79wkVTtyXZtg6prxcrJ8aJ5c2bzGBLMW3bqFGjqxbnzpP9+quNtgWtb9+3H2DlzMeHeHiienIyVm7dg4Dsz8G7/fqhVvpxUTtTbf+QoxvbohqT8+XP9W9i4d9JkvHRfTzSvUztse7OXLpcEqmxLmus2b8FHS5ZJ18RnyHuzUK54sYCfavtHhPic/BoGd7wt0J74g46oJwRw56v//kOhVntq9svnzPFk7jKSX3rjRuRz2v4DqFuubFBOh7sut6scA/IcV65okYAdMQ9OWLgoMC9pjR0xd+3MyJDqSOJFNbep51JRfsUf2zHm9tuQlD9f4LdO2Y64KNsa1K4tmlevFhZVrM1vWhy1fiPCMZJjpTXXacXAaJtGcjZUmViLk9xPeewYuT9TjyH1uFPfRxgZU1Zi4sbvkN3+ZWRkoFu3bli4cKFkul27dpg1axZKlCgRtqlly5Zh5syZmDhxIpKSkux2S7ft0aNHh/UzMzMT4qDU7t27o1WrVq76p2yM4tOi+LT7tNvm11zjWDJsPXgQT30yFy/e2RG1FC+EH/fNpcH1aJtr8Mycz9CwUiVsP3wYQ26+UboJFPVmLr+0wtagYgXc1aSx9N/y9TubNMIri77H+LvuQPHCzqyqyVBWLl7syQ2cuDmzMzbiJlawblGzRoCnzPSFrxZILDNOn8oVL7le56ZN0LxG9UAc1HHVivWRU6fx4Lvv4ckb2wXq2plsXsVG2Qe74xSOT7j8l8fU4BvbBZkINQbtjIOeLbvjJInPDn8LzRfnfS658NRtHQKubN2/H2PnzsOEHt2RVCA/hsz6EF1atUTz2rUCZSRh99f1hlWrSP/dok5tdG7ZIlBGy7bWtdnLV2DF5i0Y2+1uaQ6TxpbChy379+OjZcuDvhdlVm7ZGrieefYcer02DYNvax/kp7C989ChoP5ptaeOw/LP53kyd+nlg/heb9yIfC5cQPwWHMKwW2+R5nkxn4z+4kvpj2Cnzp6DnOvy9b7XXoOxX32Dp2++IfB7s/KP7Rj/zUK8Kf4IofitEParliwhzYVaY0fUm716DZ7vdDu+WPcbdqZnBNqT+/fxml8C18V/r9j2h1Rejr/w68mPPw3yJ5I50e5xYyQu6jJ6cYrEptHfiFCMwsVZ+KEVA6NtRtIPddlYi5PcP/m338j9mdYYUrIvUahw0FhQjh0lz1DXrcTH63s5I77LwlMINCFAxUcITyEq9QQoxacRwnzPp0TJyns+7dxLLv2wXHe9sciZKLX1wEE89fEnePGuO1GrbJmAhZXb/sDsVasxrMOtGP35F7iuQX3MXfMLnr7lZqncx6vWSGV3pqejasmSuKtZE+nf8nXx73FffYN/1amN5jVrmPDMeJWV333ryQ2c3bEJFQslCa0yRq9JP1SfzME7S5ZiwaAnHI+LdOPuUWyUzOyOU7jMDJf/YjyIz+CbbwwyYSTuxkeDuZJ2x0kwb3HLLQFnxn3+xaW+d7g1cG3r/gMYO28+JnTvioyTpwL/Xbxw4aBOKOt+vGIlHpw2HUNv7xBkS91rrfZE3eVbtmLs3Z0D4kN57b9C7JQuhbtaNA+Oz/4DGDzrQ4zrdjdKJBdGr2lvYnD7W9G8Vk2pnCSQP5yNlrVrBdXVak/t54ovv/Rk7jKSJXrjRuRz6ZRkrNu9B52bNZXmE/G78fPmLdJvgvhtkHNdvi7+rRwjwo9Q40Lpo1YZ+dqj17eR5jXZB2U90e74r7/Bm/ffi+82/o4V27bh+Ts7BeKv/F7OuyOnTuHBt9/FkzfdqDtH2j1ujMRFXUYvTpHYNPobEYpRuDjL9wfqGBhtM5J+qMvGWpzk/snsjNyfaY0hub4YO7XLlsGTH30s3eNVLF7M0JhSz9VWYuT2/UKkp91u3rwZ/fv3x6RJk1CnTh2pq7IgHTZsGEqWLInU1FRMnjxZWglVCs5ff/1VEqkpKSkYP358yBVTeQXyqquuwtSpU7Fu3Tq8//772L59O4YPHx5UTy47bdo0yZelS5cGVi2Fr507d5bqjxo1SvJFCOS0tLSgFVhxTdgeNGhQ0Mqnsr5ydVfdpvBNFuJWYy/qc+XTZ+KzxQ3BN6t2BFm2sfXAAQz+cDbG3d0ZtcqWDZheuW0bPlqxCsNv74BRn32OLi2a4effN6NqqZK49aorMfbzL9C9dSt8tmatdO2u5s2kmzD5urAlbIg6g2+92U6Xc9laseAbT27gpBtsG2MjYjF2/peY0LULQk3qosx9097E+j1/BnFY+PSTaF7z0s2w+ISKqzTBb9uGdi+MD5RV17UzWF7FRtkHu+MUio9e/o/74iupqno8hIrp0A7tHR87cl/sjtMl5jcEUIm+j/lLgCr5talfD9MfvB8Zp06FzP2PV67CzsPpARbixrfXm2/j+42bJFNDO9yai5MWa2HnwenvBIVPbl+MN1FHnsuUhUR7gz74CEPa34IShQsHtS2X0/JBtLd86zaM7XxnQOyoc2fFggWezF1GxrjeuJF5CVtyfMS1f/2jDnanZwTFTL4u5iiR7zOXLMOQDrdKXEJxV/p4KX/mB7l937//JbEVnyGzP5F+o5RzoDwPynPqdxs24sHpbwfZuLxSRbzT+8Gg3z45vwbfelMue7nj581vj9Pzm95vRChG4eIsfA43JvTaNJKzocrYPb+Z8UVvPJmxKf3h66/c17s/05oTlfVrly0bmOcqFi9uaEzZLT7djFOki0RK4aUUenLchGALJz6vvvpqSUgKsSa2wYqPEK3Kj9yGuCa26ArRKtfr2LGjJBBbt24dsLF3795Aub59+2L27NmSCBZtyCu0oq1IxGfdunWl+sI3sQVX1JfbmTt3riRWxXdCeA8dOhRjxozR3XZsNLcpPi2KT7tPu1WuIBgNotFyYvVB/qt+rXJ/i0/5r/bDO92OUXM+Q5e/trn9vOl33N60SWCVYvr3iwOrBcLWfa9Nw/rdewLNt7m8Pqb3fjCkmDLqZ7hyXq0eqFd3rPYlVCyUdo2UkW66QsRV7aPRcmb75lVsct2cKVbhzPZFr55e/mutxkUSK732rXxvd5zUqzFaf3UXK74vfPkVxne5CxmnTgf+W31DI1bKlKtoQT/Wf63mt6hZM7D7Qnyv1Z6wo151UdoSdZS7OOTvxI22vCJQonChoFWxcKvWeu0J+35YkQmVN3rzm8hnsVJ8ZdWqmPnzEvS+vg2Gzf4UQ25rj//buRM7Dx2WVqcloTLtTXy/fmOgqcsrV8I7j/SG+M0JNS6CYqOxci5/L688i98oeTVa/k65uv7d+g1BK9+h2pX9Va5uh2Jk97gxM4b14mTGpt5vjhYjvTgLm0Z2AzgxJ8ZqnJS5L7iFuz/TyndlHGuXK4tBMz+Qxm/FEsWl3Rx6Y8p28eniTpBIxac8JoSQE4JQ/shCVE98Kp+7VJcNzGV/PXspC0x1OWGjevXqkIWo/IymLFpFvcaNGweJYKUNIyufwpdQvi5YsCAgPq3OK1r1KT4tik87g6J+dspO25cm+f0YPHMWxnXvhlrlLh3yIT7yM1P9b7ox8MxV7XLlMOrTOdINw6msLOn5JlGuaunS0jNYoZ69kr+323fZnlfPTdkdG/n5NvUzbUdOnpK4D7+jEzJOndSMl5qtVlzFs2s/bdoU9Fya8pk65bN2dsXKq9go/bc7TqHY6OW/1vfhxqBdMTBix+44qZ9DC/W8kfwsszgARjzvrHxuWfitfJ65dpky0vOE8vOFcr+0nkHSak/reTMlG+UzhPIzgeJ75XVxSIf6GWlhd/aqNbmeWdRrT7Lt0fPqRnJCb9zIc3/7xo3w/NzPUL1MGazbuUt6Zna+OAzor2dgtZ59VT4jK+alcfPmY/ojvVE8+e8t16KM+IT6bVH2QeuZW/G98rraDzGviud3xSFRymeI5evq53q1mNk9bozERV1GL06R2DT6G6HFSC/OcjzUz10bbTOSfqjLxlqc5P4pf7/N3J8p7xNKFE7GoPdmYkjH26R7QSNjykpMvB5Pdpx2q9yKK/qjt+1WPnBIFoRCPN5886WdgWJ76/Tp0/Hcc88FDv4JJT5vuOGGoNVJUV8WplWrVg0pHo2KT6W4FrYbNmworaqK7caiHbEFWHy0VoCt5ATFp9/Ep+LUSCuB1aorTnMcPGMmxvXsHjhhUnnqZMWSJaSTHLu0boWG1apK//329z9gUeow6bRHcRqlEJfXN7w81ymQ0o+NxgmTdvfBqxMj1Sd62tEv9Ymf8kma8gmcWvEyGletkzq1Thi1ox+yDa9io+yDE3FSM9Jiq87/SV9+LVVTnvgq/m00pnbGJdfNmc2nrqpPStU6rVQcVPPigoUYd0dH6aRl9emkwkdRb/+x44ETStV2tE5klOuJ/1eeqqp10qaSg9apq8LH+2e8h/F3dJJOPtU65VN9IrVsU689Uc4Pp3CGyiu9cSPP/UK8if8e88kcvNn3EUnMiXlfiM/+t9ykeRKwmHfGzZ2H6f0eQVKBArlOGVbPS1qnJSv9lsefeJWNfOKw2kao045lP8SJy+ITaixrcYq1+c3ob4S6XKgTn5VxFny1YmC0TSvzX6zFSWYhc9e7P5PHqPL3R31vIeIw6N33MKRTR+le0MiYshITv46nUH0SK54//PBD0FZZ5Smx6mc+xfOUS5YsCWyLVa4mCltaJ9CqT511euVT3v6rfOZT9N/Iybxi222/fv0kwS0/A2s1Hyg+LYpPu0+7Vb4vz2pw1fXV79UT3yvfbScmqKdnvIcurVtLrxKYvWQpPvp5Cab37ye9m0+8c69qmdKoXKoUxs2ZG7gutyPbf+mB+6T6Tny8eleeuDlzIjbq9xUq33UoeA5+ZwbG3dcz6N2EWnHVKqd+T6HWew7tjJFXsVH2wak4KdsQMdPL/583bAx6P6WoL2J7e8vmmu+GdDo2Sv/tjpMkPhXvJ9Z6x6l4/9+LC7/FuI63BV7zo34noPpdkZKw/Ov9krL/6vcMy2Uk8al4p6p4z+OK7Tul990m5bv0qg2tj9K+8p3HkjD56x2Ig9pel+vdlup3Gxtpzw/vHwzFQW/cyHO/EHwi/we+9U7gnanid2LnwUNSboebh7r8q7X07lP5d+btb7+X3FHnvtZ7YtV+q21c1/CKoN8j4dPytDTpfazyyrZcp3yx4oH3ycpz5OBOHXV/s+weN2bmXr04RWrTyG+EmlGo3yW5nBxnrRgI/4y0GWk/nJzfzPhid5yED0bvz8QYU78fWf79kd+9LGIw6O13MeTOToF7C70xZYZDuDp+GE+h/FMeLiS/jkSISPlZS1FPHPIzZcoUiAODhA4QpnOV6wAAIABJREFUH+Wzm/JKod4zn/J22lDiU35uVOuZz8qVK+d6NlT5zKf62VDRF6X4VD/zqTzRVxyCJLb9ivb5zKfd2f+XPT+ddtuq66VjnfnRJrDsg1meHNoh/ZgwNmHT0qvYKJ1inPRnDrvjJJg3bdpUv+E4L7F69WpP5i4j2Dlu9CnZPW70W8xdgnHSp8Y46TPyQwk34xTpabeCj/o9n8rtqOJ7IdTuueceaZtqnz59pAODZPGpPO22d+/emu/8NLryKcSf0dNuX375ZQgRKx8MJG+bFdt8xf9OiQP1wpx2q+yjuv/cduvAqPGT+Ly6ew8Hehg7JpfOfM+TGzjxo8/YhM8jr2KjFp+Mk7txksRno0axM8k41JPVa9d6MncZ6Q7nN31KnN/0GfmhBOPkhyjo++BmnMweOKTfC5YwS4Dbbi1uu7X7tNur77vfbCzjot7Sd9725AZOujljbMLmmFexySU+GSdX4yTGRpOGDeNi/rHSyTXr1nkydxnxmfObPiXOb/qM/FCCcfJDFPR9cDNOFJ/68XC7BMWnRfFpZ8DEDUDrXg/ZaTLmbC2Z/oYnN3CMjX4qeRUbtfjkGAofK7vjJInPBvX1EyTOS6zZsNGTucsIds5v+pTsHjf6LeYuwTjpU2Oc9Bn5oYSbcbLjtFs/MIslHyg+/SY+H34klvLL9r4sef01T27gpB99xiZsPL2KTS7xyTi5GicxNhrXrWv7WI81g7+kpXkydxnhyPlNnxLnN31GfijBOPkhCvo++CFO+l6yhFMEKD4tik87T7tdMWgArrjxJuTJm9epeEe13eyLF/Hb11+hxUuvuN4PxiY8ci9jo/SMcXI/Tsv79katlGTkSUhwfVxGS4PZ2TnYeuoUWk5+3Zcuc9y4P27MJALjxDiZyRu/1fHL/YLfuMSTPxSfFsWnnXvJVw97BlWvvBLJpcvEUw4a7uvJgwewa/16NEkdbbiOXQUZm/AkvYyN0jPGyf04rR4yGGXPnELBAgXsGm4xZ+f02bM4VDgFTca84Mu+cdy4P27MJALjxDiZyRu/1XH7fsHMabd+YxZr/lB8+kh8Hlr7C3bM/gANb+8Ua3lmS3/Wzf0UNbp2R8krr7LFXiRGGJvwtLyMjdIzxsn9OAnmf0ybilrJhSMZUnFVdsuJk6jd51FP5i4joDlu3B83RuKiLsM4MU5m8sZvddy+X7BzkchvLKPVH4pPi+LTztNuRRIdWLoEu+bNQbV//RuFS5eJ+y242Rcu4NThw9j+42JUvfMulG3RyrOxxtgEo/dTbJSeMU7ux2nfooXY8d47qJBcGEn58nELLoDsnBxknj+PvSdPocZ996Nsm7aezV1GGua4cX/cGImLugzjxDiZyRuv63h5v0Dx6XX0c7dP8WlRfDoR0sNrf8HOz+fh4tlMHN++3YkmosZmkWrVkTcpCdVu6+iLVQPG5u/U8VtslEnNOLkfJ8F8++wPkX3mNE4cPBg1c4xTjqaULoO8hQujepeuvpi7jPST48b9cWMkLuoyjBPjZCZvvKzj5f0CT7v1MvLabVN8+lB8+i9N6BEJkAAJkAAJkAAJkAAJkAAJWCNA8WlRfNp52q21ULI2CZAACZAACZAACZAACZAACfiXAMWnRfHJveT+TW56RgIkQAIkQAIkQAIkEL8EeNqt/2JP8Unx6b+spEckQAIkQAIkQAIkQAIkYJEAF4ksAnSgOsWnRfFp92m3DsSYJkmABEiABEiABEiABEgg7ghQfPov5BSfFsWn/0JKj0iABEiABEiABEiABEiABHjarf9ygOKT4tN/WUmPSIAESIAESIAESIAESIAEYo4AxadF8cnTbmNuTITsUHZ2NvLkyRM/HWZPSYAESIAESIAESMBmAryfshlolJmj+LQoPrmXPMoyPkJ3z5zMwoZlW7H9tz04fTIT5zLPRWiBxUmABEjAPQKlKpTA4b0Z7jXIlkiABEggQgKJBQsgKTkRNS6vjAatayGpUIEILRgvztNujbNyqyTFp8/F56mM9Thz+DdknfgD507vx/msI27lhmftFCpWExcvnEOBlGpILFITxau09cQXITy/nPYjklOSUaZCaaQUTfbEDzZKAiRAAiRAAiRAArFE4MTRkzi49xBOnjyJWx+5xjEBykUi/2UNxadF8enkabcHNr6FnPPHkK9AQSQWKoXEwmVwWb6C/ssiBzzKPHUAZ08fwvmzWTh+aD0qNhqMxJSqDrQU2uTqr9cj488TqFW/hqvtsjESIAESIAESIAESiAcCWzf8gZJVUtDkhssd6S7FpyNYLRml+LQoPi3RD1E5J/sitv3YByUqNkXxcv90oomosnku6zj+TJuPMnXvRaFS7vH4aNzXqF2/Flc8oypb6CwJkAAJkAAJkEC0EDhx7CS2bNyKLoNvcsRlnnbrCFZLRik+fSg+t3z3ACo3uFNa7eTnbwK7N3yKIpVvQpEKrR3HIh6Gf3fEZ/jXDa0cb4sNkAAJkAAJkAAJkEC8Evh54XLcm3obD3WMkwSg+LQoPu0+7Xb/b1ORmFQQxco6s/0g2vM6bfnLqH3dO8iTN7/jXXlt0Ie4/vZrHG+HDZAACZAACZAACZBAvBL49rPFeGTC3fHa/bjrN8WnRfFp517ykwd+wcl936N8reviLhGNdvj08T04lr4DFf45wGgV0+UoPk2jY0USIAESIAESIAESMETASfHJ024NhcDVQhSfPhKf+9ZNQsFCKShahque4UZB2vKJqN1mOvJclujoYKH4dBQvjZMACZAACZAACZAAnBSfdi4SMVT2EKD4tCg+7TztdvuSgShfs410qi0/oQns/O1DlK73IAoWq+MoJopPR/HSOAnELIH5i+ZgzbpVGNp/JBILJEn9PHr8CEZNHIpH7x+I6pVrhuz72t9WY97CT6W6+w7uxePDH8bv2zZi5MAXpP9X2tQDKNocOKov+vYcgEZXNM1VXP5+yaofpe+6dOgeZH/77m2B9tXfi+9GvzIMwx4fHbY/ej7yexIgARKg+IyvHKD4tCg+7UyX37/pjH9cPdhOkzFp68Af3yN/sStQvMoNjvaP4tNRvDROAjFLwIr4VEIRQnTlr8vQ915zjxmEE5/yd7e1uwPt23aSmlX6LQvfEU88HxCuU96diAOH9weEMcVnzKYwO0YCrhJwUnzytFtXQ2moMYpPn4jP81kZ2L1qBGpcdZ+hwMVzoYy9q5GdpxhK1e7iKAaKT0fx0jgJxCwBPfFZvkwFjJk0AmVLlcMr08dJHB7vNVgSmfLK503X3ooej90lfSdWJMW/v/7hi8DKpBCCct2Xhk8OCMiss5mS7Y8+nynV23tgj+bKp5aPcl0hSMVnyoyJeGn4FBQrUlz6t3K1U/yb4jNmU5gdIwFXCTgpPl3tCBszRIDi06L4tOu02wtZR7Bj+VOo1eRhQ4GL50IZf67CxTxFULpON0cxUHw6ipfGSSBmCRgVnwKA2Ea7cfN6jHz5Gbwy6nUcPXYksO1WXJe34Cr/e9FPXwe29apXKJWrk6JOlz4d8NHUz4O23cois0nDZgHRqg6GvDKannFY8ku9VZjbbmM2fdkxEnCdAMWn68g9bZDi06L4tOtBZopP4+OA4tM4K5YkARJwn4BR8SmLP+XzoHric2DvIXhp2lgohaMQnJXKV0bbf98krXqKlUvxjKdyJVP5zGeo61qkRF8GjuonffWPmvUDQpTi0/28YoskEKsEnBSfPO3Wf1lD8Unx6b+s1PGI4jPqQkaHSSCuCBgVn7JINCM+xbZa5Uds2+16e8+gA4b0xGe4lU+tgIktwfJWXOEzt93GVVqzsyTgGAEnxaddi0SOdT4ODVN8WhSfdp12y5VP46OP4tM4K5YkARJwn4DyxFr5tFvlSqH8zKcV8SnXVfZOLTbDrXBqCWRhS6yiNr+qlfSsqPjIhxGJ/1aKZPFvik/3c4stkkAsEqD4jMWohu4TxadF8WlXulB8GidJ8WmcFUuSAAm4T0B+RUmok2KFR8rtsZGsfIpnRJXPfGZmZUqrnfKptUpRGeqZT1lIKuuJa6KueMZUHDKktbKp9737pNkiCZBALBBwUnzytFv/ZQjFJ8Wn/7JSxyOKz6gLGR0mgbgjEO4dmeoVyUjFp1hNVZ52K5+UKyCrT7stXCgZ113dztB7Pls3+0+u023l94wK28rv1f0T3yufCY27gLPDJEACpgk4KT5NO8WKjhGg+LQoPnnarWO5GdIwxaf7zNkiCZAACZAACZAACThBgOLTCar+tUnxaVF82vUgM7fdGh8kFJ/GWbEkCZAACZAACZAACfiZgJPik6fd+i/yFJ8Un/7LSh2PKD6jLmR0mARIgARIgARIgAQ0CTgpPu1aJGLo7CNA8WlRfPK0W/uS0aglN8RndnY2Zoych9ZtWxp1i+VIgARIgARIgARIgAQiJLBk4XL0TL0NefLkibCmfnGKT31Gbpeg+LQoPu0KGLfdGifphvgU3nw07mvUrlcLKcWSjTvHkiRAAiRAAiRAAiRAAoYIHD96Att+34bOT95kqHykhXjabaTEnC9P8Unx6XyW2dyCW+Jz9dfrkbHnBGo1qGFzD2iOBEiABEiABEiABEhgy4ZtKFWlKJrc0IAw4oQAxadF8cnTbt0fKW6Jz8zTZzF/8g9IKZqCMhVLI6UoV0DdjzZbJAESIAESIAESiDUCYsXz4N5DOHn8JDr0vRaJhQrEWhfZnxAEKD4tik+79pJz263xMeqW+BQeCQH6v+/SsDNtL86cysS5zHPGHWVJEiABEnCZQOkKJXBob4bLrbI5EiABEjBOILFgASQVTkSVuhVwZZu6jgpPnnZrPC5ulaT4pPh0K9dsa8dN8al0WhxC5MTD8LaBoSESIAESIAESIAES8DkBN++n7Fok8jnSqHKP4tOi+HTztNvNW3ei/+AJmDRuEOrUqhpItNEvTkf1qhXQrfONEP89fMzrQUk4aujDGPZUL+masNH53mfQvEkDTBz7BJKSEqXrmZlZGDDkZaxcswGz330+l/29+w8FlVdnuWhXfOR25O8zjhxDt17DMGzwA2jV/J9B1WRf1q3fErje8PLaudpXt+WV+IyqkU1nSYAESIAESIAESCDOCVB8+i8BKD4tik+7Qmpk261R8akUgbKorFCutCQMZRvFiqZg5DMPBUSmuD7i+Tdw9NiJIHErrk+c8oHUzQF9uwaJUmXfzYpPtZhetvJ/6DtwXFgBSvFpV9bRDgmQAAmQAAmQAAnELgGeduu/2FJ8xrj4FCmnFK3i36lj30DTRvVRumRxabVUfGbN/gaH0o9g9dqNSB3ytygV1+XP9p17c61syt/ZJT6FvVC25LYoPv03kdAjEiABEiABEiABEiABEtAjQPFpUXy6edqtmZVPkQDy6mf3LjehZImikvjs0qkdvvl2mbSVVnzEqmeHm/+FyW98HBCfop64/kCP9lK9oaOmYszwPihRvGiuvLJTfIrVz5kffR1ymy/Fp96w5vckQAIkQAIkQAIkQAIk4D8CFJ8Wxadde8md2nYbSnyOfKY3Rjw/TRKa4vPWe/PR/+HOeHLYqwHxKcSuuC6254pnQ4XAvPbfjXM9uynqU3z6b3DTIxIgARIgARIgARKIZwI87dZ/0af4jAPxqTz0R175nDxhMKa++akkJnfu2g+xpbbPg3eg36BxAfEpttze8+CwoKxVHl6k/MJO8SnaXbLi/7jy6b/5gh6RAAmQAAmQAAmQQNQQsGuRKGo6HAWOUnxaFJ9unnYrRKRSHCpXNVu3uDJw2q24rjx1VuuZTyE+07bsxOdf/YwTJ09BbMmtW7tqwL4QqepTarXal3PcTvHJZz6jYOagiyRAAiRAAiRAAiTgcwIUn/4LEMWnRfFpV0iNbLtVn1wr2lafDqsWblqn3YpnPoX4TM84Jr12pWyZEpg1fbTUFVnciu9Gj3tLui4/4ynbkoWuEyuffj7t1s33UtmVV7RDAiRAAiRAAiRAAn4i4Ob9FE+79VPkL/lC8RlF4lMETBaA096eKwVQ/V5MI+/5lMVnwaRE6d2e8mtYlCubH8/9TrKvfm+n2BI7c/bXQaJUlAvVrtjKK1ZQF363Iij7ly6aLh1iJMSvn9/zeeZkFjYu34rt6/fg9IlMnD1zzn+jmB6RAAmQwF8ESlcugUO7M8iDBEiABHxLILFQARRMTkSNKyqjfqtaSCpUwLe+0jH7CVB8WhSfbp52a3/4o9OiW6fdCuH51Zs/okjJZJSrWlr6f35IgARIgARIgARIgASsETiefhL7dxzC8YyTuKX3NRSg1nBGVW2KT4vi06695Ea23UZVZjnorFvic/XC9Th28ATqNq7hYG9omgRIgARIgARIgATik8Dva/5A8XIpaNL2ckcA8LRbR7BaMkrxSfFpKYG8qOyW+Pxo/Neo36wWVzy9CDLbJAESIAESIAESiHkCYgV046qt6PLkTY701a5FIkeci1OjFJ8Wxaebp93GaY7m6rYb4lM8DP9u6me4rksrYicBEiABEiABEiABEnCIwHcfLce9qbchT548trdA8Wk7UssGKT4tik/LEfjLALfdGifphvgU3rw26EPcfP81xh1jSRIgARIgARIgARIggYgIfPX2Yjwy4e6I6hgtzNNujZJyrxzFJ8Wne9lmU0sUnzaBpBkSIAESIAESIAES8JiAk+LT466xeQ0CFJ8WxSdPu3V/XFF8us+cLZIACZAACZAACZCAEwQoPp2g6l+bFJ8Wxadde8m57db4IKH4NM6KJUmABJwn8MeObUgdOwypQ0ajRrWagQYnvTYRlStVxm23dArphKj7ytSXMGroGCQlJmHUiyMw6+OZuK9bL2QcTZeuFyta3FAnjh47gscG90X/hweg8VVNc9WRv/9p2Y/Sd93u6o7hT41EYmKS9G/19/9u9R+8Om6K1H4426IP/QY+jE2bNwa1ObDfYPR/ZIAh31mIBEggfgk4KT552q3/8orik+LTf1mp4xHFZ9SFjA6TQEwTsCI+lWCEwBv/6gt48rGnDQtOdf1Q4lMWjx3b3xEQw/O+nIPVa1dJAjQzK1MSrurv587/VBKg4hPKtlb/9YRwTCcEO0cCJBARASfFp12LRBF1iIXDEqD4tCg+edqt+yOM4tN95myRBEggNAE98XnDdTdJK5plS5fDS5PHSYbkVUF55fOJfk9ixJihEKuS9erUx1MDnsGc+Z8EVj5/+XU1OnXvINVVrlhmZWUGVkvF9T/37tFc+VQKTXmlU67b8dY7UKxY8Vyrt0oBWaN6zYjEp/DTyMov84oESIAEKD7jKwcoPi2KT7vShdtujZOk+DTOiiVJgAScJ2BUfApPxCrjhk3rMey5ZzD5pdcl5+Rtt9L3Y4bi8T4Dg64fOXokIAwrlKsQELJiS6sQeAcO7Q/YFQJ1zszPg7bdyiKzaaNmIbcAK0Wsur5wRm/brXrbMVc+nc87tkACsULASfHJ0279lyUUnxSf/stKHY8oPqMuZHSYBGKagFHxKYs/Icy0RGYo8fnT0sWB7bFi1VKsgs794lMMfmwIxr06FmLlUjzjqVzJVD7zGeq6VlCUK6zie1mI6olPrWc+X31xctjnXWM6Kdg5EiABwwScFJ+GnWBB1whQfFoUnzzt1rVcDTRE8ek+c7ZIAiQQmoBR8SmLRDPi87Gn+gU5IA4DGjl0jLRVVz5gSE98hlv51Oqdsl/FixU3vO1WCNhJr08MHFbE3CEBEiCBcAQoPuMrPyg+LYpPux5k5rZb4wOP4tM4K5YkARJwnoBSTMqn3Sq3usrPfFoRn7v37M51cqxabIZb4dR65lOQEdt2WzZrJUFavmpZUBtKe5E+86ncDiw/Y+p8JNgCCZBANBJwUnzytFv/ZQTFJ8Wn/7JSxyOKz6gLGR0mgZgmIIs0caCQ/GoRsfonP9cpP6dpVnwqn/kU4lYp7BZ893VgS654llTrmU8BP9Rpt+FOs1X2IZKVT2V7oV77EtMJwc6RAAlERMBJ8WnXIlFEHWLhsAQoPi2KT7tOu83JycbmRd1Rt+UTTFkdAge3/4B8ReqheNWbHWX12qAPcfP91zjaBo2TAAnEBgHlgT2iR+LEWnGgkBCL6hXJSLfdivdsKp/FVL5/U33abeHCyWh7TTtD7/lU2lEKRvk9oMo+qN8BKkdNPBOqdVKu+F6stsri1ui7SmMjG9gLEiCBSAhQfEZCK/rLUnxaFJ92psD2nx9H+do3ILFQKTvNxpytXetno2Tde1GoeD1H+0bx6SheGicBEiABEiABEiABOCk+edqt/xKM4tNH4nPv/15F4eRiKFK6vv8yxUcebV4xCTWveQ158xV01CuKT0fx0jgJkAAJkAAJkAAJOCo+idd/BCg+LYpPu067FalxfN9SZB35H8pUaeG/TPGJR5mnDyNj/0ZUvPLSe/Cc/FB8OkmXtkmABEiABEiABEgAFJ9xlgQUnxbFp90PMv/563ikFKuElJK14iwVjXV36+rXULXVeORLLGasgslS2dnZeG/UPFx7V0uTFliNBEiABEiABEiABEhAj8APs5ejx4jbkCdPHr2iEX/P024jRuZ4BYpPn4lPEfHfv+mMOi0HIk+evI4nQDQ18GfalyhYqimKV73RFbdnT/ga9ZrWQpGSya60x0ZIgARIgARIgARIIJ4IHEs/gd9Xb0PnQTc50m27F4kccTLOjFJ8WhSfdp12q8y7ixcyseW7+1Gh9i1IKVU3zlIyd3ezL57Dnt/no2iltihS0b3TZ9csXI+jB06gbpMacR8DAiABEiABEiABEiABuwkI4VmiQlE0vr6B3aYlexSfjmC1ZJTi06L4tERfp/Kfv76Eyy7Lg8SkoihQuDQSC5WRBlE8fM5nnUDW6UM4l3Uch3ctQcVGg1C4ZENXu555+izmv/YDipZKQflqpbkC6ip9NkYCJEACJEACJBCrBMSK5/7th3A84yTaP3wtEgsVcKSrPO3WEayWjFJ8+lh8isge378Spw//irMnduDcmYNISLjMUsCjoXJikSo4e3o/EpOrIKlYXZSscbtnbgsBuu7HNOzctBdnTmbi7JlznvnChkmABEhAj0DpSiVwaE+GXjF+TwIkQAKeERBCs2ByIqrWq4CG/67rmPD0rINsOCwBik+L4lOcdjt+/Hhcdpk7ovDiuZOxn9IJCcibr7Dv+ikOIXLiYXjfdZQOkQAJkAAJkAAJkIBDBHg/5RDYKDFL8WlRfLZu3RpTp07F5ZdfHiUhp5skQAIkQAIkQAIkQAIkENsELl68iMOHD6Ns2bKx3dEo6x3Fp0XxOXDgQFSoUAFPPPFElIWe7pIACZAACZAACZAACZBAbBKYMGECDh48KO1Q5Mc/BCg+LYrPI0eOYO3atbj++uv9E1V6QgIkQAIkQAIkQAIkQAJxTODOO+/EiBEj0KCBMyfpxjFaS12n+LQoPi3RZ2USIAESIAESIAESIAESIAFbCfz0009IS0tD7969bbVLY9YJJNzT466cmTOusm4pii107/kr3n37A+TNm9d0LzIyMiD+V7t2bdM2WJEESIAESIAESIAESIAESIAEYpVAQsc7Oua8MrE+KlUsFKt9DNuvPX+exuMDNmLOJ3Ms979OnToYMmQI7r33Xsu2aIAESIAESIAESIAESIAESMA4gRkzZqBnz57GK7Ck6wQSnn7myZzr2pxDm2vLud64Hxr87vt9+GFxEp5/7gVb3OnTpw/at2+PG264QbInTtqysqJqi1M0QgIkQAIkQAIkQAIkQAIxSuD999/HF198gerVq2Ps2LEx2svY6FbC2+/MyDl79ic83Ds+t4tOmboFhZOvQc/u99gWUbH9tkSJEpK9fv364csvv8SuXbuwdOlStGrVSrouXtEi/i0+vE4OzAeOC84DnAc4D3Ae4DzAeYDzgLl54OWXX5YWfurVq2fb/TwNOUMgYeXq1Tk//fwBBg+Mz3fgvDj+AK67tgcaNbrSGcK0SgIkQAIkQAIkQAIkQAIkQAIkgIScnJycMWPHoEH9dHRoH18CdO5n+7Bla3k8PfgppgIJkAAJkAAJkAAJkAAJkAAJkICDBCTxKexf164d5n7SGikp+Rxszj+mjx49iy7dVmLh11/7xyl6QgIkQAIkQAIkQAIkQAIkQAIxSiAgPnfs3ImXXn4aY0bXR5Ei+WO0u5e6JYTnsBGbMHjQeFSuXCmm+8rOkQAJkAAJkAAJkAAJkAAJkIAfCATEp3Bmx84deOjhh9H3kVq4rUNsirK5n+3GtDf/wJuvT0PlylX8EAP6QAIkQAIkQAIkQAIkQAIkQAIxTyBIfMq9ff6FEcibdy+SC19EnTpFULt2StS+B1S8x3Pz5uPYvPkETp3KgxxUwdODh8d8YNlBEiABEiABEiABEiABEiABEvATAU3xKRxc88tabNz0f9i8OQ1btmxHwYL5sGXrfj/5rutL7VrlcObMedSpUx116vwDDepdiUaNrtKtxwIkQAIkQAIkQAIkQAIkQAIkQAL2EggpPtXNXLx4EXnz5rW3dYetRaPPDiOheRIgARIgARIgARIgARIgARLwhIBh8emJd1HYaE72RSTkiS6RHoWY6TIJkAAJkAAJkAAJkAAJBBHgfbj/E4Li04YYXcg8hOMbxuLEznk4fyYd2edP2WCVJkiABEiABNwmkFS8FjKPbHW7WbZHAiRAAiRgA4G8BVJwWWIJpFS9DUUufwaXJZa0wSpN2EmA4tMiTSE8937VDEn5jyOlaDISCyZatMjqJEACJEACJEACJEACJEACZghkncnCiWMnceZcEVS8ZQ0FqBmIDtah+LQIN2PVo7h4YBZKlyth0RKrkwAJkAAJkAAJkAAJkAAJ2EHg0P505C1/L0o0mWiHOdqwiQDFp0WQOz6ugnKls5GYVMCiJVYnARIgARIgARIgARIgARKwg0BW5lnsP5QH1e7aZYc52rCJAMVNp5fBAAAFw0lEQVSnBZDioeat7xdB7VqlLVhhVRIgARIgARIgARIgARIgAbsJbN16GDXvOcbDQO0Ga8EexacFeKJq2vQE1P1HFYtWWJ0ESIAESIAESIAESIAESMBOAmm/70LdXjl2mqQtiwQoPi0ClMRn3coWrbA6CZAACZAACZAACZAACZCAnQTS0nZTfNoJ1AZbFJ8WIUris3ZFi1ZYnQRIgARIgARIgARIgARIwE4CaVv+pPi0E6gNtig+LUKUxGfN8hatsDoJkAAJkIDTBGZ9dwZLfjuHiX2LIKlAgtRcxvFs9Jt0HKk9k5F+PBszvz0T+D7zbA4GTDkulZPryNdaX5Ef3a4r6LTLtE8CJEACJGCBQNq2fRSfFvg5UZXi0yJVSXzWKGfRCquTAAmQAAk4TWDWd5lYsv4cJvZJCRaf/70kPsUndcZJTH60CEoUyXNJmP73OHJygJH3JqNOpcsC10R58W9+SIAESIAE/Esg7Y/9FJ8+Cw/Fp8WASOKzWhmLVlidBEiABEjAaQKzvhfi8zwmPpL8t/g8IQTmCaT2KIzKpfNiwGsn0f26RLRqkB/LNpzDD/87J7lVvVxedGuThM17LuCtbzIxsmfhgA2n/aZ9EiABEiABcwTSdhyk+DSHzrFaFJ8W0Uris0opi1ZYnQRIgARIwGkCs77PwpIN5zHx4b+FY4YQn5NPIbV7QWklU5QRn25tEgP/XbVsXkmEDutWSLq2/cBF6b/5IQESIAES8DeBtF2HKT59FiKKT4sBkcRn5ZIWrbA6CZAACZCA0wRm/ZCFe148lauZhtXzYvYzl7bRLtt4HjO/P4sx9xbEix9n4oF2BVCySB4MffeMdG3qF1m49p/50Kp+PqfdpX0SIAESIAGLBNJ2p1N8WmRod3WKT4tEJfFZsbhFK6xOAiRAAiTgNIFZP5zFko0XMPGhgsHbbqeeQeo9SahTMS/ESujQGZl44vZEzP75HAZ1SpTcGvF+Jrr+Jz8++PGcJEhFWX5IgARIgAT8TSDtzyMUnz4LEcWnxYBI4rN8UYtWWJ0ESIAESMBpArMWn7skPh9MChafr2UitVtiQFBOnJeFQgUScPBYDobdfUl8irqFkxLw246LGNSxAJ/3dDpYtE8CJEACNhBI23eM4tMGjnaaoPi0SFMSn+WKWLTC6iRAAiRAAk4TmPWjEJ8XMbFXYrD4fD0LqV3/Xs0U5b5YdQGP3pofrepdOtF22aYL+HzleenfHZpzy63TsaJ9EiABErCDQNr+4xSfdoC00QbFp0WYkvgsc+mIfn5IgARIgAT8S2DWj+exZNNFTHzg75XLjBM56DctC6l3C/GZR3J+85/Z6P9mFiY9KFZDL10T5bq9nIlhdxVAq3rccuvfKNMzEiABEvibQNrBkxSfPksIik+LAZHEZymeemgRI6uTAAmQAAmQAAmQAAmQgK0E0g6fpvi0lah1YxSfFhlK4rNkQYtWWJ0ESIAESIAESIAESIAESMBOAmnpZyg+7QRqgy2KT4sQJfFZ/NKBFPyQAAmQAAmQAAmQAAmQAAn4g0DakSyKT3+EIuAFxaeFgORkX8Qf7xdDzYJnLVhhVRIgARIgARIgARIgARIgAbsJbD2THzXvOYaEPHxW3262Zu1RfJol91e9HR9VQjkcQGLeBIuWWJ0ESIAESIAESIAESIAESMAOApkXsnEwoTyqdtlthznasIkAxadFkBnLHsbFP95A6QKXTkTkhwRIgARIgARIgARIgARIwFsCh7Kykbd2H5RoMdlbR9h6EAGKT4sJcSErHXs/rYWCF44hOV8CEqlBLRJldRIgARIgARIgARIgARIwRyArGzhxIQdn8hZHpTu2IG9iCXOGWMsRAhSfNmC9mJWOY8t64eTB1Th//gQunj9tg1WaIAESIAEScJtAoZSqOH1ip9vNsj0SIAESIAEbCOTNVxj58qUgpWxzFGn1BvIWoPC0AautJv4fo60DHg62SfM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png;base64,iVBORw0KGgoAAAANSUhEUgAABBMAAAJ5CAYAAAD8eXhbAAAgAElEQVR4XuydB3QUVRfH/wJC6KE36V1QFELvSBFEAqKUj16kg6B0DFVQioAYRHpXQKSJdJAelC41gBA6odcQ+nfuxLdOJrvZ3dlpu3vnHI5k57377vvdGcz9733vvfbq1atX4IsJMAEmwASYABNgAkyACTABvyWwZs0a7N+/H1euXMHVq1dx7do16b8ZM2bEvn37/JYLT9w5gaCgIFy/fh1ZsmRB5syZpf9mzZoV9Hnt2rWdG+AWXkvgNRYTvDZ27DgTYAJMgAkwASbABJgAE1BF4Pbt21i1apXtT61atVC6dGlJPFAmhYkSJVI1BnfyDwLPnz+PI0LduHEDYWFh2LhxI+rVq2f7kyZNGv+A4iezZDHBTwLN02QCTIAJMAEmwASYABNgAnv27MH06dOxYsWKWElewoQJGQ4T0JwACQ1y0apBgwbo2LEjSpUqpflYbNB4AiwmGM+cR2QCTIAJMAEmwASYABNgAoYSCA8PR79+/RAZGYkJEyagTJkyho7PgzEBIrBr1y58/vnnyJYtG0aPHo38+fMzGC8mwGKCFwePXWcCTIAJMAEmwASYABNgAvERoLXs/fv3x+7du6XkLTg4mIExAdMJLF++XBK3KlWqJD2X6dKlM90ndsB9AiwmuM+MezABJsAEmAATYAJMgAkwAcsT2LRpEyZOnIiGDRuiTZs2lveXHfQ/AjNnzsSyZcvQu3dvVK1a1f8AePmMWUzw8gCy+0yACTABJsAEmAATYAJMQEmAljLQCQ20AZ4/XTdn7cL5dvOQ9n+lkHN6CyRIllia/vObD3GmbihSVimAbN98FOezTL1rSvcf/XkuDi65LWFfNFKOIx9L2Mrcr5ZtTNHvcv9luDZ6PZT3hJ9KP5KXzo18q7shUfoUPhnOatWqoX79+ujRo4dPzs9XJ8Vigq9GlufFBJgAE2ACTIAJMAEm4JcE2rZti8DAQIwfP96v5v8y6inOfzoft3/6C4lzpkX+tT0QUDiLS2KCEBiosRAMCm79AikqF7AxJAHg9qK9NrtivCf/3IiV6FO7pxfvSGIGtSdxQ25LLhgoRQJnoofcT18L7meffYaoqChpg1C+vIMAiwneESf2kgkwASbABJgAE2ACTIAJOCVApeItW7b0y2UN0Seu4nTtSUhd5y3cW3MEWQbXRfq25TURE4RtuU0yrPxcCAwPd52JJWbIA/dw2ymEV/lWqkqg6gR7QoO8gkLYJBvyagunD4MXNpgxYwaWLl2KdevWeaH3/ucyiwn+F3OeMRNgAkyACTABJsAEmIAPEiAhoXPnzmjUqJEPzs75lKii4Orw1ci7tBMiJ2ySOojk251v/O1VJjiqVlDalVdH0PjK6gb6jCoXHmw9hVxzWiOi9RyHSy/sLcfw5coEEeGFCxdizpw5frdEx/kTbr0WLCZYLybsERNgAkyACTABJsAEmAATcIsALW2oWLGiX1YkECjlt/e0vICEBbHUQQsxQW5PBMde1YCoVnh6/rbUTL6vgtIPISyI/RAc7Zlgb98Ftx4QL2tMSx327t2LadOmeZnn/uUuiwn+FW+eLRNgAkyACTABJsAEmICPEaDNFi9evOh3eyTIw6hcbqD8WQsxQbn3AY1vz65c3KD9G+jKObOltORCLHEQFQvKn+2JDbQUQvT3sUc33unQZoz58+dH9+7d/WnaXjVXFhO8KlzsLBNgAkyACTABJsAEmAAT+I8AHf84evRovy8JF6cjKJ8NscEhnepAmzMmzp7G7mkOzjZgdHXPBOX4ol/aJiWlPRzEBpHKdqJ6gSod5KdOCHHh2bV7Dvdg8OX3gZbuDBkyBFWqVPHlaXrt3FhM8NrQseNMgAkwASbABJgAE2AC/kzg+vXroOUNq1ev9mcMtuqAJHkzxNqgULnPgfI0BmVVgIAY32kO8g0TRaJP/cQyBbl4QAKFXIRIUTaPtEEkCQty8ULuV6IMKeMcYSn88belDiIederUwYIFC5A2bVq/fs6tOHkWE6wYFfaJCTABJsAEmAATYAJMgAk4IeDv+yQIPEIUUC4FUCb2ys0Rqb+95QOOxARqL+6JseX7ISj9ET8LEcCRXbn/gfWKxRET5H7b29DR118U3j/BuhFmMcG6sWHPmAATYAJMgAkwASbABJiAXQLh4eEIDg7GyZMnmRAT8HkC+fLlw/r165E3b16fn6s3TZDFBG+KFvvKBJgAE2ACTIAJMAEmwAQA1K9fXzq5gQQFM66Ht+7h8O+7cePsVUQ/iML9O/fNcCPOmKkCUyJpquTIkC8bin1QDsnTpLSEX0onnj95hv0rd+D6qYu4ffUmnjx+Yhk/kyRNgrRZ0yNTgRwoUb8iEr6eyHTffv31V/z8889YunSp6b6wA/8RYDGBnwYmwASYABNgAkyACTABJuBFBPbs2YNevXohLCzMFK8Prw3D4VW7kDVhAJInSoTkiV5HotcSmOJLnCT95Us8fPEMj54/w5UXT1C8fkW8Vau0JXwTTpza+Td2zF2DHEmSI1nCGH6JEyS0jI9PX77Aw+fP8PjFC5yPfoDKbeoif/m3TPevZMmSmDJlCoKCgkz3hR2IIcBiAj8JTIAJMAEmwASYABNgAkzAiwi0a9cOn376KcqUKWO413sXbUbk3nDkSZTM8LHVDPjP8yhkLV0YJRpVVdNd8z5Hfw/D6Y37UDCJNSsm7E04/OlDFHy/FN6sVUpzHu4Y3LlzJ+bOnQvaQ4EvaxBgMcEacWAvmAATYAJMgAkwASbABJiAUwK3b99G/vz5cevWLadttW5weN0eXNx0EHle9w4hQcz/n2ePkKtmEN6qaW4yTBUJx37djoIB3iMkCIYnH9/H202qIl+Zolo/Vm7ZS506NS5evIhUqVK51Y8b60OAxQR9uLJVJsAEmAATYAJMgAkwASagOYE5c+Zg27ZtmD17tua24zNIeyQsHzITQanTGzquVoPtvXMDDUd2MG0PBdojYW63b1EuY1atpmS4nZ2Rl9H2x75ImMi8JRktWrRArVq10Lx5c8PnzwPGJcBiAj8VTIAJMAEmwASYABNgAkzASwh89NFHoISqQYMGhnq8e+EGPD5wFlmTpjB0XK0Guxz1EMlL5kXZpjW0MumWnb3LtuJB2ClkSeJdVR3ySV5+GoXAcoUQVL+SW3PXsvEvv/wC+rNkyRItzbItlQRYTFAJjrsxASbABJgAE2ACTIAJMAGjCSRKlAhPnjxBwoTGfju8cvhsZHz0EoFJAoyesibj3Y2OxvWUCREc0loTe+4aWf31fKS58wRpA5K629Uy7W8/foy76QPwQT/zqgLo2aelDtHR0Zbh4s+OsJjgz9HnuTMBJsAEmAATYAJMgAl4DYE1a9Zg8uTJ+P333w33eVHvUBRNFohECaxxaoO7AJ6/fIljUXfReFw3d7tq0n5u12/xbtqMSGywCKSJ8/8aefriBQ7duYGWoZ9radZtW7TM4YsvvkDNmjXd7ssdtCXAYoK2PNkaE2ACTIAJMAEmwASYABPQhcDw4cMlu4MHD9bFfnxGp7UdhUq5chs+rpYDbo84hw6zBmpp0mVbvsCPJmsmQwF7yJAhCAgIwIABA1zmzw31IcBigj5c2SoTYAJMgAkwASbABJgAE9CUQOfOnVGsWDF06tRJU7uuGJOS4dx5XWlq2Tbbz/1jrpjg5fwkMcFEhuLBouqcEydOIDQ01LLPmr84xmKCv0Sa58kEmAATYAJMgAkwASbg1QTq16+PNm3aIDg42PB5kJhQOW8+w8fVcsBt/5wxVUzwdn4UCzMZimdh+fLlmD9/PpYtW6bl48G2VBBgMUEFNO7CBJgAE2ACTIAJMAEmwASMJlCmTBl89913KF26tNFDQxIT8uc3fFwtB9x2+rS5YoKX85PEBBMZimdhz5496NWrF8LCwrR8PNiWCgIsJqiAxl2YABNgAkyACTABJsAEmIDRBHLmzIkdO3YgR44cRg8dIyYULGD4uFoOuC38lLligpfzk8QEExmKZ+H8+fOoXLkyIiIitHw82JYKAiwmqIDGXZgAE2ACTIAJMAEmwASYgNEESpYsKX0bS8dDGn2RmFClUEGjh9V0vK0nw00VE7ydHwXDTIbiYXj+/DnKli2LvXv3avp8sDH3CbCY4D4z7sEEmAATYAJMgAkwASbABAwn8Nprr+HVq1eGj0sDSmLCm4VNGVurQbceP2GumODl/CQxwUSG8ufAzHdBq+fRF+ywmOALUeQ5MAEmwASYABNgAkyACfg8ATMTKElMKPqmVzPeevS4uWKCl/OTxAQTGbKYYL3Xj8UE68WEPWICTIAJMAEmwASYABNgAnEImC0mVH27iFdH5Y+/j5kqJng7Pwq+mQxZTLDe68digvViwh4xASbABJgAE2ACTIAJMAHriQnFinp1VP44fNRcMcHL+UligokMWUyw3uvHYoL1YsIeMQEmwASYABNgAkyACTAB64kJ777t1VH54+Df5ooJXs5PEhNMZMhigvVePxYTrBcT9ogJMAEmwASYABNgAkyACVhOTKhWophXR2XL/sOmignezo+CbyZDFhOs9/qxmGC9mLBHTIAJMAEmwASYABNgAkzAemJCyXe8Oipb9h4yV0zwcn6SmGAiQxYTrPf6sZhgvZiwR0yACTABJsAEmAATYAJMwHpiQql3vToqW/46aK6Y4OX8JDHBRIYsJljv9WMxwXoxYY+YABNgAkyACTABJsAEmIDlxIT3yhT36qhs3nPAVDHB2/lR8M1kyGKC9V4/FhOsFxP2iAkwASbABJiAZQm8evkc967uwpP75xB97yxePHuAJw+vWNZfsxxLkjwLEiZOhYDUeRCQKg9SZSmP1xIkNMsdaVx/j50VY+LuA2H20ZDvlQty12WErl6IiSvnxen3bbt+CC5TTbqfPX0W6e/7zxzDirDNGNS4IwISJ3F7LGcdNu/eZ66YoIKfszkZfd9MhiwmGB1t5+OxmOCcEbdgAkyACTABJsAEADyI3Itrx2YgeersSJI8PQKSZ0JAisxImCgx81EQePH8CaIfRiL6Ef25iah7F5G5aAekzFjCFFYcO8BqMVHzIJguJlQo6bbbob8tlPp0+7CZ3b50P3uGzAgu8x72nyYxYRMGNemkj5iwc6+5YoIDfiv3bMYX00fH4dOzfiuJG92/eOOa9HdnjJS2vv2URJv3XI6bPB72Om02kSGLCS6H0bCGLCYYhpoHYgJMgAkwASbgvQSuHPoOL57eQvbCwd47CRM9f/XqJS6dWIWEARmRtVh3Qz3h2NnHbWZM1D4AZosJ1SuWctv10FULYsSEes3j9F0ZthmfT/9G+nz8p/3xRvpMWB62CSkCkmP6uiWoVDQI4zsMQJoUqdwe116HTTv+MlVMcMSPOOw9fQRfNulsV0Sh+xdvXJUY7j99VGJkry21IzFGMLvz8D4+n/Y16petjuCyrgkKFK/sGbI4bG8mQxYTNHkNNDXCYoKmONkYE2ACTIAJMAFfI/AKF/d+hZSB2RGY+S1fm5zh87lz9TAe3b+GN4IGGjA2x84VyMbGxBWPHLcxXUyoXNrtCYSu/FdMCI4rJpAxup89Y0zySolyo5E9sWTQRBTJmR9f/TwFmQPTo5uDvu46s2nbn+aKCQ74SWLCqSP4smlcMUEwobn2atAaZd98B8t3k+CSDNPXLkGlt4IwvuNASXCxx1rYrlOyMtbs3SaNQRexLVngLYn72asX8d2KeShdqBhC5k6MEXc6DrArKJjJkMUEd594/duzmKA/Yx6BCTABJsAEmIDXEqBvtZMmT400LCRoFsM7Vw/h8eMo3SsUOHauh8yomLjukf2WposJVcu6PYXQFfMxYdnsWP0K58iLSV0HI0+W7KD7kphQrjr2nzqK0JXzMb7TQKRJmRord2/CxetX0a1+C7fHtddh0x9h5ooJDvjRPPeGH8GXzbrYr0yQcSBGjb7qgSVfTkKRXPnx1cIfkDlNeomRuNe06odxbN15cA/fLp2FLz5uK6GhvxP/tu9/LPULO35QsiGPh9UYspigyWugqREWEzTFycaYABNgAkyACfgOgQfX/sLdC6t5aYMOIb14fDkCczVAykz67KHAsXM/aHrHxH2P4vYwXUx4r5zb0whdHrP5YrcGLe32pfvZM2ZFcHkSE45g+c6N+LJ5VympXrmLxIQrDvu668ymzbvNFRMc8KN5fj5lZJzpLBk8CSUKvBWLAzGihH9850ExgouCUfTTJ/hqwWT8vOU3yV7Tah9KPOmizxtUqCH1O3ruFC5EXkGz6sFYuGklyhZ5VxpLHg+7YoKJDFlMcPeJ17+9JcWEESNGSDMPCQmxEQgPD8fQoUMRGhqKdOnSaUrm1q1b6Natm2S/YMGCDm272s6eAZrT4MGD0bFjR0yYMAFJkybVdA7xGdOTnWGT4IGYABNgAkzAUAK08/+ZrV2Rv2QHQ8f1l8Fovf6Z/TORr3IoXkuQSNNpc+zU4dQzJuo8itvLbDGhRvXybk/l+3/FhO4OxAS6n4MqE8rXwL7wI1ixSy4mbMSF61fhqK+7zmzctMtUMcERv5W7NsZUJvwroijnRfcFB3cZyfmTHXFlS58Zf589iTJvvotVuzehUeU6yJM1B+TxsMfXTIYsJrj7xOvfnsUEAK6KBK62U4bt8ePHGDJkCNq1axevWKF/uHkEJsAEmAATYAKuEbh7eRuirm1H1gJ1XOvArdwmcDl8NVJkfQ+ps1Zwu298HTh26nHqFRP1HsXuabqYUNP9Z/X7ZXOlSXT/qJVdDHQ/B1UmVPhXTNixAV+27BZTmbCTkugrDvu6y3Xjhp3migkO+NE895782zbvOGKCjIMkJthh9GndJpj4yyw0qvqBJAqIS97+ys1IbD20R7pV5Z0yOHI2HFFPonH+2iX0/KStxFweD7tigokMWUxw94nXv73Xignim35CNHz4cFsVA30L37hxYxw+fBi1atXCwoULpUqGXbt2Se0iIyNRpkyZWNUBcpEgR44c6NWrF7JlyyZVEgj7vXv3lj6fOnUqihUrhsWLF0O0pc/o2rlzJ8qXLw/yoUePHtJnL1++lGzNnRvzDym1KVSoEJo1a4b169fb7IsqDPJF3JP772he8keEmOTJk0fqTxfN/ezZs2jUqFGsqg76vHnzmE1wxFziq8jQ/zHkEZgAE2ACTMBqBCKPz0aiBE+QLpv7R8FZbS5W9efW5b/w/FVSZCrcWlMXOXbqceoVE/Uexe5pupjwfiW3p/L9r3MwYcnMOP16NWqH7g1bY+WODegVOgITuoUgW8YsWLF9Pb5s1T1GTNixIUZMaKjNO7Jx3XZzxQQH/Giekpjw77yVsOQcJHHAASOlHWnJw9zvkSlteomhtG/Coul4EPUQQ9v2kn6e9fsSlCz0NoIr1pSGpXhJ4s6/Pyt9MZOh3Bcz3wW3XwIf7uCVYsLJkycxf/58SRCgS3zrnz59eimRpsScknpKri9fviy1O3DgALp27SqJAMrE2Z6YQHaV/ci+fDmEfDkGiRXCPvUlQWPy5MmSH1SZQEJEixYtULx4cenvFStWlHwVwsOkSZNs4gS1o35CDOjSpYvDecmXS5APci5iTPJbLBEhduS3EFnsLSnx4eedp8YEmAATYAIuEji/ZzDSZ3sXyQP/+4bLxa7czEUCj+6ex80rh5Cz9HAXe7jWjGPnGid7rfSKiXqPrCUm1KxTWaupmGJnw5ptpooJjvhRpUGvSXH/HfhfjWCEtOqBo+fC8UlIF3zeuD3KFi2O5dvXS58HJEkiVSlcjLyC7h/HCC5KW9RH3JPEgqVzpHb0GYkJQ2ZOkKoS8mSL+bde9J/QYzDq2xEUzGTIYoIpr028g3q9mKBMpuWJsnyvAGUSLadiT0wQyb78nlxMUAoXcsGA7lFlAgkEJFzI75FI4Ghs+tzevhAkEjial3z/CLkwIbd18+ZNh/tNCMFCvj+F9R5T9ogJMAEmwASMJnB2R0/kLNoYCRMlNnpovxnvxfOnOH90CfJUjPlyRKuLY6eepF4xUe9R7J5mfhs7re0o1PygilZTMcXOht+3mismeDk/CpqZDFlMMOW18T0xgRJoean+ggULpG/uKemuUCH2Wi5Rxk8JtfjWXrn5oT0xQVQHOBMTxFIFQZl8CQoKipW8K8UEpZ9yH+WigbAZ37zkVRbycSIiIqQlDiQSyEWVZMmS2ZZrCPvyZSLWe0TZIybABJgAEzCDwIm1jVG4Ql8zhvarMU/sHIPCtRdrOmeOnWc49YiJZx7919t0MeHDqlpNxRQ7G377w1wxwcv5SWKCiQxZTDDltfE+McHet+XKb+fFrOQJNH3mSDCQLwHQSkxwdAKE8vQEuY9ivwSxFEMuVpD/jioTHM1LGV3Bjj6vVq2abQ8HYXfdunXYsWOHbc8Irkyw3kvJHjEBJsAErECAE1JjoqBH4sqx8yx2esTEM4+sIybUCq6m1VRMsbN+5RZTxQRv50dBM5MhiwmmvDbeJybI9x+QLxOgjQwpCZcnwPKTEpRLD6gdJeH0X/k+C1qICeSXfL8BsUEi7ZMg36OAqijiExPIt7Fjx0p7OdjznxL/L7/8Eu3bt7ftBSGfl/KYTOFH5syZbfsiyMUNuZgQFRUlVXTQ0gte5mC9l5M9YgJMgAmYSYATUmPo65G4cuw8i50eMfHMIwuJCQ2qazUVU+ysX77JXDHBy/lJYoKJDFlMMOW18T4xgTxWlvbLS/FFci5OURDLHKif/NQD+UkFWlQmiNMb9uzZY/c0B+FHfJUJYmNFcZoCzYE2hxTLKhyd2uBoXsroCjZCeBFMRGUC/Sw/LaJz585Yu3ZtrNMtrPeYskdMgAkwASZgNAFOSI0hrkfiyrHzLHZ6xMQzjywkJnxUQ6upmGJn/bKN5ooJXs5PEhNMZMhigimvjXeKCdZDxR4xASbABJgAE/AfApyQGhNrPRJXjp1nsdMjJp55ZB0x4f2PY44P9NZr3dINpooJ3s6P4m4mQxYTrPfmWfI0B+thYo+YABNgAkyACfgXAU5IjYm3Hokrx86z2OkRE888spCY0KiWVlMxxc66JevNFRO8nJ8kJpjIkMUEU16beAdlMcF6MWGPmAATYAJMgAmYToATUmNCoEfiyrHzLHZ6xMQzjywkJjSprdVUTLGzbtFac8UEL+cniQkmMmQxwZTXhsUE62Fnj5gAE2ACTIAJWJsAJ6TGxEePxNXM2C1cvBbNPw1Bx7YfYcLXnyNp0gAJZPjpCDRuPRCHj5yKBXbB9BFo1rg2RoyegcEjf5Tu1apeFgtnjEC6tIHGBEExih4x0WoiZh8NWbtpHa2mYoqdtT+vMVVM8HZ+FDQzGbKYYMprw2KC9bCzR0yACTABJsAErE3AzITU2mS09U6PxNWs2D1+HI1eA8Zj6qxlKPZWASyeMwoF8+eKA0y0i7hwVRINTp6KQIWa7bFzwwwUL1ZIspEtS0aE9GuvLWwXrekRExeHdtrMdDGh2QdOfbRyg7ULfzdXTPByfpKYYCJDFhOs93ZZapkDHXlIRyFOmDAB4vjGW7duoVu3bqDTCOg4RnHRsYyXL1+O01acVCBH3bFjR6ndhQsX0LhxYxw+fDhOJOQnQshvKk+OqFWrlu3IRWpHPouTGeT9du7cKR25qLzkR0GK+Tiao7Kvq+3UPGbEM0+ePNJJD3wxASbABJgAEzArIfU38nokrmbFTlQf1KxWBhu27EGfHi2kqgPltWvPIZt4UL7MO3HuU5XCrj8Pm1adoEdMtHquTRcTWtTVaiqm2Fk7f7W5YoKX85PEBBMZsphgymsT76BeKSbQMYkkDtDVq1cvm8hAyTYlwyEhIbZEXogBFStWjJUo2xMu7CXvZI+ObRRJNh0x2bVrV+loSBID7NmhNpSc07106dLFMivEB/lRl66KBK62U/OYsZighhr3YQJMgAn4LgGzElLfJWp/ZnokrmbFjpY4jJ00H3OmDMGPs36VJixf6kA/i6oEe/foMyFIlClZNE5fo54NPWKile9miwl1Wn2o1VRMsbNm7m+mignezo+CZiZDFhNMeW18T0yghFxcZ8+elcQDuuyJCfQ5tZe3E58pqyCUpOz1U9pzp5pCPm5ERIRN9FCKBMpqCKpyKF68uCScTJ06FcWKFZOqIagdzV05bxIz5s+fH6caQ15VQeLBsWPHJFGEqjKIj6hMILGGKjgmT55st7rCeo8xe8QEmAATYAJaEzArIdV6Hla3p0fiakbslCLBslV/SMKCcqmDEAvsVS3cun0XzdqHYP2mMIi9FMyInx4x0WoeposJrYO1moopdtbMWWmumODl/CQxwUSGLCaY8tr4lphACfSQIUPQrl07pE+fHoMGDcLIkSOlCgAtKxNEQk9VCcrlCvLKg3Xr1sVZmuGsMoES92rVqtkS/qioqFhLOSjRp4uEAnklBM1XLPmg+zNnzsSwYcOk5RvEpGnTpggODpbEE7ref/99qaJCVFbIl4aMGzcu1jIRUZkQFBQkLSkJDQ2NU1VhvceXPWICTIAJMAG9CJiRkOo1Fyvb1SNxNSN2SpHAkWggqheUIoN8vwXl5o1Gx0+PmGg1BzPFhEX9pqB0rXJ4PfHrWk3HUDvPnj7Dn+t3ocnoLoaOKwab12MCytetjCTJYjYl9cYrOioau1dvR8tJPU1338x3wfTJW8gBr1vmQN+aiySa9lWgJJgSc0r4hZiwfv36WIjlSwrEDWfLHOITE8gHkXCTmKDcM4EqB8QyCGWsRbVD7969pUoDWn5BSb8QCUgwkC/VkPtRqFChWO1En5s3b4L+/P333+jSpQtGjx4tiS10yYUB8rtHjx6YNGkSlixZIt0XVR3EMUWKFPjrr7/i7E9hoeeVXWECTIAJMAGDCJiRkBo0NUsNo0fiakbs5KcxyAHLT2aIb4mD6G/2SQ7kux4x0eqhMzOBWjlyLnIVzI30WTNoNR1D7dy8fB3nT59HvalvUs0AACAASURBVIEtDR1XDPb72IXImiMrMmbPbMr4Wgx6/cI1XLl0FR/0/p8W5jyyYea74JHjPtbZ68QEexseCrFAWZkgT57lmzdSDLUUE+TLJeRVBfaeFfnSCSFKUHUBVRZQ4i/EBKUgQksR5KIDzUcIKSQAVK1aFb/99pu0PGH8+PFStcbJkydj7d0gX05BYoJ8w0WyRVUQtBQiY8aMvBGjj73oPB0mwASYgLsEXE1IxWZ6wr6yPJ2SxDy5stmO/xN/d9cfR+3tJbHxnSSg1bjCjnx+amzrkbi6Gjs1/trrI5Yn5MqRJdY+B+KYSDqlgTZaFO3Kly4W66QG8QwZGbf45q5HTLRibWYCteunDXj16Clyv5VPq+kYaufs36eRKGVSlG1a3dBxxWB7l23Dk1sPvJYfzYMYJs2YGkH1K5nCUD6ome+C6ZO3kAOWEhPka/3FaQ5yQUD5rT1xlCfI9u5T8k77Byg3Q3QmJgjBQbnXgvJzpR0haMg3bZTHW7kPg1h6cO/ePZuYYO/0CuVcSUwgXrTvQWRkpFSRMG/ePCRPnlz6mSoO5BUUtAxEWZmgFBPoZ6VgYaFnlV1hAkyACTABAwm4kpBSsjh/8Rrbrvvim2f5sX5GiAmERX6MIPm1I+ygIRv4sZgACDFAKSSJpQ4N61WT4uNITLAnCJlZocBigv1/aB7deYBfh8zEe83qGPgvkXZDbVqwGp981RHJUifXzqgbll48e47ZXcahdvuP3OhlraZrpv2KdtP7IUGCBKY7xmKC6SGQHLCUmGBv4z/5Ov8DBw7EOSVBflqD2CPA6qc52Ns08tq1a7alEfLqBjkT+TIHEhPoHlU05MiRQ9o7gfh8//336N69e6xlH472TLAnJtASC0cbT1rjkWUvmAATYAJMwAgCzsQESgy79R6DoQM6oGD+XDaX5J/vO3ACzT+N2SSZEs2zEZeRIkVSrN+8R9pkb/igTjYRQL5mntqLb7MpUR0+egYir9+GvR3+KRFVigmUxA79ehpCx/VFurSBtmSX2snX41NfpT9UOUE+K78llye8ImkW37yL+dExiPbaxRcvPRJXZ7Ez4vnx5jH0iIlWPMxOoI5s+AuXj5zD25WKazUlQ+wc3rYP2d/Jj6LVgwwZz9Egp8OO4OSWAyhRs5ypfqgZfN+63ShSMwh5SxdR013zPma/C5pPyEsNWkpMIIYieT58+LCEtGPHjtKpBGJ/BOkXhn9PbxDMRfWBSKTlYgK1UR7nSJ+5UplA7ZQnK8hPRHBkR/TJli2bXV+V1Q5K/5Rj0hIHSvLF53v27JGEBxIRxL4LdF9ZiaDkqTzNwZGYEN9+EV76nLPbTIAJMAEm4CYBZwkpJfnzF61xePRfxbLvxlnaQIn2rj8PS5UMN2/dRePWAzH5275SCbxcFCDbXb8YI50EQO3E3+WihZiOPTFBXplw4dI19Og7DpPG9EaONzKj14DxEJUT9vwR36LL7corMOz5LZZuKMeVz88Rfj0SV2exc/NR8LvmesREK4hWSKAOrNqJyFMXUaxqSa2mpaudQ5v/RNYiufHOB9ZI4E9sPYBTO/5GyToVdJ23lsb/+n0nCld9BwUrvqOlWY9sWeFd8GgCPtLZcmKCj3DlaTABJsAEmAAT8GoCzhJSR2ICTdrR0gZ5gi4qEVo0qYNCBXJJRwKG9G0nCQvye5K9MTNtSymUUJ2VyCuXPMj9HjdpgWROlODLKy2oH1VS0D3lUgb5PMS9j+pVlYQKIaIoObCY4D2vA4sJzmN1dNM+HPxtJ/IUL4SUaVIhdaa0ljnlgU5tuBd5Gw/u3Mc/+0+gRP1KKFKthPNJGdjizJ5j2DrzNxQs8xZSpk2FVBnSICB5UgM9iH+o6EePce/GHTy8fR8nd/+Nah2Ckbf0m5bxjxxhMcEa4WAxwRpxYC+YABNgAkyACViKgF5igvgW356YQEsf5BctJ8iVM4vdCgjRzp5AIU/o5UsRRB+xHv+H6Uttm0Mql20IMaF3j+ZxRAJ7QoMQE6bOWhZrDvKlHPYCrEfi6ix2lnrQLOiMHjHRappWSqBoD4UjG//CjbNX8PhBFO5evaXVND2yQ8JGssAUyJA7C96uVca0PRKcTeLF8xc4uHoXIs9cwq0L1xH9MMpZF8PuB6RMhnTZMyFTvmwoXq+CJfZIUE7eSu+CYYGx4EAsJlgwKOwSE2ACTIAJMAGzCThLSF3ZM4GWJTiqUlCKCfb2XyAG8VVA0H3lMgex6Z9YPiFP/JVM5b45EhPcrUygSguqrnD10iNxdRY7V33z13Z6xEQrlr6cQP3000949OgRPv30U61w+ZWdp0+fSsvDZ8yYgYQJE/r83H35XfCm4LGY4E3RYl+ZABNgAkyACRhEwJWE1JPTHORignLPBLkgQNO1tzeDwODOnglC3Lh89bq01wMtcxCVEvGJCWr2TIh6HC0t3WjRuI60d4SjS4/ENb7YOTrpQhkPPR4zcZqDWM4ixpB/vmXbPltM5D44Eq/c8dOZMCVs6RETd/yMr60vJ1C0P9qLFy9ASTFf7hMYPnw4vvnmG+lPjx493DfgZT18+V3wplCwmOBN0WJfmQATYAJMgAkYRMAVMYFcEccCCreUxwOKZQbiNAd7yxzk+ySIZQLCjrME0J6YIJJTkcjLfZQfOehqZQLNzdEpDfL5KU9zcLbEgezqkbiqERMMeqziVJKIZyi+fTGoDYsJMRHy1QSKNlunE8pISKCN1AcNGmTUI+kz4yROnBjPnj2Tjol/+PChz8zL0UR89V3wtsCxmOBtEWN/mQATYAJMgAkYQMBVMcEAV3x6CKuICfLKhPTpAqWjNVOnSgEh7oijOuUCjHKjTHkFiaPlJSTsKIUDextaBhUvLJ3CQdfLly+RLWtGzF242nZk55Jlm2wVDMqqCqXAJT9mNL4qF/Gg6RETrR5iX02gkiVLJp1aRhclxU+ePNEKmV/YoaqEUaNGSdxSpkyJr776yuerE3z1XfC2B5bFBG+LGPsbhwD9kpEgQQLLk6HSPX9Yw2b5QBjgoLc8k69evZK+5eKLCdgjwGKCMc+FHomrmsoEpZhAx1r26dHCdrynvaUhyiSeBAS63q9RFrS5JW1emTRpQCyQyqUOyooDIVaQmCA/WtNRO6oGUfoujgKlZS3yZR0HDp+Md8kMiwnGPPPKUURVwoMHD6RbSZIk4eoEN0MhqhJEN3+oTmAxwc2HRKfmLCboBJbN6kfg0uUrWL9+A06ePIHTp07htdde4Urkbf0G1MhygVxZEfXkOQoULIiChQqjYYNgST220vXX3n2gP+EnjuPChQu4dsP6XIlf8SL5cP/RExQoVAiF3yyCRh9/ZChWEop+XrQEJ08cx6lTp5AqWWIcOXXeUB/UDBaYMjleT5wYBQvkQ4GChVGlciUULFhAjSnu44MEWEwwJqhWFRPkCbnyOM34lqoMGTUNh4+ewuB+7R1uRCmvblAuY5GLCXIfXBUTlJtfyu2zmGDMM+3uKPKqBNGXqxNcpyivShC9/KE6gcUE158RPVtaSkyIjo7G3LnzcPzYEZw6cw63797Xc+5sOx4CaQNToWD+PHizSFG0bt1aKjmzwkUJ24Y1K1GmQAYUypYS+bOlQdZ0Kazgmks+XLzxAKcu3Ub4lYdYtfs0unbrig/rfuBSX70bjR07Fs/vXkG21K+hYNZUKJg9LQJTxP5GSW8fPLF/+vIdie3ley+xdNsxjPnma7zzTjFPTLrUd9PmLQgZMgwtar2LfJmSocAbaZArU2qX+lqh0fU7jxB+6Q5OXX2Ao5ceoWjxMmjXrq0VXGMfTCbAYoIxAbCqmEDLHELH9UW6tIGxTtSQb1ppb9NGZ3tcEFXRZuTgLhg0/AfIj/KUiwlyH9wRE+T7W9B4Hdt+JG24yWKCMc+0O6NQVcLAgQOlCtPcuXNLXc+dOyeV6w8bNoz3TnAB5uuvvy79nk4CwvXr15E+fXrpVAyqPoyKss5xky5Mxa0mLCa4hUu3xpYRE9auW4+vvxmDznXfln4Rp1/I06VKqtvE2XD8BG7df4zwS7dx4fp9hK48hJBBA1CrVk1TsfXr0xuZA6LRq/7bpvqh5eAjFu1HQLqc6NN/oJZm3bL1/PlzfFivPtrWKopPKuRxq69VG999GI2+s/9E46bN8F6tOrq5OXvGVJw+shejWpbSbQyjDU9ddwJhp25jzty5Rg/N41mMAIsJxgTEm8UEe0sWSBwomD8nMqZP6/AUCzqtg6oOurT/BIt+XW8TLYi4GjFB7odkY8xMLJwxIo4QwmKCMc+0O6OUKlUKOXPmBIkKM2fOlBLg9u3bo1evXvjnn39w4MABd8z5Xdu1a9fif//7HyZPnozGjRtLS0To97p58+ZJDJcsWYL33nvPJ7mwmGCNsFpCTPht+S/YuXkNRrcpaw0q7EUcAn1nhaFKrXqoU6+BKXS6d+uKSnmS4JPKhUwZX89Bp6/5G+ejU+GrkaP0HMah7WrVa2L25zWQ04u+TXcVVL+ZO1G88gfS/2C1vsaNHYPX7vyDLxqW0Nq06fY2HziPOdsuYP6C+ab7wg6YR4DFBGPYe6OYIPZPoOS8Qs32kG/OWK1yEIoXKwRa7tCuZT3QvgXKS1Q00OaOyhMv3BET7PkhFxOSJQ1ArwHjpeG5MsGY59ndUe7fv49UqVJJ3agSgcSEoUOHSj/L77lr11/ay/c+oiWXQkzwh/mzmGCNKJsuJqxduw7bfl+Mb1hIsMYTEY8XfWbuQo0GLVCzRnVDfV326zKc2rsB/T8pbui4Rg7Wf84e1KzfHNXeq2bksBgxfDjeSf8YH5aOKS30xavukFWYNWsWMmbMqNn09u8/gBmh4zClWxXNbFrN0I9rjiFxtrfRtm07q7nG/hhEgMUEY0CbISY0/zQk1uRoGcCowV0xcPhktGhSB+I0B3vLHKIeR6NZ+xCs3xSGPp+1xP0HD6U+Eeev4mzEZYT0ay/ZpuoD+TIFJU1xpKYQIsR9R2KCECD27D2KxXNGST7a84OEDBIQSKgo9lYBDBvY0Vb9cPJUBG/AaMxjrWoUpZigyogfd2IxwY+Db+LUTRUTaI+Emu9/gO3fav+toYlMfXro8r1+xtbNG0Drs4y4aO1XSP8vMLVrRSOGM3WMFt9uwYzZcyVV2Yhr+/Yd2L12Mfp/7DvLRuxxO3PlDqb9cQ1jxk/QBCv9z7pj+7b4rn0pJA8w5j3QxHEVRr6Y+Sc6fT4A+fPlU9Gbu3g7AbPFBEpGaTf/w0dO2da808kA8mP/xFp4+pyS0GMnz2LxrxuwYPoI2ykEg0f+KIVCfEZ/l9uoVb2srSTejJgZLSaYMUdvG1OPmGjFwJe/jWUxwbOnhMUEz/hxb3UETBUTpk2bgVQPw9Gkcn513nMvwwks3HoaUYFv4tN2bQwZe/nyFTi5+zcMaFLakPHMHKT/zB2o+Ul7VKta2RA3hg8djOIZnqBumbyGjGfmIHUHr8Ss2bM1qU44cPAQpk38Bj/2MLaKxAx+U347hIAcJdCGqxPMwG/6mGaKCa4cFyi+gc6WJaP0bTiJCaLsncQF+ZGAFy5dsx0zWKhALnTrPQZDB3SQSvDFcYZ0xKAZlx6Jq5mxM4Oh1mPqEROtfGQxQSuSvmeHxQTfi6k3zMhUMeGzzz5Dk6A0KPtmVm9gxT7StznHLmPpgfuYMFGbb3mdQf161EgUSn4HDSr4/nF1s9cfQXSaIujcuZMzLJrcb/a//2Fok2LSiRi+fvWevgP1mnVEpYoVPJ7qokVLcOXvTfi8YZDHtqxuYMuhC9hwMhrfjB1ndVfZPx0ImJmQOjoRQPk5/Sw22/th+lKJAgkLoiTe3ikB79coG0tM0AGdWyb1SFzNjJ1bk7doYz1iotVUWUzQiqTv2WExwfdi6g0zMlVMqF2nLhb0qcGnNnjDk/Kvj3TKQ/OxG7F2zWpDvG7TujV6f1gARXKlN2Q8MweJEWruYsLE73R3gzbsKVO+Mv78vrnuY1lhgBlr/8bLjMXQocOnHrszdMgQlMr8BHVK+cbJF/EBuXzzAbr9uAvLly/zmBsb8D4CZiak8qoCqjIQl/Jz+bp8EhPy5MomLW+Qb/AnJy82+3O0hMKMKOmRuJoZOzMYaj2mHjHRykcWE7Qi6Xt2WEzwvZh6w4xMFRNKl6vkN8mMNzwMrvpYuvsC/Ll7u6vNPWr38ccfY0qXCsiQOplHdryh85nLtzFy+UnMnj1Hd3evX7+BTp0+xbJB+h2bqPsk3Bhg9Z4zOPogLfr37+9GL/tNe/b8DM1Kp0XJAlk8tmV1A8+ev0CdkJXYuGGd1V1l/3QgYGZCqrYyQSkm0MaA5cu8Ey8dEijkGwfqgDJek3okrmbGzmh+eoynR0y08pPFBK1I+p4dFhN8L6beMCMWE7whShbz0Ugx4cMPgzHzsyrImCa5xSho787pS7cxbMkRLFi4UHvjCovXb9xA29ZtsHp4Pd3HssIAq8JO48jdQAz6cpDH7nTr2hUty2VEqUK+LyY8ffYc1fotxc5tWzzmxga8j4CZCSlVDvToOw6TxvSW9jWg/RDoavRRddveB/b2TBBiArWVVzGIEwhaNK6DoOKFY50ywHsmxDybxGHspPnSSQniOEfl3hWOnuL4Tm4QpzbI+8o3zlTaFFUlrghBer1VLCboRTZ+u7wBo2fcWUzwjB/3VkeAxQR13Py6F4sJ+oSfxQR9uJJVFhPUsWUxQR03X+llpphADB2d2hDfaQ5yMYFskAghTnMQSxxE4iyOR4wvsTUilnokrmpiJ5J+OSetxIQdYQcx4evPIZasKDfLNIKzO2PoERN3xo+vLVcmaEXS9+ywmOB7MfWGGbGY4A1RspiPLCboExAWE/ThymKCeq4sJqhn5ws91SSkvjBvo+egR+KqJnaikiPiwlWE9G0nLQ9RignKvSh2bpgBOh2jWfsQrN8UBnvHbNrb/4LsUh8aR1SY3L33UDrWc/NvP2DJ8k1o1KC69F95hQKJEEIwcueIUHdjqkdM3PXBUXsWE7Qi6Xt2WEzwvZh6w4xYTPCGKFnMRxYT9AkIiwn6cGUxQT1XFhPUs/OFnmoSUl+Yt9Fz0CNxVRM7sXdEtcpBmL9ojVRJQMtD5MdoiuUmdGIGJfNdvxgjLYuga+jX0xA6ri/SpQ2MhdDRZppCGPioXlX0GjAe4ohP+TKHiPNXbftZyIUNGkAsg8nxRuZY/bWoetAjJlo9V74uJty5cwe9evXSCpfmdqzMn8SE/Pnzg/7rD5eVY+EP/MUcWUzwp2hrNFcWEzQCqTDDYoI+XFlMUM+VxQT17Hyhp5qE1BfmbfQc9Ehc1cROiAm9ezSXknM6VlN+jGb6dIG2agKqWpAn/XTPUzFBHOMpt0uxEEd/njwVYRM5lq36A/KlE/INO8dNWiCFkAQPtZceMVHri7KfLydQhw8fRu3atZE4cWKtcGlq5/Hjx1KiniJFCk3tammsUqVKmDdvnpYmLWvLl98Fy0K34xiLCd4ULYv4ymKCPoFgMUEfriwmqOfKYoJ6dr7QU01C6gvzNnoOeiSuamInP9VCbKg4bGBHDBk1FUMHdIAQE2g5g/xaMH1EnE0t5fftVSYIwYAEBFGZIJYzyMUEWkIhKiOWLNtkW+Jgb1NHscRCfkSo2ljqERO1vviTmKAVI73sfPfddxgyZAju3r2r1xBs1w0CLCa4AUvHpj4lJoyY8TsG/7jKhmvnjD4o/04+l/CFR1zD0GmrEdq3CW7efWj7e7pA++qjvL2jNvKBdx06gwrtx9o+WjCiLZrVLu2Sb44aifm2Cy4vNWnzYTmX5+vJwCwmeELPcV8WE/ThymKCeq4sJqhn5ws91SSkvjBvo+egR+KqJnbKIzLFcoF79x/axAT5kgc5J2enOSg3YLS3Z4I9MYEqIMiPTBnT4szZS2jXsp500kR8x3nK91VQG0s9YqLWFxYTtCLnuR0WEzxnqKUFFhO0pKnels+ICZRYX75+FxM+/wRJAxKDkv3GA6djct+mbifYrggFrrQRYSEhoeuYn7F41KcomCszHkc/Ra/xv6Diu/lUCwpkY8i039CuXnnJppEXiwn60GYxQR+uLCao58pignp2vtBTTULqC/M2eg56JK5qYqdM0EXCfy3ylu24SPmeCSQgNG49EJO/7StVLbizzEG+rwHxpmUVjsQEsdGi/NQNe0eHXr56XdrngZY5KE/1cDemesTEXR8ctecESiuS7tthMcF9Znr24HdBT7qu2/YJMcFRck4CA115sqXH2cs3EdL+A9y6+xDNQmYhpF0dSWSgRH/+mj/R+eNK+GbOegzv9CG6j12M9WHHUKtsESwc0VayQX3kn4nqhVJFcuHzCb+gWIE3bGKBHL8j35RihLxyoeNHlSRRRPof7PhfkC1joK3iYnineujdvIb0+dRl26U2m3/oiSWbDqBFndK2OYkqCGovF1lcfzQct2QxQQuKcW2wmKAPVxYT1HNlMUE9O1/oqSYh9YV5Gz0HPRJXNbGz922/fJNFqghQnuZASxyaNa4tnfpApzPQtXDGiFibMNpbkiAXBuTLGpR7MYgTJch2i8Z1pLHEJT/NQX6KBFcmGP0E+/Z4VapUwaNHj7B3717IxYQpU6ZISx5+++03lC7tWaWxbxPUb3YsJujH1h3LPiEmSP/zWvsnmofMAiXPJBrIL0rcZ67ahWEdPsSFa7elb/Sb1iqJ4MrvSP3oCiqc0+4yh2QBiaXEXSTq1J6EiUbVS0iVD31a1JSqC5SVEWJ8GrvHuMWY1LuxwwoCeRVF8UI5bAKCEA3IFokLB05esFU45Mic1uaX6EM+FsqV2SaWiM9Ff6rY0OJiMUELiiwm6EPRvtVVYadx5G4gBn05yONhu3XtipblMqJUoSwe27K6ARYTrB4hff1Tk5Dq65FvWreKmOCbdNXNSo+YqPMkbi9OoLQi6Zqdvn37YuzYmGXKuXPnRmRkpPT3qKgoUCxevnzpmiFupTkBfhc0R6rKoM+ICTR7UXVAFQR0CWGBPu82ZhGGdqgr7Ydw895D/H36Mrp8XBmj562XlgrQZW/PBEf7JyhFAlHhIJZZiGi4shxC2Zd+HjFzDWZ82QJfzVxjWw4hn4cjMYHGpUoL4Ycjv1Q9Lf92YjHBE3qO+3Jlgj5cySqLCerYspigjpuv9GIxwZhI6pG4cuw8i50eMfHMo/96cwKlFUnX7SRKlMjucYt9+vTBmDFjXDfELTUlwO+CpjhVG/MpMUFOQbm8gCoHqgUVxF/HIlA1qCB+2/E3GtcIwviFmzCyS3CsTRflAsLJiGtSYk/LHeQbLdpbpiBP4uVigrPKBKp22HHwTKz9HkjYGPtZQ0lMEFURrogJEVdvxbLFYoLqd8Pwjiwm6IecxQR1bFlMUMfNV3pxQmpMJPVIXDl2nsVOj5h45hGLCVrxU2OnX79+cUSDhAkT4vnz52rMcR+NCLCYoBFID834hJhASfagH1ZKooA84RdLEmjZAyXVx85eReTt+1JFwrzf9yB50iTSz3Tf0WkO8VUmiEoGGtNR0u5ozwS5zyRYKKsJ5JUJ7ogJ9DxwZYKHb4VJ3VlM0A88iwnq2LKYoI6br/TihNSYSOqRuHLsPIudHjHxzCMWE7Tip9aOsjqBqxLUktSuH4sJ2rH0xJJPiAkEQGy2KPZLEEseKBGnPQ1ILKC9Emh5AO2dQPsPfL/kD3RvVFXatNCRmEC25Rs2iioCsWEjHSUZn5hA/R2d5kAbKwohQ5w8YW/PBHfEBN4zwZPXwdy+LCbox5/FBHVsWUxQx81Xep3d/hlyvtUYCRMl8ZUpWW4eL54/wfkji5Gn0nea+saxU49Tr5io9yh2T06gtCLpnh15dQJXJbjHTq/W/C7oRdY9uz4jJghBYfCPq2wEFoxoazt6UVkhoFymIP9ZCAj0X1reQNUJlOwfPnXJdsKDsmLB2XIC+WkNZFe5UWR8pzm4IyaIEyroNAc6YaLLx1Uk4US5l4N7j0ns1rxngif0HPdlMUEfrmSVxQR1bFlMUMfNV3qd3zMY6bO9i+SBOXxlSpabx6O753HzymHkLD1MU984dupx6hUT9R6xmKAVO0/tiOoErkrwlKQ2/VlM0Iajp1Z8SkzwFIYv9ldWbGgxR28VE4SgJCpCtGChpQ2riAn2hDWxqamYr71TU+wJevSZo2NT3WFHzzEd8UpVRmous8QEccqM0mclP/mJLiQIistef3s8iY8QUpX3XTlRxhFTFhPUPG2+0yfyxBwkei0a6bKV9J1JWWwmty79hedIhkyFW2nqGcdOPU69YqLeIxYTtGLnqZ1hw4ZJeyfQUZF8mU+AxQTzY0AesJhgjTho5oVISqiKgq6OH1XStCqBbHqrmCCqR2gOyv01NAuAB4asLCaEtKsjLQeiS4gyomJGPmV74pVyg1E1iLxZTJBvrupo7oIb3ZcfbWuPnbwKitrT0bVygUwpTLCYoOaJ4z5E4N7l7Xh4bRuyFajDQHQicDn8d6TIWg2ps1bQdASOnXqcesVEvUfWExPuXr2FfSu248qJ84h+GKXV1NiORQkEpEiGbG/mQlCDSkidKa1lvGQxwRqhYDHBGnHwKi+8VUwQJ3ps2Rce61tukZylShGAsfM22Jay0F4Y1CdF0iRYv+c46Nt5+TfK8qUptcoWiXPih7tB9RYxgeblKLm3JybYW1KkXDZkb98RsYEqVSQ0D5kl4RRLl+JbFnT3YRQWb9iHnTP62AQQMysTnIkJYjPWz5tVx5Cpv0lH2BbMlVmarz0xQc5TuXmreObkgsOFa7fh7EQZR88qVya4+xb7VvtXL1/gzNYuyBfUHq+9lsC3JmeB2bx8+RxnD8xB3sqheC1BQk094tipw6lnTNR5FLeX2QnUzYirWD/pF7xdtSSSp06BgORJtZoa27EogehHj/Ho3gMc2rIXdXo1QbocmSzhqdnvgiUgWMAJFhMsGNAKJQAAIABJREFUEARvc8EbxQT56Rm038XMVbukjTiTBiSWNsikPSZEoipPiOnvv245gMWjPkX6wBS2zThpo8tuYxbZEj9K+uhSW4ZPfb1FTBCbm8qrFcQz7KwyISr6qcRQbIxK7S9fvytVz9DeHvKTSOSnscjFC/k37bShqvhmvnfzGnG+pRd+WVlMoOePBC6qSFA+R/bEBPln4xZstLv8Q86IGLCY4G3/ylrH3weR+3A3YiWyv1nfOk75iCcXji1D2jwfI0XGd3WZEcfOfax6x8R9j6wlJlBFwuqxC1G1yftaTIVteCGBP35ei3oDWiJVxjSme89igukhkBxgMcEacfAqL7xRTJAnbFSmTyd7tKtXXvoGmO7RUZy02SZ9Qy7/5veHpduk2IjSc5Hg0vGicjFBiwBaWUxQ7pkg39xUPnf52n3xubxqw16Vgkh0SeRxRUxQJtjiW/hRXYMxcPJKVHw3XxxRx0wxQVRVyDnJqyZExYw4VUYudNnbM0HO01GFCAk+4vlkMUGLt9O/bVw5HIqkyZIhTeZi/g1Cw9nfvnIQT54+RZa3umhoNa4pjp3reI2Kiese2W9pZgK1ecpyZMiUAemypPd0GtzfSwncvHIDt27cQrVO5gvMZr4LXho+Xdz2GzFBuZcA0dRiYzhPoyL/Zpa+JfeGyxvFBHtJrrxkXp7EKsUE+cZ/8m/L5c+UFntTWFlMsFeFYO9ZlVcmKE9QofZK4Uae9LojJigTdEqwZ3zZAl/NXCNVPcg3MaRxzRQT4lvmIKo85GKN/N8lZ/tNsJjgDf9i+oaPl/aNQvJUmZAmyzu+MSETZ3H7ygE8fngL2Ur0N8QLjp1zzEbHxLlHjluYmUDN6zEB5etWRpJkAZ5Mgft6MYHoqGjsXr0dLSf1NH0WZr4Lpk/eQg74lZigLPWlxKbrmJ+lEnaxRtnI2FAyOuGnzdKQvf73nik+qJmvt4kJ9jagU647l1cmyBNeZWWCo9Mx5CKDGqbUx9fEBJqTvc0Ah05bjdC+TWxVII4qE5TLTYSo44h1fBtDWlVMcLSM4ezlm7ZlD/GJEY6OpOU9E9S+hdwvPgJXDn+PF9GReKNwMO+hoOJRofX4l06swuvJsiLL211VWFDfhWNnn52ZMVEbTTMTqGltR6FOq3pqXed+PkJgzdxV6DBroOmzMfNdMH3yFnLAr8UEioO9b1KnLtsuhUiUIovEs1SRXPh8wi9SRcPkvk2l0njlpnzyb6udbcon1kfTWCJ5EAkYJVzy8YTgEd9mgUY9V94mJthL2OTr/okb7Zkg4q1MYncd/kdaAkEXrfenb+lp/wR5UuxPeybE95x5umeCEPfE/hTli+WVkmpHeyaQCCiqe8QyB2+pTLBXuUFs5WLWurBjiE9MsHfcKZ/mYNS/hP45zoPr+xF5bAaSpsyEgBSZEJCc/psFCRN5R2WdkVF78fwJoh9eQ/TDSEQ/ikTUg0hkKdoBKTLos0eCs7lx7ACrxcRZzOzdNzOBIjGhdvO6atzmPj5EYO2C1Swm+FA8PZ2K34sJ8m/waDMzuih5kVct0Ge0+3yfFjWltdjyTfnonvhmVSRA9jaXUy5hkK/bp36DflhpO65QJAMNqxWP8+0kbVLnaLNATx8GV/t7k5jgKGETQhJt/teoeglMX7FTmv6iDXtjHadJsX4QFY0Ne46DjtuU7xUgX8/Oyxxinh57YoIQbsR7EZ/gJpajkBBXq8ybePj4ie0doKUN9k5zEKJdsoDE0gaMVhMT7O2ZQM9L548roe+kZZjUu3GsqiQ5L2Lq7DQIwX3wj6ukGCiXb3myxItPc3D1X0X/avfq5XPcvxaG6LunEX0/Ai+ePcCTh1f8C4ILsw1IngUJkqRGQKpcCEidD6kyl9P81AYX3IjVxN9jZ8WYuBtD08WEprXddZnb+xiBtT+vZTHBx2LqyXRYTDh0Rtr07ct2ddD+q/nSt8603lpeMk3JvnyJhLzMWrnRmaMSbuUyCvoFX77RmnITNvl4ynXljjYLpM0Djbi8SUxwhYejUnGRpMn3THDFnto2VlnmoNZ/K/cza5mDlZm44huLCa5Q4jZWIRAREYGqVavi3LlzVnGJ/bBDgOPk2WNhtpjwfqNank2Ae3s9gXVL1rOY4PVR1G4Cfi8miBJ4ISbY27U+qHDOOCXtYllCfIm+/J5STLC3S/vwTvWkb2GVO97Ht0mdsq12j4ZjSywm6EOZxQR9uJJVFhPUsWUxQR037mUOgdatW2Pu3LmYPXs26O98WZMAx8mzuJgtJtRqWMOzCXBvryew/teNLCZ4fRS1m4DfiwmiLDu+o/6UCbunlQny9fpi1/n4jnKTbyBIO9472iyQKxO0ezHMsMRign7UWUxQx5bFBHXcuJfxBOjb7ty5c0sD58qVi6sTjA+BSyNynFzCFG8j08WE+u95Pgm24NUE1q/YzGKCV0dQW+f9WkxQnuYgX+8t38TM3mZ79ioTXN0zQXk8HoVUvrafKiHkezTINxAUeybY2yxQ20fDsTVfq0wwipuzcVhMcEZI/X0WE9SxYzFBHTfuZTwB8W23GJmrE4yPgSsjcpxcoRR/G7PFhJp1q3o+Cbbg1QQ2rP6DxQSvjqC2zvuVmEAJOm2iJy7lRmUioRenOYjN3lytTKClDK6c5hDf8YK0f8OwDnUx8ectSJ0iKcgX+akQJESELtkqTUG5WaC2jwaLCUbxFOOwmKAfcRYT1LFlMUEdN+5lLAH5t91iZK5OMDYGrozGcXKFkvM2posJtSs7d9KDFtFPn2DE3EnInCYDun/833Kls1cuYOjsiRjapifyZM1hG+H7pXOQPVNWvJ23ELpNGIwT58/EGX1C98GoX7Gm9Dm1H79khvT3wjnzIbTX8Fj2aBy5nf/VCEZIqx4ISJzEZteRj3ce3EPPScOx/fCfsXyQ21DaV/pGHeXzpp+F3e4NWyGo0NuxbK/YsQG9vh/ucDwPQuGw64a121hM0AOsl9r0GzHBm+IT3z4I8W0WaNQcuTJBH9IsJujDlayymKCOLYsJ6rhxL2MJiG+78+TJg7NnzyJ9+vS4efMm751gbBicjibilDdvXvzzzz8cJ6fE7DcwW0yoUbOCSs9d67Yv/AgoQabri8btkSZlaunvlIQPmzsJQ1r1iC0mLJuLHBmzIrjCf3s5rNy5EXtP/o0vW3aziQAkAHw1LxSZ0qZH949a2Wx2nzQMw9r0RFDBt6Qx5D9To++XzUXk7ZuxbDnykZL+XqFfodtHLSV7dIlxSxZ6G7VKVcLEX2ahUdUPpDko50RjSWLCv/4JYvbsinv25mrPZ9fou9Zq44adLCa4hsovWrGYYMEws5jwX1A+/DAYMz+rgoxpklswUtq6xGKCtjzl1lhMUMeWxQR13LiXcQTk33bXr18fK1asQIcOHTBt2jTeO8G4MDgdSR6nhg0b4tdff0X79u0xY8YMjpNTerEbmC4mvFfOTY/da/798nkoW+RdhB07GCMSlK8ek/hfvYBh877HkJbdkSeLrDJh+bxY7ajtyl2bsDf8b3zZvKtNTNh36ghW7NwY6zNqK//8aMQphK6YjwmdB/0nYtgZ15GPUtI/ZSS61W+BoAIxYoLw58L1K+jeoGUsGJLQsGAyShZ8W5on2aVL2c6RXUdzja+9e9Gw33rj5t0sJmgB0kdssJjgI4E0chpcmaAPbRYT9OFKVllMUMeWxQR13LiXcQTEt92tWrXCixcvsGDBAunPoEGDcP78ea5OMC4U8Y4kjxM1pFM36M/gwYM5Tm7GyGwxoXqVMm567HrzOw/v4duls/DFx21x58F9LNm+Fj0btJIEgbNXL2L4glAMbt4NebJktxkNXTkf2TNkQXC5GNFBSrB3b8LeU0fw5f+62MQEe+2ordxumpSp8PmPX+PGvduY1CUk1jjCdnw+0j3q361ec5QoUFTqIgkGP/2AkgXeiuUj3VO2Jx/p6hbcIhY0e3bjmyvdczRf16PhuOWmrXtYTNACpI/YYDHBRwJp5DRYTNCHNosJ+nAlqywmqGPLYoI6btzLGALyb7vPnTuHkJAQm5jw7NkztGnThr/1NiYU8Y6ijNPQoUNtYsLLly85Tm7GyGwx4b2Kpdz02PXm+08fRdiJQ1IyTkn4dyvm4ZOK70tJPSX9I36ajJD/dY0tJqxaECMmlP3vlImVYZux7/QRDGrS+T8xwU67mIT+PoYtCEWP4BY2u9T/i+nfSI4Xzp4X33UaZLsXn49k6/NpX2PH0X2xJt2zfitpTsordNWCGPHg33vKn0V7Ybfbh81QIn+MSCEue3Ole2RLycX1SMTfcvOOv1hM0AqmD9hhMcEHgmj0FFhM0Ic4iwn6cCWrLCaoY8tigjpu3MsYAocOHULPnj0lwWDOnDlo0aKFTUxo1qyZ9HmVKlUwceJEBAYGGuMUjxKHgDJOokqBKhNatmzJcXLzmTFdTCgX5KbHrjcPXb0QE1fGlPqL69t2/RBcphrOXruIET9PQUjTzsiTWVaZsHohsqfPIrWxJdh7tmDf6aMY1Ljjf2KCnXbUXhITfpqMHvWax7IrbO0/cwyhq3/C+Pb9kCZFKsTno5T0zxiNbnX/hxL5ijj0WUr2Vy9E5J1bcXyke93qNovFQGlXfnOlnbmSEDNy8VQE5S8ai4vrkYi/5ebd+1hM0AqmD9gxVUyoXacuFvSpgXSpkvoASv+Yws17j9Hy241Y8/tqQybMeybog/n6jRto27oNVg+vp88AFrPKYoK6gLCYoI4b9zKHgFJMMMcLHtUZAaWY4Kw9349NwGwxoVrp4rqE5Oy1SxixZApCGpFY8IY0Bn32/eoFGNyki/Tz8EU/oHtdSvpj7ktJ8y/TUDJfEdQr/Z+YsOrPLdh75hgGfdLBJiaQKLDizy2xPiMb8s83HNwl2ZXbokRejEv3nPn4xawx6FqnqSQm0EW+0Ljftu0riRHC58yB6dD1g//FYjn595+kn5Wfkw9Ku6KjvbnG116L4G358wCLCVqA9BEbpooJPT/7DI2CAlHuzWw+gtP3p7Hr6GUsPXgPEyZONGSyLCbog5nFBPVcu3XtipblMqJUoSzqjXhJTxYTvCRQ7KZEgMUE73gQWEzwLE6miwlBxTybgIPeq/ZujREAGra3CQBSUjxnHLrWboIi2fNi5K8zICXhtZtIVvb/cxzDFk/BxHb9kCdTjMAgJfB2bElJvKL/2chL6DlzNIY07owSed8E/Tzil6kI+aSjzR7ZksSA1r2x48SBeH0kH4S/ZI8uMa4keJSsgslrF8UIBv/OQY7D0T05B2E3vrmSnWt3b8ViqWXQtuw7zGKClkC93JapYsK0aTOQ6v5xNKlayMsx+o/7CzcfR3S6t9GuXVtDJs1igj6YWUxQz5XFBPXsuCcT0JMAiwl60tXONosJnrE0W0yo+u5/pxR4NpP/elPCPWr5TATlfRP1gqrEMjt53WJE3ruFgQ3aSZ9Tu0W71kl/L5QtNya27hNLSJDEhH1bse+f41If2rwxVsK+bjG+W7PQYX9JYJgzFicvn5PaVCxcHONafo6krydx6mOXmo0waFEoutRqhBJ5YsQEuvafPY5hv0zF8Ead8f26RZIoIb/IPs2b5ip8E/c/q9MM/6tYG73njY/T7+ee3+Dy7evSPfnVpPz7dueuVbz+OHiExQStYPqAHVPFhKdPn6Ja9VrYOaGpD6D0jymU7bEQO7dvQcKECQ2ZMIsJ+mBmMUE9VxYT1LPjnkxATwIsJuhJVzvbLCZ4xtJ0MeGtmPJ9vvyXwB9HjrGY4L/hjzNzU8UE8mb9+vXYtPJnjG2n77m1HHPPCXwxfSdqf9wS1av/d/yO51bjt8Bigj6EWUxQz5XFBPXsuCcT0JMAiwl60tXONosJnrE0W0yo8mZhzybAvb2ewNbjJ1hM8PooajcB08UEmsrvK3/F1rXLMPbTytrNjC1pSuCLqX+gZr3GqFW3vqZ2nRlr07o1+tUvhELZ0zpr6vX3/zx5FT/9eRPfTfpe97nQeeyVq1b3m6qg2euP4Gn6t9Gxw6cesx0yeDDKZX2GWiVze2zL6gau3X6ELj/swLLly6zuKvvHBHjPBC95BlhM8CxQZosJlQsW9GwC3NvrCWwLD2cxweujqN0ELCEm0HQ2bNyEYcNHosuHxZArc2opeeRTHrQLtLuW6NSG8Iu3EXH9HkJXHMSIYYNRvfp/Z/i6a09t+5EjR6JoqnsILpdPrQmv6Td341E8TFkYXbt2NsTnpk2a4qtm7yJvVt8/Mq3vzF2o07gdqlSu5DHbhT8tws3jW/FZA312tPbYQQ0NbPv7IlYff4yxY8dpaJVNMQF9CHBlgj5ctbbKYoJnRE0XE/Ll92wC3NvrCWw7c5rFBK+PonYTsIyYQFN69uwZ5s6dh2NHDuPk6bO4ffe+djM10NLtWzfxOOoR0qRNj2TJkxs4snZDpUuTCgXz50XRom+jdZvWhu2RoJzB0mXLcfavdej7SQntJmdRSwPnhKFa/Rao/t5/xxvp6erQIUNQKvMT1CmVR89hLGE7eNhv+HHadGTJnNljf/bt249ZP4zHD119v5Jq6u9/I9EbQWjXtrXH3NgAE9CbAIsJehPWxj6LCZ5xNFtMqJTb939n8CxCvt97+7mzLCb4fphdnqGlxASXvbZ4w+bNm2PhwoWYP38+6O98qSdw/sJFfDd2JMa39v1vgTv9uAffjB2PwEBjKgU2bdqC42Fr0aOOb3/LcOnmQ0xYdwHfTtDmONPnz5+jU4cO+LFTKSRKmED9w+0FPUMWHUGjVp3wVlHecMsLwuX3LrKY4B2PAIsJnsXJTDFhbtdv8W7ajEhs0CbcnpHi3noQePLiOQ7fuYmWoZ/rYd4tm2a+C2456uONWUzQIcAsJmgLdeHCn3HzVBg+q1dUW8MWsjbs5wMIqloPH3xQx1CvBg4chGp5EqD6u9kNHdfIwT4ZtQ7jxk9Ezpw5NBt2164wLF0wHRPal9HMptUMzd18Cg+T50HXrl2s5hr7wwTsEmAxwTseDBYTPIuTmQnUpklLkeLiXaQOCPBsEtzbawncjX6MqJxp8V63hqbPwcx3wfTJW8gBFhN0CAaLCdpDbd+uPRqVzoiaJXJpb9xki4u3hWPv5dcw7ltz1qWXq1gFG7/5BMkDXjeZhPbDD1vwJ3IWq4TWrVtpbnzEiBHIiEh0rPO25rbNNnjwTCRGLj2Cpb8sMdsVHp8JuEyAxQSXUZnakMUEz/CbmUDdi7yNVcNmIygwg2eT4N5eS2DvnetoMKI9UqY3poo2PlBmvgteG0AdHGcxQQeoLCZoD/XVq1fo3KkjSuVKgbY1C2k/gEkWJ638G9efp8RXo742yQPg8eNo1KhVG4Obl0PNEjlN80PLgel56TMrDOWr1UaDjxtraTqWrQljx+DJrQj0/+Qd3cYw2vDi7aexeMdZLF36CxIk8O1lHEaz5fH0JcBigr58tbLOYoJnJM1OoG6euojfx/6E/CkCkSxhIl7y4Fk4vaL30xcvEPX8GU4/uoe6A1siXe4slvDb7HfBEhAs4ASLCToEgcUEHaD+a/LHKVNw7EAYKhZOjwJvpEXBN9IiaZJE+g2oseUHUU8Rfuk2Tl26gxV7IlCvQUPL7Kvx5aBByJDoAXJnCPiXbRrQP9Tect24F4VTF+/g8s0H+PbXfRjzzUhUrlRRd/eXLVuO6dOnoUW1gsiXNQ0KvJEGgSm8pwT0ybMXOPXvM3no/H0EZiuAL3r31p0bD8AEtCbAYoLWRPWxx2KCZ1ytkEDdv34Hfy7ciKtnLiL68RPPJsS9LU8gIGkSZM2fHaWb17RERYIAZoV3wfLBM8BBFhN0gMxigg5QZSaPHz+BNWt+x6nwcISfOYccWTMg8uZdTQelb7a1TqRzv5EJZy5cRcF8eVCgYEF88kkjZMuWVVO/PTW2ecsfCNu9E6fCT+Pilat4PZH2Qg2d2vL669ouqSiSPwdORVxBgX9PIGnXrq2nKNzqf+v2bfy08CeEnzyBU2fOoWDurAg/d9ktG84a6/FMpk6RDNdu3kGBvLlRoEB+VH2vOkqVDHLmCt9nApYkwGKCJcMSxykWEzyLEydQnvHzpHfVqlWxdetW6U/lyr5/opMnrIzoy++CEZSdj8FignNGbrdgMcFtZB51uHPnruaJf5UqVbBy5UqkTp3aI9/knV++fIG0adNqZs8IQ3fv3tN0mClTpuDevXvo37+/pnapgELLWHnq3O07d5DgNe2WCFy8eBH169fH/v37PXUtVv9Xr14iTZo0mtpkY0zALAIsJphF3r1xWUxwj5eyNSdQnvHzpDeLCZ7Q074vvwvaM1VjkcUENdSc9GExQQeoBpqcM2cO2rRpgyFDhmDo0KEGjuzbQ929exe5c+eWJnnu3DnDjsD0Baril+/Zs2eD/s4XE2ACcQmwmOAdTwWLCZ7FiRMoz/h50pvFBE/oad+X3wXtmaqxyGKCGmosJuhAzTomc+XKhfPnz0vJLie92sWFhJlhw4ZJBlmocZ1rRESETYShZ5OeSb6YABNgMcFbnwEWEzyLHCdQnvHzpDeLCZ7Q074vvwvaM1VjkcUENdRYTNCBmjVMiqoE4Q0nvdrERVQl0H/pYqHGda7iF2/Rg6sTXGfHLf2LAFcmeEe8WUzwLE6cQHnGz5PeLCZ4Qk/7vvwuaM9UjUUWE9RQYzFBB2rWMCmqEoQ3nPRqExd5VQILNa4zlVcliF5cneA6P27puwRoA7R33nkn1nIpR2ICtaWL9sLhy1gC9uLkSEygf+9IcKa48uWYACdQ5j0dLCaYx97eyPwuWCMeLCboEAfeM0EHqAaYVFYlcNKrDXRlVQInxa5zVVYliJ5cneA6Q27pmwQoSaVNSXv16oXPPvtMEhWUYgK1oaVVBw8eBCWq1IYvYwnYi5NSTKDYUJyWL1/OcXIhPJxAuQBJgyb0JQgJkHIR0p6YQL/jfPfddwgODmYhTAPu7pjgd8EdWvq1ZTFBB7YsJugA1QCTyqoEMSRXJ3gG315VAifFzpnaq0pgIcY5N27hPwTol/xt27ZJIkHPnj1x/PhxLFmyBIMGDcKuXbuk49vo4uVq5j4TyjiFh4fj559/xrhx43D06FGQkM9xcj1GnEC5zsqTlvTvB4kH9PzSvyH0X7mYUKxYMUlEmDhxIujv4t8bT8bkvu4R4HfBPV56tWYxQQeyLCboAFVnk46qEsSw/MuougA4qkrgpNg5T0dVCSzEOGfHLfyDgPhlX8w2ceLEePr0aazJ05GxXJVg7vPAcdKWPydQ2vKMz5oQwqgN/Z1+pzl06JB0qtKKFSukn+n6448/eBmVcWGxjcTvggnQ7QzJYoIOcWAxQQeoOpt0VJUghuXqBHUBiK8qgZNix0zjq0pgIUbds8i9fJOA/Jd9ezNkIdgacec4aRcHTqC0Y+nMklIIs9e+cuXKXJXgDKRO9/ld0Amsm2ZZTHATmCvNWUxwhZJ12sirEuhbrLJly2LdunWoXr06Tp8+LR0TSRf/UupezJRVCU2bNpVKW5MnT46goCCpPJku3lAwLld5VULOnDmRI0cO7NixA/Xq1ZO43bt3T+rEeye490xya98jEN8v+1yVYJ14c5y0iwUnUNqxdMWSMyGMqxJcoahPG34X9OHqrlUWE9wl5kJ7FhNcgGShJpTMUuJLa27pz9y5c6X/9ujRQ1oPR2IDfcNOCdy5c+d4Ey8XYyeqElq1aiXxo+qONGnSgH7BJ970yyV9TskxJ8X/QRVVCSQiEB8SFtq1a4dZs2ZhxowZaNiwobRGk/4QT3om+WIC/kzA0S/7LABb66ngOGkTD06gtOHoqpX4hDCuSnCVoj7t+F3Qh6u7VllMcJeYC+1ZTHABkkWa0Jo3Wv9G4oHY6ZsEBLmYIFwVm0RRcsdX/ARILKBEmDiSWEMXfSYXE4QF+h81sRV8/Z0tcSNm8udMLibQ3wVPEhToGDXa1Z4vJuCvBOz9ss9VCdZ7GjhO2sSEEyhtOLpjxZEQxlUJ7lDUvi2/C9ozVWORxQQ11Jz0YTFBB6gGmnQkJhjogk8O5UhM8MnJajwpe2KCxkOwOSbg1QSUv+xzVYI1w8lx8jwunEB5ztBdC/aEMK5KcJei9u35XdCeqRqLLCaoocZigg7UrGOSxQR9YsFignquLCaoZ8c9/YOA/Jd9rkqwbsw5Tp7HhhMozxmqsaAUwrgqQQ1Fbfvwu6AtT7XWWExQSy6eflyZoANUA02ymKAPbBYT1HNlMUE9O+7pPwTEL/tclWDtmHOcPIsPJ1Ce8VPbWy6EcVWCWora9uN3QVueaq2xmKCWHIsJOpCzhkkWE/SJA4sJ6rmymKCeHff0HwL0yz7tH0KbmIo9cPxn9t4zU46TZ7HiBMozfp70FkIYVyV4QlG7vvwuaMfSE0ssJnhCz0FfrkzQAaqBJkNDQ9G9e3d06dIFkydPNnBk3x7q2rVryJIlCzJlygT6O1+uE6ATMebNm8enXriOjFtqTODGqcV4eH0fXkv4Oh7f/Udj6/5jLllgXrx88QwpMpVEhvyNNJ/4rXO/48G13Xj18hmi78cca8yX+wQCUuXEawkSI1Xmckibu477BnTswQmUjnCdmBanUNF/+TKfAL8L5seAPGAxQYc4sJigA1QDTS5cuBAUw+rVq2Pjxo0GjuzbQ8mPPKS/8+U6gXLlyiEsLAx0+khwcLDrHbklE9CAwJk/uiD9GyWRJEVGBCTPBPoFji91BF69eonoh9cR/SgSNy/tR/6q2gnWEWGDkDJNTiRNmQkBKTIjQYJE6pzkXpLgE/0wElEPruLR/avIWXqYZahYIYG6e/UW9q3YjisnziP6YZRl2LAj+hAISJEM2d7MhaAGlZA6U1p9BlFh1Qrvggq3fa4Liwk6hJTFBB2gGmhy/fr1eP/996Vv0a9cuWLgyL49FIsJ6uObIkUKPHr0CDt27ECFChXUG+JL6wH1AAAgAElEQVSeTMBNAqf/6IKs+Wsgeeocbvbk5s4IPLxzDpHntiFv5e+dNXV6n4SEwAwFEJipqNO23MA9Anev/Y17t84iZ5kR7nXUqbXZCdTNiKtYP+kXvF21JJKnToGA5El1mimbtQqB6EeP8ejeAxzashd1ejVBuhyZLOGa2e+CJSBYwAkWE3QIAosJOkA10OSNGzeQMWNGacQHDx6AEjm+PCfAYoI6hmJ5CP1P886dO6Cd6vliAkYQuHHmFyR69RhpMhcxYji/HOPOtSN48VpKpM/XUPX8b51bDTy5jHTZglTb4I7xE7h58S+8liwn0uUyf8mDmQkUVSSsHrsQVZu8z4+MnxL44+e1qDegJVJlTGM6ATPfBdMnbyEHWEzQIRgsJugA1WCTpUqVwt69exESEoLhw4cbPLpvDsdigrq49u/fH6NHj0bFihWxfft2dUa4FxNQQeDczj7InLcKkqbIrKI3d3GFwOMHV3Ht3A7kLj/aleZ220SEDUTGHKWRLNUbqm1wx/gJRN27iOsX9yFX2a9MR2VmArV5ynJkyJQB6bKkN50DO2AOgZtXbuDWjVuo1qm+OQ7IRjXzXTB98hZygMUEHYLBYoIOUA02uWjRIjRt2lRaG0wb7VSqVMlgD3xvOBYT3I8piQe0e/SrV6/wyy+/4OOPP3bfCPdgAioJRIQNQM4iDXmPBJX8XOlG7/b5o8uQq9woV5rbbXNuVx/kLPox75GgmqDzjrSHwvljvyJ3+bHOG+vcwswEal6PCShftzKSJAvQeZZs3qoEoqOisXv1drSc1NN0F818F0yfvIUcYDFBh2CwmKADVBNMli9fHrt370bSpEmlCoUBAwaY4IXvDMlignuxnDt3Lvr164fIyEjQBoy7du1yzwC3ZgIeEjixtjEKV+jroRXu7ozAiZ1jULj2YmfNHN7nOKlG51ZHT+Pk1mDxNDYzgZrWdhTqtKqn1VRMs7P3yEF81L2lbfxJg75Ggxp1pZ//uXAOXYb3wfEz4bH8i69N83qfYEjXmH8rh00eg49qfIiSb70r/SzGWvb9vFiffTd/Kr4f9A3SpA40jYPagdfMXYUOswaq7a5ZPzPfBc0m4QOGWEzQIYgsJugA1QST9+7dkzZi3LNnjzR6rly58M0336BEiRLIly+fCR5595AsJjiP35kzZ3Do0CEMGzYMR48elToUL14cmzdvRmCg9/3C4XzG3MLKBIxOUm/dvotm7UOwflOYhKVj248w4evPkTRpAJT3BLfhgzohpF976Udlm1rVy2LhjBFIlzYQI0bPQJ5c2dCscW2pbfjpCDRuPRB9erSI9VmPvuMwaUxvFMyfy7DQeJqkcpyMCZWncdLKSzMTKBITajePSbq99dp79CBCJn2NySFjkDd7LkQ/icawH8ai1FvF0aD6B/jnYgSGhH6DYd36S/fpunPvLkK+/xq9WnWWfu46oi9G9BiAkkVjBAMSBq7dvI4hXfpg6pK5yJHlDckWXcs3/Y5NYdtQIFdefNaio+2zC1cv2X72NpZrF6xmMcHbgqajvywm6ACXxQQdoJpocuzYsfjqq69w//79WF688cYbyJkzJxIl4uO3EiZMKG1aSSdgZMuWDcSGkuD8+fPbmDkSE06fPo0DBw7g4sWLuHz5Mq5evYrr16/j5cuXJkbduKGfP38OYkNzl1+08SdVwwwcaL76bxwNHslKBIxMUoUQ0KJxHVtyv3DxWuwIOygJClGPoyWhIaRvO5Qv846E6fHjaPQaMB4tmtRBoQK5pPvK/vMXr5EEhXUbw3A24rJNeNi15xCGj56BYkULYNjADpJgQZ/NX7TGJmAYFQtPk1SOkzGR8jROWnlpupjQNEaQ88ZLEg5+/Balir6LBu/9t5kmCQgT5k/FiG79cPveXQz5YSyGdeljExNEv4/+FQgmLZyOSf1HIk2q/7N3LnA2lP8f/6yUO+tS7vcKUXIplXuF/JNE4ZdIKHIrJaXcFSVRiBRRqFDy20pU7oRSqF8XuSeUsIvF5rb/13e2WbPjnD1zzs4zZ2bOZ14vL7vnPPN9vt/3d87seT7zfZ4nTeTXBIh/zzlyLAkLvvoMQ3s8qb037t03ULvq9UhYsUSzL+e8Nuct3HL9Dbihatq9zGvH5+9/TjHBa0lT6C/FBAVwKSYogOoCkzNmzMAXX3yhTX34/fffXeCR+12QbQxHjRqlLR7466+/okqVKqhUqZL285dffqktbrlmzRr3B+KQh6VLl9amNDRp0gT333+/NsWGBwlEi4CTg1SjcCADezkCiQVGMUHa6BUHtWtWgbmqQBco5JwiheMxbPSbmDR2QHqlwnXVrsIHHy3BsIGPaJUI4oMcevWCU9yzOkhlnpzJVFbzZJeX0RYT7mjbzK5QHLez44/dGDZlLIY92h8VSwWuPgrUxvhaofzxeGzMYPydeBiTBo66yE7isSS8/M5kPPVgTy0++blP+66YkTAX7Zq1hJw/ZPIYPP7AI0F9cBxMmB0unreEYkKYzPzcnGKCguxSTFAA1WUmT548iT/++EN7gi5PlmP9OHfuHPbs2aM9YZf/f/jhB61cXz+mTp0K2SGjRo0aqF69Om644QZMmzYt/X0ZQIvIIFNJpNpDBtXZsmWLCaxS2VK0aFGtoiN37twxETOD9AYBpwapumhQ/+YaQQfyRmFAr0wwvlazemWtSmHq2wuw5otp6dULOmnpY+ioN9G1U0uUKVUs/ed5C77CrQ1rQz9fqhx0+05lKauDVObJmUxlNU92eRltMaFZmyZ2heK4nR1/7MGr772FET2eQsH8gbdZljZ9XnoWP+/alsG/D8e8hdrXVE9/beGKxXh87BDt92vKX4WJT4uwUFabNjFy2qu4p3FaBcfXP2xE3/ZdIe3luPbKKpj3RQL6dXgYOXN4cyHLJR99STHB8avXvR1STFCQG4oJCqDSpOcILFq0SCvTF2FBDllMULY4LFCgAGQ9CjluuukmjB07FrLYJQ8SIAF3EXB6kJrZQD7Ymgmz3xqZQYCQqQr1mqatoSCHUVgwVjFMfzdBm97w/ZZfsWzlRvR8+F48N2IyXhjSU6tccPLI6iCVeXImW1nNk11eRl1MaHWbXaE4bmfHvj0Y/tY4DH34CVQsWTZg/1bamE/c+MsWTJw7A68+MVwTKRauTBMO5Ch1RXHUrlId0ubrH77DLdfV0v7v266L4/Hb1eGShUspJtgF0wd2KCYoSCLFBAVQadKzBPr3749XXnnlIv9Hjx6NZ555xrNx0XES8DsBpwep4VYmhOIviywapz6I0CDCgVQi7N5zQBMhpI0IC/ff1wzvzV+Svn5CKNt2vp/VQSrzZGc2gtvKap7s8jLaYkLTFo3tCsVxOyn//IORM1/DDVWqo1WDC9M1Eo8fxdj3pqL//d0h0xSGTR+PYV37oUIAwWHhqiWa3+bzh057BY+37aqds3PfHnz29TIknzqJdre10F6TPmYvXoAi8YVwVenyqF35Osfjt6vDLz5dTjHBLpg+sEMxQUESKSYogEqTniYgizFu2rQpPYbbb79dWzOBBwmQgHsJODVIFQKB1kyQ16WaQAb/+gKL5jUTdHq6UKDv7CCvG9dckKkLUt0w+a0PcTz5JO6+s4E2nUHajJ0wG7J+QnLyScfXSxA/szpIZZ6c+QxlNU92eRl1MaF5Q7tCiYqdjb/+gCHTx2FSvxGoUKIMUk7/g5HvTECxgpejz72dsXP/7xg241UMe+hx7X3zEej9hau/wMerluDVvkNQMF8BTTgY+8GbyJsrD/q17Yqcl+XQ+nkr4X3N3APN7tHaefX44vOVFBO8mjwFflNMUACVYoICqDTpaQKy4OJ1112HM2fOQHZ+kJ0bZOcHHiRAAu4l4OQgNdhuDvpuDELJvJuDkVygNRVEYOj15BjMnTlKW2BRXzfh2PHkDNMZxr8+B8nJp9C29e2Obgmp+5/VQSrz5MxnKKt5ssvLaIsJTZrWsyuUqNnZuPVHtB3WO73/fvd1QZ/WD2q/i1gw/J0JGPpg34Bigt6mz4Th+GXPdu2cBtfdiPG9B2UQCCYueEd7T7crP/93zZf49tcfMKhTb01g8Orx5RdrKCZ4NXkK/KaYoAAqxQQFUGnS8wSuvPJK7NixA7Ll4fHjxz0fDwMgAb8TcHKQKizN6yI0u/1mbVtHWcMgkFhg5m8+v/q1V6cLCXrbQBUQIjqMHDM9vS+n85rVQSrz5EzGsponu7yMuphw2y12hUI7HiXw5dKvKSZ4NHcq3KaYoIAqxQQFUGnS8wQqV66MrVu3Il++fDh27Jjn42EAJOB3Ak4PUv3OM1h8WR2kMk/OXDlZzZNdXkZbTLi90U12hUI7HiXw1Yr1FBM8mjsVblNMUECVYoICqDTpeQJVqlSBTHeIj49HYmKi5+NhACTgdwIcpDqT4awOUpknb+TJLi9la+V169ZBthV2+nizyyjcVv9Gp7tlfy4jsHT1N1EXE2Rb9ptvvhnffvuty+jEnjsUExTknGKCAqg06XkCemVCoUKFcPjwYc/HwwBIwO8EOEh1JsMUE5zhnNVespqnrPavn1+2bFmsXr0aZcpcvDigXX0Es6OJCbfUVt0N7bucwNKvN0ZdTNizZw8aNmyI3bt3u5yW/92jmKAgxxQTFEClSc8ToJjg+RQygBgjQDHBmYRndZDKPHkjT3Z5edNNN+G1115DnTp17DJp2Y6ICbfWqWm5PRv6k8CyDd9HXUxYv349+vXrp1Xp8IguAYoJCvhTTFAAlSY9T4BigudTyABijAAHqc4knGKCM5yz2ktW85TV/vXzW7VqhYceegh33323XSYt29HEhNrVLbdX1TDh2xV4cubYdPMfPDEGtSpeE3F3sm3jCx9NwwdrPkenRnfhyPGjGNK2BwrmzR+WzWB+6fZb3dhYsznxs/cisi/OJCYfw4h5b6DPnfejQtFSYflnV+NlG7dEXUxYsGAB5syZg48++siusGgnQgIUEyIEl9lpFBMUQKVJzxOgmOD5FDKAGCMQqZggOyY88PDgdFprvpiGujddHzE92dKx38BxmPr2AvTt0R4HDx3BpLEDtF0ewjmC+aXb79j+/1CkcDyGjX4zIvvii+wo0bv/GAwb+IjlbSazOkhlnsK7DqKVp3Cu1czaPvroo6hevTp69Ohhl0nLdkRMaFzjWsvtVTRM2LgC//12BcZ2egIF8+RH4olj6P/uOPRs1ha1KkQmKIiN8Z/ORr8WD2g2Izky86tqqYoY9fF03H1Do4h91H0SX0fMn4o+zf8TNTFh+aYfoy4mvP766/jll18wadKkSNLFc2wkQDHBRpi6KYoJCqDSpKcIdOvWDbLi9FtvvZXudzAxQdrKMW3aNE/FSGdJwO8EIhmkyoB91txFYW3pGIqjDNCfGzEZLwzpGbaAoNvOzK+a1StrYoWICVkRPaI1SGWeQl1BF78fDdEnfC8DnzFy5Ejt7+ugQYPsMmnZjiYmXFvVcnu7G2rCwezx6Nm0LWqVr5Ju/rtdv+C/G1fg2VZdtNdGLXwbH6xbov38fp/RWtudB/dh4pIPkC9n7gzvVbiipGZz9dZNqFyiPJ68syMWblyOIa0f1oSFhO9Wov+c8dp79Spdjzw5cqFX07YZQgvl1xN3PoBxn83G3bUbaTbFD92++P6fiQM1e+1vbpYhhqIFCuO1xe9p7z12x/3o2vju9NjEn1c79Yf47/Sx/Mefoi4mDBs2DDly5MDAgWnseESPAMUEBewpJiiASpOeIiAL45QrV05bbbpz586aqGAWE0REeOeddyAr8soCOrKoFA8SIAH3EAh3kCoDtA7dBmPwgK4ZBuVr12/GrA8WYfzoJ7Tg9CoD+VmvWti6bbdWEVAgf16tAkF/r/LV5TSbS75ah+rXXo0Xh/XCO+9/ll45oFcbyHtNb70J+fLmxuCn0wRK/Qjl16ghvfDsiNc1McFcmSC+12uaZq97l9YZYihZ/AoMeeEN7b0Rz/VA/74PpMcm/sydOcpSdYLTlQmheDBPgT+DWc2TXZ/szz//HBMnTsSiRYvsMmnZjogJja65MIi3fKJNDWXgPWXpfLz8n34omCdfQKuTv5qPv44exsCWD+GnP3ZixMK3ML7Dk2n3njmvoGvDVmhZswGM7U6dPo2RC99C7ybttHaTvpyLwa0e1qoeXvjvdDx3d1dNBHjq/fGoWa4Ket5+X4a+Q/mVcuYfjE6YgZY1G2p2AtkvUbCI1kYEhC4NW2o/y2GOQ87XfY2GkCA+rfj5l6iLCU2bNsVTTz2FJk2a2HR10UykBCgmREouk/MoJiiASpOeI9CoUSOsXLlS81tEhTx58uDo0aO47LLLcP78eU1EkENW412xYoXn4qPDJOB3AuGKCTLwHjlmenpVQiA+I1+ahn0HDmqD8u+3/IpeT47RBt1ytOv8LJ7q2xEd2jWHsd3JUynpUweknT4N4dDhJPQdMBYTxvTXRAARHerWqX6RmBDKr2DTHIz2y5QqpgkFIiDoooH4Yo5D/HD7NIdQPCQu5uniq9ctYoJ4dumll+LUqVOObw8pYkLDSpWiduv7fvev+O+mlRjYojNyXprjIj+0QfunM3F3jYaoWa4y9N9rl6uCaqUq4vmEtzGoZReUv7wkjLZETHg+YRp6355WcTDpq3kY1LIb1vy2CXuPHETP2+7VXv9k06oMv+sOhOOXiCBG+xt3/5Iej26nX7P7MX7JexC/76rRAIknjqf7F587f/rPEkc0jpVbt0ZVTEhJSUHBggW1zwCP6BOgmKAgBxQTFEClSc8R0KsTQjnOqoRQhPg+CUSHQCRigl6BkCtXzoucNg7aZTqB/nv9m2ugds0q6cJApavKwVjNEExMWPzlOuzcvS9dPJAqBePvugNGW6H8MlYmiP3V6zZpgoGcp9vRKxnEbxE+jCXzXhETmCfnRR87P8Vt2rRBhw4d0Lp1azvNhrSliQlXXhWynaoG3+/5FZOXf4SX2/ZFwdwXVyYknjyOp+ZNQM/GbVCzbGXNjcnLP0TpgkVRrWRFTFo2H4Pu6qKdK7b+u3k1Bv7fgzh15h88/8nb6H1rWsWB3u79DWlTJXo2/ldM2LwaexP/Sv89XUwI4VfKmdMYvegd3H19fRTMnT/d/prfNuOp+RMz4Kp3VXU8f08PTFmxQGsvcUhcun/xefKl/1z+8hKqUGdqd+X2bVEVE+bNm6ctvDh37tyoxM9OMxKgmKDgiqCYoAAqTXqSgLE6IVAArErwZFrpdIwQiERMyKwyIVB5vTwBr1CupCYmGBc+tCImTH7rQy0T+rSGzMSEzPwKVpkgYoJxIUnpq9ntN2PapEF4fsz09DUWvCgmME/eFhNkiuDy5csxc+ZMR+9GIiY0KF/B0T6NnSWJWPDhJDzaqDVqlrlQIbHr0H589N1ydKt/N1796gO0lEF4mUqQQfyLn7+LWmUro1rJCpi0/CMMvrMz4kVM+H0rEjavxjPNO2kVDCM/m4nejdukiQn/tlu9bQv+SDyo9SfHJ1vWZPhd9y0cv0TICGZft6f7rcch9nX/5Hz95/JFoiMmrNq1M6pigoyzmjdvrglqPKJPgGKCghxQTFAAlSY9SSBUdQKrEjyZVjodIwTCFROCzcWX9RCmv5uAZ/o9mL42QaDKhHDFBKuVCeH4Za5MCFTpYK6w8JqYEA4P5unCh91N0xwSExNRsWJFHDlyxNG70Tu9XkGNQlfgsksucbRfY2ef/LAWCT+swcute2qigDaQXzAZLa+rh7uuq4spKz/GX8cT8UyzB/DzgV0YuWgmxt3bJ00kWLkAg5s/eEFM+GGt1k4TEz5/B70bpokGejupCHhh8bt47o5OWjWD9FOz9NV4tOE9F8WfmV9NqtyAF5fMRsvr6mp2AtkXYUD3/fFb2+LVZfO09iKKaGLCv/5pYsK/P0dDTPjn3FlsSTyETpPS1sCJxpE/f37s27cP+fIFXjcjGj7Fcp8UExRkn2KCAqg06VkCwaoTWJXg2ZTS8RghEK6YIFiC7ZrQsd3/XbQWgnnNhHDFBKtrJoTyq3XLxum7ORjFBKN9mXqhryNgXLBRBtteExNC8TCvWcE8pX3g3SQmiD9du3ZFly5dULduXcfuSF9N+BB59yahQM6LpzE55oRUCPz4NZ7+75T0Ll+6+1Hcde0t2u/aU/0v52De98u032c/OFgTAHYdPoDXVy3AoGad0sSEvb8h4ce1eKZJB01MeH7Ju+jVIE1MMLbT+6pX4VrUrXgdTp5OwaP1WwUMN5hfuk8tr00TE8x+PPDOSM2e9DGm1aPaehASg7QX30VM0P0rnr+w9t4P+7bjlda9Ub5wcSfRIynlFE6WLYTbeqdVcTh9rFq1CrNnz8abb77pdNfsLwgBigkKLg2KCQqg0qRnCQSrTmBVgmdTSsdjhMCedQNRpmprxMVlCytifYcF/aTZb43UhAQ59Kf6xh0bZECu7+YwaewAbftHK9McpJ3el0w/aHbbTUhOPnXRAoy6H8H8CjbNQfdD381B+pgzbSRy58qZYStJo5igL9S4/tv/WdrNITX1PH7/6WOUvTltEcpIjkhEH+mHeRoHq3kSXm4TE7755hv06dMHGzZsiOSyieico38dQcLwGagdf3lE53v5JE0QWPoeapW6GndVSxMuYvH4NvEg7hnZDfmKxEcl/Fq1amk7hNWsWTMq/bPTiwlQTFBwVVBMUACVJj1NwFydwKoET6eTzscIgV1rn0Kx8o2QK18x10dsXMxRFy5c77SIK8cP4M9dq1C+7piI3d21pj/KVrsX2S65NGIbTp3o1TydP3cGe/73EcrXe9kpVJb6kQUYO3bsiHvuubjs3pKBCBod+m0vPnv5PVyVNx65L8ke1SkPEbgf1inf/7ENHd+7IPT1rncPHr2lZVg2/ND49LlzOHn2DLadOIoWz3ZC4fLOVkPoDOfPnw/5Jwsw8nAPAYoJCnJBMUEBVJr0NAFzdQKrEjydTjofIwT+3jYf2VOPo2Dx6q6MWKoX9KoBcXDEcz2CViW4MgAAiQc241y2eBS5MvKS4d3rnsMVpW9E7gKlXBmmH/J08uheHNy7EeVuft5VjLdt24Y777wTv/32m6N+HTuYiA1zvsSB7XuRcuofR/tmZ84TyJkrB0pcVRp1HmgatYoEibpChQpYunQpypcv7zwE9hiUAMUEBRcHxQQFUGnS8wSqVauGn376CYULF8ahQ4c8Hw8DIIFYILB9RW8Uq9AIeQvyy5vd+T5+eAcO7lmLig1fy5LpI7s+w/mUP1CkVO0s2eHJwQn8vfcbXJK7HAqVS5uu46ajW7duuPnmm7U1FHioJSAPQoYNG+b4Lhpqo/KG9alTp2LTpk144403vOFwDHlJMUFBsikmKIAaRZOpqamIi4uLogf+6HrixIno27cvWrRogU8++cQfQUUxCl6XUYQfY13vWNkHhUrUQs48RZAzbzHeD7OQf1kjISX5L6Qk/40jf25GxQZZExJ0V/ZsGIoChcohvth1WfCOpwYicOTAZiQn7UOZG4e4EtDhw4fRqVMnfPbZZ670z09Ode7cGbIt565du1CuXDk/heb6WGQryPfffx/x8dFZq8H1gKLoIMUEBfApJiiA6rDJ9+fOwzfr12Hb9h04c/oMko6fcNgD/3V34kQy/jqwDwULFUbBQkX8F6DDERWJz4+4S7Lh6quuRJ2bbka7tvc57AG7iyUCh7Z/jON/rUdctktwKmlHLIVua6y5C1bE+XPnka/YTShSMfCK8JF2uGf9YOTJXxy585fQRB8vrKEQaayqz5M1ElKS/8SJo3/gVPJhlKkzVHWXWbK/fPlyjBw5EsuWpe1gwMN+AlKVoJfXP/jgg6xOsB9xUIsNGjTACy+8gPr16zvYK7uySoBiglVSYbSjmBAGLJc1PXr0KHr16o0WtUqgdKGcuKpkPK4omMdlXtIdEkgjcDDxBH7bl4i9h1OwePNfmPT6JO67zIsjZgkkJSXhoYcewscffxyzDA7v+hTH/1yH1PNnkHJsT8xyyGrguQqUBeIuRf7it6BQuTuzas6R8ydMmIAdO3bgtdfsqXZxxGkPdaJXJeguszrBmeT16tULVatWRc+ePZ3pkL2ETYBiQtjIQp9AMSE0Ize2OJp0BE8/2Q9PtKyCq0sVcqOL9IkEghL45ffDeO3TX/Hy+InIlz8/SZFAzBGQuczDhw+HPKWVHWR4uJOAPOFt3LixVirOw14CDz/8MOrUqQNZR4GHfQSMVQm6VVYn2Mc3mCVZH2HLli2YMmWK+s7YQ8QEKCZEjC74iRQTFEB1wKTkbch91SgkOMCaXaghIILCiwu34p13ZqrpgFZJwKUEpCpBSpDlfxESRFDg4U4C+hPeGTNmQH7mYS+BO+64Q9suskOHDvYajmFr5qoEHQWrE9RdFHJ/+Oijj/Dpp5+q64SWbSFAMcEWjBmNUExQAFWxSVnUJe7AZrRvWFFxTzRPAmoJvLdyB7KXrIm27dqp7YjWScBFBPSqBN0lVie4KDkGV4xPeGUBO1YnqMlTkyZN0LZtW0ilAo+sEQhUlaBbZHVC1tgGO1sqEkREoJCghq/dVikm2E0UAMUEBVAVm+z3WB/cW7MQ6lYrqbgnmicBtQRW/bgXCVuOYex4zptVS5rW3ULAWJUgW8/K6vasTnBLdjL6YX7Cy+oEdXl65JFHkDNnTshaCjwiJxCsKkG3yOqEyNkGOlPWSDh//jynNtiLVak1igkK8FJMUABVsckWd7XE24815mKLijnTvHoCfyWeQLfXluOTTxLUd8YeSMAFBPSqhCuuuAIHDx5E7ty5cfLkSa6d4ILcGF0I9ISX1QlqkyRbMi9YsIDTfiLEnFlVgm6S1QkRwg1wmuza0L59ey62aB9SRyxRTFCAmWKCAqgKTaampqJ58zux+AV7t+lS6DJNk0CmBJo99zEWf74IcXFxJEUCviZgrEq4/S6scewAACAASURBVPbb8dVXX+Gee+7RdnRgdYK7Uh/sCS+rE9TmacWKFRgzZoz2ueC0h/BYG6/ZsmXLapUeW7duRbNmzbBkyZJ0Y6xOCI+rufXUqVOxcOFCPPvss9z+MWsoo3I2xQQF2CkmKICq2GSdWxpgw8QHFPdC8yTgDIE6fWZjw9ernOmMvZBAFAnoVQkNGzZEqVKlMGfOHMh826effhqy1S/XTohicgxdZ/aEl9UJ6nN05MgRPPPMM1i2bBleeukltGnTRn2nHu9Bv2ZFRJD7jAgLIlCuXLlSu6/IdSuvv/POO2B1QmTJnj9/vnavbtq0KV588UXEx8dHZohnRZUAxQQF+CkmKICq2CTFBMWAad5RAhQTHMXNzqJEwFiVIF/up02bpokJs2bNwvbt27VtIlmdEKXkmLoNNe+c1QnO5GnHjh3a4G3Pnj0YP3486tWr50zHHuxFhAIRDIw7jhjFBH37WREdpK3e3oOhOu7yqlWr0K9fP1SsWFETt2QnHh7eJUAxQUHuKCYogKrYJMUExYBp3lECFBMcxc3OokRAymKldFuqEqSU2/i3t0WLFtpAQI7Nmzen/xwlV2O6Wyvzzlmd4OwlsnHjRkhp+bx589CyZcv0fzly5HDWEY/1FkhM8FgIUXE3JSUFCQkJ6f9kXYQePXqgZs2aUfGHndpLgGKCvTw1axQTFEBVbJJigmLANO8oAYoJjuJmZ1EkIANVqVC4/vrrL/rbKwKDvM7S2SgmCNCe7EopuBxSMl6yZEl8/fXXaNWqlVYuLtNR5GB1gvN5OnbsWIZBnghzN910E2Qx0xIlSqB48eLaP8lZ9uzZnXfQZT1STAiekLNnz2Lfvn04cOAA9u/fr/3/999/a5/11atXZxCt8uXL57LM0p2sEKCYkBV6Qc6lmKAAqmKTFBMUA6Z5RwlQTHAUNztzCQH+7XVJIgxuBJp33qlTJ20qiggM8lT81Vdf1f4VLFgQspAdj+gR+OKLLyBVCzIY1AeEMii8/PLLtdd5kEAwArVr19bEAxGfdCFK1rGpVasWmjRpQnA+JkAxQUFy+YVGAVTFJikmKAZM844SoJjgKG525hIC/NvrkkQY3Ag079woJsjPckh1iQgKUkkiFQs8SMCNBFiZ4Mas0KdoE6CYoCAD/EKjAKpikxQTFAOmeUcJUExwFDc7cwkB/u11SSJCuBFITPCG5/Qy1glQTIj1K4DxByJAMUHBdcEvNAqgKjZJMUExYJp3lADFBEdxszOXEODfXpckgmKCNxJBL8MmQDEhbGQ8IQYIUExQkGR+oVEAVbFJigmKAdO8owQoJjiKm525hAD/9rokERQTvJEIehk2AYoJYSPjCTFAgGKCgiTzC40CqIpNUkxQDJjmHSVAMcFR3OzMJQT4t9clibBBTJgzZw527tyJwYMHY+vWrWjXrh22bNmSwfLs2bPRoUOH9NfkHLkG9GPNmjWoW7euN6DQS08QoJjgiTTRSYcJUExQAJxfaBRAVWySYkJkgLfu/hPtnn0LT3Vsig7N66QbGTntM1QoWUR7bc7nG/DA4LczdNC9dQOMf+I+5Mp5mfa6tJdjcLc7M9j4aNn3mDvqYVQqVywyB2P0LIoJMZr4GA+bf3u9cQFYWTPBLCb07dsXEyZMQKVKlbQgDx8+jN69e0MWeJTXpL3sECH/Fy5cWHtfhAYRIygoeOO68IKXFBO8kCX66DQBigkKiPMLjQKoik1STIgMsC4mFCtcAHNGdkHh+Lzp4oBRTFi9aftF4sG+g0npr5nFBPnd+H5k3sXuWRQTYjf3sRw5//Z6I/t2iAmnTp1Cv3790LFjR1SuXDmgcLB27VpNYBg/fjxy5crlDTj00tUEKCa4Oj10LkoEKCYoAM8vNAqgKjZJMSEywCImDHvzUxTImwslr4hPrywwVyaYxYTDScnoMPhtDO76f6h7/ZUZKhOkksHcPjLvYvcsigmxm/tYjpx/e72RfTvEBJn6oFcrHDp0CCNHjkyvSvAGBXrpRQIUE7yYNfqsmgDFBAWE+YVGAVTFJikmRAZYFxOGd78LQ6d+gmGPtNCmJIQSE6Q3Yxu9MkGqGWYt2pChyiEyz2L7LIoJsZ3/WI2ef3u9kflIxIRAayboayKwAsEbefeDlxQT/JBFxmA3AYoJdhMFtAWA9Pl7xsWAFHRFkzYRoJgQGUhdTJg0oD0Wr/spvaJg7OwvM6yZEKjSwCwmDHkjQXOi2c1VKSZElo70sygmZBEgT/ckAf7t9UbaIhETzGsmGCMVMYGVCd7Ivde9pJjg9QzSfxUEKCYooMovNAqgKjZJMSEywEYxIXfOy9Bv3Hx0/L86WLZxa6ZiwqmU01rb+jWu1BZpFGFh7ZYdmogw+cOVXC8hsnRQTMgiN57ubQL82+uN/NktJgRbbFGmQkyfPh3Dhw/nmgneuDRc7yXFBNeniA5GgQDFBAXQ+YVGAVTFJikmRAbYKCbI4otrN2/HyOmLUK544XShINAaCJmtmWAWGiLzLLbPYmVCbOc/VqPn315vZN5uMUGiDrabgyzQaNw+0huE6KVbCVBMcGtm6Fc0CVBMUECfX2gUQFVskmJCZIDNYoJYkSoDmbIwe2SX9K0hw93NQd8l4vUB/9EWaOQRHgGKCeHxYmt/EODfXm/kUYWYoAsKxqmls2fPppDgjUvCM15STPBMquiogwQoJiiAzS80CqAqNkkxITLAgcQEvepApjvIFAapTHhg8NsZOujeusFFW0VKg8Hd7kxvp5+3ZtpTFBTCTA/FhDCBsbkvCPBvrzfSaEVM8EYk9DLWCFBMiLWMM14rBCgmWKEUZht+oQkTmAuaU0xwQRLogm0EKCbYhpKGPESAf3u9kSyKCd7IE728mADFBF4VJHAxAYoJCq4KfqFRAFWxSYoJigHTvKMEKCY4ipuduYQA//a6JBEh3KCY4I080UuKCbwGSMAKAYoJViiF2YZfaMIE5oLmFBNckAS6YBsBigm2oaQhDxFw699eWRxw586dGDx4MGSHgXbt2mHLli0ZyJrn98s5xvn/a9asQd26dT2UjeCuUkywJ428ruzhGI4VViaEQ4ttY4UAxQQFmXbrFxoFofrGJMUE36SSgQCgmMDLIBYJuPVvr3nQ17dvX0yYMAGVKlXS0iRbG/bu3RvDhg3TXgu2M4GIEX4QFCgm2PPp5HVlD8dwrFBMCIcW28YKAYoJCjLt1i80CkL1jUmKCb5JJQOhmMBrIEYJuPVvb6hB36lTp9CvXz/INoaVK1fWdiAwCwdr167FrFmzMH78eOTKlcvTGaaYYE/6eF3ZwzEcKxQTwqHFtrFCgGKCgky79QuNglB9Y5Jigm9SyUAoJvAaiFECbv3bG2rQJ1Mf9GqFQ4cOYeTIkVp1QuHChX2ZSYoJ9qSV15U9HMOxQjEhHFpsGysEKCYoyLRbv9AoCNU3Jikm+CaVDIRiAq+BGCXg1r+9Vua262si+KkCIdhlSDHBng8oryt7OIZj5cYbb8S3334L+Zzecsst4ZzKtiTgWwIUExSk1q1faBSE6huTFBN8k0oGQjGB10CMEnj44Ycxbdo0bT2CPn36uIZCqCfIRkdlkMLKBNekztWO8LpyPj358uVDcnIyfvnlF21KEg8SIAGAYoKCq4BiggKoik1STFAMmOYdJcAFGB3Fzc5cQmDAgAF4+eWX8dhjj+HVV191iVfQpiwYd3MwL8BodFQWYwy0ZoJMhZg+fTqGDx/u+TUTevXqhcmTJ2v/Hn30UdfkyWuO8LpyNmNHjhxJn3p08OBBXH755c46wN5IwKUEKCYoSAzFBAVQFZukmKAYMM07SoBigqO42ZlLCIwePRrPPvssWrRogU8++cQlXoUnJojTwXZzkAUaRWjw+vHCCy9g0KBBGDJkiCaO8IiMQDhiQixcV5FRtH7WN998gzp16qBQoULaDiw8SIAE0ghQTFBwJVBMUABVocnU1FTceeddWDSypcJeaJoEnCNw55AEfPJJArJly+Zcp+yJBKJMICEhAXfffTeqVKmCn3/+OcreXOg+3EGfPvCT7xL6MXv2bF8ICRLPjBkz0KVLF3Tv3h1vvPGGa/LkNUd4XTmbMakomjhxIu69917Mnz/f2c7ZGwm4mADFBAXJoZigAKpiky3uaom3H2uMKwrmUdwTzZOAWgJ/JZ5Atwkr8EnCf9V2ROsk4DICJ06cQHx8PM6ePYsff/wR1apVc5mHdEcILF68GM2bN0erVq3w8ccfEwoJuJ7A9u3btTUSzp07hw8//BBt2rRxvc90kAScIkAxQQFpigkKoCo2+US/fmh9fT7Uq1ZKcU80TwJqCaz6cS8SfjiBsePGqe2I1knAhQTkS/6CBQvQuHFjLFu2zIUe0qUffvgB1atX1+af//nnn8iePTuhkICrCTRt2hRffvklSpUqhT179rDqz9XZonNOE6CYoIA4xQQFUBWbnDt3Ls7vXY//NK6iuCeaJwG1BGYv/QmXlauHtm3vU9sRrZOACwno85rFtc8//xx33HGHC72MbZekcqRs2bLYv38/3n//fbRv3z62gTB61xKQa1Sm5CxZskQTEL744gvcdtttrvWXjpFANAhQTFBAnWKCAqgOmHzwgQ54pk01VClT2IHe2AUJ2E/gf7sPYVzCL3j7nVn2G6dFEvAIgaFDh2LEiBEoUKAARo0ape0YEBcX5xHvY8PN119/Hb1790aDBg2wcuXK2AiaUXqCwKlTp7Br1y5NjBw8eDDkdzlkfQ9Z54MHCZBARgIUExRcERQTFEB1wOTx48fx1OO98ViLyhQUHODNLuwlIELCpEVb8cqEyciTh2t/2EuX1rxGQF8sTfy+4YYb8Pzzz6NYsWLamgryL3/+/F4LyVf+nj59WisZ//vvvyFber744ouOCD5SubJu3Trs2LEDBw4cwKFDhyCLMPMgARENdu/eDdn20XiUKFECM2fORJMmTQiJBEggAAGKCQouC4oJCqA6ZFIEBXla0qx6UZQqlAOVShVCUS7K6BB9dhMuAVlscesfR/D7oRQs++kQJk6aRCEhXIhs71sCUkIvFQq//vqrb2OMxcBKliwJ+Xfttdfipptu0hZzlN+DHbJ43muvvaYNCJOTk2MRGWMOk8A111yjbQN55513crHFMNmxeewRoJigIOcUExRAddjk3Pkf4tv167B123ac/uc0ko6fcNgDdkcCmRMoHJ8Pl2TPjkpXXYk6N9fFffe2JjISIIEABNavX49Vq1Zh7dq1Wvmy/kSasPxDQLYEFcFA1mIwHrJdaIcOHdJFhPr16+Pqq69GuXLltH8iQnAKjH+ug6xEkiNHDq16qXz58lkxw3NJIOYIUExQkHKKCQqgRtGklEDyy0bWE5CUlIQaNWpg06ZNWpkxj6wROH/+PFeUzhpCnk0CJOACAlJWLlUDsmXktm3b8Mcff0TkVdGiRTXRSMQCOWTOuzxZlr/hpUuX1vq49dZbI7LNk0iABEiABAIToJig4MqgmKAAKk16nsCwYcMwfPhwyOJo8jMPEiABEiABEgiXwG+//abNbZcqExEP3nvvvXQTst3kzz//DNkxQkSFEydOaLtFzJgxAzlz5gy3K7YnARIgARIIQYBigoJLhGKCAqg06WkCUpUgpYPyv1QlyJdAVid4OqV0ngRIgARcQWD16tXo2rWrVtUgR+3atbXF8kaPHo0iRYpg586dyJcvnyt8pRMkQAIk4DcCFBMUZJRiggKoNOlpAnpVgh4EqxM8nU46TwIkQAKuIyAL5sluDXLIbh3Hjh3TKhI6d+7sOl/pEAmQAAn4hQDFBAWZpJigACpNepaAsSpBD4LVCZ5NJx0nARIgAVcSkF07qlatCllPRo5s2bLhzJkzXFvGldmiUyRAAn4hQDFBQSYpJiiASpOeJWCuStADYXWCZ1NKx0mABEjAlQS6dOmiVSPIUa1aNfz444+u9JNOkQAJkIBfCFBMUJBJigkKoNKkJwkEqkrQA2F1gidTSqdJgARIwLUERDy47rrrNP9kJ4dPP/3Utb7SMRIgARLwAwGKCQqySDFBAVSa9CSBYFUJejCsTvBkWuk0CZAACbiSwLlz55A9e3bNtzZt2uDDDz90pZ90igRIgAT8QoBigoJMUkxQAJUmPUcgs6oEPRhWJ3gurXSYBEiABFxNQMQEERXatm2LuXPnutpXOkcCJEACXidAMUFBBikmKIBKk54jYKxKKFu2LGrUqIGFCxeiVatW2LRpE/bs2aPFxOoEz6WWDpMACZCAawnkypULKSkpaN68ORYtWuRaP+kYCZAACfiBAMUEBVmkmKAAKk16ioBelVCgQAGIqCBbcw0fPlz7Wf6JgDBz5kzt56NHj2LXrl2QKgUeJEACJEACJJAVAnnz5sWJEydw6623YunSpVkxxXNJgARIgARCEKCYoOASoZigACpNeoqACAVyGPf3NosJekCB2noqWDpLAiRAAiTgGgIUE1yTCjpCAiQQAwQoJihIMsUEBVBp0vMEgokJng+MAZAACZAACbiGAMUE16SCjpAACcQAAYoJCpJM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PAGKCZ5PIQMgARIgAdcToJjg+hTRQRIgAR8RoJigIJkUExRApUnPE6CY4PkUMgASIAEScD0BigmuTxEdJAES8BEBigkKkkkxQQFUmvQ8AYoJnk8hAyABEiAB1xOgmOD6FNFBEiABHxGgmKAgmRQTFEClSc8ToJjg+RQyABIgARJwPQGKCa5PER0kARLwEQGKCQqSSTFBAVSa9DwBigmeTyEDIAESIAHXE6CY4PoU0UESIAEfEaCYoCCZFBMUQKVJzxOgmOD5FDIAEiABEnA9AYoJrk8RHSQBEvARAYoJCpJJMUEBVJr0FIGZM2ciLi4ODz74YLrfwcQEaStH586dPRUjnSUBEiABEoguAfn7Ua5cOTRq1CjdkWBiQqC20fWevZMACZCA9wlQTFCQQ4oJCqDSpKcIJCUlaV/wChYsiGHDhmmigllMkC928lpiYiJ2796N+Ph4T8VIZ0mABEiABKJLQP52lC9fXhMThg4dqv1vFhP0vzWpqana3xoeJEACJEAC9hGgmGAfy3RLFBMUQKVJzxEQEUHEAjlEWLj++uuxcOFCtGrVCps3b07/UidfAKUtDxIgARIgARIIl4AICCtXrtROk5/Xr1+PlJQUVKlSBadOnUr/WzN27Fg8+eST4ZpnexIgARIggUwIUExQcHlQTFAAlSY9R0CvTjh69GhQ3wsUKMCqBM9llg6TAAmQgHsIzJ8/H23btg3pkFQm8CABEiABErCXAMUEe3lq1igmKIBKk54kYKxOCBQAqxI8mVY6TQIkQAKuIpA/f34cP348qE/169fHqlWrXOUznSEBEiABPxCgmKAgixQTFEClSU8SyKw6gVUJnkwpnSYBEiAB1xEIVZ3AqgTXpYwOkQAJ+IQAxQQFiaSYoAAqTXqWQLDqBFYleDaldJwESIAEXEcgWHUCqxJclyo6RAIk4CMCFBMUJJNiggKoNOlZAoGqE1iV4Nl00nESIAEScCWBYNUJrEpwZbroFAmQgE8IUExQkEiKCQqg0qSnCZirE1iV4Ol00nkSIAEScCUBc3UCqxJcmSY6RQIk4CMCFBMUJJNiggKoNOlpAsbqBFYleDqVdJ4ESIAEXEvAXJ3AqgTXpoqOkQAJ+IQAxQQFiaSYoAAqTXqegF6dwKoEz6eSAZAACZCAawno1QmsSnBtiugYCZCAjwhQTFCQTIoJCqBG0aQ82YiLi4uiB/7oWqoTrr/+emzevBnx8fH+CCqKUai4LlNTzyMuLlsUo7rQ9fnU88im0Bc3xSpRx1q8qmN2W35d8aGKESf06gRWJcRIwgOEqfp+GrtkGTkJXEyAYoKCq4JiggKoDptcumw5Vi5fht+2bUOBPDmx+ZedDnvgz+7+SUlBjpw5/Rmcw1HVqFIRSSdOodLVV6PRrbejcaMGEXmw6fc1+O2vH/DXsb3IfkkOHE4+EJEdu08qnLc4zp47jaL5S+HqotVRo0zdLHfh1lglsFiLV0XMbs5vli9eGgiLQOJfx1GwaL6wzmFj/xBQcT/1Dx1GQgL2EqCYYC9PzRrFBAVQHTQ56LlnER93DNVK5cPVpQqiQnE+RXcQP7sKg8DOA0nY+scR/Pj7cSRnK4gRzz9v+exz589i9vpXkT/35cibIx4FchdB3pzuutaTU5KQdPJvnEhJwvGUI+hQ5zFcku0SyzHqDb0Qq/gaa/HaFbNX8hv2hcsTSIAEIiZg1/00Ygd4oqsIjBwJDBmS0aVmzYA5c4DCha27evgw0Ls3MGwYUKmS9fOstFy7Fpg1Cxg/HsiVy8oZwKlTQL9+wNSpQPfu4Z1rrYfQrSgmhGYUdguKCWEjc8cJqefxWK/uaF79ctxRu5w7fKIXJGCRwGff7MLSnxMxbuIUAJlPyzl7/gxmrH0ZVxatgaIFyljsIbrN/jy6Bzv/2oyH6g7AJdmyW3bGi7FKcLEWb6QxezW/li9gNiQBEsgygUjvp1nu2GTgx2eBA4uA04eBU3/Ybd3d9nKVBC4rAhS/E7j2Bed9FTFBjsGDL/QtQsLOnRlfC+WZ28QEYwwSY4UKQIcOoaKw932KCfby1KxRTFAA1QGTUpFQrwwoJDjAml2oIfDphp3Y+OelGDbi37+aQbp55+uxKFOkqmeEBD0M+UK47/BWdLy5n2WAXo1VH1zHUryRxOzl/Fq+iNmQBEggywQi+fuR5U7/NZC0BVh6I5AKIPW0XVa9aSfuMkCWQ7r9G6DAtc7FEEhM0CsBRo0Cnn0WSEoC5s4F1qwBata88MRfvDS/Vr16WtsyZS5uV/ffWZkiPMjAfskSwFgFsXUr0K4dsGVLxteNlQnffw/Uq5fGJ7MKCooJzl1DjvZEMcFR3LZ0tvSrpdi04mP0v+c6W+zRCAlEi8CYj7bgxib3oVHjRgFd+H7PKuxO3InKxW+IlotZ6vfX/d+gQuGrcb2FNRS8HquAirV4w4nZD/nN0oeBJ5MACYRFIJz7aViGM2m8ZzbwXXfg3Em7LPrDziW5gVpvAWXvdyaeQGKC/lr//mmCQMmSF6oU5L19+9KmDcjAvlevNPGgSJGM0xyCtdNFho4dAREX9EF/z55pAoO8Lv+bz5dpDoMGAU89dWEqhZwrR6CKA12wkHXN5V84UyTsIs/KBLtIGuxQTFAAVbHJIc8NxC2lgTtuKK+4J5onAbUEFn2zE9/svwTDRgauI3z/m0kokq80Sha6Uq0jiqz/cWQbEpP3o90NPUP24PVYJcBYizecmP2Q35AXMRuQAAnYRiCc+6ldnX6Yg9UIwVhmywm0OWUX6cztBFozQV9jQM4UMaF+/bQBu74OgS4E6L/L+3fccUFMMAsGxna1a6eJAZMmZVyTQaoSjK/L7337AhMmAIcOpa2ZYBYTMotMqhmkgkGvlLB7HQcr2aGYYIVSmG0oJoQJzAXN27dvj1EP1ORiiy7IBV3IGoEd+5MwaM73eP+DDwIaem3pQNx8ZQvXLbZoNWpZVGv99s/Q97ZRIU/xeqwSYKzFG07MfshvyIuYDUiABGwjEM791I5O/zcE+GU0gLN2WPOfjUvyAJWeAqoOVR9boMoEvVezeKA/7Zf1FfQpC/p6BEYxQaoURHwI1K5cubSqA/MCjzL4N75uXINBFxOkuuD33y9MhQi2sKJxWsSCBWlChPgiAoZZxFBJmGKCAroUExRAVWhS9qLu0e0hTO15i8JeaJoEnCPQffLXeGPaDMTFZVyIMTX1PKasHI5GVdo654yCnlb8Mh89Gg5BNpl4GeTwS6wSXqzFayVmP+VXwUeEJkmABIIQsHI/tQvel7WApO/tsuZPOwVrAbdvVB9bOGJCtCsTzFMVgi0UaV5wUa++mD3b2UUYKSYouH4pJiiAqthknVsaYMPEBxT3QvMk4AyBOn1mY8PXqwJ2NvLT7mhzQ19nHFHUy0ffTsDgFlNDWvdDrBJkrMVrNWa/5DfkhcwGJEACthGwej+1o8NPSgMpMbZrQ7jccpUCWuwN96zw24cjJoj1rK6ZYK5aEEFg9eq0KQzdumW+ZsKjjwIvvnihuiDYmgnmrSSl3QMPACNGhLdDRfg0M55BMSGrBAOcTzFBAVTFJikmKAZM844SoJiQhtsvg02rX379Ei/FBEdvF+yMBGKKgNX7qR1Q5me+S7MdXfjCxn2yzYXiI1wxQa9OmPrvcwvZzUGmPOivr18fejeHYLs2WNnNQaYtiDAgR7BpDvKeLiDo7V54AXjuuTSxQp+ioRgtKCYoIEwxQQFUxSYpJigGTPOOEqCYQDHB0QtOQWdWvvD7STxRgJAmSYAEuejIzQAAIABJREFUAhCwcm+xCxzFBGsknRATrHnCVpEQoJgQCbUQ51BMUABVsUmKCYoB07yjBCgmUExw9IJT0JmVL/wUExSAp0kS8DkBK/cWuxBQTLBGkmKCNU5ubUUxQUFmKCYogKrYJMUExYBp3lECKsWEKePewME/D+Lp4QOQM1dOfPrRp/huw/fpv+uB6q93f/wRDHlyKNYuX5vOoFLVSnhl6liUvzKyrVitfhn0y2Az1uKVC8VKzH7Jr6M3B3ZGAjFOwMq9xS5EFBOskaSYYI2TW1tRTFCQGYoJCqAqNkkxQTFgmneUgCoxYdf2XXj3zVlaLJ0e6aiJAfLa6EGjMfD5geniQMqpFLw0dAxq1amJeo3rYUCvp9GjXw/UvLGGdm4wAcIqJKtfBv0y2Iy1eCkmWP0ksB0JkEC4BKzeT8O1G6g9xQRrFCkmWOPk1lYUExRkhmKCAqiKTVJMUAyY5h0loEpMEBFAP/bu+QOPPtEDRuGgRZsW2ttGgaFgoYIXiQny/uSxk/HcqOcQXyg+bDZWvwxSTAgbrWtOsJJjv+TXNdDpCAnEAAEr9xa7MFBMsEaSYoI1Tm5tRTFBQWYoJiiAqtgkxQTFgGneUQIqxAQRDV5/+XW0vr81RCB47cUJeOyZvpoYYK40kN91sSHpSFLAygT9/UjAWP0y6JfBZqzFK9eElZj9kt9IPgM8hwRIIDICVu4tkVm++CyKCdZIOiEm6LswlCyZ9W0TZTeGYcPStm789Vdg1ixg/HggVy5r8eqtDh8GevdOs1WmDNCvn7O7MITnbfDWFBPsImmwQzFBAVTFJikmKAZM844SUCEmSDXBgvcWoNdTvbS1EmTthDr16mhTF4yVBvKeTHG46967tPd0McG4ZkLdxnUx5vWXIqpKsDrQlHZ+GWxa/fLrl3it5thP8Tp6g2BnJBDDBKzeT+1ARDHBGkUnxIS1a9MG/XLI9omFC1vzLVAro5iQFTtGMaFSpcj9ifaZFBMUZIBiggKoik1STFAMmOYdJaBCTJBqg6d7PZMhjt4DemeY6iACghxvjH8jXSwIVJkQaJ2FcABZ/TLol8FmrMVLMSGcTwPbkgAJhEPA6v00HJvB2lJMsEbRCTFh5Ejg1luBZcuAChWADh3SfNNFhvz5gZdfBpo1A+bMAXLnTqsUqFkTmDwZ2LIFmD077bzMKhOknyFD0myvWQPUrQuIaCDnLVmS9vqIEUD//mn2p04FqlcH3nkHmDLlQmWC9NGuXVq/uk8iXIi/UhEhxwcfpJ07dy4gYoS8V69e2nvGc6xlIfJWFBMiZxf0TIoJCqAqNkkxQTFgmneUgN1iQiBBQF574dkX0LN/T23hRalU0I/SZUtBXz8h0Ln6Ogt69UK4cKx+GaSYEC5Z97S3kmO/5Nc91OkJCfifQKh7y//+9z9Uq1bNFhAUE6xhVC0myGD+uefSKhIOHQKmTweGD0+blqAPwHWhQMQAOfTB/u7daeKCnNe3LzBhQtr7gaY5LFgA7NyZNo1CFxxEoHj+eaB+/QtChG6nSJHA0xwqV05r27Fj2v/i0759aVMpvv8+TTAQoUKEDhEkZOpGz54XbImwID7LoYsm1jIRWSuKCZFxy/QsigkKoCo2STFBMWCad5SA3WLC999sylBtIMGYF16UNh1bdoR520c3VSaI4DFpTJqkPythVvruEvK7/p7Rfz3Gee/O085p26ntRVtgmhMrdoxiiv6+VGM82b0/Bo0elKFfed9c9fHS6y+mizHyfqgvv3ofdg2udV+79Hwogx96bLf/3+3aVJYt3225aItPPRZzDOF+AKzEbFe84foW7fbmqUPG6zLQtCLxV68ikp/NbYzTjszXb6BrIVRlkfl6Nn/WwuVn/Bx26NYBiYeORLx4azh9G6dvJR5JzNKisYH6Nd6PAt2TwvGVba0TCHZv+fzzz9GvXz8kJibir7/+CmnwzJkz+Pjjj9G2bdugbSkmhMSoNVAtJohgIBUJMsiXtROGDgW6dr3wNF8G6zL4lif/wUQA8VPaSVVD7doXiwmjRgHPPht6zQPj1IZgYoK8rosVuk+6ACGihtFf8VsEDLOYYI28Pa0oJtjDMYMVigkKoCo2STEhPMBbd/+Jds++hac6NkWH5nXSTx457TNUKFlEe83489rN21Gv28sY0aMlBne7M7394aRkdBj8tvb7nJFdcCgpGX3HzsWE/u1QqVyxgHbD8zQ2W9stJuhVB7J7g/GQQUPCh59oUxrkkC0gS5YumWHAHWxwk5UBhpWBpvaH/9PuaHNDX8034yKRB/YdyLCdpfG9n3/8JV04WbN8jXauVFkE2rXCfHXpg4NAA2lj5YaRo5GhLGap82p5713pA/lI4s3Kla8PIItcUSTD2hZmMeH40WNo1LRRup/6Ip1bf96Klve1zCBEhOuPlZhjUUwIdH0Yr1/JgXkrVmMlUIUry2vvG68v4zUo17xxcVRNSBw3BZWuqZS+Xoq89smHnwQU1oJdz8atYcO9FiRm44Kv4Z4fafus7jqTWb/yWTr458F0hpmJjZH6z/MCEzDfW0REePLJJzUB4dixYxgxYgQGDhxoCV+RIkVw+PBhPPPMMxg9evRF50RDTKg6Aqj8NJDtsozuHPsZWFIVuOJW4MZ3gRyXA7++BPz0b0m+tG74FXDFbcDBpcDK2y0hsKWRajHBOPVAd1ivRNCnOegLKJrFBKkOkKkK2neKTMSEQYOAbt3SBAu9vd6XcfqBvKZPTQgmJuh96QKHUYAQMcG44KMuJujVEPrUiO7dI1sUMpKEUkyIhFqIcygmKICq2CTFhPAA62JCscIFNBGgcHzetBttJmLCiGmfoVD+PJg0oH16exEZjK9TTAgvD8Fa2y0m2OOVfVasDDS169EgJhgFEXO1hPFpbKBKCt1z864V+uv6YO2KYldoL5krE/TB0IPdO2k7YuhTQ6RtIKHG3E8k8WaFtj6Iyps/HyQmXfwwiwnXXFsFv+/6PX2QqS/SKX1LhYc+1SUSX6zEHItiQqBrMJBYYB6867mrWr1qBiFNcmO85gsWis/wBF7Oq3TN1fh84efp162+Raw5v8E+O0bxQfqTqha92kcXFY3XnPE9XfyQBVzlmur33ONImJeQXpmgV0HIe3Ub3oLcefPgoUc7X7QIrD4lS/ofPejfQV9cnCaW7dy+S6uq0g/xydivVG706t8Ls9+ald6vXokl5+iVIXps8pnRK6CMFSHm+0WtOjUvqvyRNsYtdwNxMvpfpVoVXFX5ynQ7xp10dIFi609bYaw+0QWiQ38fRvVa1UNWW0Xy+XXzOfq9xSgiHDlyRHM5R44cSElJsez+3Llz0aVLF5w/f147zywqREtMuPpx4LdXLwgFZTsCNV8H9s4Dfn8vTUy4JCeQtPmCaCAiQ+230kSGI9/4R0wQcUB/qq8vcmhe88D4pF8G/vL7tGkZpyfou0HIdIVwKhP09RJ0kcGOyoRgYoLxwjWKDJYv6AgbUkyIEFxmp1FMUABVsUmKCeEBFjFh2JufokDeXCh5RXx6tUFmYsKsRRuQP29O3N2gOupef6XWobQvWig/lm/cqokMFBPCy0Ow1hQT0sgYB5vGqRpSsixfyAc+PxDFSxbPMPDIrAIhWIWGMQ+BpjlI3xvWbNAGCeaBmD4oyWwKhZWBtTnerFxJ+sBOdu4wih9mMaH+rfUCDjLlyXagqR7h+GQl5lgTE6xUxwRb30SvVhABSB/MB6oOMm4BK58NfTvYxQlLtN1b9PMDrXcSaDqUOefGJ/JSBfT8wOe1qTJyyDQgfWqNsZ34ZBQDJo+drA3qjZ9j2a5WYqxxQ42QYoJxupF5yoa5gsnYl/Fn3YbOQwQEXcSQWJ4ePgDG+GRdGeOhiyCBxAZpZ7zXCFczJ326VCChRnKjiyG6qBSMu9mvcD6jXm0r95aDSy7D22+/jZMnT2YIo2jRoihYsKDl0E6fPq1Ni5B/cuTMmTNdVBg0aBAW5c1j2ZZdDaUywSwmiO1mPwEpB4BfRqWJCSf3ADmLARsfBg4uA+S8sv8uSnhil3/EBBlUr16d8Sm9cYAvbPQ1CKSiwLxmgrwvVQu//x56zYSxabey9DUTRMSQtRlkyoIuJog/so6CLJoY6ZoJgcQEmW1jnBrBNRPs+kRFyQ7FhCiBz0K3FBPCg6eLCcO734WhUz/BsEdaaNMSQokJNSuXwV9Hjmnig0xxeG7yf9Hx/+pg0rwVFBPCS0GmrSkmpOExDzb1gbvxKZ158BVswGZloKQPAswDafM2msYtNuWcUGszWBlYB4o30kvKWN4tZe/fbfheGxzNmDJTEwn0NRNk0CIiif6aceBJMSFS+sHPs7JwabBpReapN8Yn69KjUVgwVjHo16oMjCXX/+ncPuiUg8ymPxivc12IMH7WzBUTRlvBxATzlAz9qbyVygQREgMNpI39ynSoQGKCVDIYp3no94aRr4zAG69OhV5xYF6k1pxZc650YSHYPUm4SeWILoSK/0YxROzr/oqPxl11jJ9p83v2X6nutij3007XPqtVESQkJGQQFCpWrIhPP/3UcgDbtm3DQw89pE11MB4iKshYoOm0tyzbsqthIDEhUGVC4vdA4ZuBHVPSKhhkioMcOYuniQ5+mOZgrCYwL0SoL2oog/C3/k2T7I6gTw8QFvrihubdGYLt5qCfIzs0yKHv5iAD+wceSHtN3pNFFGX6hL6A4vr14e3mEKwywdgPpznY9YmKkh2KCVECn4VuKSaEB08XE6SaYPG6n7B603aMf+I+jJ39ZdA1E6QyoUebBnjpnSWacPDr7j+xbONWtL29llblwMqE8HKQWWuKCWl0rExzMD9pDSQmGJ8MhnqSZ65MCDS4My9Sac6luQIimmJCzlw50ys3jMKBPN3WtwKV1+9o2Sx9IPP+zA9YmWDfxzndUqSVCaFcMT+d1ytppBJh/959Wgm9PoXlztZ34rMFn6VPbTHaDiW4BaqaMAoX+kBY1g6xIibIdSaHPg3Hqphg7EfONy+EqFcJBRMTjAKbfD70gXr/If01MUEXS0KJCUZ2xtzWa1xPq7KQqR3GQwQhEV2M/hsFJsmVvt6FWSwSO/p9J/FIUtA1L0JdK35433g/3b9/v7Zegi4qFCpUCHPmzMEdd9xhOdT4+HgcPXpUa58nTx6tOmHs2LHo3LkzojXNIdCaCfo6CPqaCX8uThMT9GoFmeKwZw5Qqo1/xAQrSTSvmaCfowsRxjUTrNiLxTac5qAg6xQTFEBVbJJiQniAjWJC7pyXod+4+VqFgYgDwRZgFDHhhZ5346V3l6Bry7qY99V3WtvaVcpSTAgPf8jWFBMyignBBjH6QCSzNRPMC8qFgm8WEwLNcTcOevSn+UaRwvyEN5pigj6wk6ecsrimPHU1ViZIObUsjleuYjmcPHFSG9gF29EiFDvj+1ZijrVpDsIn2LodevWLubzdzNw45UZ/z1zxIJ8XGaifTD6Bxnfcqu0+Im2kMkXWT5A8B1oPI9iaCboQ0bVPV7w2ekL6YNtcmRCumGC1MiHY03vjtS1rJ5hFjEgrE0KJCcEWlNTvC1L9Ydx215jDQItC6udJOxGAJF+ZVYmEqiAJ53PqxbaB7i26qCC7MxQrVgy7ZT9AC8fUqVPxxBNPIC4uLoOIoJ8aLTHBOM2h9jSgdFvg+17AnlkXFmAUMUEOERT++Aio+Ciw5Qmg8jMUE4QLxQQLH4B/m1BMsM7KckuKCZZRuaYhxYTwUmEUE2TxRVlIceT0RShXvDDq17gy4G4OIiZI9cKC5Ztw8MhxfPPTbm16hBx6ZYL83HvMB+nTJrQbesppTazQ7YbnaWy2ViEmZLaNmfk9oW58+m5cCMyYkUi3D7Qy0JR+QlUm6CvaB9vNIZJyYONA2sqUCfNTTuNijvoT10jizcqVH2jAYtypwigmBJqDTzEhK/QzPzfYbg7mXVWC7Z4QaMBvrrzR101ITj6Bx57pqw2y5Xhn6ruakCBVKMEqdELtTpLZmgnhigmh1kzQFw8Vn96ePCN9bQZzP/p0AL0KR2KVaT3BxATpN7M1E0KJCWLfXH1kzqvxfeNOD+YFMsVWoN1XzHk25sU8TUPd1epOy5ndT0VUmD9/Prp166ZVGYQ6ChcujNTUVIwbN06rRDAfbhATxCdZL+HSAsA3ndI8lDUTREz4eyVw7Wgg5a+0BRlltwd9bQU/THMIlT++bw8Bign2cMxghWKCAqiKTVJMCA+wWUzQBm7TPsOQNxIwe2SXTMWE73/9XdsmsnvrBpq48PufR9LFBL3KwbioowgVvca8j7mjHs6wXWR4HsdWa7vFhFDbmIXakcC8FaNkI5wSYHP2Ihlcm9clMC98pg+WjSJIIJFEL4H+atFXGbbQ0300DqTN5eN6G/PAQV+MTX/f7Fsk8Wblig8kJhh9NooJ8hTUPICkmJAV+qHPNU+dyWwNkEDWzOcHmnYTqAIi1DQGvS/z9WwUDc2fQ/NuDrKwotVpDtJO70sY1G1UN706xihgDhg+AP/b9KO2G4UcgaYJyK4JwqH3U720RUXFDzlkuoEc4ezmYEVMEJvm+0tmnPT3An02AwmQYt/IwJhjViZMwOAW/05qD/1xy7TFmjVrUE9W7wtyuEVMCLRmgogJ+s4OuUoCu6YDG7tRTMjiJRGTp1NMUJB2igkKoCo2STEhPMCBxARZULHD4Le16Q4dmtfJsBijCAJ6ZcLJlNMZ2plt6ZUIUxes0pyqfnUpCgnhpQd2ignBnq4bBYRAYoLxS6/xCaL+RNPKYnLBwnZ6cB0mftubx1q8AtBKzLE4zcH2i8snBq2sJ+GTUBlGFglYubdksYv0090iJohDssBioRuB7a8DIi6ImCDigf66Pg2ClQl2ZT927FBMUJBrigkKoCo2STFBMWCad5SAnWKCOB7ONmZ6oOYt1owrkEubYE/trYCy+mXQL4PNWIuXYoKVTwHbmBcZDLbNIkmRgJGA1fupHdSiISbY4bfTNu5LdbpH9mcnAYoJdtL81xbFBAVQFZukmKAYMM07SsBuMUGcD7aNmbwXaDqAsfQ62JoJgfa5twLK6pdBiglWaLqzjZUc+yW/7swAvSIBfxKwcm+xK3KKCdZIUkywxsmtrSgmKMgMxQQFUBWbpJigGDDNO0pAhZhgDMBcUmyc5hCo3DgrVQiBwFn9MuiXwWasxSs5txKzX/Lr6M2BnZFAjBOwcm+xCxHFBGskKSZY4+TWVhQTFGSGYoICqIpNUkxQDJjmHSVgp5gQahszfStACVDffcC4+rgs0EcxIWvpt/rl10+Daysx+ynerF0hPJsESMAqASv3Fqu2QrWjmBCKUNr7FBOscXJrK4oJCjJDMUEBVMUmKSYoBkzzjhKwU0wQx8PZxkwPNNSaCVkBYvXLoF8Gm7EWr1wbVmL2S36z8lnguSRAAuERsHJvCc9i8NYUE6yRpJhgjZNbW1FMUJAZigkKoCo2STFBMWCad5SA3WKCLihMGjMpPQ7jNmaBdnMwbiVYtXpVmBdgzAoQq18G/TLYjLV4KSZk5dPBc0mABDIjYPV+agdFignWKFJMsMbJra0oJijIDMUEBVAVm6SYoBgwzTtKQIWY4GgAITqz+mWQYoKbshaeL1Zy7Jf8hkeGrUmABLJCwMq9JSv2jedSTLBGkmKCNU5ubUUxQUFmKCYogKrYJMUExYBp3lECFBPScPtlsGn1y69f4pXcWYnZT/E6eoNgZyQQwwSs3FvswkMxwRpJignWOLm1FcUEBZmhmKAAqmKTFBMUA6Z5RwlQTKCY4OgFp6AzK1/4KSYoAE+TJOBzAlbuLXYhoJhgjSTFBGuc3NqKYoKCzFBMUABVsUmKCYoB07yjBIKJCedTz+ONlSPQqMp9jvpjd2crf5mP7g2HIFtctqCm/RKrBBhr8VqJ2U/5tfvzQXskQALBCVi5n9rFL6E48M+fdlnzp50cRYGWZOTp5FJMUJA+igkKoCo0mZqaike7dcEbPW9W2AtNk4BzBHpMWYcpb72NuLi4izqdsPRZ3HTlncibM945h2zsKTklCRu2f4Y+t40KadXrsUqAsRZvODH7Ib8hL2I2IAESsI1AOPdTOzpdci1w7H92WPKvjQLXAU23+De+WIiMYoKCLFNMUABVscn27f+DUQ/UQIXi3hxgKcZD8x4isH1/Ioa8/wPee29OQK/nfTsZ8XlLoFShqzwU1QVX/ziyDUkn/kTb2j1C+u/1WCXAWIs3nJj9kN+QFzEbkAAJ2EYgnPupHZ1ufhLYNs4OS/61cfUAoPpL/o0vFiKjmKAgyxQTFEBVbHLo0GG4qXgKmt9QQXFPNE8Cagl8tmEHNv6dB0OHDgnY0ea9a7Hn8A5cVbyWWkcUWd964FtUKFwJ1UuHriTyeqyCMNbiDSdmP+RX0ceEZkmABAIQCOd+ahfADy8DUs/YZc1fdrLlBNqc8ldMsRgNxQQFWaeYoACqYpPLV6zEt199jAH3XKO4J5onAbUEXlzwE25p3hYN6tUN2tGsdeNRqnBlFC1QRq0zNlv/M2k3DiRtR4c6j1m27NVYJcBI4y1ZuBKKFShrmZGbGoYbs+TXy/G6iT19IQE/Ewj33mIXi8TvgeX1gXMn7bLoDzvZ8wK3rgcKVPVHPLEcBcUEBdmnmKAAqgMmhwwejDolzuLOG8s70Bu7IAH7CSSs24FNh3Nj6NChmRo/d/4cZqwdgwpFq3tm0HkgaRd2HfwBXeo9k+nCi+bAvRirxJCVeN9e+xIqFr3eM7nVcxZJzJJfr8Zr/x2AFkmABAIRiOTeYifJxM3AspuA8//YadW7tqQi4bZvgPhrvRsDPb9AgGKCgquBYoICqA6ZfKJ3D9xapQBa3FTRoR7ZDQnYQyDh621Yvf0EXn5tsiWD58+fw5wNE5AnZzzy5iyI+NyXu25RRlksK+nk30hOScTJf47i/jp9wxISdBBeiFV8jbV47YrZK/m19MFkIxIgAVsI2HU/tcWZf41sfAQ4tBo4cwxI2W+nZffbylkcuLQAUKQBUHuq+/2lh9YJUEywzspyS4oJllG5suGwIYOR++wRVCudD5VKFULFElyU0ZWJolOQxRa37j2CH38/jn9yFMHQ4SPCprJl79fY+tcP+PPo78h+yWU4nHwgbBsqTiictzjOnjuNYgXKoFLR6pbWSAjlh1tjFb9jLV4VMbs5v6GuTb5PAiRgHwEV91P7vKMlEvAXAYoJCvJJMUEBVIdNLl+5CiuXL8XWrb8hf+4c2PzLToc9YHckkDmBGlUq4tjJf1Cp0tVofFsTNKgffI0EqyzPp56P6Mm/0f7EiRNRunRptGrVymq3AdvZ4UtmDthh/9y5c+jatSumTp2KHDly+D5eCXDMmDGoUaMGmjRpkqV45WQ7chDMCZW2sxw4DSglsG/fPrzwwguYPNlalZZSZ2g8KgT4+Y8KdnYaowQoJihIPMUEBVCjaDI1NRVxcXFR9MAfXZ88eRIfffQR2rdvj0svvdQfQUUxCjdel+JTtmzZUKhQIRw+fDiKdJzpWoSTp59+WvsXap0KZzxS20tiYiKKFy+Oyy+/HHv37lXbGa2TQIQEOnXqhAULFuC9995Dy5YtI7TC00iABEiABKwQoJhghVKYbSgmhAmMzWOCwJQpU/DEE09gzpw5aN26dUzEHGtByqB6woQJyJ49O1577TV06dLF1wjy5s2LEydOaPGeOeP/vb969OiBd999VxNXZ82axc+xr69ubwb3999/o0yZMkhJScFVV12F3377zZuB0GsSIAES8AgBigkKEkUxQQFUmvQ8gQIFCuDYsWMoVaoUn2p6PpsXB6BXJejv+L06QaoSnnvuORw/flyb4jBw4EBfVydIVUKJEiW0QZoc/Bz78EPsg5CkKkGELjkKFy6Mt99+m9UJPsgrQyABEnAvAYoJCnJDMUEBVJr0NAGpShgwYACSk5ORO3duPtX0dDYDO69XJeiDTXlq7+fqBL0qQafh9+oEvSrh1KlTWsj8HPvwQ+zxkIxVCXoorE7weFLpPgmQgOsJUExQkCKKCQqg0qSnCehVCXoQfKrp6XRe5Ly5KkFv4NfqBGNVgh6rn6sTjFUJEuc//6Rtls7Psb8+x16PxliVIOvyyNQjVid4Pav0nwRIwO0EKCYoyBDFBAVQadKzBIxVCXoQfKrp2XQGdFyqEsaNG4dLLrlEm6csx549e3D69GltRXW/rZ2QJ08eLUb5XxaalAUJZbqDDLLPnj3rr+QC0KsSZPeKypUrQ8QjWYBRFlV9//33uXaC7zLuvYCkKkHELakYio+P16rgZD0TuVaLFSuGHTt2eC8oekwCJEACHiBAMUFBkigmKIBKk54lIFUJUvouA8vLLrtM+3InC7hdccUVXDvBs1nN6LgMMOvUqYNXXnlF25KtbNmyaNGiBR577DFtwLl8+XKfRAosW7YM9913H8aPHw95EipPQKX0f968eejdu7e2wGjz5s19E6/kr2bNmtpWkKNHj0afPn3QsGFD1K5dG3379tUGbwkJCb6Jl4F4k4CIli+99BJEvK5UqRKaNWuG7du3awvCynW7ePFiVK9e3ZvB0WsSIAEScDEBigkKkkMxQQFUmvQkgQ8//FAbeMnidLJYXdGiRXHw4EHt9zfeeANffvklGjRo4MnY6PQFAvIEUH9a369fP01MePzxx7UGR48ehQhKfj10MUHWTJDDjVt2ZpW9VFzI9AY5HnroIU1M6Ny5s/Z7UlKS9iSYBwlEk4CIXlLxJodUIehiQjR9Yt8kQAIkEAsEKCYoyDLFBAVQadKTBGTOqgy25JABp4gJUn4qhzzNzZUrlyfjotPBCZjFBL+zMosJfo/XLCb4PV7G5z0CFBO8lzN6TAIk4F0CFBMU5I5iggKoNOl5AmYxwfMBMYCABCgm+PvCoJjg7/z6ITqKCX7IImMgARLwCgGKCQoyRTFBAVSa9DwBigmBNiz7AAAgAElEQVSeT6GlACgmWMLk2UYUEzybuphxnGJCzKSagZIACbiAAMUEBUmgmKAAKk16ngDFBM+n0FIAFBMsYfJsI4oJnk1dzDhOMSFmUs1ASYAEXECAYoKCJFBMUACVJj1PgGKC51NoKQCKCZYwebYRxQTPpi5mHKeYEDOpZqAkQAIuIEAxQUESKCYogEqTnidAMcHzKbQUAMUES5g824higmdTFzOOU0yImVQzUBIgARcQoJigIAkUExRApUnPE6CY4PkUWgqAYoIlTJ5tRDHBs6mLGccpJsRMqhkoCZCACwhQTFCQBIoJCqDSpOcJUEzwfAotBUAxwRImzzaimODZ1MWM4xQTYibVDJQESMAFBCgmKEgCxQQFUGnS8wQoJng+hZYCoJhgCZNnG1FM8GzqYsZxigkxk2oGSgIk4AICFBMUJIFiggKoNOl5AiImXHHFFViwYIHnY2EAwQlMmTIFZ86cwS233BITmAYPHgy552fLli0m4l21ahVy5cqFEiVKKI+3Q4cOKF68uPJ+2IG/COzfvx/Dhw/H7t27/RUYoyEBEiABFxKgmKAgKRQTFEClSc8TOH/+PGTg9d1333k+FgYQnEBycjJ++eUXxMXFxQSmkydP4uzZszERqwQpn2P5p/pITU3VumjWrJnqrmjfZwTk+rz33nvxyCOP+CwyhkMCJEAC7iNAMUFBTigmKIBKkyRAAiRAAjFDoHLlyti6dSt0USFmAmegJEACJEACJOAhAhQTFCSLYoICqDRJAiRAAiQQMwQoJsRMqhkoCZAACZCAhwlQTFCQPIoJCqDSJAmQAAmQQMwQoJgQM6lmoCRAAiRAAh4mQDFBQfIoJiiASpMkQAIkQAIxQ4BiQsykmoGSAAmQAAl4mADFBAXJo5igACpNkgAJkAAJxAwBigkxk2oGSgIkQAIk4GECFBMUJI9iggKoNEkCJEACJBAzBCgmxEyqGSgJkAAJkICHCVBMUJA8igkKoNIkCZAACZBAzBCgmBAzqWagJEACJEACHiZAMUFB8igmKIBKkyRAAiRAAjFDgGJCzKSagZIACZAACXiYAMUEBcmjmKAAKk2SAAmQAAnEDAGKCTGTagZKAiRAAiTgYQIUExQkj2KCAqg0SQIkQAIkEDMEKCbETKoZKAmQAAmQgIcJUExQkDyKCQqg0iQJkAAJkICvCaxatQoNGjTQYjSLCUlJSYiPj/d1/AyOBEiABEiABLxGgGKCgoxRTFAAlSZJgARIgAR8TSB79uw4d+4cOnfujHXr1mHr1q3Yu3cvrrrqKqSkpODzzz/HHXfc4WsGDI4ESIAESIAEvESAYoKCbFFMUACVJkmABEiABHxNoHXr1vj4448DxpgtWzZNaOBBAiRAAiRAAiTgHgIUExTkgmKCAqg0SQIkQAIk4HsCcXFxAWOcNGkSevXq5fv4GSAJkAAJkAAJeIkAxQQF2aKYoAAqTZIACZAACfieQKDqBFYl+D7tDJAESIAESMCjBCgmKEgcxQQFUGmSBEiABEggJgiYqxNYlRATaWeQJEACJEACHiRAMUFB0igmKIBKkyRAAiRAAjFBwFidwKqEmEg5gyQBEiABEvAoAYoJChJHMUEBVJokARIgARKIGQJ6dQKrEmIm5QyUBEiABEjAgwQoJihIGsUEBVCjbPJ8aiqyBVkYLMqusXsSIAES8B2Bxo0bY/Xq1Th79qzvYmNAJEACJOBWAvy+69bMuNcvigkKckMxQQHUKJhcvH43dh04jn2HkpEK4FjyP1Hwgl2SAAmQQGwSuDx/dvx9jGJCbGafUZMACUSDQMG8OXEeqShZJC/Kl8iPO+qUjYYb7NNDBCgmKEgWxQQFUB00+fOuw3gz4X+oW6M88ufJicsL5kG+PDkd9IBdkQAJkAAJkAAJkAAJkIDzBI6dSMGhxBM4lpyCr7fsxiMtq6FKuULOO8IePUGAYoKCNFFMUADVIZNbth3CFxv3okXDash+STaHemU3JEACJEACJEACJEACJOAuAmfPnkPCyv+h+Y1lcN2VRdzlHL1xBQGKCQrSQDFBAVQHTP606zA+W/877rn1Ogd6YxckQAIkQAIkQAIkQAIk4H4CC77agpZ1y7FCwf2pctxDigkKkFNMUADVAZOPv7YS3e+7hRUJDrBmFyRAAiRAAiRAAiRAAt4gcObsOUxbsB7j+jTwhsP00jECFBMUoO7YsSNmz56Nd999F/IzD/cTWLxhD06cjsN1V5d0v7P0kARIgARIgARIgARIgAQcJLBl6x8okBNociMXZXQQu+u7opigIEU9e/bElClT8NJLL2HAgAEKeqBJuwm8sfBHlC9dFBVKFbbbNO2RAAmQAAmQAAmQAAmQgKcJ7Nh7CHv2/Y3ud1fzdBx03l4CFBPs5alZe+655zBq1Cg88sgjmDp1qoIeaNJuAoPeWofWt13HXRvsBkt7JEACJEACJEACJEACnicguzwsXPoDRj58s+djYQD2EaCYYB/LdEszZsxAly5dcNttt+Grr75S0ANN2kngfGoqBk9bj84tb7TTLG2RAAn4mMDr457Ha2OGZYjwsQHD0OuJQRle27l9Kx7vfj9+/WlLUBrvJ6xErRvrXvR+oHPrN26Ksa/PQsFCaVVUiUcOo3+vjli9/Au07/QInh3+CnLmyqW9l3LqFEYNfRIfvPum9rvZP6P9QL5bSZ8VH812Ej56D/17dQrJLlj/gdgHamtmZSUeO9ro/pnzYYdtu23ovkaLld3x0B4JkIBaAu988i1GdK2DbHFxajuidc8QoJigIFU//fQTqlWrhnLlymHXrl0KeqBJM4GZM2eiVatWiI+PjwhOn/Er0Pf++hGdy5NIgARih0AocaBy1ep4dep7qHBlJQ1KqPY6ubGvv4uWbe5PBxlqwKwLEEbBwDwgNPdtHtx+981a/KdlQ61Pc/9WMmrVR92WUfjIyuA/VL+67WgNkCkmWLl62IYESMCLBCa8txoT+zXyouv0WREBigkKwJ4/fx558+bFqVOnsHLlSjRowJVPFWDOYFLEhH79+uHxxx/HY489FraoQDFBdYZonwS8T8CqMGActFs9xzjwtXKOsb0+eDULGeYKgGDvm1+3kqlwfRSbgSoSzH1ZqZCgmGAlQ9basDLBGie2IgESSCNAMYFXgpkAxQRF10SPHj209RKkOuHnn39Grn/LThV1R7OAxnrPnj2akBCuqEAxgZcQCZBAKALGQaz5Kb95cK1XDhhfNz/9N09D0M8xDrqN5wRrb6wwME6ZCDToDvR+JE/ww/XR6Htm1RuR+BJqQByoIiKzXEhu/9PpETz9WNf06SnhVG5EUplgFlqMooqRnVlsMb6XWeWJXNuBpl2EYhfqM8H3SYAEYosAxYTYyreVaCkmWKEUQZt9+/bhmmuuwbFjx/DAAw/gzTffpKAQAcdwTpHqhIceeij9lHBEBYoJ4ZBmWxKIPQKZrU2g05BB/fCBfYNOcwg0IA0kBOgDy0AVA4HEiUBrHxj9HTh8LNas+EJbV0EfjBrft1INYM54uD5mNugV25nZC3W1ZTYgNvI12zEOrs1CTaA+rXIKR0zIrF+jsKLzyWwqSyghSWIyX1MUE0JdXXyfBEjASIBiAq8HMwGKCQqviaVLl6Jp06aQaQ9ly5aFLMzYuHFjhT3StF6dYCRhRVSgmMBrhwRIIDMCmVUYRHpesEqDUGsdmPsLNFDfv+/39IUfZZC5fs1ybcFIfQBtfD+cp+563+H6aBQMdBuR9BuIdbABsVEwMQ7CA60VEWyxyswqKoLlPRwxIZCIYvRbZ2TkbRQNAokMgQSqYNUNFBN43yMBEgiHAMWEcGjFRluKCYrzvHjxYrRv3x5Hjx7VemrYsCGuvvpqlC9fXivLL1asGFJTU7X35H/9Xzi/h9M2q32Zz3db35s2bcLChQsDZjUzUYFiguIPAs2TgMcJBJtKECosK2sLiA3zE+fM1hcINAg3DwpXL1+i7Zig29V/159MJx45pC2+GMl6CXrM4fqY2VP4rPgRbECcWc7M5+TKlTt954vMnv5bEUCsigmZTV/Q2erijzDXd+bQKyRCCQTBpj0EWm8jkukloa59vk8CJOA/AhQT/JfTrEZEMSGrBC2cv3v3brz66quYPn06kpOTLZzBJioJSJXIihUrNDFHPygmqCRO2yTgfQKqxYRA20NmJkRktpjiS69Nx/vvvqltCakPPM1PtvVKhawOIsPx0YoIEcl2isHEhMyeupsrAkqULJM+WM9si02dZ6D1KHShwaqYEGp3C7PIZK5CEEFI33Y00O4ewT51xmuHlQnevzcxAhJwkgDFBCdpe6MvigkO52nDhg1Yt24dduzYgf379+Pw4cOaB3Fxcen/wvk9nLbSh53t7bQVrm/B+v7hhx+QkJAQMKsFChTQFmaUf+YtJCkmOPxBYHck4DECkW6jGKoyIZzBvHkAG2zXCOMaCfoA1/gUu1vP/khOPqaJDZEM3jNLXWY+BjrPyuKIoS6VSMQEszhU9dqaFz351/sNNI1k+pRXtGkjxkOFmGAc+JsFoX1792SoPilYqDCsrP0gPuviA8WEUFcX3ycBEjASoJjA68FMgGICrwlfEQi0ZkJmIoIePMUEX10GDIYEbCdgZQFGfbA3dPQE1LqxruZDuGsthFqoUGwGmicfaFAebLG9eo2a4NDfB7WdCqyU7ZthRuKj8Sl6oD4zK/kPlcxIxAS3VSZYWdwxmCAUbOcHK0IRxYRQVxffJwESoJjAayAzAhQTeH34hoB5NwcrIgLFBN+kn4GQgHIC4WwNGWjhPKsDd2M/5kFmsEUFAz2RNlc9BNrZIND0Cisgw/VRbPbv1VHbUUIOc79G36wMrI0++mHNBCsDf6OQZIzfzDIcgSCctlauC7YhARLwNwFWJvg7v5FERzEhEmo8x5UE9KqEcEQEigmuTCWdIgFXEgg1ZUF32jiID7cyQWxktp2hEYx5AGpeENE8KDf7H84UC3NCIvEx0DoDgRJtVXTRz3Xrbg6ZXcR67r5Y9LE2VeH/2TsTeJuq9o//TLnm4XIR6UqGRJrMqUh4FSoVJVIpSSl/QyFTEqH0iuZB5OVmVpQGKvNVbySzRJJ5Hq4h9/4/a993H/scZ9jn7LXX3mef3/58+uTus9bzPOv7rL3P3r+zBnHo7Q43CiZwBEqwHAYTZoxiExdgdOXthUGRQFwQoJgQF2lSGiTFBKW46cwuAmJUgr4eQrA1ESL55TSHSIT4OQmQgCAQSVAInFoQi5gg/ITbKUF8Hmz3g8AX/MCX8sDRC2Z/DQ+V+WhjNDOfP5aYwv26Hk70MPoyE5vZERNmRJNguzQEcg61w0W4USGBAkuw3BlHMnBkAu9rJEAC0RCgmBANrcQoSzEhMfLs+VaK7SBvvfXWixZWNNtwiglmSbEcCZCAIBDshTHYy2asYkI44SLUS63xV2srL6LRZDiUuBLuxTuUCGF1ykWokRbBhIJwQot40X+g4xN4/tnHtHUlxBHNaIloxISkfPk0+4F1wo0aMbuzSCDnYH2CYkI0vZ1lSYAEKCawDwQSoJjAPkECACgmsBuQAAmQQOISMLOoZOLSYctJgARIIJsAxQT2BIoJ7AMkEIQAxQR2CxIgARJIXAIUExI392w5CZCAeQIUE8yzSpSSHJmQKJlmO8MSoJjADkICJJDIBCKtf2BkY3btgHjiSTEhnrLFWEmABJwiQDHBKfLu9Usxwb25YWQKCVBMUAibrkiABFxHgGJCBl4Z1BNTJ76HWBaBdF1CGRAJkAAJ2ECAYoINUOPcJMWEOE8gw5dDgGKCHI60QgIkQAIkQAIkQAIk4E0CFBO8mVcrraKYYIUe63qGAMUEz6SSDSEBEiABEiABEiABErCBAMUEG6DGuUmKCXGewGjDz8zMRM6cOaOt5mj58+fPI1euXLbGQDHBVrw0TgIkQAIkQAIkQAIkEOcEKCbEeQJtCJ9igg1Q3WRyZfoqrF+/AZs2r8OWLVuRP39ubN6y200hRoylcqUyOHXqH1SqdCWqVL4aV19dDbVr3RixXjQFKCZEQ4tlSYAESIAESIAESIAEEo0AxYREy3jk9lJMiMwobksMHTYESUn7UbDgaVSpXBCVKhXGZeUKxGV7dv51Elu2HMOmzSdw4ngSzp4rhf59B0hrC8UEaShpiARIgASwbesmPNflQWxct0ajMWXuD7ihdoOLyASWC4YusO7P6UvxQKtbwtplCkiABEiABOQToJggn2m8W6SYEO8ZDBL/tm2/o3OXJ9Hj2avQ8s6yHmwhMGfuX3hz/Ga8/+47qJBawXIbKSZYRkgDJEACJOAjELg7RKjtJM2ICcLo6PET0arNg5p9ignsaCRAAiTgDAGKCc5wd7NXigluzk4MsW3blo4xb7yG4a/UQMGCeWKwED9Vjh07h34v/oqe/9cbFVJrWQqcYoIlfKxMAiRAAj4CpzMubLOon6x6dU288e5/cMWVVfxImRUTGjZqitHjJ6FY8WSKCexrJEACJOAQAYoJDoF3sVuKCS5OTiyhNb79dsyddYvnhQSdzdGjZ3Fv26X45quvYsHlq0MxwRI+ViYBEiABHwGjQND5qV5Y8sM32nQH4+gCvbCxbODngaKEPt0h1MiEw4cOole3Dli86GtfLEYRgikiARIgARKwRoBigjV+XqxNMcFDWR06bACurXkYLe+8zEOtityU2XN2Yv2Gkuj3wqDIhUOUoJgQMzpWJAESIAE/AvoUB/EiP+y19/DWG69g6sT30K7jE+g35DUk5csXVHgIJjYEEw6CnQs3wiHUqAimjQRIgARIIDoCFBOi45UIpSkmeCTLYteGHxd/it49L/VIi6JrxqujdqFxo4dR68Yboqv4v9IUE2LCxkokQAIk4EfAODpAXydBFxeCvdTLGpkw/vWX8e+Rg2EciRAsFqaLBEiABEggdgIUE2Jn59WaFBM8ktmPJ0zE6TPL0LWL9cUI4xHJW2//gfwFbkKnjg/FFD7FhJiwsRIJkAAJ+BGINGogcCFGWWsm6GKCCCbUzhFMFQmQAAmQgDUCFBOs8fNibYoJHsnqC/36oentp9C4URmPtCi6Zny3cDe+/S4/hg97JbqK/ytNMSEmbKxEAiRAAn4Ego0QEAVCnTcrJhgFgmCCReDuEXpQoXaRYNpIgARIgASiJ0AxIXpmXq9BMcEjGW5z3714Y0w1XFaugEdaFF0zdv51Es/1WI8Z06ZHV5FiQky8WIkESIAEAgkEWwAxGCWjMBBJTAi2gGKoBRiNoxMC/QZbj4EZJAESIAESiI4AxYToeCVCaYoJHshyZmYmHn6kLSZ9cqMHWhN7Ezo8/DMmfDQFuXLlitoIRyZEjYwVSIAESMCPgPElPxwa40KM4dZMCGUjlJiglw8WB3d1YGclARIgAesEKCZYZ+g1CxQTPJLROvVvxspld3ikNbE1o079eVi57MeYKlNMiAkbK5EACZCAj0C4kQFGTMaFGO0QE4y+wi3+yNSRAAmQAAlER4BiQnS8EqE0xQSPZJliAkAxwSOdmc0gARKIOwJGUSDUOgXGEQP6tAMZYsLVNa7HK4N6attPBo5ACLVWQ9wBZsAkQAIk4AICFBNckASXhUAxwWUJiTUcigkUE2LtO6xHAiRAAlYJGBdADLWbgnFNBf2l//ChA3iuy4PYuG4NzK5rEGnHiGBtMWvbKgfWJwESIAEvE6CY4OXsxtY2igmxcXNdLYoJsYsJmVlZGPxhOjq0TOw1J1zXqRkQCZBAXBA4nZERcmRAYAMCt3AsVryEFDFB+Am2AKRxSkVcwGSQJEACJOBiApPmrsLgznWQM0cOF0fJ0FQSoJigkraNvigmxC4miLQMeH857rrtGhQukGRjlmiaBEiABEiABEiABEiABOKPwLETpzF70a8Y2rle/AXPiG0jQDHBNrRqDVNMsCYmvD17La64rBSuKJesNnH0RgIkQAIkQAIkQAIkQAIuJ/D7zgPYsWs/urSu7vJIGZ5KAhQTVNK20RfFBGtiwoKV23HsTE5cW6WsjVmiaRIgARIgARIgARIgARKIPwK/bPgLRfMDTWtfHn/BM2LbCFBMsA2tWsMUE6yJCSJbPcb+iCfa1EXu3LnUJo/eSIAESIAESIAESIAESMClBM6e+wcfzU7Ha083dGmEDMspAhQTnCIv2S/FBOtiwvo/DuKL5Ttw9201JWeH5kiABEiABEiABEiABEggPglM/2Y17m5YAVUvLx6fDWDUthGgmGAbWrWGKSZYFxNExtb+ni0otG5UHXk4QkFtJ6Y3EiABEiABEiABEiAB1xAQIxLmfr8OLRtcjuoVuK6YaxLjokAoJrgoGVZCoZggR0wQOdi44xDem/sb6l5zuba7Q8niBbnLg5XOybokQAIkQAIkQAIkQAJxQUDs2rD/8AmI/6/87U880ao6qpQvFhexM0j1BCgmqGdui0eKCfLEBD1BC9J34I+/j+Ov/ceRBeDYiTO25I5GSYAESIAE/Al8/n5f/P37anQZ8SXRkAAJkAAJKCJQrFASspCFsiUL4YoyhdG0dnlFnq27mTwZ2LYNGDAgvC2z5QKtbNoEtG0LrFkDLFkCNGhgPeZgFoYOBa64Amjf3h77sq1STJBN1CF7FBPkiwnGVGZmZSFnjhwOZZduSYAESCCxCBQsWBAnT55EVpaQcnmQAAmQAAmoIBDPz7tmRQKz5QJ5L10KLFwYWaywmieKCVYJsn5MBCgm2CsmxJQUViIBEiABEoiJAMWEmLCxEgmQAAkkLAGjSCBe/MeNy0YxdSpQsyaQlgYcOADcdFP2+ZdeyhYGRFn9XJcuwJgxQL58gHipX7cuu97AgdnlxaGXmTkTeOih7HO6/SpVsv8WseifffrphVEGwqawJQ7jeWPSjGLCwYPZdRcsuBBzr15Ajx5Ahw4XRkeIOo0bZ/9tpj2hfMfSeTgyIRZqLqxDMYFiggu7JUMiARIggZgIUEyICRsrkQAJkEDCEggUE4RAIKYjXH999st32bLZ4oGxnJi60L07MHYsUL68fznxgr5r1wVxQbykT5qU/fd//5stNghbycnZ/xaHLk7o5U6dAp5+Ghg8GPjpJ2Dx4uz6f/6ZPWVi/PiLp0voYsI992TH07BhtqBgjFXY0qd0CMGhf39g2LBsscRse2R1FIoJskg6bIdiAsUEh7sg3ZMACZCANAIUE6ShpCESIAESSAgCgWKC8WXf+Fngv/UXfDEawSgYjB59QSAQ/zJ+JsoaD6PNYNMUMjL8hQFRN9R0hlDnhWigCxOi/ocfAkOGZAsb+vQLEYfZ9sjqFBQTZJF02A7FBIoJDndBuicBEiABaQQoJkhDSUMkQAIkkBAEAsUEfXSAePEPJybo0xF0SM2aZZd/6y3/hRCNYoIoK0YNvPvuBbRiGoQ+BUEfTaB/qosJxvLiM32qhTFBRjHBOGVBlNGnU4hRFIMGAY89Bnz22YUpDsbpFZHaI6tTUEyQRdJhOxQTKCY43AXpngRIgASkEaCYIA0lDZEACZBAQhCIVUwItQNE4AgBo5gg1kswjgAwOzLBuM5BqKTofps3z57eIKZOiLUQjCMTxNoMwue+fdnTH8QUBzHdItziknYt7EgxwSOXF8UEigke6cpsBgmQAAmAYgI7AQmQAAmQQDQEYhETjOsQiBd04zoJYpqDcYvGUGKCWBdBvPSLF359TQZdaNA/E+e3b78gQOjnhbgQuAVkKDFBtG/UqOwFIUWs+laVbdpc2GEimvZEwzZcWYoJskg6bIdiAsUEh7sg3ZMACZCANAIUE6ShpCESIAESSAgCZsUEfepAsN0c9CkO+qKKocQEXQwQuyyIOl27Al9+6b8TRLBdG4y7OQSb4iASZRxBYJy2IKZIiPUR9NEN+tSJwNEOxqkR4dojq1NQTJBF0mE7FBMoJjjcBemeBEiABKQRoJggDSUNkQAJkAAJeJCAGIUgdokQW2AK8cOpg2KCU+Ql+6WYQDFBcpeiORIgARJwjADFBMfQ0zEJkAAJkIDLCeijD8TWl2J6hZMHxQQn6Uv0TTGBYoLE7kRTJEACJOAoAYoJjuKncxIgARIgARIwRYBigilM7i9EMYFigvt7KSMkARIgAXMEKCaY48RSJEACJEACJOAkAYoJTtKX6JtiAsUEid2JpkiABEjAUQIUExzFT+ckQAIkQAIkYIoAxQRTmNxfiGICxQT391JGSAIkQALmCFBMMMeJpUiABEiABEjASQIUE5ykL9E3xQSKCRK7E02RAAmQgKMEKCY4ip/OSYAESIAESMAUAYoJpjC5vxDFBIoJ7u+ljJAESIAEzBGgmGCOE0uRAAmQAAmQgJMEKCY4SV+ib4oJFBMkdieaIgESIAFHCVBMcBQ/nZMACZAACZCAKQIUE0xhcn8higkUE9zfSxkhCZAACZgjQDHBHCeWIgESIAESIAEnCVBMcJK+RN8UEygmSOxONEUCJEACjhKgmOAofjonARIgARIgAVMEKCaYwuT+QhQTKCa4v5cyQhIgARIwR4BigjlOLEUCJEACJEACThKgmOAkfYm+KSZQTJDYnWiKBEiABBwlQDHBUfx0TgIkQAIkQAKmCFBMMIXJ/YUoJlBMcH8vZYQkQAIkYI4AxQRznFiKBEiABEiABJwkQDHBSfoSfVNMoJggsTvRFAmQAAk4SoBigqP46ZwESIAESIAETBGgmGAKk/sLUUxwj5hw/vx55MqVS+s0zz77LP766y/88MMPWLNmDUaPHo033nhD+0z8X3wujh49evA8ObA/8LrgfYD3Ad4HeB/gfYD3gbi7D3Tt2hVbt25FgQIFMGLECFStWtX9L0+MUAoBiglSMDpvhGKCs2KCEBAmTpyo/TdmzBhce+21WqdYvHgxSpUqheTkZO0/HiRAAiRAApEJcGRCZEYsQQIkQAJuIXDixAns3LkTmzdvRvXq1VGxYkUttAT9ub0AACAASURBVD59+qBatWro2LEjcubM6ZZwGYdEAhQTJMJ00hTFBGfFhJYtW2oCwm233YZbb73Vya5A3yRAAiQQ9wQoJsR9CtkAEiABEsDatWuRlpaG4cOH4++//9Z+YOPhLQIUEzyST4oJ6sWE6dOn49577/VID2IzSIAESMA9BCgmuCcXjIQESIAEZBA4cuQIihYtqokKl156qQyTtOECAhQTXJAEGSFQTFAnJoj1DwYNGoR+/fqhadOmMtJHGyRAAiRAAgYCFBPYHUiABEjAmwT279+Pq666CjNmzMAtt9zizUYmUKsoJngk2RQT1IkJd999t7Y2QqFChTzSe9gMEiABEnAXAYoJ7soHoyEBEiABmQQOHjyIRx55BK+88oq2xgKP+CVAMSF+c+cXOcUEdWKCR7oMm0ECJEACriVAMcG1qWFgJEACJCCNwKZNm1ClShVp9mhIPQGKCeqZ2+KRYoK9YkL37t0xduxYW3JHoyRAAiRAAv4EKCawR5AACZBAYhA4c+YMdu/ejdTU1MRosMdaSTHBIwmlmGCfmNCzZ0+0bdsWtWvX9khvYTNIgARIwN0EKCa4Oz+MjgRIgARkEkhPT8cLL7yAhQsXyjRLWwoIUExQAFmFC4oJ9ogJQ4YMQcOGDdG4cWMVabTNxz///IPz58/bZp+GYyfA3MTOTmVN5kklbWi/UJ06dUrbt5yHtwjkypULuXPn9lajPNga5klOUt3IMW/evHIaJ9nKnDlz8PHHH2P27NmSLdOcnQQoJthJV6Ftign2iAkKU2ibqxMnTuD222/HL7/8YpsPGo6dwNmzZ5GVlRW7AdYkARIgARIgARJwJYEcOXLgkksucU1smZmZmD9/Ppo0aeKamIyBCBFZ/PjFRc5dmZ6gQVFMiJ9chY2UYgLFhFAdZO/evahZsyb27Nnjkd7unWasW7dOm0Lz22+/eadRHmwJ86Q+qfyFSj1zVR5LliyJDRs2oESJEqpc0k8MBC677DIsX74c5cqVi6E2q+gEKlSogEWLFrlmPQAx4lb8gDF48GAmiQSkEKCYIAWj80YoJsgVE66//nr8+OOPEPN24/2gmODeDPIl1b25MUbGPKnPE8UE9cxVeaSYoIq0NT8UE6zxo5gQO7/Tp09j8uTJeOyxx2I3wprKCFBMUIbaXkcUE+SJCSNGjECxYsXQpUsXe5OmyDrFBEWgY3DDl9QYoDlQhXlSD51ignrmqjxSTFBF2pofignW+FFMsMbv9ddfx8mTJzFgwABrhljbdgIUE2xHrMYBxQQ5YsLRo0fRqVMnzJo1S03iFHihmKAAcowu+JIaIzjF1ZgnxcABUExQz1yVR4oJqkhb80MxwRo/ignW+RUtWhQ7duxAkSJFrBujBdsIUEywDa1awxQT5IgJarOmxhvFBDWcY/HCl9RYqKmvwzypZ04xQT1zVR4pJqgibc0PxQRr/CgmWOe3b98+nDlzBqIv8nAvAYoJ7s1NVJFRTKCYEKrDUEyI6lJSWpgvqUpxx+yMeYoZXcwVKSbEjM71FSkmuD5FWoAUE+TkiQswyuFIK+4lQDHBvbmJKjKKCdbFhFWrVmH//v1o0aJFVOzdXphignszxJdU9+bGGBnzpD5PFBPUM1flkWKCKtLW/FBMsMZPr00xQQ5HWnEvAYoJ7s1NVJFRTLAuJtx2220YOHAgbrnllqjYu70wxQT3Zogvqe7NDcUEZ3NDMcFZ/nZ6p5hgJ115tikmyGFJMcEax++++w7Dhw/Ht99+a80Qa9tGgGKCbWjVGqaYYE1MECvGlipVCidOnFCbOAXeKCYogByjC4oJMYJTXI15UgycCzCqB67QI8UEhbAtuKKYYAGeoSrFBOscmzVrhhkzZnhiu3brNNxngWKC+3ISU0QUE6yJCZs2bcLatWtx7733xsTfzZUoJrg3O3xJdW9ujJExT+rzxJEJ6pmr8kgxQRVpa34oJljjp9emmGCdY6tWrfDUU0+hefPm1o3RgnQCFBOkI3XGIMUEa2KCM1lT45VighrOsXjhS2os1NTXYZ7UM6eYoJ65Ko8UE1SRtuaHYoI1fhQT5PCjFfcToJjg/hyZipBiAsWEUB2FYoKpS8iRQnxJdQR71E6Zp6iRWa4wb948TJs2DRMmTLBsiwbcRYBigrvyESoaigly8uSGkQk7duzA5ZdfrjVoyJAhyMrKwuDBg7W/jZ/JaTGtJBoBigkeyTjFBGtiwujRo9GxY0ekpKR4pEdcaAbFBPemlC+p7s2NMTLmSX2eODJBPXNVHikmqCJtzQ/FBGv89NpuEBNq1KihCQjjx4/H999/r/27UaNG6NatG3LkyKFN83XzIeLNyMhA/vz53RxmwsZGMcEjqaeYYE1MqFKlClauXImiRYt6pEdQTIiHRPIlNR6yBDBP6vNEMUE9c1UeKSaoIm3ND8UEa/zcJCZ88sknePLJJ5GUlKT9J47Tp09r/7399tvo1KmTnMbaZEVs23711Vdj3759NnmgWSsEKCZYoeeiuhQTrIkJefLk0VTP3LlzuyirckLhyAQ5HO2wwpdUO6jKt8k8yWcaySLFhEiE4vdzignxkTuKCXLy5IaRCaIl4ro7cOCAX6OSk5MvOien1XKt/PPPP7j22mvx22+/yTVMa1IIUEyQgtF5IxQTrIkJaWlpaNu2rfOJtCECigk2QJVkki+pkkDabIZ5shlwEPMUE9QzV+WRYoIq0tb8UEywxk+v7RYxQYxOENMaxFbo4ihQoADGjRvn+lEJOkfxjC6e1Xm4jwDFBPflJKaIKCZYExNigh4nlSgmuDdRfEl1b26MkTFP6vNEMUE9c1UeKSaoIm3ND8UEa/zcJiaIeIyjE+JlVIKcLNCKnQQoJthJV6FtigkUE0J1N4oJCi/EKF3xJTVKYA4VZ57Ug6eYoJ65Ko8UE1SRtuaHYoI1fm4UE/TRCSK2eBqVICcTtGIXAYoJdpFVbJdigjUx4YEHHsCUKVMUZ02NO4oJajjH4oUvqbFQU1+HeVLPnGKCeuaqPFJMUEXamh+KCdb4uVFMEDEVL15cC+3QoUNyGqjIyqZNmyAWS+fhPgIUE9yXk5giophgTUwQW+OIrWe8eFBMcG9W+ZLq3twYI2Oe1OeJYoJ65qo8UkxQRdqaH4oJ1vjJEhPEs6l4RpV1LF26FJmZmWjYsKEsk9rzs8wYgwXm5ed0aYlwyBDFBIfAy3ZLMYFiQqg+RTFB9tUmzx5fUuWxtNMS82Qn3eC2KSaoZ67KI8UEVaSt+aGYYI2fFTHhv5v3Yc3WA/hr3wkk5c2DP/cclROMTVYuL10EGWfO4bKUQriuUgnUrFRSuieKCdKRSjNIMUEaSmcNUUywJiZwNwdn+2+ieudLanxknnlSnyeKCeqZq/JIMUEVaWt+KCZY4xermPDhF+uQI2dulEwujJJFCyC5aAE5gdhs5eCRk9h/+CT2HTqGHFnn8egd1aR6vOqqq7BhwwapNmlMDgGKCXI4Om6FYoI1McHxBNoYAEcm2AjXomm+pFoEqKg686QItMENxQT1zFV5pJigirQ1PxQTrPGLRUz497Q1qFg+BVVSU+Q4d8jK+j/24s9dB/BMm2scioBuVRKgmKCSto2+KCZQTAjVvSgm2HjhWTTNl1SLABVVZ54UgaaYoB60Ax4pJjgAPQaXFBNigBakSoUKFbBo0SKkpqaGNShGJKSUKIaqFUrJceywlfXb9uLQ4SN4pIXcEQoON4vugxCgmOCRbkExwZqYwN0cPHIhxFkz+JIaHwljntTniSMT1DNX5ZFigirS1vxQTLDGT69tRkz4ZdM+/LLtMBpef6Ucpy6x8uNPW3BD5eK4tpL1kRbczcElSaWY4N5EWI2MYoI1McHLC7twZILVq8u++nxJtY+tTMvMk0ya5mxRTDDHKR5LUUyIj6xRTJCTJzNiwkfz1qOkGJUQ59MbAolt2LYXBw8fxSMtrrIM08vP6ZbhOGyAIxMcToAs9xQTKCaE6ksUE2RdZfLt8CVVPlM7LDJPdlANb5NignrmqjxSTFBF2pofignW+Om1zYgJQyek4/Z6VeNmsUWzZMSijN8s34gBnWqbrRKyHMUEywhtM0AxwTa0ag1TTLAmJnA3B7X9ld6yCfAlNT56AvOkPk8UE9QzV+WRYoIq0tb8UEywxs+smJCVlYXXpv6C1o1rynHoMiuzF/6KXu2uhRADrBzczcEKPXvrUkywl68y6xQTrIkJyhLlgCOOTHAAukmXfEk1CcrhYsyT+gRQTFDPXJVHigmqSFvzQzHBGj+zYoIo98yY79H9wYZyHLrMytj/LMabPW51WVQMRyYBigkyaTpoi2ICxYRQ3Y9igoMXZgTXfEl1b26MkTFP6vNEMUE9c1UeKSaoIm3ND8UEa/woJmQToJggpx+52QrFBDdnJ4rYKCZYExO4m0MUnY1FpRHgS6o0lLYaYp5sxRvUOMUE9cxVeaSYoIq0NT8UE6zxsyomzJ3xH/Tq1tEviClzf8CunTvwwVuv4Y13/4MrrqyC8a+/rJV5sFNX9OrWAYsXfe2r067jE6h5XW307dHZz86zfQaj2/+9eFEDA32K+v2GvIav58/CTyuXaP9OypfP57PuTY0wpG93Xyyi/pzpn2L0+EkoVjxZqpjA3Rzk9Ec7rFBMsIOqAzYpJlgTE7y8sAtHJjhwQZp0yZdUk6AcLsY8qU8AxQT1zFV5pJigirQ1PxQTrPGTISYYX+B1e/oLvy4IBIoJT/XojxtqNwgqFOzcsS2oiGC0rfsU514Z1BM31rlJ+ziYmPBY155amVKlL/WJGa3vfQit2jzo8y9rZIKXn9Pl9DTnrFBMcI69VM8UEygmhOpQFBOkXmpSjfElVSpO24wxT7ahDWmYYoJ65qo8UkxQRdqaH4oJ1vjZLSZUvbqmNiLgy7nTNFf6yARZYkJGxiltpIOwJ0ZDBBMTxOiGbVs34eUXn0PVajVx4sQx3+gFvf0UE+T0IzdboZjg5uxEERvFBGtiAndziKKzsag0AnxJlYbSVkPMk614gxqnmKCeuSqPFBNUkbbmh2KCNX4yxATjNIeGjZpq0wcWL1qgvdgXLFgYBQoW9AUZbJrD6PETfaMExIgGMyMTjD6N0xwCp1wYp0qI0RH/HjkYYhpG4KgIWWICd3OQ0x/tsEIxwQ6qDtikmGBNTHAgZcpccmSCMtRRO+JLatTIHKnAPKnHTjFBPXNVHikmqCJtzQ/FBGv8ZIgJoaY5iPMPdHwCzz/7GDauWwPxYi97ZIJYG0E/hBARamSCKPNz+lK8NWaY31oJel1ZYoKcbNCKHQQoJthB1QGbFBMoJoTqdhQTHLggTbrkS6pJUA4XY57UJ4BignrmqjxSTFBF2pofignW+NktJugLI4oRAxQT5OSKVmIjQDEhNm6uq0UxwZqYwN0cXNelEyIgvqTGR5qZJ/V5opignrkqjxQTVJG25odigjV+ZsWErKwsvJa2Gq0bXePnMNxuDvooAX1dg+tr1Q+5m4O+A4PZaQ7hRkME7uag7wgRbmTCnIW/ome7ayEWULRycDcHK/TsrUsxwV6+yqxTTLAmJnh5lViOTFB2GUbtiC+pUSNzpALzpB47xQT1zFV5pJigirQ1PxQTrPEzKyaIci9PSEeTelWRXLSAHKcusXLgyEksXLEJ/R+uZTkiLz+nW4bjsAGKCQ4nQJZ7igkUE0L1JYoJsq4y+Xb4kiqfqR0WmSc7qIa3STFBPXNVHikmqCJtzQ/FBGv8ohETJszfgOTiRVG1QoocpxGsiJEED7S6xa+Uvtiica0Eq8Fs2LYXR44eRcfmV1k1pY1sEKM4eLiPAMUE9+UkpogoJlgTE7ibQ0zdjpUsEuBLqkWAiqozT4pAG9xQTFDPXJVHigmqSFvzQzHBGr9oxITVW/bjv1sOoeENV8px6hIrP/68FbWrJKNGxRKWI+JuDpYR2maAYoJtaNUapphgTUxQmy213jgyQS3vaLzxJTUaWs6VZZ7Us6eYoJ65Ko8UE1SRtuaHYoI1ftGICaLsx/PWo4QYnXBFKTmOHbaybuseHD12DA//y/qoBIebQvcRCFBM8EgXoZhAMSFUV6aY4N6LnC+p7s2NMTLmSX2eKCaoZ67KI8UEVaSt+aGYYI1ftGKCKP/m9F9Rvmwyql1RWo5zh6wIIeGvvQfx9D3+i0o6FA7d2kyAYoLNgFWZp5hgTUzgbg6qeir98CU1/voAxQT1OaOYoJ65Ko8UE1SRtuaHYoI1frGICaLOx/PX43xWLqQUL4SU4gXjZlFGsdji/kMnsPfgMeTJlYVOkkckcDcHOf3RDisUE+yg6oBNignWxAQvL+zCkQkOXJAmXfIl1SQoh4sxT+oTQDFBPXNVHikmqCJtzQ/FBGv8YhUTRL01W/dj9ZYD2LnvOJIuyY0de47JCcYmK5eXLoLTZ//BZSkFcV3lkrhGwhoJgaF6+TndprQoM0sxQRlqex1RTKCYEKqHUUyw99qzYp0vqVboqavLPKljrXuimKCeuSqPFBNUkbbmh2KCNX5WxASjZ7GDgXiRlnU8+eSTuO6669ClSxdZJrVdFmTGGCwwignS0iXdEMUE6UidMUgxwZqYwN0cnOm3ie6VL6nx0QOYJ/V5opignrkqjxQTVJG25odigjV+ssQEOVFcsPLUU0+hRo0a6Nq1q2zTttrjbg624rVknGKCJXzuqUwxwZqY4J5Myo+EIxPkM5VlkS+pskjaa4d5spdvMOsUE9QzV+WRYoIq0tb8UEywxs+tYsLTTz8N8WLerVs3OQ2klYQnQDHBI12AYgLFhFBdmWKCey9yvqS6NzfGyJgn9XmimKCeuSqPFBNUkbbmh2KCNX5uFROeeeYZVKlSBUJU4EECMghQTJBB0QU2KCZYExO4m4MLOnEChsCX1PhIOvOkPk8UE9QzV+WRYoIq0tb8UEywxs+tYsKzzz6LihUronv37nIaqMgKd3NQBDoGNxQTYoDmxioUE6yJCV5b2OXMmTPImzev1lU5MsFdV+yJEydQsGBBLSi+pLorN8ZomCf1uTl8+DCKFSumOQ4UE/755x/kzp1bfVD0KJ1AoJhw9uxZXHLJJdL90KA1AoFiwunTp5GUlGTNaILU3rZtG6644gqttRUqVMCiRYuQmpoK8WyWkZGBokWLKiWxceNGVK1aVfP53HPPaTEJUUEca9eu1dZQcPvhted0t/OOJj6KCdHQcnFZigkUE4zd85NPPkHv3r3x9ttv46abbkLNmjWxZ88ejB8/HoMGDcK8efNQp04dF/do74Y2evRovPnmm3jnnXdQvnx5tG3bFr/99hteeukljBs3Dt9//z2qVavmXQBx0jLmSX2iHnnkEfz88894//33tfvVxx9/DLE47gsvvIBZs2bhp59+QokSJdQHRo+WCKxYsQJ33HEHXn75ZW3RN11MEC9YYjG4N954A+3bt7fkg5WtExDXXrNmzbRnBDEUXhcTVq1apeVN5K9z587WHXncgviRoF69erj11lsxatQoNG/eHF999ZX2nT927Fjt+1/0e5WHEDZy5cqF119/XRM2RG6LFCmiCQrVq1fH8uXLVYYTky+KCTFhU1KJYoISzPY7oZhgTUzw2m4OQv3Onz+/9iuC+MI4deoUMjMztf8KFCigjVbg4QyBXbt2aUMMRR7ErxPiV4oDBw5owVSuXFkTFng4T4B5Up+DH374AS1atNBGIJQqVUp7+N26dau25VirVq0wffp09UHRoxQCQkAQ9zqRU/E9JEZnHTt2DOLXbvF9xVEnUjBbNnLppZdqeRGHGC0iniGOHj2Kc+fO4dChQ75RdZYdedxA/fr1tRd08fyVJ08eiFFXoo+Lvi9G4qg+PvjgA21ag3guFDGIfIojZ86cmDlzJm677TbVIUXtj7s5RI1MWQWKCcpQ2+uIYoI1McHe7DhjvUePHtrIBPGgph/ii+TDDz9Eu3btnAmKXjUCgr8QsIyHEBamTZuGJk2akJJLCDBP6hMh9j9fvXq1n2Px4imG4ophwjzik8DkyZO1fe1Pnjzpa4CYiicWgROjgHi4g8CMGTPQsWNH7QcI/RCCghiRIH5R52GOgBjlIUYmiOly+iHEmRdffBEDBgwwZ0RyqeTkZE0QMh5iVIK4t/IgASsEKCZYoeeiuhQTKCYEdkchIohfv8+fP+/7qHTp0ti9e7eLem5ihiJ+9RajEIwPbPxSd19fYJ7U50SMTmjdurX2a6h+tGnThqMS1KdCukcx2mTfvn0+u+JXUY5KkI7ZssFy5cpB3PuML8EHDx7kqIQoyeqjE/RqYoSCE6MSdP8TJkzQxDtd0BPr00yZMkWb2sKDBKwQoJhghZ6L6lJMsCYmeHU3B+PoBI5KcNEFGzA6gaMS3JUbYzTG0QnMk5o8GUcncFSCGuYqvBhHJ3BUggrisfkwjk7gqITYGIpaxtEJTo9K0FuRkpKC/fv3a3+KaQPr16+PvYGKa3I3B8XAo3BHMSEKWG4uSjHBmpjg1YVdjKMTOCrBXVew8VdvjkpwV26M0TBP6nNjHJ3AUQnq+dvpUR+dwFEJdlK2blsfnSBegjkqIXae+ugEp0cl6C3QBT0h5omFuu+8887YG6e4plef0xVjtMUdxQRbsKo3SjGBYkKoXidGJ4hVhMXK6FwrQf21Gc6jyMfnn3+ubYPHtRLclRtjNMyT+tyI0QnilyjxyxnXSlDP3y6P4mVGzL/v1q0b10qwC7IEu2J0wkMPPcS1EiyyFKMTGjRogP79+zu2VkJgE8SOOGLE1/bt2y22Tm11iglqeUfjjWJCNLRcXJZigjUxwWu7ORi76pEjR7St1YSgwMNdBMSXudgqSmzXxMO9BJgn9blZuXIlvv76a9c8gKsn4F2PYiFGsWVe4cKFvdtID7RMCD5DhgzhdqwWcpmVlYUvv/wSt9xyi7aGlRsOIdKKkUGVKlVyQzimY+BuDqZRKS9IMUE5cnscUkywJibYkZV9q1bij8+mIjMjA8cSfCvGwimlkLNAflRo+yBSbrjRDtxR2WRuLuByW26MiWSe1OdJMN8+dw4yz57B0W3borquvFi4SIUrkDNvXqTedY8r7l1mGPO6UX/dmMlLYBnmiXmKpd84WcfNzwtOckl03xQTPNIDKCa4S0zY/fVX2J42BZdecgny5cmt7ZOeyEdmVhZOn/sHf589i9SHOqJMI+f2NGZu/Huim3JjjIx5Up+n3Yt/wM55n6NCg4YoULIkcubKlci3La3tmefP4+T+/di2+AdNUChV/yZXM+F1o/66iaVDME/MUyz9xuk6bn1ecJpLovunmOCRHkAxwZqYIHM3h70rluOPD9/DlYULeaR3yW3GlqPHULFLV6TUqiPXsAlrzE14SE7mxhgZ86Q+T3tXrsCOmdNxzV13m7iSErPImlkzUOH+B5ByYy1XAuB1o/66iaUjME/MUyz9xm11VD8vcDcHt/WAC/FQTHBvbqKKjGKCNTFB5sIuK5/vidKnM1Agb96ocpgohU+eOYO9+Qqg9ohRypvM3IRH7mRujJExT+rzlP5iX6Redz0KlSql/LqMF4fH9uzBn7+uQa2XhrkyZF436q+bWDoC88Q8xdJv3FZH9fOCzOd0t7GM93goJsR7Bv8XP8UE94gJy595ClcWzI+cCT61IdSlJYbJbT2ZgXpjxyu/+pib8MidzI0xMuZJfZ5W9P4/1Gj+L05tCINeTHlY+9WXqDvKnQum8rpRf93E8iXGPJnI04lTqPfmW7HglVaHeTKRJ4XPchQTpHVt6YYoJkhH6oxBWWLCpk370bbtf7BmzW6tIS+9dDsGDPCf3z506HcYOPAbX0OXLHkSDRqk+jV86dLt6NZtDtLSHkSVKiV9n4m64gi0KYNanfrzsHLZjzGZkrmbw4L77saNVavGFEeiVPpp40Y0mzZLeXOZm8jIncqNMTLmSX2eBPOGT3aN7DjBSyx+521H7l1msPO6iUyJ97fIjNxQgnlyQxYix6AyT9zNIXI+nCpBMcEp8pL9yhATggkA4uV/165jGDPmTuTLlweBf+viw/jxrX2CQkbGOQwalC021KxZBu3bX+d6MUFmOsQDXa3qV8s06Tlbq35b58gDOXMTuSs5lZtAMYHXUPhcyc6TJiZ0fiJyB0nwEos/eM+Re5cZ7Ly/RaYk+7qJ7PHiEsxTZGrMU2RGbijhhjy5gUOix0AxwSM9wKqYIASAHj2+QIcO1/mNMjCev/76slqZhg1TwwoEQmD48MNVePDBa/Hqqz9g3LhWSE7O3l/XrSMTZHYD7UGhZk2ZJj1na9WaNY48kDM3kbuSU7m5SEzgNRQ2WbLzJK6Nmx55NHIHSfASSz7+yJF7lxnsvL9FpiT7uonsMYSYwPub0vsb8xQLgch13HA9RY6SJewmQDHBbsKK7FsVE4QAMHjwt34v/nroRgFg8uRf8NBDaUGnP+jlRRlxiBEJom7jxhV9AoVbxQSZuzmIB7raN9ygKPPx6Sb9558deSBnbiL3F6dyEygm8BoKnyvZedLEhA4dI3eQBC+xZNJER+5dZrDz/haZkuzrJrLH4GIC729q72/MUywEItdReT1xN4fI+XCqBMUEp8hL9munmCDEgW3bDvnWOTh48CTat0/DggWbtVYY11XQpzg89lgtba0EMXVi4cLffXXdKibIXNhFe6CrXVtyhr1lLj093ZEHcuYmcj9yKjcXiQm8hsImS3aexLXR4MH2kTtIgpdY+p/Jjty7zGDn/S0yJdnXTWSPIcQE3t+U3t+Yp1gIRK6j8nqS+ZweuWUsEQ0BignR0HJxWZVighGDPg1Cn/oQuICjKNusWWVMntxWm+qQKGJCnfr1XdxbnA9t5bJljjyQi4dt5iZ8/p3KTaCYwDypzZMmJtzf1vmbg8sjWPpZmiP3LjNYeH+LTIn3t8iM3FCCeXJDFiLHoDJPFBMi58OpEhQTnCIv2a9VkIbTBQAAIABJREFUMcHMmglVq5ZE//5fY9iwpr41EEQzjCMXgokF4twVVxT3TXsQdby+m0OdhjdLzvAFc1v27sOjn0zEb7v+9p2sXvZSfPRwR1QqlYKMs+fQf9ZsrNqxw3dOLzjtp5/xxKTJeK9De9x344WpGCu2/YHe02dcVN6uRqxc/KMjD+Taw7aJ3Oic9PZ/+ewzqHtFBe3PUQu+xivzv/JDc1vVKniv40PYvHcf/vXvN4Ni020E5u+R+vUw7O67kO+SPGFxC7/i6N2sqV+5QydP4omJn6JXs6a+GPUCkfpKMIdO5eYiMcFEngLj1/t+maJF/DgJDi/MnIUR99ytXSPGIzDX+mf9WjS/iHWgv1A5idaf2T5g9C87T+LaqN+mjV8Tt/y9G30+mYSRD3dApUvL+D57deZspKakoO1NF0RTcW7YtBlamRqXl8eE7k/71RG2Oo0dh7U7/tTKPHpbYwzvmD0Sou/Eyfjou4UXdUdRpvc9rfHMux/g21/X+n3e/742eP6eu3znAu0Hfp62ZBkeH//2RT6+HjwAdatUhjF+Y6Em19TAB093RfFChbTTy2bMcOTeFfbm8L8Pzd7fzNgKVkZ8T4j7W+C1od+DRB1xHyxeIHuNpFDXo2473H021hgj1ZN93UTyF+xz2XkK5Kh/vwe7/+vxGJ8BxH1s95Gjvu+hYN9xop7+PSfyG8pnLDyC1fFinozXhJnns2B5MF574rrrM30mnm/ezPe9pl9zHy9brmE15kxWbox2VOaJuznYkUE5NikmyOHouBWrYoJogNndHERZXQzQpzyIhRubN6+sTX8YMKCx3yKOQmxYvHi7tiPE6NHZWze6TUyQmUDxoFC3USOZJv1sbdm7F89Pm4lX77sHlUqV0j5b8fs29E6bjo8eexjlihVDvxmzcDQjA81rVMf9tW7834PdWQyf96UmQrSrU+ui86JQ9XJlfedta4CId9EiRx7IzeTms1U/IW3lKrzfqSOKFyyAQydO4vEJE9H7X81Qt+IVGPnlAg1Nn3818yESdbYfOOh3Llg5kbtHP/wEo9req9kShyi3+8gRvNLmbuS75JKQ2IPZE4UD4zMaiNRX9P5jrONUbowxmMlTMFDiOkhLX5V9j2l5p5Y/cQTjoNcXuVu+9feI/IP5C5WTaP2Z7QN25kkTE1pfeDnXuO3ejT6TJmNkh/aoVMYgJsyeky0m1K+HjLNn0XfyFJQpVhTP39U6m/fu3eg07m289nAH1K1c6aK/RZlXZ8/B7sNHMLz9A75+H8zfoeMn0Pntd9HnrlaaLXHoPts1qK+dW7F5C3p+MgkTnu7qizPQftqy5Vi+abOfP1Fv5Oy5+KBrFxQvVFCzHcyfkfuyObMduXeZuR/Het2YsS3KiOtL9NVi+fNj1P33+q6vcOeDXY/CVqT7rNmYoi0Xz/e3YG0NxbGt4Tte5x3sPifuVW8t/F4z/VTjW33PFOG+W8z6jDY3dt7fYonFjutJ3LvMPp8Ffr/odcsULao9a4jv/t6fTccLdzTX8qY/Cxhzb3w2DPZ9HwsXt+XJahtY3zoBignWGbrCggwxQTQkcJqCcT0EvaFipMHAgdlbP4rj00/baqMOhBgxdOhC35QG/XPj9pFi/QRjXVEmmI9YoNapPw8rl2WLFU4e2hdQk9ttC2HLnr14/rNpePX++1CpdLaYII6R877U/v/M7beh37QZqFn+Mmzbvx9977xDe1gX9SYtW6aVqV62HO6vU0v7t37+vlq18MaCrzGq3f0oXjD7wdquY8W33zjyQB4pN4dOnMDjH01A7xb/Qt0rK/qav2Lr70hbmY5X7muDN7/5Tjvf545/Bf1cFwT0fASWGzX/S7z/aCcf41D5DGQfzJ4oEypmPbfh+ooxNt2fU7kxtjdSnkL1S8Ho5iqV8eOmzUgtUcKvjwfjIOx8tnIVlm/dquU2nJgTzGeonITLaTB/4XIYqq2y8ySY17vzTj93W3bvQZ/JUzCy/QOoVKb0hXvNnM+RmlIS99erixVbtmLqsuUY/kBbP37G82t2/ImRcz/HB10ev9Dvg9gO5k+w6fzu++jTqiXqVrryohha3nA9+k5JQ7v69fw+1wQHw/nPlq/Ass1b/OIUtntN+g/63tXK175Q/nTHy7/4wpF7l5l7cazXjRnboox+HyyULwktrrnGd48U10FK4UJYvGmz3/dHqOvRzH022mvRdBsc+u6RcX8zew8Kdo8JdZ8T5/Vj+4EDft9rofIU7L5n5T4arF2y729m+4ddedLtaoKAyeezYJyN3y3JBQug99TP8MKdd2jPgiIHgTnUv+OCnY+FSWAdN+RJRjtowxoBignW+LmmtiwxwTUNiiEQK2KC7N0c6jW/8KIZQ1PCVtmyZw/6TEnDyAfaolLpCw/4K7ZuxdTlKzHw7tZ4adYc3F79asxY9RP6trpTK/fZipWa3e37DyC1ZAncX7eO9rd+Xvw98vN5uPmqKqh75YWHdtnxC3vLv/rSkQdy7YUpTG4Ew5Gfz8cHjz8aUlARjMTRp+UdPjRmz2kvKu9/hH3HjuLjLo/75S8S52A+RB3dZp+WLS7KW6S+MrztfRe9QDuVm8CHuGivIcFB9HvR/w+eOIFJi5eib+uW/xPSgl8zev9ftmUrgrGINSehuIfzJ/JrvC4j+Zadp2DXRqh2GGMNFbexbnLBgqb6fTB/wfq38ZywPXzuFxj9YLuLrlnjNSPuc4F5Dna9h7uenLx3ReoP4vNI9zczNsKV0b9japYvj/3Hjmn3QP26a1evDt5b+L0vD+GuRzP3Wauxhqov+7qJJU6ZeRIsm40YhUduuTnsPSxY/xcvtsPnfI4ODRtAXEf6/VP/MSHUtWDWZyxs9Dpey5PeLk3kTJtm6vks2He+Xl9cb5VLl0av/0zVnvHKFS+u2RXnA5/f7LzeVOaJuzlYuaLsrUsxwV6+yqxTTACsiAkyF3YJ9gufzI4Q6tdC/ZfAgW3uxkszZmm/1P24foP2C6L49W74rDnocHNDzEpf5ftVUXuY+N958cujsCHq9GndUmbIF9ly6te9SLkJ9SursQEj53yOYbPm+LXpkUa3XPTLrCiniQ5BWIpfSR9/9wPt8xrlL8PHXbv4/fIbDH4oe+F+SY3UVwJ/TdZellzwy2ukPAXjY+y7gf06FAft5d6QC6PdBf1f8PulO5qcRPIX+Au5sC3yq//ab+bik52nYL9qi1/BHv3gQ6z9a9dFIb33SCdt5If49cw4CkQvKPql8VczjfXKVXji4wnZ/b5cWXzU+TG/0VXBRnTov45+t36DXwy6f1FnxBfzgo6oMv5SZ/StGwoWQ6RRIm7+JS6W68ZMX9PL6PfHRxvdgjfmfYXRHR7E5t17tO+Mu2vXwvDZc7Vz4mU03PVo5j4bTVzRlJV93UTjWy8rO0/6KJyPF/2guQj2fRRsZI64T036cTH63t1aE13FPejmalf57nvhvlvM+IyFjV7Hi3kSbTOOmIr0fBbsO99Yv3KZ0r6RVeWSiwcdoSV8ijwbr00reQmsqzJPMp/TZTKgLYBigkd6AcUEd4kJgXOPZXazUPOY9TnBA+9rg5emzYCYTyyOH9avxz11amP4zNkY3bED3v/uO998Z31u89o/sxdFE0eTGjX85hDLjF235dS842Dzwo3tCzaHOrD9Yi62OPT54aH4mC1nxqfwEcpeuDnekfqKcb6607kxcoyUp2DMBZ9hM2b5ffR+1y7avP5QHEThYHPpzfb5UDmJ1p++BkC9KpW1eM0csq+hYPODQ639IObyppZI1tZXMf7bGHfgfN7ANom5vKO+XOBbm0R8HsxfuDVB9Doj5n3lN4df92VcyyRwbYxY1iARdt0w5z5U/4jlujHT1/Qy4l41dekyDLy3DcbMm4eOt9yMmSvTte+T6yuk+r5jxPoT4a5Hs/e8aGIzW1b2dWPWr9X7WzR+gt2Xgt3nxLnH337Xz3T/Nnf7vtsirR9irGj2+85sO7yaJ+N6L4JFuOezYEyNOalcpgx6TZyEvvfchXLJydraNfo6MkbO4vtIf/7T14Yxm4dI5VTmiWJCpGw49znFBOfYS/VMMcGamJCWloa2beVsixZsVXSZyQ63wrrw0/3OFtrq6O0aNkDlS8vgpbTp2qrqJ06f1lY/N67ELv4tDuOq6MFWapcZv7Dl1IrokXJz6PhxdB73Nvrcc5e2wrt+COYTF/2Afvfdg7FfzL+IWTA+wdiKFeXFYVwFX/jsNWEi+ra5x2/1+0CbweyJMqFiFp9F6ivGvOv+nMrNRQ/bATsLhOuDwdopzg2fMROjO3XEweMngu5KIGyKnCzfuEnbWSDaedqhchKKeyh/4XIYqt2y8xRshflQu1KIVcZTk5O1HWHECv/iRT1wRxLj+S9+/VVrhnEHmWArkQfzF263EmFTX71cCBv6jivBzovV55f/vs0Xp263ba0bL4or1O4owq7K1cujve9Gur9Fay+w/IpNmzF18VLtWpmb/hMOHDuGn3//Xbt3iSPc9Wa8HkXZSPfZaK9Fs22Tfd2Y9Wvl/hbKh3gxfWXaTHRsdIvfd4cxTzrHwPtcsHtO4HdRsDLR+IyFTTx/D5lpryYmWHg+M363JBcq6PfsIHK8fd8+v+c5/Tsn2Hkz8UYqo/J64m4OkbLh3OcUE5xjL9UzxQRrYoLMZIgHOjv3a9/899/o8/EnGPnIw6h86aVa6OJlqOeHH2NCj+64rEQJvPDJRLRr2BDXXlFB+/dH33yHr18ajHpVq+DV6TORWioFTa6tic5jx6FPm3u08/qRtngJlm3ciBEPd4z65cosR6f2ajeTG9H+qT8uxgfdn0ZyoUI4KASGsePQ7uaGaNvwJo2fOJ6/N/sBOtQRrFyw3AX6i8aeKKvHF5hH8VmkvqL3H6NPp3IT+LAdzTUUrM8auSQXLnTRNSOjv4fqC8G4h/Mn7Px9+FBU15zsPGliQv0LWz2KeLfs24cXZs3FiLtboVLKhS01R339LVKTi+O+G65Hxrlz6D/7c5QpUhi9mzbRminqPTpxMka1uRt1K6QGtTPt5/8i7af/4r2HHvBtJRjMn/bS/+kU9GraRLMV7Fjxx3b0njELH3Vs74tTxLj76DEMu6sl8uXJA+Fv+bbtvr+FHVFv9Nff+sUQyZ/KfdXN3k/1cmbub9HaNJYX3zNTFy/W+unqbX+g6cDBePT227S/dx44gOHTZmD0o53w7eo1F32HBN6nIt1nrcQZrq7s6yaWOGXmKfDeJ15WxXf+pcWK+31HBZYTuRw5Y6bve060Q69bv2pV7bsu1HeLWZ+xsNHreC1Pert0xpGez4I9awTmVuSn10cT0Pe+NtqzYOCzivBpfDYM9n1vJUeirhvyZLUNrG+dAMUE6wxdYYFigsvEhAez90+349i8axc6vfYG1m7f7jNfIzUVE3o+h8plyyLjzBm88PEnaHfLzah3VVWk/bgYU7//ER/06K69HL86bTpSS5VC+ZIlMXLaDN953Zhu/7XHH9Pq23Es/c9kxxZgbGAiN4JZ5zfG+pr+wXPd0fbmhtrfgp84nr/v3rBoQpULzF+Ta6+9KAfBDAt7L09J8/voxQfaonPzZug8Ziy+Xb3a77Ovhw2FeIkO11eC+XEqN8ZYtIdtE3kSdfT+Xr/aVb4c6bYEs78PHkLnZk3R5c3xQa+ZX37f5pdrve6jTW/HiEceRr68eUPmOVRO7q5fLyT3YP7M+AoMQnaeBPPatWv7udmybz/6zv0Cw8UiriklfZ+N+nYhUosXx33XX+t3bvjX32p/Vy9TBh+2b+dXR9h6bPJU/LZ7t1amceVKeO+BtiheIL/PRjB/h06ewhNT0tC7SWPUSb08ZC4C7fdt2kSrox/T/rsay7dvx7CWd2jigtZ3hBDy+TyUKVzYVzaSv/T0dEfuXWbuw9FcN2bsBZZZvmEjpv7wo3ZdnDp7VrvvtLv1Zu26E/e14WnT8PLDHbTvlXDXo35dhbvPxhKfmTqyrxszPgPLyM5TIEfxvRD4/STKLFu/wXdPC/X9ZHxeEHGLHPe5r81FzwJmfMbCRq/jxTwZv68iPZ+JayrU94ueW01MeP9D9G17n/bsZ7T/0dfZO66Zfb6INVduyFOssbOePAIUE+SxdNQSxQRrYoLs3Rxu6tDR0f7gdudLJk105IFcPMQxN+F7h1O5MUbFPEW+gmXnSRMTbrghsuMEL5H+88+O3LvMYOd1E5mS7OsmsseLSzBPkakxT5EZuaGEyjxxNwc3ZDx4DBQT3JubqCKjmGBNTJC5sIv2oPDIo1HlL9EKL/n4I0ceyN2cm+Xr1+P23i8E7QovPtQeLzwgZ02PSH3NqdxcJCa44BoaMSUNL386OSiyb0aNQL1q1SLhtO1z2XkS10atmjVti9crhletWePIvcsMPzff38zEr6KM7OsmlpiZp8jUmKfIjNxQQmWeZD6nu4Gdl2KgmOCRbFJMcJeY0LDzEx7pWfY0Y/EH7znyQC4e4pib8Dl1KjeBYgLzpDZPmphQ/Wp7LngPWV312zpH7l1mEPL+FpkS72+RGbmhBPPkhixEjkFlnigmRM6HUyUoJjhFXrJfignWxATZuzk0fLKr5Ax7y9zid9525IFce9hmbsJ2Jqdyc5GYwDwpzZO4Nm6sas8aKV66e/20caMj9y4zDHl/i0yJ97fIjNxQgnlyQxYix6AyT9zNIXI+nCpBMcEp8pL9UkywJibITMfyXj1wzb9aIGeuXDLNesZW5vnz+HX+PNR77Q3lbWJuwiN3MjfGyJgn9Xla1q0LKhUuhJw5cii/LuPFYWZmFracOIH6495xZci8btRfN7F0BOaJeYql37itjlueF9zGJRHjoZjgkaxTTHCPmJA+oB9Sr7sOhVJKeaR3yW3G8b17sGPtWtQaPFSuYRPWmJvwkJzMjTEy5kl9ntL79kHpUyeQP8zuFSYuMU8XOXnmDPYVLIxaw0a4sp28btRfN7F0BOaJeYql37itjlueF9zGJRHjoZjgkaxTTLAmJsjczWHfzz/hj7T/oObdbTzSu+Q2Y83M6aj4YAeUuO56uYZNWGNuwkNyMjfGyJgn9XkSzH9/9y1UKlTQxJWUmEU2HzuOyk8948i9ywxxXjfqrxszeQkswzwxT7H0G7fVUf28wN0c3NYDLsRDMcG9uYkqMooJ1sQE2Qu77FmyGDtmz0CFm29BwZRSCT/lIfOff3Bi/35s+34RUu+7H6XrNYiqf8sszNz403RTboyRMU/q8/T311/hj4kTULZQQeTLk4dTHgBkZmUh49w57Dp+AhUfeRSlb2sq83Yk3RavG/XXTSxJZJ6Yp1j6jdN1nHxekP2c7jRLL/mnmOCRbFJMcJeYILrV/p9/wvY5s3H+TAaObtvmkZ4WWzOKVLgCufLlQ4W77nHFr3rMzYU8ui03xh7GPKnPk2C+LW0KMk+dxLG9e2O74D1Uq3BKKeQqWBBXtHvQFfcuM2h53ai/bszkJbAM88Q8xdJvnKzj5PMCxQQnMx/eN8UE9+YmqsgoJlgTE2Tu5hBV4liYBEiABEiABEiABEiABEggJAHu5uDezkExwb25iSoyignWxISoYLMwCZAACZAACZAACZAACZAACSQ4AYoJHukAFBMoJnikK7MZJEACJEACJEACJEACJEACcUCAYkIcJMlMiBQTrIkJMndzMJMvliEBEiABEiABEiABEiABEohMgLs5RGbkVAmKCU6Rl+yXYoI1MYELu0jukDRHAiRAAiRAAiRAAiRAAhII8DldAkSbTFBMsAmsarMUEygmqO5z9EcCJEACJEACJEACJEACdhOgmGA34djtU0yInZ2ralJMsCYmcDcHV3VnBkMCJEACJEACJEACJEACGgHu5uDejkAxwb25iSoyignWxISoYLNwXBPIzMxEzpw547oNDJ4ESIAESIAESIAEnCTA5ykn6bvHN8UE9+TCUiQUEygmWOpAHq986vhp/LZ0C7b9uhMnj2fgbMZZj7eYzSMBEohnAiXLJmP/roPx3ATGTgIk4HECSfnzIl+hJFSsUR7VG1ZCvgJ5Pd5iNi8YAYoJHukXFBOsiQl27+Zw4uBanNr/K04f+x1nT+7GudOHPNLzQjejQLErcf6fs8hbuAKSilyJ4pc3daTNQkj44t3vUahwIZQqm4LCRQs5EgedkgAJkAAJkAAJkICXCBw7fBx7d+3D8ePH0bJrI9sEBe7m4N5eQzHBvbmJKjKKCdbEBDsXdtmz7kNknTuCPHnzI6lASSQVLIXcefJHld94LZxxYg/OnNyHc2dO4+i+tSh3Qx8kFU5V2pz0+Wtx8K9jqHR1RaV+6YwESIAESIAESIAEEoHAlt9+R4nLC6NW8xq2NNfO53RbAk4goxQTPJJsignuExOyMs9j6/dPIblcbRQvc61HelrszTh7+ij+2jgXpap2QoGS6nhMHTkfla+uxBEJsaeONUmABEiABEiABEggJIFjR45j87otaNenhS2UKCbYglWKUYoJUjA6b4RigjUxwY7dHDZ/+xjKV79PG43A4wKBP3+bjiLlW6BI2Ya2YxGLA00YNAs3N29guy86IAESIAESIAESIIFEJfDjgmXoNPguWxa55m4O7u1VFBPcm5uoIqOYYE1MiAq2icK7f30LSfnyo1hpe4Z7mQjB1UU2LnsdlZt8jJy5LrE9zrd7TcHtdzey3Q8dkAAJkAAJkAAJkECiEvhm1iJ0Hf1AojY/YdtNMcEjqaeY4B4x4fien3D87+9waaUmHuld8ptx8uhOHDnwB8pe20O+8QCLFBNsR0wHJEACJEACJEACCU6AYkJidgCKCR7JO8UEa2KCzN0c/l4zFvkLFEbRUhyVEO7y2rhsDCrf9gFy5k6y9SqkmGArXhonARIgARIgARIgAdgpJnA3B/d2MIoJ7s1NVJFRTLAmJshc2GXb4p649MrbtF0beIQmsP3XKUip9jjyF6tiKyaKCbbipXESIAESIAESIAESsFVMkPmczlTJJUAxQS5Px6xRTHCPmLDhy7a46qY+jvWFeHG85/fvcEmxa1D88ua2hkwxwVa8NE4CJGAgMH7CGO2vbp0uTOHa9udWvPnRaxjYYxiKFSkektfPv6Zj9oLp6N99CNZtWot2T7XGVVdejcfbd0P66uXa+aS8+UzxFrbGfzIGrw0cH9anKWMsRAIkQAImCNg5MoFigokEOFSEYoJD4GW7pZhgTUyQtZvDudMH8efKQah4/SOyU+w5ewd3pSMzZzGUrNzO1rZRTLAVL42TAAlIEhOMIOd+PUP7s1XTNjHxpZgQEzZWIgESsEDATjGBuzlYSIzNVSkm2AxYlXmKCdbEBFl5+uf0Ifyx7HlUqvWkLJOetXPwr5U4n7MIUqq0t7WNFBNsxUvjJEACUYgJh48e0kYpFCxQCFPnTNJqTn1rDm64pjb0kQk1q12PvsOzRzY817kP6l7fwDdiQZwbNnbQRXXFeTEC4rmBT2LD1nVavZ/XpnNkAnsnCZCAMgJ2ignKGkFHUROgmBA1MndWoJhAMcGdPTN0VBQT4i1jjJcESCASgUjTHISYIF74Oz/YVRt1IMrv2b/bN7VBn+bw9Q/zsfPvP7XpEsbpDx9OeUcLQT8/5PV+eOOld7SpDD1f6oa7mt3rs0sxIVK2+DkJkIBMAhQTZNKMH1sUE+InV2EjpZhgTUyQtZsDRyaYv6AoJphnxZIkQALxQcCMmDD0jQEY8NxQXFH+Sj+hQKyTEE5M6Pbwc+j3ak90e7iHNpLh9JkMbZSCEBCKFS3uty6D2XUa4oMqoyQBEogHAnaKCdzNwb09gGKCe3MTVWQUE6yJCbIWdqGYYL7bUkwwz4olSYAE4oOAGTHBuBhj4KKLZsSExSu/94Px2sBxKFv6Mr8FFykmxEd/YZQk4CUCdooJsp7TvcTbLW2hmOCWTFiMg2ICxQSLXUh5dYoJypHTIQmQgM0ExMKJ+vQE3ZVxMUR9zQR9Z4doxYRX3xqKZx7tqY1qMB6B4gHFBJsTTfMkQAIXEaCYkJidgmKCR/JOMcGamCBrNweOTDB/QVFMMM+KJUmABOKDgBAH9HUMxAu/PhWhdMky2joHgS/50YgJYmtI45oJ+oKLg/7vFVxdpYY25aFWzTpcMyE+ugqjJAHPEbBTTOBuDu7tLhQT3JubqCKjmGBNTIgKdpjCFBPMk6SYYJ4VS5IACcQPASEQtHuqtS9gsbOCEBLEYVVMEDaMuzmIKQ769pHG3Rz6PTNE8/V/T7ygLc7IgwRIgATsJmCnmGB37LQfOwGKCbGzc1VNigkUE1zVIU0EQzHBBCQWIQESIAESIAESIIE4IOAmMWHoUGDgwAvQliwBGjQID3HTJmDwYGDcOCA5OXRZUa5tW6BuXWDMGCBfvuyyGRlAjx7AihVAWhpQpYr5pE2eDCxe7G8vsLbZ+Mx7lVOSYoIcjo5boZhgTUzgbg7quzDFBPXM6ZEESIAESIAESIAE7CBgp5gQzW4OQkjYtevCi7n+8j9+fHhBwezLuijXvTtQrBgwZMgF0UCcHzQIOHwYGDuWYoIdfYw2bSRAMcGamCBrlVhOczDfyVWICZmZmfhkyGw0bFrffGAsSQIkQAIkQAIkQAIkEBWBxQuW4eHBdyFnzpxR1TNT2Oxzuj46oGFDoH37C5aFwCCOXr2yRw906JAtLBw8CDz9dPaIBHGI/9euDfzf/wE1awYfYaCLDqJcSsoFP2J0wb59QHp6th0xMkEXMtasAZo1A0QZfdTD0qXATTdl+2naFDh2DHjlFaBfv/Dx6SMn9Poi7i5dLognxvOBPs2wjrYMRyZES8yl5SkmUExwadcMGZYKMUE4nzpyPipXq4TCxQrFGyLGSwIkQAIkQAIkQAKuJ3D08DFs3bAVbXu3sCVWs2KCcC5e2B96CHjpJWDAAP9wdLEhlJggpi+0aZNdL9TUA11MaNcO+PLL7Jd4cYjkygs+AAAe40lEQVRRCa1bZ0+TEGJCiRLZQoPwJf5vHDHx55/ZUyXEaInrr88WOMRhVkw4cCB7dIQYAVG+fHb9smWBp566II4IMUO0QRxGYUV2gigmyCbqkD2KCdbEBO7moL7jqhIT0uevxcGdx1CpekX1jaRHEiABEiABEiABEvA4gc2/bUXJy4uiVvPqtrQ02t0cxIgD8QK9YEF2OLqwEElM0F/QxYu4cdSCcf0DXUwQUxyEgKCPavjww+wX/N69/Uc66CMJ9OkRQgAQYsCkSf6jCcTfZsWEr77yX2NBjEYQ9V988YL/aNZssJI0iglW6LmoLsUEa2KCrFRymoN5kqrEhIyTZzB33EIULloYpcqloHBRjlAwnyWWJAESkEng8NFD6PlSNyxe+b1mtl3rDhBbPiblzV7BK/DzhnVuxWsDx2s7MuifdXu4B264prbMsGiLBEiABGIiIEYk7N21D8ePHkfrbo2RVCBvTHbsrGSc+nDPPZGnOegv/5HEBFHurbeAxo2B7duBbdv8RwYIwUCMRtCnNhjt/fRTcDEgGjFBjL4wHvqUBuFXjHoQUyuM0x/sYkwxwS6yiu1STKCYoLjLWXanSkwQgQpBYfW3G7F94y6cOpGBsxlnLcdPAyRAAiQQDYETGccxYf541K52E2pfdZNWNX3DEmz9axPuvbUDzv5zxvf5nU1aY9+ug9rn6euXoFOLblp5Uf9fde9GxbJRLBMeTZAsSwIkQAImCSTlz4t8BZNwedWyuO62qq4QEsQLe//+wLBh/jsyiBd68bIfuGaCcbSAaLZxZILxs2AjE4SYsHEjMGdO9noHYjpD1aoXr8FgZWRCYHz6bhNiZIJoT+A0jsDU6e2OVM5kyoMWo5hghZ6L6lJMsCYmcDcH9Z1ZpZhgbJ1YlNGOxYHUE6RHEiCBeCIwefJkLF68GGPGjEG+/+0llpGRgR49eqBDhw4oUaIEunfvjrFjx6LK/55cDx48iPbt22PAgAGoWrWq798NIu1xFk9gGCsJkEBcElD5PBXtbg4CqP4CrU95EC/7+sgEsb6Avi7CqFHZCy2KQ/yiL6YpiCkSkdZMECKBPgqgdOkL6xPoCzqGWzPh1KlsHyKGYGsmhIpPFxOMayaIrwt9PYauXYERIy5sb8k1E+Ly0nImaIoJ1sSEaBZ2CZdhM9McNm3Zju59RmPsyF6oUinVZ27oqx/gitSyaN/2XxD/HjjsHT9XL/V/EgOe76ydEzbaduqHurWqY8zw/0O+fEna+YyM0+jR93WsWPUb0ia8cpH9Xbv3+ZUPbIvwq92A/+dH//zgoSNo33kABvR5DA3qXutXTY9lzdrNvvM1a1S+yH+gL6fEBGeuUHolARJIZAK6aNCwYUNNEAh26GXeffddLFmyBIGCgVFYoJiQyL2JbSeBxCMQ7XO6eLkeOPACp08/vbAIoXGHhddfv7D7giht3M0h1E4Ixi0k8+e/sPihEAYCp0aY2c1B+H33XWDr1uytJvXFGcU0hWDxBdvNwRirvgClsMtpDol3rcTcYooJ3hMTjC/1ukhQtkyK9qKvCxLFihbGkH5P+EQDcX7QK+/h8JFjfmKFOD9m/H+0/tWj24N+IoOx08UqJgSKI0tXrEa3niPDCgoUE2K+3FmRBEggzggYRyBEEgKWLl2Km8R+Yf87dGGBYkKcJZ3hkgAJSCMQrZggzTENRSTAaQ4REcVHAYoJ1sQElbs5mB2ZYBQTxL+N9TT1dPh7qH3D1UgpUVwbzSCOyWlfYt+BQ0j/eR0G970gMojz+rFt+66LRh7on8kSE4S9ULZ0XxQT4uPewihJgASsEzAzMiGYFzG0V5/6IKZB6FMeIgkS1iOmBRIgARJwD4Fod3NwT+Tej4RigkdyTDHBmpggqxvInOYQKCbooxM6tGuBEslFNTGhXZtm+PKbpdrUBXGIUQmt77gZ4977zCcmiHri/GMdW2n1+r/0FoYNfArJxYte1GyZYoIYnTBp6vyQ0yooJsjqdbRDAiQQDwSCrZmgCa9Dh6KxWA4cwMKFC7X1EfTDOKKBaybEQ5YZIwmQAAkkFgGKCR7JN8WExBQThvTrgkGvvKsJB+L4cOJcdH+yLXoP+LdPTBAjGsR5MR1CrK0gBIPGt9x40doH2kNtjGsmBFsDgmKCR24ubAYJkIAUAvo0BbHYor5ughAYJk2aBPF/cQSOPBBTHrp16wYxeo4jE6SkgUZIgARIgAQkEqCYIBGmk6YoJlgTE1Tu5hDrNAfjIoj6yIRxo/vgrfena+LA9h27IaYwPPX4vXi610ifmCCmODz0+IVfukQ/NS7maOy3MsUE4Xfx8l84MsHJGwN9kwAJuIqALigsWLBAi6tZs2aakJCcnKz9Hfh5zZo1NSFB7O4Q+JnesGCLNbqq0QyGBEiABCwSiGY3B4uuWD1KAhQTogTm1uIUE6yJCbIWdjEzzUGIAsaXfdGn9CkMDetd59vNQZw37qoQbM0EISZs3Lwdc+b9iGPHT0BMgahaOdVnX4gOgbswBPOv92uZYgLXTHDr3YJxkQAJkAAJkAAJkED8EJD1nB4/LY6fSCkmxE+uwkZKMSF+xITAnRlEYgN3Pwh8EQ+2m4NYM0GICQcOHtG2iSxdKhmTPxiq9RNdrBCfDR35oXZeXyMhULgwdixZYoLbdnNQuReyR24pbAYJkAAJkAAJkAAJhCSg8tmKYoJ7OyLFBPfmJqrIKCZYExNU7uYgEqu/0L/70UwtzzVrVPbbRlG81A8c9o5fHzBOTRCjFHQxIX++JPTo+zr0bSONIw8+m/mtZsM4wkH8LaYgTEqb7ycyiPOh/IqpE2KEw4Jvl/vFtOTrD7RFHYWYsWbtZt9nge0J1pntXoDx1PHTWLdsC7at3YmTxzJw5tTZqK4pFiYBEiAB1QRy5MyBrMws1W7pjwRIgASiJpBUIC/yF0pCxWvK4+oGlZCvQN6obZitwN0czJJSX45ignrmtnikmGBNTJCVFDPTHGT5inc7dooJQkiY9/73KFKiEMqkpmj/50ECJEACJEACJEACJCCPwNEDx7H7j304evA47uzSyFZBQV7UtCSTAMUEmTQdtEUxgWKCg90vJtd2ignpC9biyN5jqHpjxZhiYyUSIAESIAESIAESIAFzBDas+h3FyxRGraY1zFVgKc8QoJjgkVRSTLAmJqjczcEjXc5yM+wUE6aOmo+r61TiiATLWaIBEiABEiABEiABEghPQIxQWLdyC9r1bmELKu7mYAtWKUYpJkjB6LwRignWxARZC7twmoP5a8EuMUEsCDRh8Cw0adfAfDAsSQIkQAIkQAIkQAIkEDOBb6cuQ6fBdyFnzpwx2whVUdZzuvTAaBAUEzzSCSgmUEyIt65sl5ggOLzdawrueLRRvCFhvCRAAiRAAiRAAiQQlwTmfbQIXUc/YEvsFBNswSrFKMUEKRidN0IxwZqYoHo3B+d7jPMRUExwPgeMgARIgARIgARIgARkELBTTOBuDjIyZI8Nign2cFVulWKCNTFBVsI4zcE8SYoJ5lmxJAmQAAmQAAmQAAm4mYCdYoKb253osVFM8EgPoJhAMSHeujLFhHjLGOMlARIgARIgARIggeAEKCYkZs+gmOCRvFNMsCYm3HPPPZg4cSIKFixoqUdwZIJ5fBQTzLNiSRIgAXsJ/P7HVgwePgCD+w5FxQpX+pyNfXsMyl9WHnfd2SZkAKLuG2+9hpf6D0O+pHx46dVBmPzZJDzSvjMOHj6gnS9WtLipBhw+cgjP9umG7k/2wI3X176ojv75D0u/1z5rf38HDHx+CJKS8ml/B35+S4Nb8e+R4zX/4WyLNjzd80ms37TOz2fPp/uge9cepmJnIRIggcQmYJeYcO7cOaxatQr169dPbMAubT3FBJcmJtqwKCZYExNatWqFUaNGoUqVKtGi9ytPMcE8PooJ5lmxJAmQgL0ErIgJxsjEC/uof49A72dfMC0gBNYPJSboYsA9re71iRuzv5iB9J9XaoJCxukMTYgI/Hzm3OmaoCCOULaDtT+SsGFvRmidBEgg3gjYJSasXr0ajzzyCH755Zd4Q5IQ8VJM8EiaKSZYFxMef/xxtGzZ0lKPoJhgHh/FBPOsWJIESMBeApHEhOZNWmgjDkqnlMFr40Zqwei/2usjE/7v6d4YNKw/xKiBalWuxvM9+mHG3Gm+kQk//TcdbTq01uoaRxScPp3hG80gzv+1a2fQkQlG4UAfiaDXvaflvShWrPhFoyuMgkDFK66MSkwQcZoZmWFvZmidBEggXgjYJSbMnz8fc+bMwbvvvhsvKBIqTooJHkk3xQRrYsJff/2FPHnyoFSpUpZ6BMUE8/goJphnxZIkQAL2EjArJogoxCiA39avxYCX+2Hca+9ogenTHLTPh/XHc0/19Dt/6PAh34t+2TJlfcKEmEIgXtj37NvtsysEhxmT5vhNc9BFg9o31Ak55cIoSgTWF8FEmuYQOM2DIxPs7XO0TgJeI2CXmDB16lRkZmbiwQcf9BoyT7SHYoIn0ihepG/GymV3eKQ1sTWjTv15WLnsx9gqS6pFMcE8SIoJ5lmxJAmQgL0EzIoJ+su8eNEOJhqEEhN+WLLINx1BjCoQoxRmfj4dfZ7ti5H/Hg4xskCskWAcaWBcMyHU+WBUjCMgxOe6sBBJTAi2ZsK/Xx0Xdr0Ie7NC6yRAAvFEwC4xIZ4YJGKsFBM8knWKCdZGJsjqBhQTzJOkmGCeFUuSAAnYS8CsmKC/9MciJjz7/NN+jRCLIw7pP0ybGqEvuBhJTAg3MiEYIWO7ihcrbnqagxAkxr4zxrd4o730aZ0ESMALBCgmeCGL0beBYkL0zFxZg2KCdTGhc+fO6Nq1K2644YaYc0wxwTw6ignmWbEkCZCAvQSM4oC+m4NxaoG+ZoIVMeHPnX9etDNCoHgQbgRCsDUTBBUxTaJ+nQYaoGUrl/r5MNqLds0E4/QLfY0Ge7NA6yRAAvFMwA4x4eDBg9iwYQNuuummeEbj6dgpJngkvRQTrIsJYmvI33//HUOGDIm5V2RlZWLT1x1Qtf7/xWwjUSru3bYQeYpUQ/FU+dNz3u41BXc82ihRULKdJEACFgnoL91igUV9K0Tx67y+LoK+zkGsYoJxzQQhVhhf1L/6dr5vCoRYiyHYmgmieaF2cwi3W4OxDdGMTDD6C7VNpUXkrE4CJOAxAnaICeKHvnr16uGxxx7zGC3vNIdigkdySTHBupggFncRizCeP3/eUq/Y9uNzuLRycyQVKGnJjtcr71ibhhJVO6FA8WrSm0oxQTpSGiQBzxMwLmAoGit2ZBALLIqX/8ARA9FOcyhWtLi2ToK+m4OY4iC2axTnA3dzKFiwEJo2aua3AKMOXxcUxI4R4jDaMQoA+ufGNgTW1W2KNRWC7QQhPhejIXSxQsTKgwRIgARCEbBDTLjsssuwc+dOQncxAYoJLk5ONKFRTLAuJgjeGRkZyJUrFy655JJo8PuV3bX63yhYqBiKpFwds41EqLhp+Vhc2eht5MqTX3pzKSZIR0qDJEACJEACJEACJBCSgGwxYcWKFTh06BBatGhB6i4mQDHBxcmJJjSKCXLEhGiYhyp79O8lOH1oNUpdXk+GOU/ayDi5Hwd3r0O567K3T5N9UEyQTZT2SIAESIAESIAESCA0AdliAlnHBwGKCfGRp4hRUkyQJyZs2rQJefPmRWpqakTuoQr89d9RKFzsMhQuUSlmG16uuCX9baQ2GIU8ScWkN1NMV5n40mw0vr++dNs0SAIkQAIkQAIkQAIkcDGBhWnL0HHQXciZMyfxJBABigkeSTbFBHligugSKSkpWLduHUqWjH3dgw1ftkWV+j2RM2cuj/QyOc34a+MXyF+yNoqn/kuOwSBW0kbPR7XalVCkRCHbfNAwCZAACZAACZAACZAAcOTAMWxI34q2vaxPSRBTG1q1aoUlS5YQbRwQoJgQB0kyEyLFBLliwvfff4+hQ4fiu+++M4M/aJnz/2Rg87ePomzlO1G4ZNWY7XilYub5s9i5YS6KXtYURcrZu9PCqgVrcXjPMVStVdEr+NgOEiABEiABEiABEnAlASEkJJctihtvr245vkcffRRiF4f69TnC1DJMBQYoJiiArMIFxQS5YoLI2bZt27TdHcRKslaOv/77GnLnzomkfEWRt2AKkgqUQo4cOayYjJu6504fw+mT+3D29FHs37EY5W7ohYIlatoef8bJM5j79kIULVkYl1ZI4QgF24nTAQmQAAmQAAmQQKIRECMSdm/bh6MHj6PVk42RVCCvJQQzZ87UpkncddddluywsjoCFBPUsbbVE8UE+WKCnrCTJ0+iQIEClvJ3dPcKnNz/X5w59gfOntqLHDlyW7IXD5WTilyOMyd3I6nQ5chXrCpKVLxbadhCUFjz/UZsX78Lp45n4Myps0r90xkJkAAJREsgR84cyMrMirYay5MACZCAcgJCOMhfKAmp1cqi5i1VLQsJyhtAh1IIUEyQgtF5IxQT7BMTVq9ejXPnzqFWrVrSEn3+7HFptlxrKEcO5MpT0BXhiUUZuSCQK1LBIEiABEiABEiABDxAQOaz1apVq6Q+Z3sAb9w0gWJC3KQqfKAUE+wTEwT5O++8E48//jhat27tkR7DZpAACZAACZAACZAACZCAswTmzp2LtLQ0TJ482dlA6D0mAhQTYsLmvkoUE+wVE0TGxfytWbNmJcx6B+7r5YyIBEiABEiABEiABEjAKwRWrlyJSZMmYdy4cV5pUsK1g2KCR1JOMcF+MUF0FX1I1+nTp5GUlOSR3sNmkAAJkAAJkAAJkAAJkIAaAllZWdqPcytWrEDdunXVOKUXWwhQTLAFq3qjFBPUiAl6Zl955RVtUcZnn31WfbLpkQRIgARIgARIgARIgATikMCwYcPQtWtXFC9ePA6jZ8iBBCgmeKRPUExQKyaIbjNixAiMHDkSO3futLzbg0e6IZtBAiRAAiRAAiRAAiRAAhcRWLRoEV588UU0atQIL7/8Mgl5hADFBI8kkmKCejFBdJ3Dhw9rw7SKFi2K48ePIz09HbfddptHehWbQQIkQAIkQAIkQAIkQAKxEdi8eTMqV66sVZ45cyZuvfVWjkiIDaVra1FMcG1qoguMYoIzYoIxSxkZGWjZsiXEPLDLLrsMEyZM0D4+e/asJjoUK1YMl1xySXSJZWkSIAESIAESIAESIAEScCkB8Zx75swZFCpUSIvwl19+wYABA7B+/Xr06NEDzzzzjEsjZ1gyCFBMkEHRBTYoJjgvJujd4OTJkxCr0zZu3Fg79ccff6BevXooXLiwpsi+99572vnvvvsOTZo00f4t/v/NN9/wPDmwP/C64H2A9wHeB3gf4H2A94G4uA8MHToUOXPmxFVXXYXx48drMYtRuvv379eeg/Ply+eCtySGYCcBigl20lVom2KCe8QEhWmnKxIgARIgARIgARIgARIgARJwhADFBEewy3dKMYFigvxeRYskQAIkQAIkQAIkQAIkQAIkEJwAxQSP9AyKCXLFhKzM88iRM5dHegebQQIkQAIkQAIkQAIkQAL2EOBzsz1c48EqxYR4yJKJGCkmWBcT/snYh6O/Dcex7bNx7tQBZJ47YYI8i5AACZAACagikK94JWQc2qLKHf2QAAmQAAmYIJArb2HkTkpG4dS7UKRGP+ROKmGiFot4gQDFBC9kEeJF+masXHaHR1oTWzPq1J+Hlct+jKmyEBJ2zauDfJccReGihZCUPykmO6xEAiRAAiRAAiRAAiRAAolG4PSp0zh25DhOnS2CcneuoqCQIB2AYoJHEk0xwdrIhIMrn8H5PZORUibZIz2CzSABEiABEiABEiABEiABtQT27T6AXJd2QnKtMWod05sjBCgmOIJdvlOKCdbEhD8+uxxlUjKRlC+v/OTQIgmQAAmQAAmQAAmQAAkkAIHTGWewe19OVLh/RwK0lk2kmOCRPkAxIXYxQSwas+XTIqhcKcUjvYHNIAESIAESIAESIAESIAFnCGzZsh9XPnSEi5k7g1+pV4oJSnHb54xiQuxigsjKxg9yoOpVl9uXIFomARIgARIgARIgARIggQQgsHHDDlTtnJUALWUTKSZ4pA9QTJAgJlQt75HewGaQAAmQAAmQAAmQAAmQgDMENm78k2KCM+iVe6WYoBy5PQ4pJkgQEyqXsyc5tEoCJEACJEACJEACJEACCUJg4+a/KCYkSK4pJngk0RQTJIgJV17qkd7AZpAACZBA/BGY/O0pLP71LMZ0K4J8eXNoDTh4NBNPjz2KwQ8XwoGjmZj0zSnf5xlnstBj/FGtnF5HP9fwmkvQvkn++IPAiEmABEjAAwQ2bv2bYoIH8mimCRQTzFCKgzIUEySICRXLxEGmGSIJkAAJeJPA5G8zsHjtWYx5qrC/mPBmtpggjsGfHMe4Z4oguUjObKHhzaPIygKGdCqEKpfl9p37//buNbapMg4D+NOddOvKLsp9yy64sFUZicK+YBYTgSmfdCpqgG2MyMXhLaJkLJDJjA4hRGoMcldB6CIioCHBmLgxIEtAvMWw5XTL2IRxmQwYZWvP1p7NnFOzuSiynnZd2/OcT13z/t/zvr//+bIn55wq45W/eVCAAhSgQPAFxOarDBOCzz4qZ2SYMCrsgT8pw4QAhAkPTAp8YzgjBShAAQoMS8BWrYQJblhXxg+GCQ4lMHCgYnEc0iYKWLX9DoryTMidHo26872o+a1XnTsjSUDB3FjYL3nw6XcuvFscNzDHsE7OQRSgAAUoEDABsaWdYULANEN7IoYJod2fYa+OYUIAwoT0CcP25kAKUIACFAisgK1awunzblhLBoOAG0qYsLULFUVm9U4DZYxyFMw1DXyeMllQQ4XygjHqdxeuyepnHhSgAAUoMDoC4h/XGSaMDn3Qz8owIejkI3NChgkBCBPSxo9MczgrBShAAQrcU8BWI6FwU9e/xj2cIeDgWu9jC3X1buyv7kHlEjM2feXC0nkxGJ8YhXV7nep3245JmPOIEbnZxnuejwMoQAEKUGBkBMSLHQwTRoY25GZlmBByLfF9QbIsY8lLi7B/30zfiyOooqj4F+z9rAqCIPi8K3GPAQ+mjPW5jgUUoAAFKBAYAVtND07Xe2BdYR76mMM2JyoKY2FJEaDcqbBunwtvPWvCwVO9WD3fpJ58/QEXFj0ejaraXjVgUMbyoAAFKECB0REQ224yTBgd+qCflWFC0MlH5oTzX5iPj6zZSE3R562dl9q68eaqehw+dFgTsBomJN+nqZZFFKAABSjgv4DtRK83TFgeOzRM2O5CRYFpICCwfiNhTIwB7Z39KF/oDROU2rhYA35vkbH6uRi+L8H/dnAGClCAApoFxCudDBM064VXIcOE8OrXXVdbtnYNnnyiB3Nm6/MXCX6ovoKaE7HY8P5GTR1Vw4SkRE21LKIABShAAf8FbLVKmCDDusw0NEzYIaFi0eDdBsq4Y2c9eP2paORO8/5iQ12DB9+ecat/58/iIw7+d4MzUIACFNAuIF69zTBBO19YVTJMCKt23X2xn+/9AlLPSax8OStCduTbNj7Z1oi4+NkoLir0rfDv0WqYMMn702M8KEABClAg+AK2WjdON8iwLh28s+CGox+v7ZRQsVAJE6LURdnb+vDGbgkfL1fuVvB+p4wr2OJC+YsxyJ3GRxyC3z2ekQIUoMCggNh+h2GCTi4IhgkR0uiz587h5KkqlL49OUJ25Ns2Nm2+hrw5i5GTM8O3wn+GCRP0+YiIJjAWUYACFKAABShAAQpQ4D8ExOvdDBN0cmUwTIigRld+UInp2R3If1pfgcKRo1fQ2JSMstI1mrup3pkw3qy5noUUoAAFKEABClCAAhSgACB2OBkm6ORCYJgQYY3OmzcPRw49hoQEfTwzeutWDxYUnMH3x4/71Uk1TBjrfZEXDwpQgAIUoAAFKEABClBAm4B4U2KYoI0u7KoYJoRdy/5/wS2trfhwSxkq38tGYmJ0hO1u6HaUIKF8fQNKV29GWlqq5r3298loPnA/ppp7NM/BQgpQgAIUoAAFKEABClAAaHJGY2phJwxRfIdNpF8PDBMisMMtrS1YUVKCV1dm4pl87f9khzLNkaMXsXN3M3bv2Im0tHS/l9ryZSqScA0mweD3XJyAAhSgAAUoQAEKUIACehRwefrQbkjGlAUX9bh93e2ZYUIEt3zDxvUQhMuIj5NhsSQiKysBqSnh+ZLBS23dsNtvw253oKsrCv1IR1npOwHr3o26EsjNuzAxxvtmcB4UoAAFKEABClCAAhSggG8Cf0p9ELJewbhHt/pWyNFhKcAwISzbNvxFn/vpZ9Q3/Aq7XURj4wWYzUY0Nl0d/gQhMDIrMwlOpxsWSwYslocwfdoM5OTMDOjKPFIHLn+dCbOnE/FGA0zMFALqy8koQAEKUIACFKAABSJXQOoDHJ5+OIWxSH2+EYJpXORuljsbEGCYoLOLQZZlCEJ4Pb8UrDXLUgc665bhTvuPcLsdkN3dOrs6uF0KUIACoS0wJmEKuh2tob1Iro4CFKCAzgQEYxyMxgQkTJ6FxNxdEGIYJOjlEvgL3EbvmeZd7FwAAAAASUVORK5CYII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527471" y="969978"/>
            <a:ext cx="1742657" cy="1434112"/>
            <a:chOff x="6531284" y="775020"/>
            <a:chExt cx="1742657" cy="1434112"/>
          </a:xfrm>
        </p:grpSpPr>
        <p:sp>
          <p:nvSpPr>
            <p:cNvPr id="14" name="Rounded Rectangle 13"/>
            <p:cNvSpPr/>
            <p:nvPr/>
          </p:nvSpPr>
          <p:spPr>
            <a:xfrm rot="5400000">
              <a:off x="6833863" y="472441"/>
              <a:ext cx="1137499" cy="17426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r>
                <a:rPr lang="en-US" sz="1200" b="1" dirty="0" smtClean="0">
                  <a:solidFill>
                    <a:schemeClr val="tx1"/>
                  </a:solidFill>
                </a:rPr>
                <a:t>J7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014712" y="838134"/>
              <a:ext cx="775801" cy="32515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Main R5F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88923" y="1267997"/>
              <a:ext cx="6030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/>
                <a:t>Host port</a:t>
              </a:r>
              <a:endParaRPr lang="en-US" sz="800" dirty="0"/>
            </a:p>
          </p:txBody>
        </p:sp>
        <p:cxnSp>
          <p:nvCxnSpPr>
            <p:cNvPr id="31" name="Straight Arrow Connector 30"/>
            <p:cNvCxnSpPr>
              <a:stCxn id="29" idx="0"/>
              <a:endCxn id="26" idx="2"/>
            </p:cNvCxnSpPr>
            <p:nvPr/>
          </p:nvCxnSpPr>
          <p:spPr>
            <a:xfrm flipV="1">
              <a:off x="7402612" y="1163289"/>
              <a:ext cx="1" cy="174050"/>
            </a:xfrm>
            <a:prstGeom prst="straightConnector1">
              <a:avLst/>
            </a:prstGeom>
            <a:ln w="9525">
              <a:solidFill>
                <a:schemeClr val="accent1">
                  <a:lumMod val="20000"/>
                  <a:lumOff val="80000"/>
                </a:schemeClr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00" name="Group 4099"/>
            <p:cNvGrpSpPr/>
            <p:nvPr/>
          </p:nvGrpSpPr>
          <p:grpSpPr>
            <a:xfrm>
              <a:off x="6709468" y="1337339"/>
              <a:ext cx="1386288" cy="871793"/>
              <a:chOff x="6359300" y="1179859"/>
              <a:chExt cx="1386288" cy="871793"/>
            </a:xfrm>
          </p:grpSpPr>
          <p:sp>
            <p:nvSpPr>
              <p:cNvPr id="15" name="Rounded Rectangle 14"/>
              <p:cNvSpPr/>
              <p:nvPr/>
            </p:nvSpPr>
            <p:spPr>
              <a:xfrm rot="5400000">
                <a:off x="6821133" y="830583"/>
                <a:ext cx="462622" cy="1386288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6529967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6659267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6788568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6917868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047169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7176469" y="1644767"/>
                <a:ext cx="129300" cy="10556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7305769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7435070" y="1644767"/>
                <a:ext cx="129300" cy="10556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6529967" y="1340242"/>
                <a:ext cx="1034403" cy="172903"/>
              </a:xfrm>
              <a:prstGeom prst="rect">
                <a:avLst/>
              </a:prstGeom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6788045" y="1376169"/>
                <a:ext cx="518247" cy="101049"/>
                <a:chOff x="3379831" y="5943600"/>
                <a:chExt cx="1107381" cy="385233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3379831" y="5943600"/>
                  <a:ext cx="1107381" cy="381000"/>
                  <a:chOff x="3311977" y="5943600"/>
                  <a:chExt cx="1175235" cy="381000"/>
                </a:xfrm>
              </p:grpSpPr>
              <p:cxnSp>
                <p:nvCxnSpPr>
                  <p:cNvPr id="56" name="Straight Connector 55"/>
                  <p:cNvCxnSpPr/>
                  <p:nvPr/>
                </p:nvCxnSpPr>
                <p:spPr>
                  <a:xfrm>
                    <a:off x="3772481" y="5943600"/>
                    <a:ext cx="247168" cy="38100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/>
                  <p:cNvCxnSpPr/>
                  <p:nvPr/>
                </p:nvCxnSpPr>
                <p:spPr>
                  <a:xfrm>
                    <a:off x="3311977" y="5943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/>
                  <p:cNvCxnSpPr/>
                  <p:nvPr/>
                </p:nvCxnSpPr>
                <p:spPr>
                  <a:xfrm>
                    <a:off x="4010050" y="6324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" name="Group 51"/>
                <p:cNvGrpSpPr/>
                <p:nvPr/>
              </p:nvGrpSpPr>
              <p:grpSpPr>
                <a:xfrm rot="10800000" flipH="1">
                  <a:off x="3379831" y="5947833"/>
                  <a:ext cx="1107381" cy="381000"/>
                  <a:chOff x="3311977" y="5943600"/>
                  <a:chExt cx="1175235" cy="381000"/>
                </a:xfrm>
              </p:grpSpPr>
              <p:cxnSp>
                <p:nvCxnSpPr>
                  <p:cNvPr id="53" name="Straight Connector 52"/>
                  <p:cNvCxnSpPr/>
                  <p:nvPr/>
                </p:nvCxnSpPr>
                <p:spPr>
                  <a:xfrm>
                    <a:off x="3772481" y="5943600"/>
                    <a:ext cx="247168" cy="38100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/>
                  <p:cNvCxnSpPr/>
                  <p:nvPr/>
                </p:nvCxnSpPr>
                <p:spPr>
                  <a:xfrm>
                    <a:off x="3311977" y="5943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/>
                  <p:nvPr/>
                </p:nvCxnSpPr>
                <p:spPr>
                  <a:xfrm>
                    <a:off x="4010050" y="6324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9" name="Rectangle 28"/>
              <p:cNvSpPr/>
              <p:nvPr/>
            </p:nvSpPr>
            <p:spPr>
              <a:xfrm>
                <a:off x="6987794" y="1179859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/>
              <p:cNvCxnSpPr>
                <a:stCxn id="17" idx="0"/>
              </p:cNvCxnSpPr>
              <p:nvPr/>
            </p:nvCxnSpPr>
            <p:spPr>
              <a:xfrm flipH="1" flipV="1">
                <a:off x="6723917" y="1513144"/>
                <a:ext cx="1" cy="131622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 flipV="1">
                <a:off x="6865311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9" idx="0"/>
              </p:cNvCxnSpPr>
              <p:nvPr/>
            </p:nvCxnSpPr>
            <p:spPr>
              <a:xfrm flipH="1" flipV="1">
                <a:off x="6982518" y="1519013"/>
                <a:ext cx="1" cy="125754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>
                <a:stCxn id="16" idx="0"/>
              </p:cNvCxnSpPr>
              <p:nvPr/>
            </p:nvCxnSpPr>
            <p:spPr>
              <a:xfrm flipV="1">
                <a:off x="6594617" y="1523726"/>
                <a:ext cx="0" cy="121041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/>
              <p:nvPr/>
            </p:nvCxnSpPr>
            <p:spPr>
              <a:xfrm flipV="1">
                <a:off x="7116819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V="1">
                <a:off x="7242573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V="1">
                <a:off x="7368327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V="1">
                <a:off x="7494081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6603934" y="1765811"/>
                <a:ext cx="9870" cy="1677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739557" y="1765863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>
                <a:off x="6865312" y="1765863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6991065" y="1755040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7116819" y="1750329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7242573" y="1755040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>
                <a:off x="7368327" y="1755040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>
              <a:xfrm>
                <a:off x="7497471" y="1750329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H="1" flipV="1">
                <a:off x="6594617" y="1578956"/>
                <a:ext cx="9315" cy="472696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6592713" y="1578956"/>
                <a:ext cx="272600" cy="0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>
                <a:off x="7243024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/>
              <p:nvPr/>
            </p:nvCxnSpPr>
            <p:spPr>
              <a:xfrm>
                <a:off x="6865199" y="1587758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/>
              <p:cNvCxnSpPr/>
              <p:nvPr/>
            </p:nvCxnSpPr>
            <p:spPr>
              <a:xfrm>
                <a:off x="7368327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>
              <a:xfrm>
                <a:off x="7494081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/>
              <p:nvPr/>
            </p:nvCxnSpPr>
            <p:spPr>
              <a:xfrm>
                <a:off x="6991891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6982519" y="1587758"/>
                <a:ext cx="517201" cy="0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Oval 67"/>
              <p:cNvSpPr/>
              <p:nvPr/>
            </p:nvSpPr>
            <p:spPr>
              <a:xfrm>
                <a:off x="7434820" y="1560239"/>
                <a:ext cx="116600" cy="60514"/>
              </a:xfrm>
              <a:prstGeom prst="ellipse">
                <a:avLst/>
              </a:prstGeom>
              <a:solidFill>
                <a:srgbClr val="00B0F0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4873217" y="837765"/>
            <a:ext cx="2859557" cy="1899252"/>
            <a:chOff x="6162038" y="2595880"/>
            <a:chExt cx="2859557" cy="1899252"/>
          </a:xfrm>
        </p:grpSpPr>
        <p:sp>
          <p:nvSpPr>
            <p:cNvPr id="75" name="Rounded Rectangle 74"/>
            <p:cNvSpPr/>
            <p:nvPr/>
          </p:nvSpPr>
          <p:spPr>
            <a:xfrm rot="5400000">
              <a:off x="6790497" y="1967421"/>
              <a:ext cx="1602639" cy="2859557"/>
            </a:xfrm>
            <a:prstGeom prst="roundRect">
              <a:avLst>
                <a:gd name="adj" fmla="val 842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r>
                <a:rPr lang="en-US" sz="1200" b="1" dirty="0" smtClean="0">
                  <a:solidFill>
                    <a:schemeClr val="tx1"/>
                  </a:solidFill>
                </a:rPr>
                <a:t>J7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7762368" y="3124134"/>
              <a:ext cx="775801" cy="32515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 smtClean="0">
                  <a:solidFill>
                    <a:schemeClr val="tx1"/>
                  </a:solidFill>
                </a:rPr>
                <a:t>Main R5F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236579" y="3553997"/>
              <a:ext cx="6030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/>
                <a:t>Host port</a:t>
              </a:r>
              <a:endParaRPr lang="en-US" sz="800" dirty="0"/>
            </a:p>
          </p:txBody>
        </p:sp>
        <p:cxnSp>
          <p:nvCxnSpPr>
            <p:cNvPr id="78" name="Straight Arrow Connector 77"/>
            <p:cNvCxnSpPr>
              <a:stCxn id="91" idx="0"/>
              <a:endCxn id="76" idx="2"/>
            </p:cNvCxnSpPr>
            <p:nvPr/>
          </p:nvCxnSpPr>
          <p:spPr>
            <a:xfrm flipV="1">
              <a:off x="8150268" y="3449289"/>
              <a:ext cx="1" cy="174050"/>
            </a:xfrm>
            <a:prstGeom prst="straightConnector1">
              <a:avLst/>
            </a:prstGeom>
            <a:ln w="9525">
              <a:solidFill>
                <a:schemeClr val="accent1">
                  <a:lumMod val="20000"/>
                  <a:lumOff val="80000"/>
                </a:schemeClr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78"/>
            <p:cNvGrpSpPr/>
            <p:nvPr/>
          </p:nvGrpSpPr>
          <p:grpSpPr>
            <a:xfrm>
              <a:off x="7457124" y="3623339"/>
              <a:ext cx="1386288" cy="871793"/>
              <a:chOff x="6359300" y="1179859"/>
              <a:chExt cx="1386288" cy="871793"/>
            </a:xfrm>
          </p:grpSpPr>
          <p:sp>
            <p:nvSpPr>
              <p:cNvPr id="80" name="Rounded Rectangle 79"/>
              <p:cNvSpPr/>
              <p:nvPr/>
            </p:nvSpPr>
            <p:spPr>
              <a:xfrm rot="5400000">
                <a:off x="6821133" y="830583"/>
                <a:ext cx="462622" cy="1386288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6529967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6659267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6788568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6917868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7047169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7176469" y="1644767"/>
                <a:ext cx="129300" cy="10556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7305769" y="1644767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7435070" y="1644767"/>
                <a:ext cx="129300" cy="10556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6529967" y="1340242"/>
                <a:ext cx="1034403" cy="172903"/>
              </a:xfrm>
              <a:prstGeom prst="rect">
                <a:avLst/>
              </a:prstGeom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0" name="Group 89"/>
              <p:cNvGrpSpPr/>
              <p:nvPr/>
            </p:nvGrpSpPr>
            <p:grpSpPr>
              <a:xfrm>
                <a:off x="6788045" y="1376169"/>
                <a:ext cx="518247" cy="101049"/>
                <a:chOff x="3379831" y="5943600"/>
                <a:chExt cx="1107381" cy="385233"/>
              </a:xfrm>
            </p:grpSpPr>
            <p:grpSp>
              <p:nvGrpSpPr>
                <p:cNvPr id="117" name="Group 116"/>
                <p:cNvGrpSpPr/>
                <p:nvPr/>
              </p:nvGrpSpPr>
              <p:grpSpPr>
                <a:xfrm>
                  <a:off x="3379831" y="5943600"/>
                  <a:ext cx="1107381" cy="381000"/>
                  <a:chOff x="3311977" y="5943600"/>
                  <a:chExt cx="1175235" cy="381000"/>
                </a:xfrm>
              </p:grpSpPr>
              <p:cxnSp>
                <p:nvCxnSpPr>
                  <p:cNvPr id="122" name="Straight Connector 121"/>
                  <p:cNvCxnSpPr/>
                  <p:nvPr/>
                </p:nvCxnSpPr>
                <p:spPr>
                  <a:xfrm>
                    <a:off x="3772481" y="5943600"/>
                    <a:ext cx="247168" cy="38100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/>
                  <p:cNvCxnSpPr/>
                  <p:nvPr/>
                </p:nvCxnSpPr>
                <p:spPr>
                  <a:xfrm>
                    <a:off x="3311977" y="5943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/>
                  <p:cNvCxnSpPr/>
                  <p:nvPr/>
                </p:nvCxnSpPr>
                <p:spPr>
                  <a:xfrm>
                    <a:off x="4010050" y="6324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8" name="Group 117"/>
                <p:cNvGrpSpPr/>
                <p:nvPr/>
              </p:nvGrpSpPr>
              <p:grpSpPr>
                <a:xfrm rot="10800000" flipH="1">
                  <a:off x="3379831" y="5947833"/>
                  <a:ext cx="1107381" cy="381000"/>
                  <a:chOff x="3311977" y="5943600"/>
                  <a:chExt cx="1175235" cy="381000"/>
                </a:xfrm>
              </p:grpSpPr>
              <p:cxnSp>
                <p:nvCxnSpPr>
                  <p:cNvPr id="119" name="Straight Connector 118"/>
                  <p:cNvCxnSpPr/>
                  <p:nvPr/>
                </p:nvCxnSpPr>
                <p:spPr>
                  <a:xfrm>
                    <a:off x="3772481" y="5943600"/>
                    <a:ext cx="247168" cy="38100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/>
                  <p:cNvCxnSpPr/>
                  <p:nvPr/>
                </p:nvCxnSpPr>
                <p:spPr>
                  <a:xfrm>
                    <a:off x="3311977" y="5943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/>
                  <p:cNvCxnSpPr/>
                  <p:nvPr/>
                </p:nvCxnSpPr>
                <p:spPr>
                  <a:xfrm>
                    <a:off x="4010050" y="6324600"/>
                    <a:ext cx="477162" cy="0"/>
                  </a:xfrm>
                  <a:prstGeom prst="line">
                    <a:avLst/>
                  </a:prstGeom>
                  <a:ln w="12700">
                    <a:solidFill>
                      <a:schemeClr val="accent3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1" name="Rectangle 90"/>
              <p:cNvSpPr/>
              <p:nvPr/>
            </p:nvSpPr>
            <p:spPr>
              <a:xfrm>
                <a:off x="6987794" y="1179859"/>
                <a:ext cx="129300" cy="1087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Arrow Connector 91"/>
              <p:cNvCxnSpPr>
                <a:stCxn id="82" idx="0"/>
              </p:cNvCxnSpPr>
              <p:nvPr/>
            </p:nvCxnSpPr>
            <p:spPr>
              <a:xfrm flipH="1" flipV="1">
                <a:off x="6723917" y="1513144"/>
                <a:ext cx="1" cy="131622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/>
              <p:cNvCxnSpPr/>
              <p:nvPr/>
            </p:nvCxnSpPr>
            <p:spPr>
              <a:xfrm flipV="1">
                <a:off x="6865311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stCxn id="84" idx="0"/>
              </p:cNvCxnSpPr>
              <p:nvPr/>
            </p:nvCxnSpPr>
            <p:spPr>
              <a:xfrm flipH="1" flipV="1">
                <a:off x="6982518" y="1519013"/>
                <a:ext cx="1" cy="125754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stCxn id="81" idx="0"/>
              </p:cNvCxnSpPr>
              <p:nvPr/>
            </p:nvCxnSpPr>
            <p:spPr>
              <a:xfrm flipV="1">
                <a:off x="6594617" y="1523726"/>
                <a:ext cx="0" cy="121041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/>
              <p:nvPr/>
            </p:nvCxnSpPr>
            <p:spPr>
              <a:xfrm flipV="1">
                <a:off x="7116819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/>
              <p:nvPr/>
            </p:nvCxnSpPr>
            <p:spPr>
              <a:xfrm flipV="1">
                <a:off x="7242573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/>
              <p:nvPr/>
            </p:nvCxnSpPr>
            <p:spPr>
              <a:xfrm flipV="1">
                <a:off x="7368327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/>
              <p:cNvCxnSpPr/>
              <p:nvPr/>
            </p:nvCxnSpPr>
            <p:spPr>
              <a:xfrm flipV="1">
                <a:off x="7494081" y="1519013"/>
                <a:ext cx="0" cy="125753"/>
              </a:xfrm>
              <a:prstGeom prst="straightConnector1">
                <a:avLst/>
              </a:prstGeom>
              <a:ln w="12700"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/>
              <p:cNvCxnSpPr/>
              <p:nvPr/>
            </p:nvCxnSpPr>
            <p:spPr>
              <a:xfrm flipH="1">
                <a:off x="6603934" y="1765811"/>
                <a:ext cx="9870" cy="1677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/>
              <p:cNvCxnSpPr/>
              <p:nvPr/>
            </p:nvCxnSpPr>
            <p:spPr>
              <a:xfrm>
                <a:off x="6739557" y="1765863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/>
              <p:cNvCxnSpPr/>
              <p:nvPr/>
            </p:nvCxnSpPr>
            <p:spPr>
              <a:xfrm>
                <a:off x="6865312" y="1765863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/>
              <p:cNvCxnSpPr/>
              <p:nvPr/>
            </p:nvCxnSpPr>
            <p:spPr>
              <a:xfrm>
                <a:off x="6991065" y="1755040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/>
              <p:cNvCxnSpPr/>
              <p:nvPr/>
            </p:nvCxnSpPr>
            <p:spPr>
              <a:xfrm>
                <a:off x="7116819" y="1750329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/>
              <p:cNvCxnSpPr/>
              <p:nvPr/>
            </p:nvCxnSpPr>
            <p:spPr>
              <a:xfrm>
                <a:off x="7242573" y="1755040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/>
              <p:cNvCxnSpPr/>
              <p:nvPr/>
            </p:nvCxnSpPr>
            <p:spPr>
              <a:xfrm>
                <a:off x="7368327" y="1755040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/>
              <p:cNvCxnSpPr/>
              <p:nvPr/>
            </p:nvCxnSpPr>
            <p:spPr>
              <a:xfrm>
                <a:off x="7497471" y="1750329"/>
                <a:ext cx="1" cy="16767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H="1" flipV="1">
                <a:off x="6594617" y="1578956"/>
                <a:ext cx="9315" cy="472696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6592713" y="1578956"/>
                <a:ext cx="272600" cy="0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/>
              <p:nvPr/>
            </p:nvCxnSpPr>
            <p:spPr>
              <a:xfrm>
                <a:off x="7243024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/>
              <p:nvPr/>
            </p:nvCxnSpPr>
            <p:spPr>
              <a:xfrm>
                <a:off x="6865199" y="1587758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/>
              <p:cNvCxnSpPr/>
              <p:nvPr/>
            </p:nvCxnSpPr>
            <p:spPr>
              <a:xfrm>
                <a:off x="7368327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/>
              <p:cNvCxnSpPr/>
              <p:nvPr/>
            </p:nvCxnSpPr>
            <p:spPr>
              <a:xfrm>
                <a:off x="7494081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/>
              <p:cNvCxnSpPr/>
              <p:nvPr/>
            </p:nvCxnSpPr>
            <p:spPr>
              <a:xfrm>
                <a:off x="6991891" y="1584824"/>
                <a:ext cx="0" cy="463894"/>
              </a:xfrm>
              <a:prstGeom prst="straightConnector1">
                <a:avLst/>
              </a:prstGeom>
              <a:ln w="12700">
                <a:solidFill>
                  <a:srgbClr val="0070C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6982519" y="1587758"/>
                <a:ext cx="517201" cy="0"/>
              </a:xfrm>
              <a:prstGeom prst="line">
                <a:avLst/>
              </a:prstGeom>
              <a:ln w="12700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Oval 115"/>
              <p:cNvSpPr/>
              <p:nvPr/>
            </p:nvSpPr>
            <p:spPr>
              <a:xfrm>
                <a:off x="7434820" y="1560239"/>
                <a:ext cx="116600" cy="60514"/>
              </a:xfrm>
              <a:prstGeom prst="ellipse">
                <a:avLst/>
              </a:prstGeom>
              <a:solidFill>
                <a:srgbClr val="00B0F0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27" name="Rounded Rectangle 126"/>
            <p:cNvSpPr/>
            <p:nvPr/>
          </p:nvSpPr>
          <p:spPr>
            <a:xfrm>
              <a:off x="6262044" y="3353709"/>
              <a:ext cx="775801" cy="32515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smtClean="0">
                  <a:solidFill>
                    <a:schemeClr val="tx1"/>
                  </a:solidFill>
                </a:rPr>
                <a:t>MCU R5F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6586280" y="2687321"/>
              <a:ext cx="775801" cy="49777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dirty="0" smtClean="0">
                  <a:solidFill>
                    <a:schemeClr val="tx1"/>
                  </a:solidFill>
                </a:rPr>
                <a:t>A72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29" name="Straight Arrow Connector 128"/>
            <p:cNvCxnSpPr>
              <a:endCxn id="127" idx="3"/>
            </p:cNvCxnSpPr>
            <p:nvPr/>
          </p:nvCxnSpPr>
          <p:spPr>
            <a:xfrm flipH="1" flipV="1">
              <a:off x="7037845" y="3516287"/>
              <a:ext cx="1112424" cy="107052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91" idx="0"/>
              <a:endCxn id="128" idx="2"/>
            </p:cNvCxnSpPr>
            <p:nvPr/>
          </p:nvCxnSpPr>
          <p:spPr>
            <a:xfrm flipH="1" flipV="1">
              <a:off x="6974181" y="3185095"/>
              <a:ext cx="1176087" cy="438244"/>
            </a:xfrm>
            <a:prstGeom prst="straightConnector1">
              <a:avLst/>
            </a:prstGeom>
            <a:ln>
              <a:headEnd type="triangle" w="sm" len="med"/>
              <a:tailEnd type="triangle" w="sm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35" name="Rounded Rectangle 134"/>
            <p:cNvSpPr/>
            <p:nvPr/>
          </p:nvSpPr>
          <p:spPr>
            <a:xfrm>
              <a:off x="6713959" y="2915757"/>
              <a:ext cx="520442" cy="21853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650" dirty="0" smtClean="0">
                  <a:solidFill>
                    <a:schemeClr val="tx1"/>
                  </a:solidFill>
                </a:rPr>
                <a:t>Linux Virtual MAC</a:t>
              </a:r>
              <a:endParaRPr lang="en-US" sz="650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274322" y="2840763"/>
            <a:ext cx="2124478" cy="1456563"/>
          </a:xfrm>
        </p:spPr>
        <p:txBody>
          <a:bodyPr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chemeClr val="accent1"/>
                </a:solidFill>
              </a:rPr>
              <a:t>L2 Switch </a:t>
            </a:r>
            <a:r>
              <a:rPr lang="en-US" sz="1100" b="1" dirty="0" err="1" smtClean="0">
                <a:solidFill>
                  <a:schemeClr val="accent1"/>
                </a:solidFill>
              </a:rPr>
              <a:t>Usecase</a:t>
            </a:r>
            <a:endParaRPr lang="en-US" sz="1100" b="1" dirty="0" smtClean="0">
              <a:solidFill>
                <a:schemeClr val="accent1"/>
              </a:solidFill>
            </a:endParaRPr>
          </a:p>
          <a:p>
            <a:r>
              <a:rPr lang="en-US" sz="1000" dirty="0" smtClean="0"/>
              <a:t>Traffic from any external port to any external port</a:t>
            </a:r>
          </a:p>
          <a:p>
            <a:r>
              <a:rPr lang="en-US" sz="1000" dirty="0" smtClean="0"/>
              <a:t>Features:</a:t>
            </a:r>
          </a:p>
          <a:p>
            <a:pPr lvl="1"/>
            <a:r>
              <a:rPr lang="en-US" sz="800" dirty="0" smtClean="0"/>
              <a:t>Switch </a:t>
            </a:r>
            <a:r>
              <a:rPr lang="en-US" sz="800" dirty="0" err="1" smtClean="0"/>
              <a:t>config</a:t>
            </a:r>
            <a:r>
              <a:rPr lang="en-US" sz="800" dirty="0" smtClean="0"/>
              <a:t> via UART</a:t>
            </a:r>
          </a:p>
          <a:p>
            <a:pPr lvl="1"/>
            <a:r>
              <a:rPr lang="en-US" sz="800" dirty="0" smtClean="0"/>
              <a:t>VLAN</a:t>
            </a:r>
          </a:p>
          <a:p>
            <a:pPr lvl="1"/>
            <a:r>
              <a:rPr lang="en-US" sz="800" dirty="0" smtClean="0"/>
              <a:t>Multicast</a:t>
            </a:r>
          </a:p>
          <a:p>
            <a:pPr lvl="1"/>
            <a:r>
              <a:rPr lang="en-US" sz="800" dirty="0" smtClean="0"/>
              <a:t>RGMII, 100M / 1G</a:t>
            </a:r>
          </a:p>
        </p:txBody>
      </p:sp>
      <p:sp>
        <p:nvSpPr>
          <p:cNvPr id="125" name="Content Placeholder 6"/>
          <p:cNvSpPr>
            <a:spLocks noGrp="1"/>
          </p:cNvSpPr>
          <p:nvPr>
            <p:ph sz="half" idx="1"/>
          </p:nvPr>
        </p:nvSpPr>
        <p:spPr>
          <a:xfrm>
            <a:off x="2755111" y="2840763"/>
            <a:ext cx="2225040" cy="176595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L2 Aggregator </a:t>
            </a:r>
            <a:r>
              <a:rPr lang="en-US" sz="1100" b="1" dirty="0" err="1">
                <a:solidFill>
                  <a:schemeClr val="accent1"/>
                </a:solidFill>
              </a:rPr>
              <a:t>Usecase</a:t>
            </a:r>
            <a:endParaRPr lang="en-US" sz="1100" b="1" dirty="0">
              <a:solidFill>
                <a:schemeClr val="accent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1000" dirty="0" smtClean="0"/>
              <a:t>Traffic </a:t>
            </a:r>
            <a:r>
              <a:rPr lang="en-US" sz="1000" dirty="0"/>
              <a:t>from multiple external ports aggregated and sent over external </a:t>
            </a:r>
            <a:r>
              <a:rPr lang="en-US" sz="1000" dirty="0" smtClean="0"/>
              <a:t>port</a:t>
            </a:r>
          </a:p>
          <a:p>
            <a:pPr>
              <a:buFont typeface="Arial" charset="0"/>
              <a:buChar char="•"/>
            </a:pPr>
            <a:r>
              <a:rPr lang="en-US" sz="1000" dirty="0" smtClean="0"/>
              <a:t>Features</a:t>
            </a:r>
            <a:r>
              <a:rPr lang="en-US" sz="1000" dirty="0"/>
              <a:t>:</a:t>
            </a:r>
          </a:p>
          <a:p>
            <a:pPr lvl="1"/>
            <a:r>
              <a:rPr lang="en-US" sz="800" dirty="0"/>
              <a:t>Network security</a:t>
            </a:r>
          </a:p>
          <a:p>
            <a:pPr lvl="1"/>
            <a:r>
              <a:rPr lang="en-US" sz="800" dirty="0"/>
              <a:t>Policer</a:t>
            </a:r>
          </a:p>
          <a:p>
            <a:pPr lvl="1"/>
            <a:r>
              <a:rPr lang="en-US" sz="800" dirty="0" err="1"/>
              <a:t>QoS</a:t>
            </a:r>
            <a:r>
              <a:rPr lang="en-US" sz="800" dirty="0"/>
              <a:t> / Packet priority regeneration</a:t>
            </a:r>
          </a:p>
          <a:p>
            <a:pPr lvl="1"/>
            <a:r>
              <a:rPr lang="en-US" sz="800" dirty="0" err="1"/>
              <a:t>InterVLAN</a:t>
            </a:r>
            <a:r>
              <a:rPr lang="en-US" sz="800" dirty="0"/>
              <a:t> routing</a:t>
            </a:r>
          </a:p>
        </p:txBody>
      </p:sp>
      <p:sp>
        <p:nvSpPr>
          <p:cNvPr id="126" name="Content Placeholder 6"/>
          <p:cNvSpPr>
            <a:spLocks noGrp="1"/>
          </p:cNvSpPr>
          <p:nvPr>
            <p:ph sz="half" idx="1"/>
          </p:nvPr>
        </p:nvSpPr>
        <p:spPr>
          <a:xfrm>
            <a:off x="5336462" y="2840763"/>
            <a:ext cx="2274170" cy="1639797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chemeClr val="accent1"/>
                </a:solidFill>
              </a:rPr>
              <a:t>L2 </a:t>
            </a:r>
            <a:r>
              <a:rPr lang="en-US" sz="1100" b="1" dirty="0" smtClean="0">
                <a:solidFill>
                  <a:schemeClr val="accent1"/>
                </a:solidFill>
              </a:rPr>
              <a:t>Switching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 smtClean="0">
                <a:solidFill>
                  <a:schemeClr val="accent1"/>
                </a:solidFill>
              </a:rPr>
              <a:t>with internal cores</a:t>
            </a:r>
            <a:endParaRPr lang="en-US" sz="1100" b="1" dirty="0">
              <a:solidFill>
                <a:schemeClr val="accent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1000" dirty="0" smtClean="0"/>
              <a:t>Traffic </a:t>
            </a:r>
            <a:r>
              <a:rPr lang="en-US" sz="1000" dirty="0"/>
              <a:t>from multiple external ports </a:t>
            </a:r>
            <a:r>
              <a:rPr lang="en-US" sz="1000" dirty="0" smtClean="0"/>
              <a:t>aggregated to J7 compute cores</a:t>
            </a:r>
          </a:p>
          <a:p>
            <a:pPr>
              <a:buFont typeface="Arial" charset="0"/>
              <a:buChar char="•"/>
            </a:pPr>
            <a:r>
              <a:rPr lang="en-US" sz="1000" dirty="0" smtClean="0"/>
              <a:t>Features</a:t>
            </a:r>
            <a:r>
              <a:rPr lang="en-US" sz="1000" dirty="0"/>
              <a:t>:</a:t>
            </a:r>
          </a:p>
          <a:p>
            <a:pPr lvl="1"/>
            <a:r>
              <a:rPr lang="en-US" sz="800" dirty="0" smtClean="0"/>
              <a:t>Traffic shaping</a:t>
            </a:r>
            <a:endParaRPr lang="en-US" sz="800" dirty="0"/>
          </a:p>
          <a:p>
            <a:pPr lvl="1"/>
            <a:r>
              <a:rPr lang="en-US" sz="800" dirty="0" smtClean="0"/>
              <a:t>Traffic classification</a:t>
            </a:r>
            <a:endParaRPr lang="en-US" sz="800" dirty="0"/>
          </a:p>
          <a:p>
            <a:pPr lvl="1"/>
            <a:r>
              <a:rPr lang="en-US" sz="800" dirty="0" smtClean="0"/>
              <a:t>TCP/IP (NDK) stack on Switch R5F</a:t>
            </a:r>
            <a:endParaRPr lang="en-US" sz="800" dirty="0"/>
          </a:p>
          <a:p>
            <a:pPr lvl="1"/>
            <a:r>
              <a:rPr lang="en-US" sz="800" dirty="0" smtClean="0"/>
              <a:t>Packet TX/RX from MCU R5F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9071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92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Performance</a:t>
            </a:r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2329180" y="1814830"/>
            <a:ext cx="4485640" cy="151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Content to be added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9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Performance </a:t>
            </a:r>
            <a:r>
              <a:rPr lang="en-US" sz="1800" dirty="0" err="1" smtClean="0"/>
              <a:t>Measurment</a:t>
            </a:r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2329180" y="1814830"/>
            <a:ext cx="4485640" cy="1513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Content to be added – CPU load, Network throughput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Switch Certification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5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Standards Ecosystem</a:t>
            </a:r>
            <a:endParaRPr lang="en-GB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2315783" y="704851"/>
            <a:ext cx="5100085" cy="2348230"/>
            <a:chOff x="1873823" y="618491"/>
            <a:chExt cx="5100085" cy="2348230"/>
          </a:xfrm>
        </p:grpSpPr>
        <p:grpSp>
          <p:nvGrpSpPr>
            <p:cNvPr id="94" name="Group 93"/>
            <p:cNvGrpSpPr/>
            <p:nvPr/>
          </p:nvGrpSpPr>
          <p:grpSpPr>
            <a:xfrm>
              <a:off x="1880102" y="1752600"/>
              <a:ext cx="3749142" cy="1214121"/>
              <a:chOff x="1880102" y="1752600"/>
              <a:chExt cx="3749142" cy="1214121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1880102" y="1752600"/>
                <a:ext cx="3749142" cy="121412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pic>
            <p:nvPicPr>
              <p:cNvPr id="65" name="Picture 2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91620" y="2792821"/>
                <a:ext cx="726107" cy="145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6" name="Rectangle 65"/>
              <p:cNvSpPr/>
              <p:nvPr/>
            </p:nvSpPr>
            <p:spPr>
              <a:xfrm>
                <a:off x="2068395" y="2526581"/>
                <a:ext cx="3360001" cy="2286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IEEE 802.1/IEEE 802.3/IEEE 802.1Q</a:t>
                </a:r>
              </a:p>
              <a:p>
                <a:pPr algn="ctr"/>
                <a:r>
                  <a:rPr lang="en-US" sz="700" dirty="0" smtClean="0">
                    <a:solidFill>
                      <a:schemeClr val="tx1"/>
                    </a:solidFill>
                  </a:rPr>
                  <a:t>Basic Ethernet</a:t>
                </a:r>
                <a:endParaRPr 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2068396" y="2165857"/>
                <a:ext cx="1096290" cy="30175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IEEE 802.3az</a:t>
                </a:r>
              </a:p>
              <a:p>
                <a:pPr algn="ctr"/>
                <a:r>
                  <a:rPr lang="en-US" sz="700" dirty="0" smtClean="0">
                    <a:solidFill>
                      <a:schemeClr val="tx1"/>
                    </a:solidFill>
                  </a:rPr>
                  <a:t>Energy Efficient</a:t>
                </a:r>
                <a:endParaRPr 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3244185" y="2165856"/>
                <a:ext cx="2184212" cy="30175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IEEE 802.1AS/IEEE 802.1Qav/IEEE 802.1Qat</a:t>
                </a:r>
              </a:p>
              <a:p>
                <a:pPr algn="ctr"/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IEEE 1722/IEEE 1733</a:t>
                </a:r>
                <a:endParaRPr lang="en-US" sz="500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700" dirty="0" smtClean="0">
                    <a:solidFill>
                      <a:schemeClr val="tx1"/>
                    </a:solidFill>
                  </a:rPr>
                  <a:t>AVB</a:t>
                </a:r>
                <a:endParaRPr 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2068394" y="1808481"/>
                <a:ext cx="3360001" cy="30002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IEEE 802.1AS-Rev/IEEE 802.1Qbu/IEEE 802.1Qbv/802.1Qcc/802.1Qci/</a:t>
                </a:r>
              </a:p>
              <a:p>
                <a:pPr algn="ctr"/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802.1Qch/</a:t>
                </a:r>
                <a:r>
                  <a:rPr lang="en-US" sz="5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802.1CB/</a:t>
                </a:r>
                <a:r>
                  <a:rPr lang="en-US" sz="5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en-US" sz="500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802.1CM</a:t>
                </a:r>
              </a:p>
              <a:p>
                <a:pPr algn="ctr"/>
                <a:r>
                  <a:rPr lang="en-US" sz="700" dirty="0" smtClean="0">
                    <a:solidFill>
                      <a:schemeClr val="tx1"/>
                    </a:solidFill>
                  </a:rPr>
                  <a:t>TSN</a:t>
                </a:r>
                <a:endParaRPr lang="en-US" sz="7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5646305" y="2252237"/>
              <a:ext cx="951421" cy="214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smtClean="0"/>
                <a:t>Standards Body</a:t>
              </a:r>
              <a:endParaRPr lang="en-US" sz="1000" dirty="0"/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880102" y="1147585"/>
              <a:ext cx="3749142" cy="538976"/>
              <a:chOff x="1880102" y="1147585"/>
              <a:chExt cx="3749142" cy="538976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1880102" y="1147585"/>
                <a:ext cx="3749142" cy="53897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pic>
            <p:nvPicPr>
              <p:cNvPr id="52" name="Picture 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64631" y="1223060"/>
                <a:ext cx="719707" cy="1966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" name="Picture 4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04195" y="1191676"/>
                <a:ext cx="1251109" cy="221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0706" y="1191676"/>
                <a:ext cx="1124643" cy="212782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2409068" y="1458697"/>
                <a:ext cx="230832" cy="92333"/>
              </a:xfrm>
              <a:prstGeom prst="rect">
                <a:avLst/>
              </a:prstGeom>
              <a:gradFill>
                <a:gsLst>
                  <a:gs pos="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600" dirty="0" smtClean="0"/>
                  <a:t> TC11 </a:t>
                </a:r>
                <a:endParaRPr lang="en-US" sz="600" dirty="0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293479" y="1444948"/>
                <a:ext cx="672541" cy="184666"/>
              </a:xfrm>
              <a:prstGeom prst="rect">
                <a:avLst/>
              </a:prstGeom>
              <a:gradFill>
                <a:gsLst>
                  <a:gs pos="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600" dirty="0" smtClean="0"/>
                  <a:t>TSN switch</a:t>
                </a:r>
              </a:p>
              <a:p>
                <a:pPr algn="ctr"/>
                <a:r>
                  <a:rPr lang="en-US" sz="600" dirty="0" err="1" smtClean="0"/>
                  <a:t>Avnu</a:t>
                </a:r>
                <a:r>
                  <a:rPr lang="en-US" sz="600" dirty="0" smtClean="0"/>
                  <a:t> Profile</a:t>
                </a:r>
                <a:endParaRPr lang="en-US" sz="600" dirty="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4420449" y="1443009"/>
                <a:ext cx="1025157" cy="184666"/>
              </a:xfrm>
              <a:prstGeom prst="rect">
                <a:avLst/>
              </a:prstGeom>
              <a:gradFill>
                <a:gsLst>
                  <a:gs pos="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600" dirty="0" err="1" smtClean="0"/>
                  <a:t>EthernetDriver</a:t>
                </a:r>
                <a:endParaRPr lang="en-US" sz="600" dirty="0"/>
              </a:p>
              <a:p>
                <a:pPr algn="ctr"/>
                <a:r>
                  <a:rPr lang="en-US" sz="600" dirty="0" err="1" smtClean="0"/>
                  <a:t>EthernetSwitchDriver</a:t>
                </a:r>
                <a:endParaRPr lang="en-US" sz="600" dirty="0"/>
              </a:p>
            </p:txBody>
          </p:sp>
        </p:grpSp>
        <p:sp>
          <p:nvSpPr>
            <p:cNvPr id="59" name="TextBox 58"/>
            <p:cNvSpPr txBox="1"/>
            <p:nvPr/>
          </p:nvSpPr>
          <p:spPr>
            <a:xfrm>
              <a:off x="5646301" y="1309650"/>
              <a:ext cx="1323485" cy="214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smtClean="0"/>
                <a:t>Special Interest Groups</a:t>
              </a:r>
              <a:endParaRPr lang="en-US" sz="1000" dirty="0"/>
            </a:p>
          </p:txBody>
        </p:sp>
        <p:grpSp>
          <p:nvGrpSpPr>
            <p:cNvPr id="96" name="Group 95"/>
            <p:cNvGrpSpPr/>
            <p:nvPr/>
          </p:nvGrpSpPr>
          <p:grpSpPr>
            <a:xfrm>
              <a:off x="1873823" y="618491"/>
              <a:ext cx="3749142" cy="485002"/>
              <a:chOff x="1873823" y="618491"/>
              <a:chExt cx="3749142" cy="485002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1873823" y="618491"/>
                <a:ext cx="3749142" cy="48500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/>
              </a:p>
            </p:txBody>
          </p:sp>
          <p:pic>
            <p:nvPicPr>
              <p:cNvPr id="61" name="Picture 5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53750" y="693170"/>
                <a:ext cx="1548195" cy="3356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" name="Picture 6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85633" y="693170"/>
                <a:ext cx="1742765" cy="3356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3" name="TextBox 62"/>
            <p:cNvSpPr txBox="1"/>
            <p:nvPr/>
          </p:nvSpPr>
          <p:spPr>
            <a:xfrm>
              <a:off x="5646300" y="660937"/>
              <a:ext cx="13276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smtClean="0"/>
                <a:t>Independent Test &amp;</a:t>
              </a:r>
            </a:p>
            <a:p>
              <a:r>
                <a:rPr lang="en-US" sz="1000" dirty="0" smtClean="0"/>
                <a:t>Certification Houses</a:t>
              </a:r>
              <a:endParaRPr lang="en-US" sz="1000" dirty="0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1575097" y="3263798"/>
            <a:ext cx="5993806" cy="1061743"/>
            <a:chOff x="975954" y="3157118"/>
            <a:chExt cx="5993806" cy="1061743"/>
          </a:xfrm>
        </p:grpSpPr>
        <p:grpSp>
          <p:nvGrpSpPr>
            <p:cNvPr id="98" name="Group 97"/>
            <p:cNvGrpSpPr/>
            <p:nvPr/>
          </p:nvGrpSpPr>
          <p:grpSpPr>
            <a:xfrm>
              <a:off x="3183497" y="3157118"/>
              <a:ext cx="1387565" cy="836559"/>
              <a:chOff x="3136502" y="3157118"/>
              <a:chExt cx="1387565" cy="836559"/>
            </a:xfrm>
          </p:grpSpPr>
          <p:grpSp>
            <p:nvGrpSpPr>
              <p:cNvPr id="87" name="Group 86"/>
              <p:cNvGrpSpPr/>
              <p:nvPr/>
            </p:nvGrpSpPr>
            <p:grpSpPr>
              <a:xfrm>
                <a:off x="3257648" y="3157118"/>
                <a:ext cx="571695" cy="517983"/>
                <a:chOff x="3257648" y="3019958"/>
                <a:chExt cx="571695" cy="517983"/>
              </a:xfrm>
            </p:grpSpPr>
            <p:sp>
              <p:nvSpPr>
                <p:cNvPr id="72" name="TextBox 71"/>
                <p:cNvSpPr txBox="1"/>
                <p:nvPr/>
              </p:nvSpPr>
              <p:spPr>
                <a:xfrm>
                  <a:off x="3257648" y="3019958"/>
                  <a:ext cx="571695" cy="276999"/>
                </a:xfrm>
                <a:prstGeom prst="rect">
                  <a:avLst/>
                </a:prstGeom>
                <a:gradFill>
                  <a:gsLst>
                    <a:gs pos="0">
                      <a:srgbClr val="FFEFD1"/>
                    </a:gs>
                    <a:gs pos="64999">
                      <a:srgbClr val="F0EBD5"/>
                    </a:gs>
                    <a:gs pos="100000">
                      <a:srgbClr val="D1C39F"/>
                    </a:gs>
                  </a:gsLst>
                  <a:lin ang="5400000" scaled="0"/>
                </a:gra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smtClean="0"/>
                    <a:t>Tier 1</a:t>
                  </a:r>
                  <a:endParaRPr lang="en-US" sz="1200" dirty="0"/>
                </a:p>
              </p:txBody>
            </p:sp>
            <p:sp>
              <p:nvSpPr>
                <p:cNvPr id="76" name="Right Arrow 75"/>
                <p:cNvSpPr/>
                <p:nvPr/>
              </p:nvSpPr>
              <p:spPr>
                <a:xfrm rot="16200000">
                  <a:off x="3429195" y="3233141"/>
                  <a:ext cx="228600" cy="38100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3136502" y="3738800"/>
                <a:ext cx="1387565" cy="254877"/>
                <a:chOff x="3136502" y="3644238"/>
                <a:chExt cx="1387565" cy="254877"/>
              </a:xfrm>
            </p:grpSpPr>
            <p:pic>
              <p:nvPicPr>
                <p:cNvPr id="77" name="Picture 3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36502" y="3644238"/>
                  <a:ext cx="819156" cy="2548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8" name="Rounded Rectangle 77"/>
                <p:cNvSpPr/>
                <p:nvPr/>
              </p:nvSpPr>
              <p:spPr>
                <a:xfrm>
                  <a:off x="3974950" y="3654334"/>
                  <a:ext cx="549117" cy="202978"/>
                </a:xfrm>
                <a:prstGeom prst="round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TC11</a:t>
                  </a:r>
                </a:p>
              </p:txBody>
            </p:sp>
          </p:grpSp>
        </p:grpSp>
        <p:grpSp>
          <p:nvGrpSpPr>
            <p:cNvPr id="99" name="Group 98"/>
            <p:cNvGrpSpPr/>
            <p:nvPr/>
          </p:nvGrpSpPr>
          <p:grpSpPr>
            <a:xfrm>
              <a:off x="5039494" y="3157118"/>
              <a:ext cx="1930266" cy="1061743"/>
              <a:chOff x="5039494" y="3157118"/>
              <a:chExt cx="1930266" cy="1061743"/>
            </a:xfrm>
          </p:grpSpPr>
          <p:grpSp>
            <p:nvGrpSpPr>
              <p:cNvPr id="88" name="Group 87"/>
              <p:cNvGrpSpPr/>
              <p:nvPr/>
            </p:nvGrpSpPr>
            <p:grpSpPr>
              <a:xfrm>
                <a:off x="5357001" y="3157118"/>
                <a:ext cx="535724" cy="517983"/>
                <a:chOff x="5357001" y="3019958"/>
                <a:chExt cx="535724" cy="517983"/>
              </a:xfrm>
            </p:grpSpPr>
            <p:sp>
              <p:nvSpPr>
                <p:cNvPr id="73" name="TextBox 72"/>
                <p:cNvSpPr txBox="1"/>
                <p:nvPr/>
              </p:nvSpPr>
              <p:spPr>
                <a:xfrm>
                  <a:off x="5357001" y="3019958"/>
                  <a:ext cx="535724" cy="276999"/>
                </a:xfrm>
                <a:prstGeom prst="rect">
                  <a:avLst/>
                </a:prstGeom>
                <a:gradFill>
                  <a:gsLst>
                    <a:gs pos="0">
                      <a:srgbClr val="FFEFD1"/>
                    </a:gs>
                    <a:gs pos="64999">
                      <a:srgbClr val="F0EBD5"/>
                    </a:gs>
                    <a:gs pos="100000">
                      <a:srgbClr val="D1C39F"/>
                    </a:gs>
                  </a:gsLst>
                  <a:lin ang="5400000" scaled="0"/>
                </a:gra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smtClean="0"/>
                    <a:t>OEM</a:t>
                  </a:r>
                  <a:endParaRPr lang="en-US" sz="1200" dirty="0"/>
                </a:p>
              </p:txBody>
            </p:sp>
            <p:sp>
              <p:nvSpPr>
                <p:cNvPr id="79" name="Right Arrow 78"/>
                <p:cNvSpPr/>
                <p:nvPr/>
              </p:nvSpPr>
              <p:spPr>
                <a:xfrm rot="16200000">
                  <a:off x="5510563" y="3233141"/>
                  <a:ext cx="228600" cy="38100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5039494" y="3703240"/>
                <a:ext cx="1930266" cy="515621"/>
                <a:chOff x="5039494" y="3682999"/>
                <a:chExt cx="1930266" cy="515621"/>
              </a:xfrm>
            </p:grpSpPr>
            <p:pic>
              <p:nvPicPr>
                <p:cNvPr id="80" name="Picture 3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27014" y="3943743"/>
                  <a:ext cx="819156" cy="2548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1" name="Rounded Rectangle 80"/>
                <p:cNvSpPr/>
                <p:nvPr/>
              </p:nvSpPr>
              <p:spPr>
                <a:xfrm>
                  <a:off x="6166515" y="3958919"/>
                  <a:ext cx="549117" cy="202978"/>
                </a:xfrm>
                <a:prstGeom prst="round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TC8</a:t>
                  </a:r>
                </a:p>
              </p:txBody>
            </p:sp>
            <p:pic>
              <p:nvPicPr>
                <p:cNvPr id="82" name="Picture 4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039494" y="3682999"/>
                  <a:ext cx="1127019" cy="226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3" name="Rounded Rectangle 82"/>
                <p:cNvSpPr/>
                <p:nvPr/>
              </p:nvSpPr>
              <p:spPr>
                <a:xfrm>
                  <a:off x="6164827" y="3682999"/>
                  <a:ext cx="804933" cy="202978"/>
                </a:xfrm>
                <a:prstGeom prst="round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smtClean="0">
                      <a:solidFill>
                        <a:schemeClr val="accent4">
                          <a:lumMod val="75000"/>
                        </a:schemeClr>
                      </a:solidFill>
                    </a:rPr>
                    <a:t>Automotive</a:t>
                  </a:r>
                  <a:endParaRPr lang="en-US" sz="8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97" name="Group 96"/>
            <p:cNvGrpSpPr/>
            <p:nvPr/>
          </p:nvGrpSpPr>
          <p:grpSpPr>
            <a:xfrm>
              <a:off x="975954" y="3157118"/>
              <a:ext cx="1739110" cy="989390"/>
              <a:chOff x="975954" y="3157118"/>
              <a:chExt cx="1739110" cy="989390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975954" y="3652440"/>
                <a:ext cx="1739110" cy="494068"/>
                <a:chOff x="975954" y="3550840"/>
                <a:chExt cx="1739110" cy="494068"/>
              </a:xfrm>
            </p:grpSpPr>
            <p:pic>
              <p:nvPicPr>
                <p:cNvPr id="74" name="Picture 2"/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75954" y="3880602"/>
                  <a:ext cx="857849" cy="164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84" name="Picture 83"/>
                <p:cNvPicPr>
                  <a:picLocks noChangeAspect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90600" y="3550840"/>
                  <a:ext cx="844952" cy="321082"/>
                </a:xfrm>
                <a:prstGeom prst="rect">
                  <a:avLst/>
                </a:prstGeom>
              </p:spPr>
            </p:pic>
            <p:sp>
              <p:nvSpPr>
                <p:cNvPr id="85" name="Rounded Rectangle 84"/>
                <p:cNvSpPr/>
                <p:nvPr/>
              </p:nvSpPr>
              <p:spPr>
                <a:xfrm>
                  <a:off x="1894009" y="3641419"/>
                  <a:ext cx="821055" cy="377577"/>
                </a:xfrm>
                <a:prstGeom prst="round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smtClean="0">
                      <a:solidFill>
                        <a:schemeClr val="accent4">
                          <a:lumMod val="75000"/>
                        </a:schemeClr>
                      </a:solidFill>
                    </a:rPr>
                    <a:t>Security Penetration</a:t>
                  </a:r>
                </a:p>
                <a:p>
                  <a:pPr algn="ctr"/>
                  <a:r>
                    <a:rPr lang="en-US" sz="800" dirty="0" smtClean="0">
                      <a:solidFill>
                        <a:schemeClr val="accent4">
                          <a:lumMod val="75000"/>
                        </a:schemeClr>
                      </a:solidFill>
                    </a:rPr>
                    <a:t>Testing</a:t>
                  </a:r>
                  <a:endParaRPr lang="en-US" sz="800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</p:grpSp>
          <p:grpSp>
            <p:nvGrpSpPr>
              <p:cNvPr id="86" name="Group 85"/>
              <p:cNvGrpSpPr/>
              <p:nvPr/>
            </p:nvGrpSpPr>
            <p:grpSpPr>
              <a:xfrm>
                <a:off x="1032914" y="3157118"/>
                <a:ext cx="1163652" cy="517982"/>
                <a:chOff x="1032914" y="3019958"/>
                <a:chExt cx="1163652" cy="517982"/>
              </a:xfrm>
            </p:grpSpPr>
            <p:sp>
              <p:nvSpPr>
                <p:cNvPr id="71" name="TextBox 70"/>
                <p:cNvSpPr txBox="1"/>
                <p:nvPr/>
              </p:nvSpPr>
              <p:spPr>
                <a:xfrm>
                  <a:off x="1032914" y="3019958"/>
                  <a:ext cx="1163652" cy="276999"/>
                </a:xfrm>
                <a:prstGeom prst="rect">
                  <a:avLst/>
                </a:prstGeom>
                <a:gradFill>
                  <a:gsLst>
                    <a:gs pos="0">
                      <a:srgbClr val="FFEFD1"/>
                    </a:gs>
                    <a:gs pos="64999">
                      <a:srgbClr val="F0EBD5"/>
                    </a:gs>
                    <a:gs pos="100000">
                      <a:srgbClr val="D1C39F"/>
                    </a:gs>
                  </a:gsLst>
                  <a:lin ang="5400000" scaled="0"/>
                </a:gra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 smtClean="0"/>
                    <a:t>Silicon Vendor</a:t>
                  </a:r>
                  <a:endParaRPr lang="en-US" sz="1200" dirty="0"/>
                </a:p>
              </p:txBody>
            </p:sp>
            <p:sp>
              <p:nvSpPr>
                <p:cNvPr id="75" name="Right Arrow 74"/>
                <p:cNvSpPr/>
                <p:nvPr/>
              </p:nvSpPr>
              <p:spPr>
                <a:xfrm rot="16200000">
                  <a:off x="1500440" y="3233140"/>
                  <a:ext cx="228600" cy="38100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9451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Roadmap</a:t>
            </a:r>
            <a:endParaRPr lang="en-GB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52400" y="4039201"/>
            <a:ext cx="8796334" cy="0"/>
          </a:xfrm>
          <a:prstGeom prst="straightConnector1">
            <a:avLst/>
          </a:prstGeom>
          <a:ln w="349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1108" y="4165602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J7ES RTL 1.0</a:t>
            </a:r>
          </a:p>
          <a:p>
            <a:pPr algn="ctr"/>
            <a:r>
              <a:rPr lang="en-US" sz="700" dirty="0" smtClean="0"/>
              <a:t>4Q 2018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" y="3582001"/>
            <a:ext cx="1310171" cy="3429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Cadence test suite </a:t>
            </a:r>
          </a:p>
          <a:p>
            <a:pPr algn="ctr"/>
            <a:r>
              <a:rPr lang="en-US" sz="900" dirty="0"/>
              <a:t>for Switch DV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83606" y="795083"/>
            <a:ext cx="5" cy="33832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00317" y="4162254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J7ES Samples</a:t>
            </a:r>
          </a:p>
          <a:p>
            <a:pPr algn="ctr"/>
            <a:r>
              <a:rPr lang="en-US" sz="700" dirty="0" smtClean="0"/>
              <a:t>1Q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4060" y="3594100"/>
            <a:ext cx="1600200" cy="3429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Internal </a:t>
            </a:r>
            <a:r>
              <a:rPr lang="en-US" sz="900" dirty="0" smtClean="0"/>
              <a:t>Pre-Certification </a:t>
            </a:r>
            <a:endParaRPr lang="en-US" sz="900" dirty="0"/>
          </a:p>
          <a:p>
            <a:pPr algn="ctr"/>
            <a:r>
              <a:rPr lang="en-US" sz="900" dirty="0"/>
              <a:t>Test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803400" y="3617742"/>
            <a:ext cx="1381760" cy="28575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cxnSp>
        <p:nvCxnSpPr>
          <p:cNvPr id="24" name="Straight Connector 23"/>
          <p:cNvCxnSpPr/>
          <p:nvPr/>
        </p:nvCxnSpPr>
        <p:spPr>
          <a:xfrm>
            <a:off x="5851087" y="795083"/>
            <a:ext cx="0" cy="33832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71797" y="1495718"/>
            <a:ext cx="2804726" cy="2769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b="1" dirty="0"/>
              <a:t>IXIA Equipment </a:t>
            </a:r>
          </a:p>
          <a:p>
            <a:pPr algn="ctr"/>
            <a:r>
              <a:rPr lang="en-US" dirty="0"/>
              <a:t>Cost : $0 (Plan on using ICSS team’s chassis.)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0210" y="2538150"/>
            <a:ext cx="2247900" cy="2769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b="1" dirty="0"/>
              <a:t>ESCRYPT test plan </a:t>
            </a:r>
          </a:p>
          <a:p>
            <a:pPr algn="ctr"/>
            <a:r>
              <a:rPr lang="en-US" dirty="0"/>
              <a:t>Cost : $</a:t>
            </a:r>
            <a:r>
              <a:rPr lang="en-US" dirty="0" smtClean="0"/>
              <a:t>0 (</a:t>
            </a:r>
            <a:r>
              <a:rPr lang="en-US" dirty="0"/>
              <a:t>available from SVA team)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8760" y="2016934"/>
            <a:ext cx="2590800" cy="2769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b="1" dirty="0"/>
              <a:t>AVNU test plan </a:t>
            </a:r>
          </a:p>
          <a:p>
            <a:pPr algn="ctr"/>
            <a:r>
              <a:rPr lang="en-US" dirty="0"/>
              <a:t>Cost : $</a:t>
            </a:r>
            <a:r>
              <a:rPr lang="en-US" dirty="0" smtClean="0"/>
              <a:t>0 (</a:t>
            </a:r>
            <a:r>
              <a:rPr lang="en-US" dirty="0"/>
              <a:t>available to TI as </a:t>
            </a:r>
            <a:r>
              <a:rPr lang="en-US" dirty="0" err="1"/>
              <a:t>Avnu</a:t>
            </a:r>
            <a:r>
              <a:rPr lang="en-US" dirty="0"/>
              <a:t> member)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0160" y="882169"/>
            <a:ext cx="3048000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sz="600" b="1" dirty="0"/>
              <a:t>AVNU </a:t>
            </a:r>
            <a:r>
              <a:rPr lang="en-US" sz="600" b="1" dirty="0" smtClean="0"/>
              <a:t>pre-certification </a:t>
            </a:r>
            <a:r>
              <a:rPr lang="en-US" sz="600" b="1" dirty="0"/>
              <a:t>tools</a:t>
            </a:r>
          </a:p>
          <a:p>
            <a:pPr algn="ctr"/>
            <a:r>
              <a:rPr lang="en-US" sz="600" dirty="0"/>
              <a:t>Cost : $20,000 per annum for </a:t>
            </a:r>
            <a:r>
              <a:rPr lang="en-US" sz="600" dirty="0" err="1"/>
              <a:t>UNHIoL</a:t>
            </a:r>
            <a:r>
              <a:rPr lang="en-US" sz="600" dirty="0"/>
              <a:t> membership </a:t>
            </a:r>
            <a:endParaRPr lang="en-US" sz="600" dirty="0" smtClean="0"/>
          </a:p>
          <a:p>
            <a:pPr algn="ctr"/>
            <a:r>
              <a:rPr lang="en-US" sz="600" dirty="0" smtClean="0"/>
              <a:t>(Share </a:t>
            </a:r>
            <a:r>
              <a:rPr lang="en-US" sz="600" dirty="0"/>
              <a:t>with ICSS team)</a:t>
            </a:r>
          </a:p>
        </p:txBody>
      </p:sp>
      <p:pic>
        <p:nvPicPr>
          <p:cNvPr id="18" name="Picture 2" descr="C:\Users\a0875134\AppData\Local\Microsoft\Windows\INetCache\IE\36OAZCM7\jean_victor_balin_add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720" y="1305029"/>
            <a:ext cx="182881" cy="13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a0875134\AppData\Local\Microsoft\Windows\INetCache\IE\36OAZCM7\jean_victor_balin_add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720" y="1826245"/>
            <a:ext cx="182881" cy="13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C:\Users\a0875134\AppData\Local\Microsoft\Windows\INetCache\IE\36OAZCM7\jean_victor_balin_add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720" y="2347461"/>
            <a:ext cx="182881" cy="13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ounded Rectangle 20"/>
          <p:cNvSpPr/>
          <p:nvPr/>
        </p:nvSpPr>
        <p:spPr>
          <a:xfrm>
            <a:off x="2397761" y="768748"/>
            <a:ext cx="3352799" cy="2681364"/>
          </a:xfrm>
          <a:prstGeom prst="roundRect">
            <a:avLst>
              <a:gd name="adj" fmla="val 3379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2" name="TextBox 21"/>
          <p:cNvSpPr txBox="1"/>
          <p:nvPr/>
        </p:nvSpPr>
        <p:spPr>
          <a:xfrm>
            <a:off x="2950210" y="3059369"/>
            <a:ext cx="2247900" cy="27699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b="1" dirty="0"/>
              <a:t>OPEN ALLIANCE TC 11 test plan </a:t>
            </a:r>
          </a:p>
          <a:p>
            <a:pPr algn="ctr"/>
            <a:r>
              <a:rPr lang="en-US" dirty="0"/>
              <a:t>Cost : $</a:t>
            </a:r>
            <a:r>
              <a:rPr lang="en-US" dirty="0" smtClean="0"/>
              <a:t>0 (</a:t>
            </a:r>
            <a:r>
              <a:rPr lang="en-US" dirty="0"/>
              <a:t>open access)</a:t>
            </a:r>
          </a:p>
        </p:txBody>
      </p:sp>
      <p:pic>
        <p:nvPicPr>
          <p:cNvPr id="23" name="Picture 2" descr="C:\Users\a0875134\AppData\Local\Microsoft\Windows\INetCache\IE\36OAZCM7\jean_victor_balin_add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720" y="2868677"/>
            <a:ext cx="182881" cy="13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5588824" y="4162254"/>
            <a:ext cx="529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SDK 1.0</a:t>
            </a:r>
          </a:p>
          <a:p>
            <a:pPr algn="ctr"/>
            <a:r>
              <a:rPr lang="en-US" sz="700" dirty="0" smtClean="0"/>
              <a:t>3Q 2019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4953000" y="1434109"/>
            <a:ext cx="3777294" cy="2388593"/>
            <a:chOff x="4953000" y="1383309"/>
            <a:chExt cx="3777294" cy="2388593"/>
          </a:xfrm>
        </p:grpSpPr>
        <p:sp>
          <p:nvSpPr>
            <p:cNvPr id="26" name="Rectangle 25"/>
            <p:cNvSpPr/>
            <p:nvPr/>
          </p:nvSpPr>
          <p:spPr>
            <a:xfrm>
              <a:off x="4953000" y="3582615"/>
              <a:ext cx="1294978" cy="18928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6055954" y="1383309"/>
              <a:ext cx="2674340" cy="2388593"/>
              <a:chOff x="6289634" y="1383309"/>
              <a:chExt cx="2674340" cy="2388593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6289634" y="1513668"/>
                <a:ext cx="192024" cy="22582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grpSp>
            <p:nvGrpSpPr>
              <p:cNvPr id="46" name="Group 45"/>
              <p:cNvGrpSpPr/>
              <p:nvPr/>
            </p:nvGrpSpPr>
            <p:grpSpPr>
              <a:xfrm>
                <a:off x="6340068" y="1383309"/>
                <a:ext cx="2623906" cy="408623"/>
                <a:chOff x="6395948" y="1332509"/>
                <a:chExt cx="2623906" cy="408623"/>
              </a:xfrm>
            </p:grpSpPr>
            <p:sp>
              <p:nvSpPr>
                <p:cNvPr id="28" name="Right Arrow 27"/>
                <p:cNvSpPr/>
                <p:nvPr/>
              </p:nvSpPr>
              <p:spPr>
                <a:xfrm>
                  <a:off x="6395948" y="1393945"/>
                  <a:ext cx="762000" cy="285750"/>
                </a:xfrm>
                <a:prstGeom prst="rightArrow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/>
                </a:p>
              </p:txBody>
            </p:sp>
            <p:sp>
              <p:nvSpPr>
                <p:cNvPr id="31" name="Rounded Rectangle 30"/>
                <p:cNvSpPr/>
                <p:nvPr/>
              </p:nvSpPr>
              <p:spPr>
                <a:xfrm>
                  <a:off x="7157720" y="1332509"/>
                  <a:ext cx="1862134" cy="408623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b="1" dirty="0" err="1">
                      <a:solidFill>
                        <a:schemeClr val="dk1"/>
                      </a:solidFill>
                    </a:rPr>
                    <a:t>Ruetz</a:t>
                  </a:r>
                  <a:r>
                    <a:rPr lang="en-US" sz="600" b="1" dirty="0">
                      <a:solidFill>
                        <a:schemeClr val="dk1"/>
                      </a:solidFill>
                    </a:rPr>
                    <a:t> Systems </a:t>
                  </a:r>
                </a:p>
                <a:p>
                  <a:pPr algn="ctr"/>
                  <a:r>
                    <a:rPr lang="en-US" sz="600" b="1" dirty="0">
                      <a:solidFill>
                        <a:schemeClr val="dk1"/>
                      </a:solidFill>
                    </a:rPr>
                    <a:t>Switch Qualification Certification</a:t>
                  </a:r>
                </a:p>
                <a:p>
                  <a:pPr algn="ctr"/>
                  <a:r>
                    <a:rPr lang="en-US" sz="600" dirty="0">
                      <a:solidFill>
                        <a:schemeClr val="dk1"/>
                      </a:solidFill>
                    </a:rPr>
                    <a:t>Cost : unknown</a:t>
                  </a: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6340068" y="2132611"/>
                <a:ext cx="2623906" cy="408623"/>
                <a:chOff x="6395948" y="2132611"/>
                <a:chExt cx="2623906" cy="408623"/>
              </a:xfrm>
            </p:grpSpPr>
            <p:sp>
              <p:nvSpPr>
                <p:cNvPr id="29" name="Right Arrow 28"/>
                <p:cNvSpPr/>
                <p:nvPr/>
              </p:nvSpPr>
              <p:spPr>
                <a:xfrm>
                  <a:off x="6395948" y="2199159"/>
                  <a:ext cx="762000" cy="285750"/>
                </a:xfrm>
                <a:prstGeom prst="rightArrow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/>
                </a:p>
              </p:txBody>
            </p:sp>
            <p:sp>
              <p:nvSpPr>
                <p:cNvPr id="33" name="Rounded Rectangle 32"/>
                <p:cNvSpPr/>
                <p:nvPr/>
              </p:nvSpPr>
              <p:spPr>
                <a:xfrm>
                  <a:off x="7157720" y="2132611"/>
                  <a:ext cx="1862134" cy="408623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b="1" dirty="0" err="1">
                      <a:solidFill>
                        <a:schemeClr val="dk1"/>
                      </a:solidFill>
                    </a:rPr>
                    <a:t>UNHIoL</a:t>
                  </a:r>
                  <a:endParaRPr lang="en-US" sz="600" b="1" dirty="0">
                    <a:solidFill>
                      <a:schemeClr val="dk1"/>
                    </a:solidFill>
                  </a:endParaRPr>
                </a:p>
                <a:p>
                  <a:pPr algn="ctr"/>
                  <a:r>
                    <a:rPr lang="en-US" sz="600" b="1" dirty="0">
                      <a:solidFill>
                        <a:schemeClr val="dk1"/>
                      </a:solidFill>
                    </a:rPr>
                    <a:t>AVNU TSN switch certification</a:t>
                  </a:r>
                </a:p>
                <a:p>
                  <a:pPr algn="ctr"/>
                  <a:r>
                    <a:rPr lang="en-US" sz="600" dirty="0">
                      <a:solidFill>
                        <a:schemeClr val="dk1"/>
                      </a:solidFill>
                    </a:rPr>
                    <a:t>Cost : ~ $10K</a:t>
                  </a:r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6340068" y="2831461"/>
                <a:ext cx="2623906" cy="408623"/>
                <a:chOff x="6395948" y="2831461"/>
                <a:chExt cx="2623906" cy="408623"/>
              </a:xfrm>
            </p:grpSpPr>
            <p:sp>
              <p:nvSpPr>
                <p:cNvPr id="30" name="Right Arrow 29"/>
                <p:cNvSpPr/>
                <p:nvPr/>
              </p:nvSpPr>
              <p:spPr>
                <a:xfrm>
                  <a:off x="6395948" y="2908154"/>
                  <a:ext cx="762000" cy="285750"/>
                </a:xfrm>
                <a:prstGeom prst="rightArrow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/>
                </a:p>
              </p:txBody>
            </p:sp>
            <p:sp>
              <p:nvSpPr>
                <p:cNvPr id="35" name="Rounded Rectangle 34"/>
                <p:cNvSpPr/>
                <p:nvPr/>
              </p:nvSpPr>
              <p:spPr>
                <a:xfrm>
                  <a:off x="7157720" y="2831461"/>
                  <a:ext cx="1862134" cy="408623"/>
                </a:xfrm>
                <a:prstGeom prst="roundRect">
                  <a:avLst/>
                </a:prstGeom>
                <a:ln/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b="1" dirty="0">
                      <a:solidFill>
                        <a:schemeClr val="dk1"/>
                      </a:solidFill>
                    </a:rPr>
                    <a:t>ESCRYPT</a:t>
                  </a:r>
                </a:p>
                <a:p>
                  <a:pPr algn="ctr"/>
                  <a:r>
                    <a:rPr lang="en-US" sz="600" b="1" dirty="0">
                      <a:solidFill>
                        <a:schemeClr val="dk1"/>
                      </a:solidFill>
                    </a:rPr>
                    <a:t>Security pen test certification</a:t>
                  </a:r>
                </a:p>
                <a:p>
                  <a:pPr algn="ctr"/>
                  <a:r>
                    <a:rPr lang="en-US" sz="600" dirty="0">
                      <a:solidFill>
                        <a:schemeClr val="dk1"/>
                      </a:solidFill>
                    </a:rPr>
                    <a:t>Cost : ~ $50K</a:t>
                  </a:r>
                </a:p>
              </p:txBody>
            </p:sp>
          </p:grpSp>
        </p:grpSp>
      </p:grpSp>
      <p:sp>
        <p:nvSpPr>
          <p:cNvPr id="37" name="TextBox 36"/>
          <p:cNvSpPr txBox="1"/>
          <p:nvPr/>
        </p:nvSpPr>
        <p:spPr>
          <a:xfrm>
            <a:off x="7733417" y="4158681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Timeline</a:t>
            </a:r>
          </a:p>
          <a:p>
            <a:pPr algn="ctr"/>
            <a:r>
              <a:rPr lang="en-US" sz="700" dirty="0" smtClean="0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35711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 Switch – </a:t>
            </a:r>
            <a:r>
              <a:rPr lang="en-US" sz="1800" dirty="0" smtClean="0"/>
              <a:t>Linux Virtual Net Driver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401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31fdf69a6e48eddb4a74ef659ef72f4414e155"/>
</p:tagLst>
</file>

<file path=ppt/theme/theme1.xml><?xml version="1.0" encoding="utf-8"?>
<a:theme xmlns:a="http://schemas.openxmlformats.org/drawingml/2006/main" name="18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EAEAE"/>
      </a:accent2>
      <a:accent3>
        <a:srgbClr val="117788"/>
      </a:accent3>
      <a:accent4>
        <a:srgbClr val="404040"/>
      </a:accent4>
      <a:accent5>
        <a:srgbClr val="7F7F7F"/>
      </a:accent5>
      <a:accent6>
        <a:srgbClr val="32B4CE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rgbClr val="0070C0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B420BBC05F5244940A1E818F79C7AF" ma:contentTypeVersion="0" ma:contentTypeDescription="Create a new document." ma:contentTypeScope="" ma:versionID="49ecaff274fe03049a3e3acd8ed2364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CEA07F-32D3-4699-B7A0-267307987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CA70B8-2204-44B4-AFD2-12013126BE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BE5DF2-36E4-400E-9512-92B6A1A2D33B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15692</TotalTime>
  <Words>2513</Words>
  <Application>Microsoft Office PowerPoint</Application>
  <PresentationFormat>On-screen Show (16:9)</PresentationFormat>
  <Paragraphs>760</Paragraphs>
  <Slides>41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18_FinalPowerpoint</vt:lpstr>
      <vt:lpstr>2_FinalPowerpoint</vt:lpstr>
      <vt:lpstr>Document</vt:lpstr>
      <vt:lpstr> Jacinto™ Automotive Processor </vt:lpstr>
      <vt:lpstr>Agenda</vt:lpstr>
      <vt:lpstr>Ethernet SwitcH</vt:lpstr>
      <vt:lpstr>Ethernet Switch – CPSW Functional Block Diagram</vt:lpstr>
      <vt:lpstr>Ethernet Switch – Feature Overview</vt:lpstr>
      <vt:lpstr>Ethernet Switch – Auto Use-cases entitlement </vt:lpstr>
      <vt:lpstr>Ethernet Switch – Feature Summary</vt:lpstr>
      <vt:lpstr>Ethernet SWITCH</vt:lpstr>
      <vt:lpstr>Ethernet Switch – Data Flow</vt:lpstr>
      <vt:lpstr>Ethernet Switch – Data Flow Detailed</vt:lpstr>
      <vt:lpstr>Ethernet Switch – Ref. AUTO Use-case</vt:lpstr>
      <vt:lpstr>Ethernet Switch – Software Stack</vt:lpstr>
      <vt:lpstr>Ethernet SWITCH</vt:lpstr>
      <vt:lpstr>Ethernet Switch – EthFw 1.0: IS / IS NOT</vt:lpstr>
      <vt:lpstr>Ethernet SWITCH</vt:lpstr>
      <vt:lpstr>Ethernet Switch – Jacinto 7 EVM Baseboard</vt:lpstr>
      <vt:lpstr>Ethernet Switch – GESI Board</vt:lpstr>
      <vt:lpstr>Ethernet SWITCH</vt:lpstr>
      <vt:lpstr>Ethernet Switch – Firewall</vt:lpstr>
      <vt:lpstr>Ethernet Switch – Classification and InterVLAN Routing</vt:lpstr>
      <vt:lpstr>Gateway Demo: CAN  Ethernet</vt:lpstr>
      <vt:lpstr>Ethernet SWITCH</vt:lpstr>
      <vt:lpstr>Ethernet Switch – CPSW Integration</vt:lpstr>
      <vt:lpstr>Ethernet Switch – PHY Integration</vt:lpstr>
      <vt:lpstr>Ethernet SWITCH</vt:lpstr>
      <vt:lpstr>Ethernet Switch – Switch Configuration</vt:lpstr>
      <vt:lpstr>Ethernet Switch – Debugging</vt:lpstr>
      <vt:lpstr>Q &amp; A</vt:lpstr>
      <vt:lpstr>backup</vt:lpstr>
      <vt:lpstr>Ethernet Switch – Key Usecases</vt:lpstr>
      <vt:lpstr>Ethernet Switch – Integrated Switch Key Value Propositions</vt:lpstr>
      <vt:lpstr>Ethernet Switch – Release Plan</vt:lpstr>
      <vt:lpstr>Ethernet Switch – Usecases Entitlement</vt:lpstr>
      <vt:lpstr>Ethernet Switch – Customer Enablement &amp; Demos</vt:lpstr>
      <vt:lpstr>Ethernet SWITCH</vt:lpstr>
      <vt:lpstr>Ethernet Switch – Performance</vt:lpstr>
      <vt:lpstr>Ethernet Switch – Performance Measurment</vt:lpstr>
      <vt:lpstr>Ethernet SWITCH</vt:lpstr>
      <vt:lpstr>Ethernet Switch – Standards Ecosystem</vt:lpstr>
      <vt:lpstr>Ethernet Switch – Roadmap</vt:lpstr>
      <vt:lpstr>Ethernet Switch – Linux Virtual Net Driver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Marie Elizabeth St. Hilaire</dc:creator>
  <cp:lastModifiedBy>Jondhale, Prasad</cp:lastModifiedBy>
  <cp:revision>733</cp:revision>
  <dcterms:created xsi:type="dcterms:W3CDTF">2015-07-10T14:14:35Z</dcterms:created>
  <dcterms:modified xsi:type="dcterms:W3CDTF">2019-08-07T11:54:12Z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0x01010084B420BBC05F5244940A1E818F79C7AF</vt:lpwstr>
  </property>
</Properties>
</file>