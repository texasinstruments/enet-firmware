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76" r:id="rId2"/>
    <p:sldId id="277" r:id="rId3"/>
    <p:sldId id="290" r:id="rId4"/>
    <p:sldId id="293" r:id="rId5"/>
    <p:sldId id="291" r:id="rId6"/>
    <p:sldId id="286" r:id="rId7"/>
    <p:sldId id="287" r:id="rId8"/>
    <p:sldId id="288" r:id="rId9"/>
    <p:sldId id="292" r:id="rId10"/>
    <p:sldId id="289" r:id="rId11"/>
  </p:sldIdLst>
  <p:sldSz cx="9144000" cy="5143500" type="screen16x9"/>
  <p:notesSz cx="9296400" cy="147701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38089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76179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14268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52357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1904467" algn="l" defTabSz="76179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285362" algn="l" defTabSz="76179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2666253" algn="l" defTabSz="76179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047146" algn="l" defTabSz="76179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A4A3A4"/>
          </p15:clr>
        </p15:guide>
        <p15:guide id="2" pos="2878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4652">
          <p15:clr>
            <a:srgbClr val="A4A3A4"/>
          </p15:clr>
        </p15:guide>
        <p15:guide id="2" pos="292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AAAA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65" autoAdjust="0"/>
    <p:restoredTop sz="94598" autoAdjust="0"/>
  </p:normalViewPr>
  <p:slideViewPr>
    <p:cSldViewPr snapToGrid="0">
      <p:cViewPr varScale="1">
        <p:scale>
          <a:sx n="116" d="100"/>
          <a:sy n="116" d="100"/>
        </p:scale>
        <p:origin x="-786" y="-102"/>
      </p:cViewPr>
      <p:guideLst>
        <p:guide orient="horz" pos="1620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49" d="100"/>
          <a:sy n="49" d="100"/>
        </p:scale>
        <p:origin x="-1512" y="-90"/>
      </p:cViewPr>
      <p:guideLst>
        <p:guide orient="horz" pos="4652"/>
        <p:guide pos="292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4027944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66329" y="2"/>
            <a:ext cx="4027943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t" anchorCtr="0" compatLnSpc="1">
            <a:prstTxWarp prst="textNoShape">
              <a:avLst/>
            </a:prstTxWarp>
          </a:bodyPr>
          <a:lstStyle>
            <a:lvl1pPr algn="r">
              <a:defRPr sz="18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14030071"/>
            <a:ext cx="4027944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b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66329" y="14030071"/>
            <a:ext cx="4027943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b" anchorCtr="0" compatLnSpc="1">
            <a:prstTxWarp prst="textNoShape">
              <a:avLst/>
            </a:prstTxWarp>
          </a:bodyPr>
          <a:lstStyle>
            <a:lvl1pPr algn="r">
              <a:defRPr sz="1800"/>
            </a:lvl1pPr>
          </a:lstStyle>
          <a:p>
            <a:pPr>
              <a:defRPr/>
            </a:pPr>
            <a:fld id="{8D56EAE8-38CB-4EE5-8A34-F5F49B68F2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0079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4027944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66329" y="2"/>
            <a:ext cx="4027943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t" anchorCtr="0" compatLnSpc="1">
            <a:prstTxWarp prst="textNoShape">
              <a:avLst/>
            </a:prstTxWarp>
          </a:bodyPr>
          <a:lstStyle>
            <a:lvl1pPr algn="r">
              <a:defRPr sz="18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-274638" y="1108075"/>
            <a:ext cx="9845676" cy="55387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18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9854" y="7016308"/>
            <a:ext cx="7436693" cy="66450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218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14030071"/>
            <a:ext cx="4027944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b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18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66329" y="14030071"/>
            <a:ext cx="4027943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b" anchorCtr="0" compatLnSpc="1">
            <a:prstTxWarp prst="textNoShape">
              <a:avLst/>
            </a:prstTxWarp>
          </a:bodyPr>
          <a:lstStyle>
            <a:lvl1pPr algn="r">
              <a:defRPr sz="1800"/>
            </a:lvl1pPr>
          </a:lstStyle>
          <a:p>
            <a:pPr>
              <a:defRPr/>
            </a:pPr>
            <a:fld id="{BED2394B-E06C-4DC9-BCC2-551C3DED9A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03543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1pPr>
    <a:lvl2pPr marL="380895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2pPr>
    <a:lvl3pPr marL="76179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3pPr>
    <a:lvl4pPr marL="1142683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4pPr>
    <a:lvl5pPr marL="1523573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5pPr>
    <a:lvl6pPr marL="1904467" algn="l" defTabSz="76179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2285362" algn="l" defTabSz="76179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2666253" algn="l" defTabSz="76179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3047146" algn="l" defTabSz="76179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4638" y="1108075"/>
            <a:ext cx="9845676" cy="55387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CDB2E-784E-4BFA-A74B-E1A1A9648D8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514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4638" y="1108075"/>
            <a:ext cx="9845676" cy="55387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7BDFBA-F4E5-451E-AF2F-ABF80F15078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6696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1362090"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3C3B5-9CFC-4B60-AD1F-942309290D4C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667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457331"/>
            <a:ext cx="8458200" cy="1102519"/>
          </a:xfrm>
        </p:spPr>
        <p:txBody>
          <a:bodyPr/>
          <a:lstStyle>
            <a:lvl1pPr>
              <a:defRPr sz="33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2774158"/>
            <a:ext cx="8458200" cy="1114425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2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4529137"/>
            <a:ext cx="2133600" cy="15478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BA23CF-AA30-4A18-B744-605C3E9DBF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D9AC919B-4D01-4240-BDFD-860B66B017A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457331"/>
            <a:ext cx="8458200" cy="1102519"/>
          </a:xfrm>
        </p:spPr>
        <p:txBody>
          <a:bodyPr/>
          <a:lstStyle>
            <a:lvl1pPr>
              <a:defRPr sz="33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2774158"/>
            <a:ext cx="8458200" cy="1114425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2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4529137"/>
            <a:ext cx="2133600" cy="15478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7E7816-A48B-4805-9A47-CE865F4F101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-6263" y="4706938"/>
            <a:ext cx="8826500" cy="388620"/>
            <a:chOff x="0" y="6321425"/>
            <a:chExt cx="10591800" cy="466344"/>
          </a:xfrm>
        </p:grpSpPr>
        <p:sp>
          <p:nvSpPr>
            <p:cNvPr id="21" name="Rectangle 20"/>
            <p:cNvSpPr/>
            <p:nvPr userDrawn="1"/>
          </p:nvSpPr>
          <p:spPr>
            <a:xfrm>
              <a:off x="0" y="6321425"/>
              <a:ext cx="10591800" cy="4663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AAAAA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22" name="Picture 27" descr="ti_logo_powerpoint_1_line.png"/>
            <p:cNvPicPr>
              <a:picLocks noChangeAspect="1"/>
            </p:cNvPicPr>
            <p:nvPr userDrawn="1"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8593138" y="6440488"/>
              <a:ext cx="1874837" cy="231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656105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3F557F9C-1201-3A47-8D2D-7E98BF45F0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2774158"/>
            <a:ext cx="8458200" cy="1114425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2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4529137"/>
            <a:ext cx="2133600" cy="15478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7E7816-A48B-4805-9A47-CE865F4F101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-6263" y="4706938"/>
            <a:ext cx="8826500" cy="388620"/>
            <a:chOff x="0" y="6321425"/>
            <a:chExt cx="10591800" cy="466344"/>
          </a:xfrm>
        </p:grpSpPr>
        <p:sp>
          <p:nvSpPr>
            <p:cNvPr id="21" name="Rectangle 20"/>
            <p:cNvSpPr/>
            <p:nvPr userDrawn="1"/>
          </p:nvSpPr>
          <p:spPr>
            <a:xfrm>
              <a:off x="0" y="6321425"/>
              <a:ext cx="10591800" cy="4663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AAAAA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22" name="Picture 27" descr="ti_logo_powerpoint_1_line.png"/>
            <p:cNvPicPr>
              <a:picLocks noChangeAspect="1"/>
            </p:cNvPicPr>
            <p:nvPr userDrawn="1"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8593138" y="6440488"/>
              <a:ext cx="1874837" cy="231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457331"/>
            <a:ext cx="8458200" cy="1102519"/>
          </a:xfrm>
        </p:spPr>
        <p:txBody>
          <a:bodyPr/>
          <a:lstStyle>
            <a:lvl1pPr>
              <a:defRPr sz="33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12764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2DD158AE-82CC-924D-B2D9-111EE21E38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457331"/>
            <a:ext cx="8458200" cy="1102519"/>
          </a:xfrm>
        </p:spPr>
        <p:txBody>
          <a:bodyPr/>
          <a:lstStyle>
            <a:lvl1pPr>
              <a:defRPr sz="33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2774158"/>
            <a:ext cx="8458200" cy="1114425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2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4529137"/>
            <a:ext cx="2133600" cy="15478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7E7816-A48B-4805-9A47-CE865F4F101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-6263" y="4706938"/>
            <a:ext cx="8826500" cy="388620"/>
            <a:chOff x="0" y="6321425"/>
            <a:chExt cx="10591800" cy="466344"/>
          </a:xfrm>
        </p:grpSpPr>
        <p:sp>
          <p:nvSpPr>
            <p:cNvPr id="21" name="Rectangle 20"/>
            <p:cNvSpPr/>
            <p:nvPr userDrawn="1"/>
          </p:nvSpPr>
          <p:spPr>
            <a:xfrm>
              <a:off x="0" y="6321425"/>
              <a:ext cx="10591800" cy="4663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AAAAA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22" name="Picture 27" descr="ti_logo_powerpoint_1_line.png"/>
            <p:cNvPicPr>
              <a:picLocks noChangeAspect="1"/>
            </p:cNvPicPr>
            <p:nvPr userDrawn="1"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8593138" y="6440488"/>
              <a:ext cx="1874837" cy="231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154564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1BC35851-DCE0-F247-A73D-CE5DAF7E1A2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457331"/>
            <a:ext cx="8458200" cy="1102519"/>
          </a:xfrm>
        </p:spPr>
        <p:txBody>
          <a:bodyPr/>
          <a:lstStyle>
            <a:lvl1pPr>
              <a:defRPr sz="33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2774158"/>
            <a:ext cx="8458200" cy="1114425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2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4529137"/>
            <a:ext cx="2133600" cy="15478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7E7816-A48B-4805-9A47-CE865F4F101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-6263" y="4706938"/>
            <a:ext cx="8826500" cy="388620"/>
            <a:chOff x="0" y="6321425"/>
            <a:chExt cx="10591800" cy="466344"/>
          </a:xfrm>
        </p:grpSpPr>
        <p:sp>
          <p:nvSpPr>
            <p:cNvPr id="21" name="Rectangle 20"/>
            <p:cNvSpPr/>
            <p:nvPr userDrawn="1"/>
          </p:nvSpPr>
          <p:spPr>
            <a:xfrm>
              <a:off x="0" y="6321425"/>
              <a:ext cx="10591800" cy="4663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AAAAA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22" name="Picture 27" descr="ti_logo_powerpoint_1_line.png"/>
            <p:cNvPicPr>
              <a:picLocks noChangeAspect="1"/>
            </p:cNvPicPr>
            <p:nvPr userDrawn="1"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8593138" y="6440488"/>
              <a:ext cx="1874837" cy="231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1236614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A86DE67D-74D6-E24F-A53E-44A9C5B752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457331"/>
            <a:ext cx="8458200" cy="1102519"/>
          </a:xfrm>
        </p:spPr>
        <p:txBody>
          <a:bodyPr/>
          <a:lstStyle>
            <a:lvl1pPr>
              <a:defRPr sz="33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2774158"/>
            <a:ext cx="8458200" cy="1114425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2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4529137"/>
            <a:ext cx="2133600" cy="15478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7E7816-A48B-4805-9A47-CE865F4F101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-6263" y="4706938"/>
            <a:ext cx="8826500" cy="388620"/>
            <a:chOff x="0" y="6321425"/>
            <a:chExt cx="10591800" cy="466344"/>
          </a:xfrm>
        </p:grpSpPr>
        <p:sp>
          <p:nvSpPr>
            <p:cNvPr id="21" name="Rectangle 20"/>
            <p:cNvSpPr/>
            <p:nvPr userDrawn="1"/>
          </p:nvSpPr>
          <p:spPr>
            <a:xfrm>
              <a:off x="0" y="6321425"/>
              <a:ext cx="10591800" cy="4663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AAAAA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22" name="Picture 27" descr="ti_logo_powerpoint_1_line.png"/>
            <p:cNvPicPr>
              <a:picLocks noChangeAspect="1"/>
            </p:cNvPicPr>
            <p:nvPr userDrawn="1"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8593138" y="6440488"/>
              <a:ext cx="1874837" cy="231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2540414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1F552890-0675-5942-BD45-247DCD612F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6264" y="86"/>
            <a:ext cx="9166479" cy="5143413"/>
          </a:xfrm>
          <a:prstGeom prst="rect">
            <a:avLst/>
          </a:prstGeom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457331"/>
            <a:ext cx="8458200" cy="1102519"/>
          </a:xfrm>
        </p:spPr>
        <p:txBody>
          <a:bodyPr/>
          <a:lstStyle>
            <a:lvl1pPr>
              <a:defRPr sz="33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2774158"/>
            <a:ext cx="8458200" cy="1114425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Rectangle 2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4529137"/>
            <a:ext cx="2133600" cy="15478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55571E-02C7-4909-A943-092A83DD341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-12526" y="4706938"/>
            <a:ext cx="8826500" cy="388620"/>
            <a:chOff x="0" y="6321425"/>
            <a:chExt cx="10591800" cy="466344"/>
          </a:xfrm>
        </p:grpSpPr>
        <p:sp>
          <p:nvSpPr>
            <p:cNvPr id="17" name="Rectangle 16"/>
            <p:cNvSpPr/>
            <p:nvPr userDrawn="1"/>
          </p:nvSpPr>
          <p:spPr>
            <a:xfrm>
              <a:off x="0" y="6321425"/>
              <a:ext cx="10591800" cy="4663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AAAAA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18" name="Picture 27" descr="ti_logo_powerpoint_1_line.png"/>
            <p:cNvPicPr>
              <a:picLocks noChangeAspect="1"/>
            </p:cNvPicPr>
            <p:nvPr userDrawn="1"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8593138" y="6440488"/>
              <a:ext cx="1874837" cy="231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10444707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6B06B6E4-36B5-2A4D-8795-84CABEE4FA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457331"/>
            <a:ext cx="8458200" cy="1102519"/>
          </a:xfrm>
        </p:spPr>
        <p:txBody>
          <a:bodyPr/>
          <a:lstStyle>
            <a:lvl1pPr>
              <a:defRPr sz="33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2774158"/>
            <a:ext cx="8458200" cy="1114425"/>
          </a:xfrm>
          <a:ln/>
        </p:spPr>
        <p:txBody>
          <a:bodyPr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Rectangle 2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4529137"/>
            <a:ext cx="2133600" cy="15478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3C7E7816-A48B-4805-9A47-CE865F4F101F}" type="slidenum">
              <a:rPr lang="en-US" smtClean="0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-6263" y="4706938"/>
            <a:ext cx="8826500" cy="388620"/>
            <a:chOff x="0" y="6321425"/>
            <a:chExt cx="10591800" cy="466344"/>
          </a:xfrm>
        </p:grpSpPr>
        <p:sp>
          <p:nvSpPr>
            <p:cNvPr id="21" name="Rectangle 20"/>
            <p:cNvSpPr/>
            <p:nvPr userDrawn="1"/>
          </p:nvSpPr>
          <p:spPr>
            <a:xfrm>
              <a:off x="0" y="6321425"/>
              <a:ext cx="10591800" cy="4663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AAAAA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22" name="Picture 27" descr="ti_logo_powerpoint_1_line.png"/>
            <p:cNvPicPr>
              <a:picLocks noChangeAspect="1"/>
            </p:cNvPicPr>
            <p:nvPr userDrawn="1"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8593138" y="6440488"/>
              <a:ext cx="1874837" cy="231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3390289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378" y="786357"/>
            <a:ext cx="8467725" cy="3709449"/>
          </a:xfrm>
        </p:spPr>
        <p:txBody>
          <a:bodyPr/>
          <a:lstStyle>
            <a:lvl1pPr>
              <a:spcBef>
                <a:spcPts val="667"/>
              </a:spcBef>
              <a:defRPr/>
            </a:lvl1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97888F-6AF7-4263-B69D-592D8C33BA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7"/>
          </a:xfrm>
        </p:spPr>
        <p:txBody>
          <a:bodyPr anchor="t"/>
          <a:lstStyle>
            <a:lvl1pPr algn="l">
              <a:defRPr sz="3300" b="1" cap="all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700"/>
            </a:lvl1pPr>
            <a:lvl2pPr marL="380895" indent="0">
              <a:buNone/>
              <a:defRPr sz="1500"/>
            </a:lvl2pPr>
            <a:lvl3pPr marL="761790" indent="0">
              <a:buNone/>
              <a:defRPr sz="1300"/>
            </a:lvl3pPr>
            <a:lvl4pPr marL="1142683" indent="0">
              <a:buNone/>
              <a:defRPr sz="1200"/>
            </a:lvl4pPr>
            <a:lvl5pPr marL="1523573" indent="0">
              <a:buNone/>
              <a:defRPr sz="1200"/>
            </a:lvl5pPr>
            <a:lvl6pPr marL="1904467" indent="0">
              <a:buNone/>
              <a:defRPr sz="1200"/>
            </a:lvl6pPr>
            <a:lvl7pPr marL="2285362" indent="0">
              <a:buNone/>
              <a:defRPr sz="1200"/>
            </a:lvl7pPr>
            <a:lvl8pPr marL="2666253" indent="0">
              <a:buNone/>
              <a:defRPr sz="1200"/>
            </a:lvl8pPr>
            <a:lvl9pPr marL="3047146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38925" y="4537472"/>
            <a:ext cx="2133600" cy="154782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6118DC-F0C3-4C61-9EEA-2C495CD0458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3375" y="889398"/>
            <a:ext cx="4157663" cy="3519488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8" y="889398"/>
            <a:ext cx="4157662" cy="3519488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3548F6-AAA9-4A8D-A869-511B3DFE32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895" indent="0">
              <a:buNone/>
              <a:defRPr sz="1700" b="1"/>
            </a:lvl2pPr>
            <a:lvl3pPr marL="761790" indent="0">
              <a:buNone/>
              <a:defRPr sz="1500" b="1"/>
            </a:lvl3pPr>
            <a:lvl4pPr marL="1142683" indent="0">
              <a:buNone/>
              <a:defRPr sz="1300" b="1"/>
            </a:lvl4pPr>
            <a:lvl5pPr marL="1523573" indent="0">
              <a:buNone/>
              <a:defRPr sz="1300" b="1"/>
            </a:lvl5pPr>
            <a:lvl6pPr marL="1904467" indent="0">
              <a:buNone/>
              <a:defRPr sz="1300" b="1"/>
            </a:lvl6pPr>
            <a:lvl7pPr marL="2285362" indent="0">
              <a:buNone/>
              <a:defRPr sz="1300" b="1"/>
            </a:lvl7pPr>
            <a:lvl8pPr marL="2666253" indent="0">
              <a:buNone/>
              <a:defRPr sz="1300" b="1"/>
            </a:lvl8pPr>
            <a:lvl9pPr marL="3047146" indent="0">
              <a:buNone/>
              <a:defRPr sz="13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7"/>
            <a:ext cx="4040188" cy="2963466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895" indent="0">
              <a:buNone/>
              <a:defRPr sz="1700" b="1"/>
            </a:lvl2pPr>
            <a:lvl3pPr marL="761790" indent="0">
              <a:buNone/>
              <a:defRPr sz="1500" b="1"/>
            </a:lvl3pPr>
            <a:lvl4pPr marL="1142683" indent="0">
              <a:buNone/>
              <a:defRPr sz="1300" b="1"/>
            </a:lvl4pPr>
            <a:lvl5pPr marL="1523573" indent="0">
              <a:buNone/>
              <a:defRPr sz="1300" b="1"/>
            </a:lvl5pPr>
            <a:lvl6pPr marL="1904467" indent="0">
              <a:buNone/>
              <a:defRPr sz="1300" b="1"/>
            </a:lvl6pPr>
            <a:lvl7pPr marL="2285362" indent="0">
              <a:buNone/>
              <a:defRPr sz="1300" b="1"/>
            </a:lvl7pPr>
            <a:lvl8pPr marL="2666253" indent="0">
              <a:buNone/>
              <a:defRPr sz="1300" b="1"/>
            </a:lvl8pPr>
            <a:lvl9pPr marL="3047146" indent="0">
              <a:buNone/>
              <a:defRPr sz="13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7"/>
            <a:ext cx="4041775" cy="2963466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4C35C9-3222-4444-B33E-8AB075BE83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C52F08-588C-488E-A5AB-DF69250DE8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430B41-3034-4777-B6DE-71856D9856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8"/>
          </a:xfrm>
        </p:spPr>
        <p:txBody>
          <a:bodyPr anchor="b"/>
          <a:lstStyle>
            <a:lvl1pPr algn="l">
              <a:defRPr sz="2700" b="1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8298"/>
          </a:xfrm>
        </p:spPr>
        <p:txBody>
          <a:bodyPr/>
          <a:lstStyle>
            <a:lvl1pPr marL="0" indent="0">
              <a:buNone/>
              <a:defRPr sz="1700"/>
            </a:lvl1pPr>
            <a:lvl2pPr marL="380895" indent="0">
              <a:buNone/>
              <a:defRPr sz="1000"/>
            </a:lvl2pPr>
            <a:lvl3pPr marL="761790" indent="0">
              <a:buNone/>
              <a:defRPr sz="800"/>
            </a:lvl3pPr>
            <a:lvl4pPr marL="1142683" indent="0">
              <a:buNone/>
              <a:defRPr sz="700"/>
            </a:lvl4pPr>
            <a:lvl5pPr marL="1523573" indent="0">
              <a:buNone/>
              <a:defRPr sz="700"/>
            </a:lvl5pPr>
            <a:lvl6pPr marL="1904467" indent="0">
              <a:buNone/>
              <a:defRPr sz="700"/>
            </a:lvl6pPr>
            <a:lvl7pPr marL="2285362" indent="0">
              <a:buNone/>
              <a:defRPr sz="700"/>
            </a:lvl7pPr>
            <a:lvl8pPr marL="2666253" indent="0">
              <a:buNone/>
              <a:defRPr sz="700"/>
            </a:lvl8pPr>
            <a:lvl9pPr marL="3047146" indent="0">
              <a:buNone/>
              <a:defRPr sz="7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B97EEC-B5BC-42C5-B73F-31CC660D4D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3"/>
          </a:xfrm>
        </p:spPr>
        <p:txBody>
          <a:bodyPr anchor="b"/>
          <a:lstStyle>
            <a:lvl1pPr algn="l">
              <a:defRPr sz="2300" b="1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2"/>
            <a:ext cx="5486400" cy="3086100"/>
          </a:xfrm>
        </p:spPr>
        <p:txBody>
          <a:bodyPr/>
          <a:lstStyle>
            <a:lvl1pPr marL="0" indent="0">
              <a:buNone/>
              <a:defRPr sz="2700"/>
            </a:lvl1pPr>
            <a:lvl2pPr marL="380895" indent="0">
              <a:buNone/>
              <a:defRPr sz="2300"/>
            </a:lvl2pPr>
            <a:lvl3pPr marL="761790" indent="0">
              <a:buNone/>
              <a:defRPr sz="2000"/>
            </a:lvl3pPr>
            <a:lvl4pPr marL="1142683" indent="0">
              <a:buNone/>
              <a:defRPr sz="1700"/>
            </a:lvl4pPr>
            <a:lvl5pPr marL="1523573" indent="0">
              <a:buNone/>
              <a:defRPr sz="1700"/>
            </a:lvl5pPr>
            <a:lvl6pPr marL="1904467" indent="0">
              <a:buNone/>
              <a:defRPr sz="1700"/>
            </a:lvl6pPr>
            <a:lvl7pPr marL="2285362" indent="0">
              <a:buNone/>
              <a:defRPr sz="1700"/>
            </a:lvl7pPr>
            <a:lvl8pPr marL="2666253" indent="0">
              <a:buNone/>
              <a:defRPr sz="1700"/>
            </a:lvl8pPr>
            <a:lvl9pPr marL="3047146" indent="0">
              <a:buNone/>
              <a:defRPr sz="17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Aft>
                <a:spcPct val="0"/>
              </a:spcAft>
              <a:buNone/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895" indent="0">
              <a:buNone/>
              <a:defRPr sz="1000"/>
            </a:lvl2pPr>
            <a:lvl3pPr marL="761790" indent="0">
              <a:buNone/>
              <a:defRPr sz="800"/>
            </a:lvl3pPr>
            <a:lvl4pPr marL="1142683" indent="0">
              <a:buNone/>
              <a:defRPr sz="700"/>
            </a:lvl4pPr>
            <a:lvl5pPr marL="1523573" indent="0">
              <a:buNone/>
              <a:defRPr sz="700"/>
            </a:lvl5pPr>
            <a:lvl6pPr marL="1904467" indent="0">
              <a:buNone/>
              <a:defRPr sz="700"/>
            </a:lvl6pPr>
            <a:lvl7pPr marL="2285362" indent="0">
              <a:buNone/>
              <a:defRPr sz="700"/>
            </a:lvl7pPr>
            <a:lvl8pPr marL="2666253" indent="0">
              <a:buNone/>
              <a:defRPr sz="700"/>
            </a:lvl8pPr>
            <a:lvl9pPr marL="3047146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55F34B-1C25-4090-A4A7-9CEE84F430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FE2BCE-81FD-49AD-8F3F-8C803C0A89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59563" y="107157"/>
            <a:ext cx="2141537" cy="4301728"/>
          </a:xfrm>
        </p:spPr>
        <p:txBody>
          <a:bodyPr vert="eaVer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1775" y="107157"/>
            <a:ext cx="6275388" cy="4301728"/>
          </a:xfrm>
        </p:spPr>
        <p:txBody>
          <a:bodyPr vert="eaVert"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B3E699-3BC5-4E82-A48B-54CC42B0E6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3" y="4743450"/>
            <a:ext cx="8804275" cy="34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79" tIns="38088" rIns="76179" bIns="38088"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 userDrawn="1"/>
        </p:nvSpPr>
        <p:spPr>
          <a:xfrm>
            <a:off x="41910" y="4743450"/>
            <a:ext cx="8740140" cy="34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79" tIns="38088" rIns="76179" bIns="38088" rtlCol="0" anchor="ctr"/>
          <a:lstStyle/>
          <a:p>
            <a:pPr algn="ctr"/>
            <a:endParaRPr 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1775" y="107163"/>
            <a:ext cx="8458200" cy="610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33378" y="794149"/>
            <a:ext cx="8467725" cy="370165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642100" y="4537472"/>
            <a:ext cx="2133600" cy="1547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r">
              <a:defRPr sz="700"/>
            </a:lvl1pPr>
          </a:lstStyle>
          <a:p>
            <a:pPr>
              <a:defRPr/>
            </a:pPr>
            <a:fld id="{B6C70261-DCF8-4A97-9502-E8EEF2364C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0" y="4706938"/>
            <a:ext cx="8826500" cy="388620"/>
            <a:chOff x="0" y="6321425"/>
            <a:chExt cx="10591800" cy="466344"/>
          </a:xfrm>
        </p:grpSpPr>
        <p:sp>
          <p:nvSpPr>
            <p:cNvPr id="18" name="Rectangle 17"/>
            <p:cNvSpPr/>
            <p:nvPr userDrawn="1"/>
          </p:nvSpPr>
          <p:spPr>
            <a:xfrm>
              <a:off x="0" y="6321425"/>
              <a:ext cx="10591800" cy="4663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AAAAA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Picture 27" descr="ti_logo_powerpoint_1_line.png"/>
            <p:cNvPicPr>
              <a:picLocks noChangeAspect="1"/>
            </p:cNvPicPr>
            <p:nvPr userDrawn="1"/>
          </p:nvPicPr>
          <p:blipFill>
            <a:blip r:embed="rId20" cstate="print"/>
            <a:srcRect/>
            <a:stretch>
              <a:fillRect/>
            </a:stretch>
          </p:blipFill>
          <p:spPr bwMode="auto">
            <a:xfrm>
              <a:off x="8593138" y="6440488"/>
              <a:ext cx="1874837" cy="231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25" r:id="rId7"/>
    <p:sldLayoutId id="2147483733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  <p:sldLayoutId id="2147483718" r:id="rId18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5pPr>
      <a:lvl6pPr marL="380895" algn="l" rtl="0" fontAlgn="base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rgbClr val="FF0000"/>
          </a:solidFill>
          <a:latin typeface="Arial" charset="0"/>
        </a:defRPr>
      </a:lvl6pPr>
      <a:lvl7pPr marL="761790" algn="l" rtl="0" fontAlgn="base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rgbClr val="FF0000"/>
          </a:solidFill>
          <a:latin typeface="Arial" charset="0"/>
        </a:defRPr>
      </a:lvl7pPr>
      <a:lvl8pPr marL="1142683" algn="l" rtl="0" fontAlgn="base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rgbClr val="FF0000"/>
          </a:solidFill>
          <a:latin typeface="Arial" charset="0"/>
        </a:defRPr>
      </a:lvl8pPr>
      <a:lvl9pPr marL="1523573" algn="l" rtl="0" fontAlgn="base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rgbClr val="FF0000"/>
          </a:solidFill>
          <a:latin typeface="Arial" charset="0"/>
        </a:defRPr>
      </a:lvl9pPr>
    </p:titleStyle>
    <p:bodyStyle>
      <a:lvl1pPr marL="189124" indent="-189124" algn="l" rtl="0" eaLnBrk="0" fontAlgn="base" hangingPunct="0">
        <a:spcBef>
          <a:spcPts val="667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78763" indent="-194416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2pPr>
      <a:lvl3pPr marL="711530" indent="-137548" algn="l" rtl="0" eaLnBrk="0" fontAlgn="base" hangingPunct="0">
        <a:spcBef>
          <a:spcPct val="15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3pPr>
      <a:lvl4pPr marL="1001168" indent="-194416" algn="l" rtl="0" eaLnBrk="0" fontAlgn="base" hangingPunct="0">
        <a:spcBef>
          <a:spcPct val="5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4pPr>
      <a:lvl5pPr marL="1240546" indent="-144163" algn="l" rtl="0" eaLnBrk="0" fontAlgn="base" hangingPunct="0">
        <a:spcBef>
          <a:spcPct val="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1621441" indent="-144163" algn="l" rtl="0" fontAlgn="base">
        <a:spcBef>
          <a:spcPct val="0"/>
        </a:spcBef>
        <a:spcAft>
          <a:spcPct val="0"/>
        </a:spcAft>
        <a:buChar char="»"/>
        <a:defRPr sz="1300">
          <a:solidFill>
            <a:schemeClr val="tx1"/>
          </a:solidFill>
          <a:latin typeface="+mn-lt"/>
        </a:defRPr>
      </a:lvl6pPr>
      <a:lvl7pPr marL="2002336" indent="-144163" algn="l" rtl="0" fontAlgn="base">
        <a:spcBef>
          <a:spcPct val="0"/>
        </a:spcBef>
        <a:spcAft>
          <a:spcPct val="0"/>
        </a:spcAft>
        <a:buChar char="»"/>
        <a:defRPr sz="1300">
          <a:solidFill>
            <a:schemeClr val="tx1"/>
          </a:solidFill>
          <a:latin typeface="+mn-lt"/>
        </a:defRPr>
      </a:lvl7pPr>
      <a:lvl8pPr marL="2383230" indent="-144163" algn="l" rtl="0" fontAlgn="base">
        <a:spcBef>
          <a:spcPct val="0"/>
        </a:spcBef>
        <a:spcAft>
          <a:spcPct val="0"/>
        </a:spcAft>
        <a:buChar char="»"/>
        <a:defRPr sz="1300">
          <a:solidFill>
            <a:schemeClr val="tx1"/>
          </a:solidFill>
          <a:latin typeface="+mn-lt"/>
        </a:defRPr>
      </a:lvl8pPr>
      <a:lvl9pPr marL="2764124" indent="-144163" algn="l" rtl="0" fontAlgn="base">
        <a:spcBef>
          <a:spcPct val="0"/>
        </a:spcBef>
        <a:spcAft>
          <a:spcPct val="0"/>
        </a:spcAft>
        <a:buChar char="»"/>
        <a:defRPr sz="13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895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790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683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573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467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362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253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146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32756C0-F3BD-A849-9D79-16163D87FC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2900" y="1457333"/>
            <a:ext cx="8458200" cy="1102519"/>
          </a:xfrm>
        </p:spPr>
        <p:txBody>
          <a:bodyPr/>
          <a:lstStyle/>
          <a:p>
            <a:r>
              <a:rPr lang="en-US" dirty="0" smtClean="0"/>
              <a:t>Multi-core Time synchronization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6AFE339-852A-F647-AA92-9C097370EE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7E7816-A48B-4805-9A47-CE865F4F101F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1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5879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Why Multi-core time </a:t>
            </a:r>
            <a:r>
              <a:rPr lang="en-US" dirty="0" smtClean="0"/>
              <a:t>s</a:t>
            </a:r>
            <a:r>
              <a:rPr lang="en-US" dirty="0" smtClean="0"/>
              <a:t>ynchronization?</a:t>
            </a:r>
          </a:p>
          <a:p>
            <a:r>
              <a:rPr lang="en-US" dirty="0"/>
              <a:t>Multi-core Ethernet architecture</a:t>
            </a:r>
            <a:endParaRPr lang="en-US" dirty="0" smtClean="0"/>
          </a:p>
          <a:p>
            <a:r>
              <a:rPr lang="en-US" dirty="0" smtClean="0"/>
              <a:t>Multi-core Time-synchronization design</a:t>
            </a:r>
          </a:p>
          <a:p>
            <a:pPr lvl="1"/>
            <a:r>
              <a:rPr lang="en-US" dirty="0">
                <a:ea typeface="+mn-ea"/>
                <a:cs typeface="+mn-cs"/>
              </a:rPr>
              <a:t>Time Sync Router </a:t>
            </a:r>
            <a:r>
              <a:rPr lang="en-US" dirty="0" smtClean="0">
                <a:ea typeface="+mn-ea"/>
                <a:cs typeface="+mn-cs"/>
              </a:rPr>
              <a:t>Configuration</a:t>
            </a:r>
          </a:p>
          <a:p>
            <a:pPr lvl="1"/>
            <a:r>
              <a:rPr lang="en-US" dirty="0"/>
              <a:t>Coupling remote core timer with </a:t>
            </a:r>
            <a:r>
              <a:rPr lang="en-US" dirty="0" smtClean="0"/>
              <a:t>CPTS</a:t>
            </a:r>
          </a:p>
          <a:p>
            <a:pPr lvl="1"/>
            <a:r>
              <a:rPr lang="en-US" dirty="0"/>
              <a:t>Multi – core Time Synchronization sequence</a:t>
            </a:r>
            <a:endParaRPr lang="en-US" dirty="0">
              <a:ea typeface="+mn-ea"/>
              <a:cs typeface="+mn-cs"/>
            </a:endParaRPr>
          </a:p>
          <a:p>
            <a:r>
              <a:rPr lang="en-US" dirty="0" smtClean="0"/>
              <a:t>Example</a:t>
            </a:r>
            <a:endParaRPr lang="en-US" dirty="0" smtClean="0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2773B-7332-4E92-84CF-34A277FF245B}" type="slidenum">
              <a:rPr lang="en-US" smtClean="0">
                <a:solidFill>
                  <a:srgbClr val="000000"/>
                </a:solidFill>
              </a:rPr>
              <a:pPr/>
              <a:t>2</a:t>
            </a:fld>
            <a:endParaRPr lang="en-US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0915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Multi-core time synchronization</a:t>
            </a:r>
            <a:r>
              <a:rPr lang="en-US" dirty="0" smtClean="0"/>
              <a:t>?</a:t>
            </a:r>
            <a:endParaRPr lang="en-US" dirty="0" smtClean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Multi-core Ethernet </a:t>
            </a:r>
            <a:r>
              <a:rPr lang="en-US" dirty="0" smtClean="0"/>
              <a:t>architecture of Jacinto </a:t>
            </a:r>
            <a:r>
              <a:rPr lang="en-US" dirty="0" smtClean="0"/>
              <a:t>7 family of devices, the control path of CPSW9G IP is solely controlled by the Main domain R5 core(</a:t>
            </a:r>
            <a:r>
              <a:rPr lang="en-US" dirty="0" err="1" smtClean="0"/>
              <a:t>EthFw</a:t>
            </a:r>
            <a:r>
              <a:rPr lang="en-US" dirty="0" smtClean="0"/>
              <a:t>), </a:t>
            </a:r>
            <a:r>
              <a:rPr lang="en-US" dirty="0" smtClean="0"/>
              <a:t>preventing other cores in the </a:t>
            </a:r>
            <a:r>
              <a:rPr lang="en-US" dirty="0" err="1" smtClean="0"/>
              <a:t>SoC</a:t>
            </a:r>
            <a:r>
              <a:rPr lang="en-US" dirty="0" smtClean="0"/>
              <a:t> to change CPSW9G configurations.</a:t>
            </a:r>
          </a:p>
          <a:p>
            <a:r>
              <a:rPr lang="en-US" dirty="0" smtClean="0"/>
              <a:t>Common Platform Time Sync (CPTS), one of the IP sub-module of CPSW9G  used for packet time-stamping is also controlled solely by the </a:t>
            </a:r>
            <a:r>
              <a:rPr lang="en-US" dirty="0" err="1" smtClean="0"/>
              <a:t>EthFw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EthFw</a:t>
            </a:r>
            <a:r>
              <a:rPr lang="en-US" dirty="0" smtClean="0"/>
              <a:t> uses this CPTS timer and synchronizes itself with a master in the network using PTP stack.</a:t>
            </a:r>
          </a:p>
          <a:p>
            <a:r>
              <a:rPr lang="en-US" dirty="0" smtClean="0"/>
              <a:t>So, a mechanism to provide time synchronization support to time-sensitive applications on remote cores is necessary in Ethernet firmware.</a:t>
            </a:r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2773B-7332-4E92-84CF-34A277FF245B}" type="slidenum">
              <a:rPr lang="en-US" smtClean="0">
                <a:solidFill>
                  <a:srgbClr val="000000"/>
                </a:solidFill>
              </a:rPr>
              <a:pPr/>
              <a:t>3</a:t>
            </a:fld>
            <a:endParaRPr lang="en-US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93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Multi-core Ethernet architecture</a:t>
            </a:r>
            <a:endParaRPr lang="en-GB" dirty="0"/>
          </a:p>
        </p:txBody>
      </p:sp>
      <p:grpSp>
        <p:nvGrpSpPr>
          <p:cNvPr id="13" name="Group 12"/>
          <p:cNvGrpSpPr/>
          <p:nvPr/>
        </p:nvGrpSpPr>
        <p:grpSpPr>
          <a:xfrm>
            <a:off x="457977" y="628988"/>
            <a:ext cx="7695424" cy="3026568"/>
            <a:chOff x="114980" y="648756"/>
            <a:chExt cx="8933333" cy="4560374"/>
          </a:xfrm>
        </p:grpSpPr>
        <p:grpSp>
          <p:nvGrpSpPr>
            <p:cNvPr id="3" name="Group 2"/>
            <p:cNvGrpSpPr/>
            <p:nvPr/>
          </p:nvGrpSpPr>
          <p:grpSpPr>
            <a:xfrm>
              <a:off x="138357" y="4355502"/>
              <a:ext cx="1224298" cy="226080"/>
              <a:chOff x="296852" y="4505996"/>
              <a:chExt cx="1224298" cy="203472"/>
            </a:xfrm>
          </p:grpSpPr>
          <p:cxnSp>
            <p:nvCxnSpPr>
              <p:cNvPr id="4" name="Straight Arrow Connector 3"/>
              <p:cNvCxnSpPr/>
              <p:nvPr/>
            </p:nvCxnSpPr>
            <p:spPr>
              <a:xfrm>
                <a:off x="296852" y="4582940"/>
                <a:ext cx="332941" cy="0"/>
              </a:xfrm>
              <a:prstGeom prst="straightConnector1">
                <a:avLst/>
              </a:prstGeom>
              <a:ln w="19050">
                <a:solidFill>
                  <a:schemeClr val="accent1"/>
                </a:solidFill>
                <a:tailEnd type="arrow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TextBox 5"/>
              <p:cNvSpPr txBox="1"/>
              <p:nvPr/>
            </p:nvSpPr>
            <p:spPr>
              <a:xfrm>
                <a:off x="629794" y="4505996"/>
                <a:ext cx="891356" cy="203472"/>
              </a:xfrm>
              <a:prstGeom prst="rect">
                <a:avLst/>
              </a:prstGeom>
              <a:noFill/>
            </p:spPr>
            <p:txBody>
              <a:bodyPr wrap="none" lIns="57150" tIns="28575" rIns="57150" bIns="28575" rtlCol="0">
                <a:spAutoFit/>
              </a:bodyPr>
              <a:lstStyle/>
              <a:p>
                <a:r>
                  <a:rPr lang="en-US" sz="600" dirty="0"/>
                  <a:t>Direct Control Path</a:t>
                </a:r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>
              <a:off x="152898" y="4514020"/>
              <a:ext cx="1124156" cy="226080"/>
              <a:chOff x="311393" y="4632579"/>
              <a:chExt cx="1124156" cy="203472"/>
            </a:xfrm>
          </p:grpSpPr>
          <p:cxnSp>
            <p:nvCxnSpPr>
              <p:cNvPr id="8" name="Straight Arrow Connector 7"/>
              <p:cNvCxnSpPr/>
              <p:nvPr/>
            </p:nvCxnSpPr>
            <p:spPr>
              <a:xfrm>
                <a:off x="311393" y="4709523"/>
                <a:ext cx="332941" cy="0"/>
              </a:xfrm>
              <a:prstGeom prst="straightConnector1">
                <a:avLst/>
              </a:prstGeom>
              <a:ln w="19050">
                <a:solidFill>
                  <a:schemeClr val="accent1"/>
                </a:solidFill>
                <a:prstDash val="dash"/>
                <a:tailEnd type="arrow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extBox 8"/>
              <p:cNvSpPr txBox="1"/>
              <p:nvPr/>
            </p:nvSpPr>
            <p:spPr>
              <a:xfrm>
                <a:off x="629793" y="4632579"/>
                <a:ext cx="805756" cy="203472"/>
              </a:xfrm>
              <a:prstGeom prst="rect">
                <a:avLst/>
              </a:prstGeom>
              <a:noFill/>
            </p:spPr>
            <p:txBody>
              <a:bodyPr wrap="none" lIns="57150" tIns="28575" rIns="57150" bIns="28575" rtlCol="0">
                <a:spAutoFit/>
              </a:bodyPr>
              <a:lstStyle/>
              <a:p>
                <a:r>
                  <a:rPr lang="en-US" sz="600" dirty="0"/>
                  <a:t>IPC Control Path</a:t>
                </a:r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38358" y="4672538"/>
              <a:ext cx="1123809" cy="226080"/>
              <a:chOff x="296853" y="4791329"/>
              <a:chExt cx="1123809" cy="203472"/>
            </a:xfrm>
          </p:grpSpPr>
          <p:cxnSp>
            <p:nvCxnSpPr>
              <p:cNvPr id="11" name="Straight Arrow Connector 10"/>
              <p:cNvCxnSpPr>
                <a:endCxn id="12" idx="1"/>
              </p:cNvCxnSpPr>
              <p:nvPr/>
            </p:nvCxnSpPr>
            <p:spPr>
              <a:xfrm>
                <a:off x="296853" y="4893065"/>
                <a:ext cx="332940" cy="0"/>
              </a:xfrm>
              <a:prstGeom prst="straightConnector1">
                <a:avLst/>
              </a:prstGeom>
              <a:ln w="19050">
                <a:solidFill>
                  <a:srgbClr val="0070C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Box 11"/>
              <p:cNvSpPr txBox="1"/>
              <p:nvPr/>
            </p:nvSpPr>
            <p:spPr>
              <a:xfrm>
                <a:off x="629793" y="4791329"/>
                <a:ext cx="790869" cy="203472"/>
              </a:xfrm>
              <a:prstGeom prst="rect">
                <a:avLst/>
              </a:prstGeom>
              <a:noFill/>
            </p:spPr>
            <p:txBody>
              <a:bodyPr wrap="none" lIns="57150" tIns="28575" rIns="57150" bIns="28575" rtlCol="0">
                <a:spAutoFit/>
              </a:bodyPr>
              <a:lstStyle/>
              <a:p>
                <a:r>
                  <a:rPr lang="en-US" sz="600" dirty="0"/>
                  <a:t>Direct Data Path</a:t>
                </a:r>
              </a:p>
            </p:txBody>
          </p:sp>
        </p:grpSp>
        <p:sp>
          <p:nvSpPr>
            <p:cNvPr id="99" name="Rectangle 98"/>
            <p:cNvSpPr/>
            <p:nvPr/>
          </p:nvSpPr>
          <p:spPr>
            <a:xfrm>
              <a:off x="4626249" y="4264379"/>
              <a:ext cx="214252" cy="12669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150" tIns="28575" rIns="57150" bIns="28575" rtlCol="0" anchor="ctr"/>
            <a:lstStyle/>
            <a:p>
              <a:pPr algn="r"/>
              <a:endParaRPr lang="en-US"/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4381363" y="4861317"/>
              <a:ext cx="1044161" cy="3478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900"/>
              </a:lvl1pPr>
            </a:lstStyle>
            <a:p>
              <a:pPr algn="ctr"/>
              <a:r>
                <a:rPr lang="en-US" dirty="0"/>
                <a:t>MAC Ports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4833639" y="4155814"/>
              <a:ext cx="687201" cy="5565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 smtClean="0"/>
                <a:t>Host Port</a:t>
              </a:r>
              <a:endParaRPr lang="en-US" sz="900" dirty="0"/>
            </a:p>
          </p:txBody>
        </p:sp>
        <p:cxnSp>
          <p:nvCxnSpPr>
            <p:cNvPr id="121" name="Elbow Connector 120"/>
            <p:cNvCxnSpPr/>
            <p:nvPr/>
          </p:nvCxnSpPr>
          <p:spPr>
            <a:xfrm rot="5400000">
              <a:off x="2489751" y="2925553"/>
              <a:ext cx="1956688" cy="980011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TextBox 122"/>
            <p:cNvSpPr txBox="1"/>
            <p:nvPr/>
          </p:nvSpPr>
          <p:spPr>
            <a:xfrm>
              <a:off x="1784809" y="3577445"/>
              <a:ext cx="1289801" cy="6260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00" dirty="0" smtClean="0">
                  <a:solidFill>
                    <a:srgbClr val="FF0000"/>
                  </a:solidFill>
                </a:rPr>
                <a:t>Configures Registers</a:t>
              </a:r>
            </a:p>
            <a:p>
              <a:pPr algn="ctr"/>
              <a:r>
                <a:rPr lang="en-US" sz="700" dirty="0" smtClean="0">
                  <a:solidFill>
                    <a:srgbClr val="FF0000"/>
                  </a:solidFill>
                </a:rPr>
                <a:t>(</a:t>
              </a:r>
              <a:r>
                <a:rPr lang="en-US" sz="700" dirty="0">
                  <a:solidFill>
                    <a:srgbClr val="FF0000"/>
                  </a:solidFill>
                </a:rPr>
                <a:t>o</a:t>
              </a:r>
              <a:r>
                <a:rPr lang="en-US" sz="700" dirty="0" smtClean="0">
                  <a:solidFill>
                    <a:srgbClr val="FF0000"/>
                  </a:solidFill>
                </a:rPr>
                <a:t>pen ALE, MAC ports, MDIO, Stats, etc.) </a:t>
              </a:r>
              <a:endParaRPr lang="en-US" sz="700" dirty="0">
                <a:solidFill>
                  <a:srgbClr val="FF0000"/>
                </a:solidFill>
              </a:endParaRPr>
            </a:p>
          </p:txBody>
        </p:sp>
        <p:cxnSp>
          <p:nvCxnSpPr>
            <p:cNvPr id="124" name="Straight Arrow Connector 123"/>
            <p:cNvCxnSpPr>
              <a:endCxn id="137" idx="0"/>
            </p:cNvCxnSpPr>
            <p:nvPr/>
          </p:nvCxnSpPr>
          <p:spPr>
            <a:xfrm flipH="1">
              <a:off x="4742031" y="2437213"/>
              <a:ext cx="12699" cy="1041869"/>
            </a:xfrm>
            <a:prstGeom prst="straightConnector1">
              <a:avLst/>
            </a:prstGeom>
            <a:ln>
              <a:solidFill>
                <a:srgbClr val="0070C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2" name="Group 211"/>
            <p:cNvGrpSpPr/>
            <p:nvPr/>
          </p:nvGrpSpPr>
          <p:grpSpPr>
            <a:xfrm>
              <a:off x="114980" y="836688"/>
              <a:ext cx="2166037" cy="1165909"/>
              <a:chOff x="114979" y="753019"/>
              <a:chExt cx="2166037" cy="1049318"/>
            </a:xfrm>
          </p:grpSpPr>
          <p:sp>
            <p:nvSpPr>
              <p:cNvPr id="160" name="Rectangle 159"/>
              <p:cNvSpPr/>
              <p:nvPr/>
            </p:nvSpPr>
            <p:spPr>
              <a:xfrm>
                <a:off x="114979" y="753019"/>
                <a:ext cx="2166037" cy="1049318"/>
              </a:xfrm>
              <a:prstGeom prst="rect">
                <a:avLst/>
              </a:prstGeom>
              <a:ln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en-US" sz="800" b="1" dirty="0"/>
                  <a:t>A72</a:t>
                </a:r>
              </a:p>
              <a:p>
                <a:pPr algn="ctr"/>
                <a:r>
                  <a:rPr lang="en-US" sz="800" dirty="0"/>
                  <a:t>(Remote Core)</a:t>
                </a:r>
              </a:p>
            </p:txBody>
          </p:sp>
          <p:sp>
            <p:nvSpPr>
              <p:cNvPr id="161" name="Rectangle 160"/>
              <p:cNvSpPr/>
              <p:nvPr/>
            </p:nvSpPr>
            <p:spPr>
              <a:xfrm>
                <a:off x="565532" y="1097337"/>
                <a:ext cx="1554480" cy="18288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600" dirty="0">
                    <a:solidFill>
                      <a:schemeClr val="tx1"/>
                    </a:solidFill>
                  </a:rPr>
                  <a:t>Apps</a:t>
                </a:r>
              </a:p>
            </p:txBody>
          </p:sp>
          <p:sp>
            <p:nvSpPr>
              <p:cNvPr id="162" name="Rectangle 161"/>
              <p:cNvSpPr/>
              <p:nvPr/>
            </p:nvSpPr>
            <p:spPr>
              <a:xfrm>
                <a:off x="565532" y="1318273"/>
                <a:ext cx="1554480" cy="182880"/>
              </a:xfrm>
              <a:prstGeom prst="rect">
                <a:avLst/>
              </a:prstGeom>
              <a:solidFill>
                <a:srgbClr val="BCFCC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600" dirty="0">
                    <a:solidFill>
                      <a:schemeClr val="tx1"/>
                    </a:solidFill>
                  </a:rPr>
                  <a:t>Network Stack</a:t>
                </a:r>
              </a:p>
            </p:txBody>
          </p:sp>
          <p:sp>
            <p:nvSpPr>
              <p:cNvPr id="163" name="Rectangle 162"/>
              <p:cNvSpPr/>
              <p:nvPr/>
            </p:nvSpPr>
            <p:spPr>
              <a:xfrm>
                <a:off x="565532" y="1539210"/>
                <a:ext cx="1554480" cy="182880"/>
              </a:xfrm>
              <a:prstGeom prst="rect">
                <a:avLst/>
              </a:prstGeom>
              <a:solidFill>
                <a:srgbClr val="BCFCC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600" dirty="0">
                    <a:solidFill>
                      <a:schemeClr val="tx1"/>
                    </a:solidFill>
                  </a:rPr>
                  <a:t>CPSW Driver</a:t>
                </a:r>
              </a:p>
            </p:txBody>
          </p:sp>
          <p:sp>
            <p:nvSpPr>
              <p:cNvPr id="159" name="Rectangle 158"/>
              <p:cNvSpPr/>
              <p:nvPr/>
            </p:nvSpPr>
            <p:spPr>
              <a:xfrm>
                <a:off x="172263" y="1318273"/>
                <a:ext cx="351535" cy="403837"/>
              </a:xfrm>
              <a:prstGeom prst="rect">
                <a:avLst/>
              </a:prstGeom>
              <a:solidFill>
                <a:srgbClr val="BCFCC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600" dirty="0" smtClean="0">
                    <a:solidFill>
                      <a:schemeClr val="tx1"/>
                    </a:solidFill>
                  </a:rPr>
                  <a:t>OS</a:t>
                </a:r>
                <a:endParaRPr lang="en-US" sz="600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29" name="Straight Arrow Connector 128"/>
            <p:cNvCxnSpPr>
              <a:stCxn id="160" idx="3"/>
              <a:endCxn id="184" idx="1"/>
            </p:cNvCxnSpPr>
            <p:nvPr/>
          </p:nvCxnSpPr>
          <p:spPr>
            <a:xfrm>
              <a:off x="2281016" y="1419643"/>
              <a:ext cx="1001762" cy="434617"/>
            </a:xfrm>
            <a:prstGeom prst="straightConnector1">
              <a:avLst/>
            </a:prstGeom>
            <a:ln>
              <a:prstDash val="lg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/>
            <p:cNvCxnSpPr>
              <a:stCxn id="168" idx="1"/>
              <a:endCxn id="184" idx="3"/>
            </p:cNvCxnSpPr>
            <p:nvPr/>
          </p:nvCxnSpPr>
          <p:spPr>
            <a:xfrm flipH="1">
              <a:off x="5448815" y="1470735"/>
              <a:ext cx="1433460" cy="383524"/>
            </a:xfrm>
            <a:prstGeom prst="straightConnector1">
              <a:avLst/>
            </a:prstGeom>
            <a:ln>
              <a:prstDash val="lg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TextBox 130"/>
            <p:cNvSpPr txBox="1"/>
            <p:nvPr/>
          </p:nvSpPr>
          <p:spPr>
            <a:xfrm rot="1292283">
              <a:off x="2351205" y="1381493"/>
              <a:ext cx="967741" cy="3246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800">
                  <a:solidFill>
                    <a:srgbClr val="FF0000"/>
                  </a:solidFill>
                </a:defRPr>
              </a:lvl1pPr>
            </a:lstStyle>
            <a:p>
              <a:r>
                <a:rPr lang="en-US" dirty="0"/>
                <a:t>Attach Core</a:t>
              </a:r>
            </a:p>
          </p:txBody>
        </p:sp>
        <p:sp>
          <p:nvSpPr>
            <p:cNvPr id="132" name="TextBox 131"/>
            <p:cNvSpPr txBox="1"/>
            <p:nvPr/>
          </p:nvSpPr>
          <p:spPr>
            <a:xfrm rot="20800748">
              <a:off x="5671459" y="1377485"/>
              <a:ext cx="967741" cy="3246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800">
                  <a:solidFill>
                    <a:srgbClr val="FF0000"/>
                  </a:solidFill>
                </a:defRPr>
              </a:lvl1pPr>
            </a:lstStyle>
            <a:p>
              <a:r>
                <a:rPr lang="en-US" dirty="0"/>
                <a:t>Attach Core</a:t>
              </a:r>
            </a:p>
          </p:txBody>
        </p:sp>
        <p:cxnSp>
          <p:nvCxnSpPr>
            <p:cNvPr id="133" name="Straight Arrow Connector 132"/>
            <p:cNvCxnSpPr/>
            <p:nvPr/>
          </p:nvCxnSpPr>
          <p:spPr>
            <a:xfrm flipH="1" flipV="1">
              <a:off x="2296126" y="1653882"/>
              <a:ext cx="986652" cy="450060"/>
            </a:xfrm>
            <a:prstGeom prst="straightConnector1">
              <a:avLst/>
            </a:prstGeom>
            <a:ln>
              <a:prstDash val="lg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/>
            <p:cNvCxnSpPr/>
            <p:nvPr/>
          </p:nvCxnSpPr>
          <p:spPr>
            <a:xfrm flipV="1">
              <a:off x="5480051" y="1675392"/>
              <a:ext cx="1397116" cy="389636"/>
            </a:xfrm>
            <a:prstGeom prst="straightConnector1">
              <a:avLst/>
            </a:prstGeom>
            <a:ln>
              <a:prstDash val="lg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TextBox 134"/>
            <p:cNvSpPr txBox="1"/>
            <p:nvPr/>
          </p:nvSpPr>
          <p:spPr>
            <a:xfrm rot="1329853">
              <a:off x="2235032" y="1716604"/>
              <a:ext cx="1139691" cy="5101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800">
                  <a:solidFill>
                    <a:srgbClr val="FF0000"/>
                  </a:solidFill>
                </a:defRPr>
              </a:lvl1pPr>
            </a:lstStyle>
            <a:p>
              <a:r>
                <a:rPr lang="en-US" dirty="0" smtClean="0"/>
                <a:t>Allocate </a:t>
              </a:r>
              <a:r>
                <a:rPr lang="en-US" dirty="0"/>
                <a:t>Resources</a:t>
              </a:r>
            </a:p>
          </p:txBody>
        </p:sp>
        <p:sp>
          <p:nvSpPr>
            <p:cNvPr id="136" name="TextBox 135"/>
            <p:cNvSpPr txBox="1"/>
            <p:nvPr/>
          </p:nvSpPr>
          <p:spPr>
            <a:xfrm rot="20741278">
              <a:off x="5663161" y="1775364"/>
              <a:ext cx="1257008" cy="3246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 smtClean="0">
                  <a:solidFill>
                    <a:srgbClr val="FF0000"/>
                  </a:solidFill>
                </a:rPr>
                <a:t>Allocate Resources</a:t>
              </a:r>
            </a:p>
          </p:txBody>
        </p:sp>
        <p:grpSp>
          <p:nvGrpSpPr>
            <p:cNvPr id="224" name="Group 223"/>
            <p:cNvGrpSpPr/>
            <p:nvPr/>
          </p:nvGrpSpPr>
          <p:grpSpPr>
            <a:xfrm>
              <a:off x="3826175" y="3444712"/>
              <a:ext cx="1831710" cy="729439"/>
              <a:chOff x="3826175" y="3184060"/>
              <a:chExt cx="1831710" cy="656495"/>
            </a:xfrm>
          </p:grpSpPr>
          <p:sp>
            <p:nvSpPr>
              <p:cNvPr id="118" name="Can 117"/>
              <p:cNvSpPr/>
              <p:nvPr/>
            </p:nvSpPr>
            <p:spPr>
              <a:xfrm>
                <a:off x="4163051" y="3374066"/>
                <a:ext cx="281444" cy="418108"/>
              </a:xfrm>
              <a:prstGeom prst="can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0C0"/>
                  </a:solidFill>
                </a:endParaRPr>
              </a:p>
            </p:txBody>
          </p:sp>
          <p:grpSp>
            <p:nvGrpSpPr>
              <p:cNvPr id="120" name="Group 119"/>
              <p:cNvGrpSpPr/>
              <p:nvPr/>
            </p:nvGrpSpPr>
            <p:grpSpPr>
              <a:xfrm>
                <a:off x="4785433" y="3392032"/>
                <a:ext cx="667258" cy="400420"/>
                <a:chOff x="4678080" y="2742570"/>
                <a:chExt cx="1183628" cy="904623"/>
              </a:xfrm>
              <a:solidFill>
                <a:schemeClr val="accent2"/>
              </a:solidFill>
            </p:grpSpPr>
            <p:sp>
              <p:nvSpPr>
                <p:cNvPr id="174" name="Down Arrow 173"/>
                <p:cNvSpPr/>
                <p:nvPr/>
              </p:nvSpPr>
              <p:spPr>
                <a:xfrm>
                  <a:off x="4678080" y="2743200"/>
                  <a:ext cx="110093" cy="903993"/>
                </a:xfrm>
                <a:prstGeom prst="downArrow">
                  <a:avLst/>
                </a:prstGeom>
                <a:grpFill/>
                <a:ln w="127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5" name="Down Arrow 174"/>
                <p:cNvSpPr/>
                <p:nvPr/>
              </p:nvSpPr>
              <p:spPr>
                <a:xfrm>
                  <a:off x="4830479" y="2743199"/>
                  <a:ext cx="110093" cy="903993"/>
                </a:xfrm>
                <a:prstGeom prst="downArrow">
                  <a:avLst/>
                </a:prstGeom>
                <a:grpFill/>
                <a:ln w="127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" name="Down Arrow 175"/>
                <p:cNvSpPr/>
                <p:nvPr/>
              </p:nvSpPr>
              <p:spPr>
                <a:xfrm>
                  <a:off x="4959269" y="2743200"/>
                  <a:ext cx="110093" cy="903993"/>
                </a:xfrm>
                <a:prstGeom prst="downArrow">
                  <a:avLst/>
                </a:prstGeom>
                <a:grpFill/>
                <a:ln w="127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7" name="Down Arrow 176"/>
                <p:cNvSpPr/>
                <p:nvPr/>
              </p:nvSpPr>
              <p:spPr>
                <a:xfrm>
                  <a:off x="5105665" y="2742851"/>
                  <a:ext cx="110093" cy="903993"/>
                </a:xfrm>
                <a:prstGeom prst="downArrow">
                  <a:avLst/>
                </a:prstGeom>
                <a:grpFill/>
                <a:ln w="127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8" name="Down Arrow 177"/>
                <p:cNvSpPr/>
                <p:nvPr/>
              </p:nvSpPr>
              <p:spPr>
                <a:xfrm>
                  <a:off x="5272763" y="2742850"/>
                  <a:ext cx="110093" cy="903993"/>
                </a:xfrm>
                <a:prstGeom prst="downArrow">
                  <a:avLst/>
                </a:prstGeom>
                <a:grpFill/>
                <a:ln w="127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" name="Down Arrow 178"/>
                <p:cNvSpPr/>
                <p:nvPr/>
              </p:nvSpPr>
              <p:spPr>
                <a:xfrm>
                  <a:off x="5431497" y="2742849"/>
                  <a:ext cx="110093" cy="903993"/>
                </a:xfrm>
                <a:prstGeom prst="downArrow">
                  <a:avLst/>
                </a:prstGeom>
                <a:grpFill/>
                <a:ln w="127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" name="Down Arrow 179"/>
                <p:cNvSpPr/>
                <p:nvPr/>
              </p:nvSpPr>
              <p:spPr>
                <a:xfrm>
                  <a:off x="5588844" y="2742571"/>
                  <a:ext cx="110093" cy="903993"/>
                </a:xfrm>
                <a:prstGeom prst="downArrow">
                  <a:avLst/>
                </a:prstGeom>
                <a:grpFill/>
                <a:ln w="127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" name="Down Arrow 180"/>
                <p:cNvSpPr/>
                <p:nvPr/>
              </p:nvSpPr>
              <p:spPr>
                <a:xfrm>
                  <a:off x="5751615" y="2742570"/>
                  <a:ext cx="110093" cy="903993"/>
                </a:xfrm>
                <a:prstGeom prst="downArrow">
                  <a:avLst/>
                </a:prstGeom>
                <a:grpFill/>
                <a:ln w="127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25" name="TextBox 124"/>
              <p:cNvSpPr txBox="1"/>
              <p:nvPr/>
            </p:nvSpPr>
            <p:spPr>
              <a:xfrm>
                <a:off x="3989479" y="3184060"/>
                <a:ext cx="625631" cy="3130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900">
                    <a:solidFill>
                      <a:srgbClr val="0070C0"/>
                    </a:solidFill>
                  </a:defRPr>
                </a:lvl1pPr>
              </a:lstStyle>
              <a:p>
                <a:r>
                  <a:rPr lang="en-US" dirty="0"/>
                  <a:t>Rx </a:t>
                </a:r>
                <a:r>
                  <a:rPr lang="en-US" dirty="0" err="1"/>
                  <a:t>Ch</a:t>
                </a:r>
                <a:endParaRPr lang="en-US" dirty="0"/>
              </a:p>
            </p:txBody>
          </p:sp>
          <p:sp>
            <p:nvSpPr>
              <p:cNvPr id="126" name="TextBox 125"/>
              <p:cNvSpPr txBox="1"/>
              <p:nvPr/>
            </p:nvSpPr>
            <p:spPr>
              <a:xfrm>
                <a:off x="4785192" y="3184060"/>
                <a:ext cx="695715" cy="3130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dirty="0" err="1" smtClean="0">
                    <a:solidFill>
                      <a:srgbClr val="0070C0"/>
                    </a:solidFill>
                  </a:rPr>
                  <a:t>Tx</a:t>
                </a:r>
                <a:r>
                  <a:rPr lang="en-US" sz="90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sz="900" dirty="0" err="1" smtClean="0">
                    <a:solidFill>
                      <a:srgbClr val="0070C0"/>
                    </a:solidFill>
                  </a:rPr>
                  <a:t>Ch</a:t>
                </a:r>
                <a:endParaRPr lang="en-US" sz="900" dirty="0">
                  <a:solidFill>
                    <a:srgbClr val="0070C0"/>
                  </a:solidFill>
                </a:endParaRPr>
              </a:p>
            </p:txBody>
          </p:sp>
          <p:sp>
            <p:nvSpPr>
              <p:cNvPr id="137" name="Rectangle 136"/>
              <p:cNvSpPr/>
              <p:nvPr/>
            </p:nvSpPr>
            <p:spPr>
              <a:xfrm>
                <a:off x="3826175" y="3214994"/>
                <a:ext cx="1831710" cy="625561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8" name="TextBox 137"/>
            <p:cNvSpPr txBox="1"/>
            <p:nvPr/>
          </p:nvSpPr>
          <p:spPr>
            <a:xfrm>
              <a:off x="5612621" y="3688269"/>
              <a:ext cx="1048799" cy="5101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 smtClean="0"/>
                <a:t>DMA Resources</a:t>
              </a:r>
              <a:endParaRPr lang="en-US" sz="800" dirty="0"/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7809903" y="3258187"/>
              <a:ext cx="1120060" cy="125213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 smtClean="0">
                  <a:solidFill>
                    <a:schemeClr val="tx1"/>
                  </a:solidFill>
                </a:rPr>
                <a:t>Allocate Resources:</a:t>
              </a:r>
              <a:endParaRPr lang="en-US" sz="800" b="1" dirty="0">
                <a:solidFill>
                  <a:schemeClr val="tx1"/>
                </a:solidFill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800" dirty="0" smtClean="0">
                  <a:solidFill>
                    <a:schemeClr val="tx1"/>
                  </a:solidFill>
                </a:rPr>
                <a:t>Rx Flow </a:t>
              </a:r>
              <a:r>
                <a:rPr lang="en-US" sz="800" dirty="0" err="1" smtClean="0">
                  <a:solidFill>
                    <a:schemeClr val="tx1"/>
                  </a:solidFill>
                </a:rPr>
                <a:t>Num</a:t>
              </a:r>
              <a:endParaRPr lang="en-US" sz="800" dirty="0" smtClean="0">
                <a:solidFill>
                  <a:schemeClr val="tx1"/>
                </a:solidFill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800" dirty="0" err="1" smtClean="0">
                  <a:solidFill>
                    <a:schemeClr val="tx1"/>
                  </a:solidFill>
                </a:rPr>
                <a:t>Tx</a:t>
              </a:r>
              <a:r>
                <a:rPr lang="en-US" sz="800" dirty="0" smtClean="0">
                  <a:solidFill>
                    <a:schemeClr val="tx1"/>
                  </a:solidFill>
                </a:rPr>
                <a:t> </a:t>
              </a:r>
              <a:r>
                <a:rPr lang="en-US" sz="800" dirty="0" err="1" smtClean="0">
                  <a:solidFill>
                    <a:schemeClr val="tx1"/>
                  </a:solidFill>
                </a:rPr>
                <a:t>Ch</a:t>
              </a:r>
              <a:r>
                <a:rPr lang="en-US" sz="800" dirty="0" smtClean="0">
                  <a:solidFill>
                    <a:schemeClr val="tx1"/>
                  </a:solidFill>
                </a:rPr>
                <a:t> </a:t>
              </a:r>
              <a:r>
                <a:rPr lang="en-US" sz="800" dirty="0" err="1" smtClean="0">
                  <a:solidFill>
                    <a:schemeClr val="tx1"/>
                  </a:solidFill>
                </a:rPr>
                <a:t>Num</a:t>
              </a:r>
              <a:endParaRPr lang="en-US" sz="800" dirty="0" smtClean="0">
                <a:solidFill>
                  <a:schemeClr val="tx1"/>
                </a:solidFill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800" dirty="0" smtClean="0">
                  <a:solidFill>
                    <a:schemeClr val="tx1"/>
                  </a:solidFill>
                </a:rPr>
                <a:t>MAC Address</a:t>
              </a:r>
              <a:endParaRPr lang="en-US" sz="800" dirty="0">
                <a:solidFill>
                  <a:schemeClr val="tx1"/>
                </a:solidFill>
              </a:endParaRPr>
            </a:p>
          </p:txBody>
        </p:sp>
        <p:cxnSp>
          <p:nvCxnSpPr>
            <p:cNvPr id="153" name="Straight Connector 152"/>
            <p:cNvCxnSpPr>
              <a:stCxn id="160" idx="2"/>
            </p:cNvCxnSpPr>
            <p:nvPr/>
          </p:nvCxnSpPr>
          <p:spPr>
            <a:xfrm flipH="1">
              <a:off x="1197998" y="2002597"/>
              <a:ext cx="1" cy="752051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/>
            <p:cNvCxnSpPr/>
            <p:nvPr/>
          </p:nvCxnSpPr>
          <p:spPr>
            <a:xfrm>
              <a:off x="1206207" y="2754648"/>
              <a:ext cx="3386844" cy="0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Arrow Connector 154"/>
            <p:cNvCxnSpPr>
              <a:endCxn id="137" idx="0"/>
            </p:cNvCxnSpPr>
            <p:nvPr/>
          </p:nvCxnSpPr>
          <p:spPr>
            <a:xfrm>
              <a:off x="4593051" y="2754649"/>
              <a:ext cx="0" cy="724434"/>
            </a:xfrm>
            <a:prstGeom prst="straightConnector1">
              <a:avLst/>
            </a:prstGeom>
            <a:ln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TextBox 151"/>
            <p:cNvSpPr txBox="1"/>
            <p:nvPr/>
          </p:nvSpPr>
          <p:spPr>
            <a:xfrm>
              <a:off x="5734540" y="2754648"/>
              <a:ext cx="1693422" cy="3246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solidFill>
                    <a:srgbClr val="0070C0"/>
                  </a:solidFill>
                </a:rPr>
                <a:t>Packet submit /retrieve calls</a:t>
              </a:r>
              <a:endParaRPr lang="en-US" sz="800" dirty="0">
                <a:solidFill>
                  <a:srgbClr val="0070C0"/>
                </a:solidFill>
              </a:endParaRPr>
            </a:p>
          </p:txBody>
        </p:sp>
        <p:cxnSp>
          <p:nvCxnSpPr>
            <p:cNvPr id="150" name="Straight Arrow Connector 149"/>
            <p:cNvCxnSpPr>
              <a:endCxn id="160" idx="2"/>
            </p:cNvCxnSpPr>
            <p:nvPr/>
          </p:nvCxnSpPr>
          <p:spPr>
            <a:xfrm flipV="1">
              <a:off x="1197998" y="2002597"/>
              <a:ext cx="1" cy="752051"/>
            </a:xfrm>
            <a:prstGeom prst="straightConnector1">
              <a:avLst/>
            </a:prstGeom>
            <a:ln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/>
            <p:cNvCxnSpPr/>
            <p:nvPr/>
          </p:nvCxnSpPr>
          <p:spPr>
            <a:xfrm>
              <a:off x="4903445" y="2768432"/>
              <a:ext cx="3070059" cy="0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Arrow Connector 147"/>
            <p:cNvCxnSpPr/>
            <p:nvPr/>
          </p:nvCxnSpPr>
          <p:spPr>
            <a:xfrm>
              <a:off x="4905984" y="2765611"/>
              <a:ext cx="0" cy="713472"/>
            </a:xfrm>
            <a:prstGeom prst="straightConnector1">
              <a:avLst/>
            </a:prstGeom>
            <a:ln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1" name="Group 210"/>
            <p:cNvGrpSpPr/>
            <p:nvPr/>
          </p:nvGrpSpPr>
          <p:grpSpPr>
            <a:xfrm>
              <a:off x="3282779" y="1271304"/>
              <a:ext cx="2166037" cy="1165909"/>
              <a:chOff x="3282778" y="1144174"/>
              <a:chExt cx="2166037" cy="1049318"/>
            </a:xfrm>
          </p:grpSpPr>
          <p:sp>
            <p:nvSpPr>
              <p:cNvPr id="184" name="Rectangle 183"/>
              <p:cNvSpPr/>
              <p:nvPr/>
            </p:nvSpPr>
            <p:spPr>
              <a:xfrm>
                <a:off x="3282778" y="1144174"/>
                <a:ext cx="2166037" cy="1049318"/>
              </a:xfrm>
              <a:prstGeom prst="rect">
                <a:avLst/>
              </a:prstGeom>
              <a:ln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en-US" sz="800" b="1" dirty="0"/>
                  <a:t>Switch </a:t>
                </a:r>
                <a:r>
                  <a:rPr lang="en-US" sz="800" b="1" dirty="0" smtClean="0"/>
                  <a:t>R5</a:t>
                </a:r>
              </a:p>
              <a:p>
                <a:pPr algn="ctr"/>
                <a:r>
                  <a:rPr lang="en-US" sz="800" dirty="0" smtClean="0"/>
                  <a:t>(Master Core)</a:t>
                </a:r>
                <a:endParaRPr lang="en-US" sz="800" dirty="0"/>
              </a:p>
            </p:txBody>
          </p:sp>
          <p:sp>
            <p:nvSpPr>
              <p:cNvPr id="183" name="Rectangle 182"/>
              <p:cNvSpPr/>
              <p:nvPr/>
            </p:nvSpPr>
            <p:spPr>
              <a:xfrm>
                <a:off x="3355302" y="1683365"/>
                <a:ext cx="351535" cy="420366"/>
              </a:xfrm>
              <a:prstGeom prst="rect">
                <a:avLst/>
              </a:prstGeom>
              <a:solidFill>
                <a:srgbClr val="BCFCC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600" dirty="0">
                    <a:solidFill>
                      <a:schemeClr val="tx1"/>
                    </a:solidFill>
                  </a:rPr>
                  <a:t>RM</a:t>
                </a:r>
              </a:p>
            </p:txBody>
          </p:sp>
          <p:sp>
            <p:nvSpPr>
              <p:cNvPr id="190" name="Rectangle 189"/>
              <p:cNvSpPr/>
              <p:nvPr/>
            </p:nvSpPr>
            <p:spPr>
              <a:xfrm>
                <a:off x="3781248" y="1481194"/>
                <a:ext cx="1554480" cy="18288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600" dirty="0">
                    <a:solidFill>
                      <a:schemeClr val="tx1"/>
                    </a:solidFill>
                  </a:rPr>
                  <a:t>Apps</a:t>
                </a:r>
              </a:p>
            </p:txBody>
          </p:sp>
          <p:sp>
            <p:nvSpPr>
              <p:cNvPr id="191" name="Rectangle 190"/>
              <p:cNvSpPr/>
              <p:nvPr/>
            </p:nvSpPr>
            <p:spPr>
              <a:xfrm>
                <a:off x="3781248" y="1702130"/>
                <a:ext cx="1554480" cy="182880"/>
              </a:xfrm>
              <a:prstGeom prst="rect">
                <a:avLst/>
              </a:prstGeom>
              <a:solidFill>
                <a:srgbClr val="BCFCC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600" dirty="0">
                    <a:solidFill>
                      <a:schemeClr val="tx1"/>
                    </a:solidFill>
                  </a:rPr>
                  <a:t>Network Stack</a:t>
                </a:r>
              </a:p>
            </p:txBody>
          </p:sp>
          <p:sp>
            <p:nvSpPr>
              <p:cNvPr id="192" name="Rectangle 191"/>
              <p:cNvSpPr/>
              <p:nvPr/>
            </p:nvSpPr>
            <p:spPr>
              <a:xfrm>
                <a:off x="3781248" y="1923067"/>
                <a:ext cx="1554480" cy="182880"/>
              </a:xfrm>
              <a:prstGeom prst="rect">
                <a:avLst/>
              </a:prstGeom>
              <a:solidFill>
                <a:srgbClr val="BCFCC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600" dirty="0">
                    <a:solidFill>
                      <a:schemeClr val="tx1"/>
                    </a:solidFill>
                  </a:rPr>
                  <a:t>CPSW Driver</a:t>
                </a:r>
              </a:p>
            </p:txBody>
          </p:sp>
        </p:grpSp>
        <p:grpSp>
          <p:nvGrpSpPr>
            <p:cNvPr id="213" name="Group 212"/>
            <p:cNvGrpSpPr/>
            <p:nvPr/>
          </p:nvGrpSpPr>
          <p:grpSpPr>
            <a:xfrm>
              <a:off x="6882276" y="887780"/>
              <a:ext cx="2166037" cy="1165909"/>
              <a:chOff x="6882275" y="799002"/>
              <a:chExt cx="2166037" cy="1049318"/>
            </a:xfrm>
          </p:grpSpPr>
          <p:sp>
            <p:nvSpPr>
              <p:cNvPr id="168" name="Rectangle 167"/>
              <p:cNvSpPr/>
              <p:nvPr/>
            </p:nvSpPr>
            <p:spPr>
              <a:xfrm>
                <a:off x="6882275" y="799002"/>
                <a:ext cx="2166037" cy="1049318"/>
              </a:xfrm>
              <a:prstGeom prst="rect">
                <a:avLst/>
              </a:prstGeom>
              <a:ln/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en-US" sz="800" b="1" dirty="0"/>
                  <a:t>MCU R5</a:t>
                </a:r>
              </a:p>
              <a:p>
                <a:pPr algn="ctr"/>
                <a:r>
                  <a:rPr lang="en-US" sz="800" dirty="0"/>
                  <a:t>(Remote Core)</a:t>
                </a:r>
              </a:p>
            </p:txBody>
          </p:sp>
          <p:sp>
            <p:nvSpPr>
              <p:cNvPr id="167" name="Rectangle 166"/>
              <p:cNvSpPr/>
              <p:nvPr/>
            </p:nvSpPr>
            <p:spPr>
              <a:xfrm>
                <a:off x="6958609" y="1377365"/>
                <a:ext cx="351535" cy="406619"/>
              </a:xfrm>
              <a:prstGeom prst="rect">
                <a:avLst/>
              </a:prstGeom>
              <a:solidFill>
                <a:srgbClr val="BCFCC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600" dirty="0">
                    <a:solidFill>
                      <a:schemeClr val="tx1"/>
                    </a:solidFill>
                  </a:rPr>
                  <a:t>OS</a:t>
                </a:r>
              </a:p>
            </p:txBody>
          </p:sp>
          <p:sp>
            <p:nvSpPr>
              <p:cNvPr id="196" name="Rectangle 195"/>
              <p:cNvSpPr/>
              <p:nvPr/>
            </p:nvSpPr>
            <p:spPr>
              <a:xfrm>
                <a:off x="7375482" y="1156430"/>
                <a:ext cx="1554480" cy="18288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600" dirty="0">
                    <a:solidFill>
                      <a:schemeClr val="tx1"/>
                    </a:solidFill>
                  </a:rPr>
                  <a:t>Apps</a:t>
                </a:r>
              </a:p>
            </p:txBody>
          </p:sp>
          <p:sp>
            <p:nvSpPr>
              <p:cNvPr id="197" name="Rectangle 196"/>
              <p:cNvSpPr/>
              <p:nvPr/>
            </p:nvSpPr>
            <p:spPr>
              <a:xfrm>
                <a:off x="7375482" y="1377366"/>
                <a:ext cx="1554480" cy="182880"/>
              </a:xfrm>
              <a:prstGeom prst="rect">
                <a:avLst/>
              </a:prstGeom>
              <a:solidFill>
                <a:srgbClr val="BCFCC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600" dirty="0">
                    <a:solidFill>
                      <a:schemeClr val="tx1"/>
                    </a:solidFill>
                  </a:rPr>
                  <a:t>Network Stack</a:t>
                </a:r>
              </a:p>
            </p:txBody>
          </p:sp>
          <p:sp>
            <p:nvSpPr>
              <p:cNvPr id="198" name="Rectangle 197"/>
              <p:cNvSpPr/>
              <p:nvPr/>
            </p:nvSpPr>
            <p:spPr>
              <a:xfrm>
                <a:off x="7375482" y="1598303"/>
                <a:ext cx="1554480" cy="182880"/>
              </a:xfrm>
              <a:prstGeom prst="rect">
                <a:avLst/>
              </a:prstGeom>
              <a:solidFill>
                <a:srgbClr val="BCFCC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600" dirty="0">
                    <a:solidFill>
                      <a:schemeClr val="tx1"/>
                    </a:solidFill>
                  </a:rPr>
                  <a:t>CPSW Driver</a:t>
                </a:r>
              </a:p>
            </p:txBody>
          </p:sp>
        </p:grpSp>
        <p:grpSp>
          <p:nvGrpSpPr>
            <p:cNvPr id="204" name="Group 203"/>
            <p:cNvGrpSpPr/>
            <p:nvPr/>
          </p:nvGrpSpPr>
          <p:grpSpPr>
            <a:xfrm>
              <a:off x="2563505" y="4393900"/>
              <a:ext cx="4679881" cy="470262"/>
              <a:chOff x="2563504" y="3954510"/>
              <a:chExt cx="4679881" cy="423236"/>
            </a:xfrm>
          </p:grpSpPr>
          <p:sp>
            <p:nvSpPr>
              <p:cNvPr id="100" name="Rectangle 99"/>
              <p:cNvSpPr/>
              <p:nvPr/>
            </p:nvSpPr>
            <p:spPr>
              <a:xfrm>
                <a:off x="2563504" y="3954510"/>
                <a:ext cx="4679881" cy="342746"/>
              </a:xfrm>
              <a:prstGeom prst="rect">
                <a:avLst/>
              </a:prstGeom>
              <a:ln/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lIns="57150" tIns="28575" rIns="57150" bIns="28575" rtlCol="0" anchor="ctr"/>
              <a:lstStyle/>
              <a:p>
                <a:pPr algn="r"/>
                <a:r>
                  <a:rPr lang="en-US" sz="1000" dirty="0" smtClean="0">
                    <a:solidFill>
                      <a:schemeClr val="tx1"/>
                    </a:solidFill>
                  </a:rPr>
                  <a:t>CPSW 9G</a:t>
                </a:r>
                <a:endParaRPr lang="en-US" sz="1000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03" name="Group 202"/>
              <p:cNvGrpSpPr/>
              <p:nvPr/>
            </p:nvGrpSpPr>
            <p:grpSpPr>
              <a:xfrm>
                <a:off x="3137591" y="4023392"/>
                <a:ext cx="3190637" cy="221552"/>
                <a:chOff x="3137591" y="4023392"/>
                <a:chExt cx="3190637" cy="221552"/>
              </a:xfrm>
            </p:grpSpPr>
            <p:sp>
              <p:nvSpPr>
                <p:cNvPr id="103" name="Rectangle 102"/>
                <p:cNvSpPr/>
                <p:nvPr/>
              </p:nvSpPr>
              <p:spPr>
                <a:xfrm>
                  <a:off x="3137591" y="4023392"/>
                  <a:ext cx="3190637" cy="221552"/>
                </a:xfrm>
                <a:prstGeom prst="rect">
                  <a:avLst/>
                </a:prstGeom>
                <a:solidFill>
                  <a:srgbClr val="DE0000"/>
                </a:solidFill>
                <a:ln w="25400" cap="flat" cmpd="sng" algn="ctr">
                  <a:solidFill>
                    <a:srgbClr val="DE0000">
                      <a:shade val="50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r" defTabSz="357188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kern="0">
                    <a:solidFill>
                      <a:srgbClr val="FFFFFF"/>
                    </a:solidFill>
                    <a:latin typeface="Arial"/>
                    <a:cs typeface="+mn-cs"/>
                  </a:endParaRPr>
                </a:p>
              </p:txBody>
            </p:sp>
            <p:grpSp>
              <p:nvGrpSpPr>
                <p:cNvPr id="202" name="Group 201"/>
                <p:cNvGrpSpPr/>
                <p:nvPr/>
              </p:nvGrpSpPr>
              <p:grpSpPr>
                <a:xfrm>
                  <a:off x="4190277" y="4074861"/>
                  <a:ext cx="1085265" cy="129481"/>
                  <a:chOff x="3474398" y="4074861"/>
                  <a:chExt cx="2545713" cy="129481"/>
                </a:xfrm>
              </p:grpSpPr>
              <p:cxnSp>
                <p:nvCxnSpPr>
                  <p:cNvPr id="104" name="Straight Connector 103"/>
                  <p:cNvCxnSpPr/>
                  <p:nvPr/>
                </p:nvCxnSpPr>
                <p:spPr>
                  <a:xfrm>
                    <a:off x="4471910" y="4074861"/>
                    <a:ext cx="535399" cy="128059"/>
                  </a:xfrm>
                  <a:prstGeom prst="line">
                    <a:avLst/>
                  </a:prstGeom>
                  <a:noFill/>
                  <a:ln w="47625" cap="flat" cmpd="sng" algn="ctr">
                    <a:solidFill>
                      <a:srgbClr val="117788">
                        <a:lumMod val="40000"/>
                        <a:lumOff val="60000"/>
                      </a:srgb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105" name="Straight Connector 104"/>
                  <p:cNvCxnSpPr/>
                  <p:nvPr/>
                </p:nvCxnSpPr>
                <p:spPr>
                  <a:xfrm>
                    <a:off x="3474398" y="4074861"/>
                    <a:ext cx="1033596" cy="0"/>
                  </a:xfrm>
                  <a:prstGeom prst="line">
                    <a:avLst/>
                  </a:prstGeom>
                  <a:noFill/>
                  <a:ln w="47625" cap="flat" cmpd="sng" algn="ctr">
                    <a:solidFill>
                      <a:srgbClr val="117788">
                        <a:lumMod val="40000"/>
                        <a:lumOff val="60000"/>
                      </a:srgb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106" name="Straight Connector 105"/>
                  <p:cNvCxnSpPr/>
                  <p:nvPr/>
                </p:nvCxnSpPr>
                <p:spPr>
                  <a:xfrm>
                    <a:off x="4986515" y="4202919"/>
                    <a:ext cx="1033596" cy="0"/>
                  </a:xfrm>
                  <a:prstGeom prst="line">
                    <a:avLst/>
                  </a:prstGeom>
                  <a:noFill/>
                  <a:ln w="47625" cap="flat" cmpd="sng" algn="ctr">
                    <a:solidFill>
                      <a:srgbClr val="117788">
                        <a:lumMod val="40000"/>
                        <a:lumOff val="60000"/>
                      </a:srgb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107" name="Straight Connector 106"/>
                  <p:cNvCxnSpPr/>
                  <p:nvPr/>
                </p:nvCxnSpPr>
                <p:spPr>
                  <a:xfrm rot="10800000" flipH="1">
                    <a:off x="4471910" y="4076283"/>
                    <a:ext cx="535399" cy="128059"/>
                  </a:xfrm>
                  <a:prstGeom prst="line">
                    <a:avLst/>
                  </a:prstGeom>
                  <a:noFill/>
                  <a:ln w="47625" cap="flat" cmpd="sng" algn="ctr">
                    <a:solidFill>
                      <a:srgbClr val="117788">
                        <a:lumMod val="40000"/>
                        <a:lumOff val="60000"/>
                      </a:srgb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108" name="Straight Connector 107"/>
                  <p:cNvCxnSpPr/>
                  <p:nvPr/>
                </p:nvCxnSpPr>
                <p:spPr>
                  <a:xfrm rot="10800000" flipH="1">
                    <a:off x="3474398" y="4204342"/>
                    <a:ext cx="1033596" cy="0"/>
                  </a:xfrm>
                  <a:prstGeom prst="line">
                    <a:avLst/>
                  </a:prstGeom>
                  <a:noFill/>
                  <a:ln w="47625" cap="flat" cmpd="sng" algn="ctr">
                    <a:solidFill>
                      <a:srgbClr val="117788">
                        <a:lumMod val="40000"/>
                        <a:lumOff val="60000"/>
                      </a:srgb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109" name="Straight Connector 108"/>
                  <p:cNvCxnSpPr/>
                  <p:nvPr/>
                </p:nvCxnSpPr>
                <p:spPr>
                  <a:xfrm>
                    <a:off x="4963888" y="4083709"/>
                    <a:ext cx="1033596" cy="0"/>
                  </a:xfrm>
                  <a:prstGeom prst="line">
                    <a:avLst/>
                  </a:prstGeom>
                  <a:noFill/>
                  <a:ln w="47625" cap="flat" cmpd="sng" algn="ctr">
                    <a:solidFill>
                      <a:srgbClr val="117788">
                        <a:lumMod val="40000"/>
                        <a:lumOff val="60000"/>
                      </a:srgbClr>
                    </a:solidFill>
                    <a:prstDash val="solid"/>
                  </a:ln>
                  <a:effectLst/>
                </p:spPr>
              </p:cxnSp>
            </p:grpSp>
          </p:grpSp>
          <p:sp>
            <p:nvSpPr>
              <p:cNvPr id="101" name="Rectangle 100"/>
              <p:cNvSpPr/>
              <p:nvPr/>
            </p:nvSpPr>
            <p:spPr>
              <a:xfrm>
                <a:off x="3146773" y="4301832"/>
                <a:ext cx="214263" cy="759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57150" tIns="28575" rIns="57150" bIns="28575"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88" name="Rectangle 87"/>
              <p:cNvSpPr/>
              <p:nvPr/>
            </p:nvSpPr>
            <p:spPr>
              <a:xfrm>
                <a:off x="3565125" y="4301832"/>
                <a:ext cx="214263" cy="759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57150" tIns="28575" rIns="57150" bIns="28575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Rectangle 88"/>
              <p:cNvSpPr/>
              <p:nvPr/>
            </p:nvSpPr>
            <p:spPr>
              <a:xfrm>
                <a:off x="3983477" y="4301832"/>
                <a:ext cx="214263" cy="759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57150" tIns="28575" rIns="57150" bIns="28575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Rectangle 89"/>
              <p:cNvSpPr/>
              <p:nvPr/>
            </p:nvSpPr>
            <p:spPr>
              <a:xfrm>
                <a:off x="4401829" y="4301832"/>
                <a:ext cx="214263" cy="759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57150" tIns="28575" rIns="57150" bIns="28575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Rectangle 90"/>
              <p:cNvSpPr/>
              <p:nvPr/>
            </p:nvSpPr>
            <p:spPr>
              <a:xfrm>
                <a:off x="4820181" y="4301832"/>
                <a:ext cx="214263" cy="759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57150" tIns="28575" rIns="57150" bIns="28575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Rectangle 91"/>
              <p:cNvSpPr/>
              <p:nvPr/>
            </p:nvSpPr>
            <p:spPr>
              <a:xfrm>
                <a:off x="5238533" y="4301832"/>
                <a:ext cx="214263" cy="759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57150" tIns="28575" rIns="57150" bIns="28575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Rectangle 92"/>
              <p:cNvSpPr/>
              <p:nvPr/>
            </p:nvSpPr>
            <p:spPr>
              <a:xfrm>
                <a:off x="5656885" y="4301832"/>
                <a:ext cx="214263" cy="759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57150" tIns="28575" rIns="57150" bIns="28575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Rectangle 93"/>
              <p:cNvSpPr/>
              <p:nvPr/>
            </p:nvSpPr>
            <p:spPr>
              <a:xfrm>
                <a:off x="6075238" y="4301832"/>
                <a:ext cx="214263" cy="759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57150" tIns="28575" rIns="57150" bIns="28575"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14" name="TextBox 213"/>
            <p:cNvSpPr txBox="1"/>
            <p:nvPr/>
          </p:nvSpPr>
          <p:spPr>
            <a:xfrm>
              <a:off x="1206207" y="2754648"/>
              <a:ext cx="1693422" cy="3246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 smtClean="0">
                  <a:solidFill>
                    <a:srgbClr val="0070C0"/>
                  </a:solidFill>
                </a:rPr>
                <a:t>Packet submit /retrieve calls</a:t>
              </a:r>
              <a:endParaRPr lang="en-US" sz="800" dirty="0">
                <a:solidFill>
                  <a:srgbClr val="0070C0"/>
                </a:solidFill>
              </a:endParaRPr>
            </a:p>
          </p:txBody>
        </p:sp>
        <p:cxnSp>
          <p:nvCxnSpPr>
            <p:cNvPr id="215" name="Straight Arrow Connector 214"/>
            <p:cNvCxnSpPr/>
            <p:nvPr/>
          </p:nvCxnSpPr>
          <p:spPr>
            <a:xfrm flipH="1" flipV="1">
              <a:off x="7970402" y="2053690"/>
              <a:ext cx="1" cy="714743"/>
            </a:xfrm>
            <a:prstGeom prst="straightConnector1">
              <a:avLst/>
            </a:prstGeom>
            <a:ln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TextBox 1"/>
            <p:cNvSpPr txBox="1"/>
            <p:nvPr/>
          </p:nvSpPr>
          <p:spPr>
            <a:xfrm>
              <a:off x="630087" y="648756"/>
              <a:ext cx="1431228" cy="2782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 smtClean="0"/>
                <a:t>A72 Virtual Net Dev</a:t>
              </a:r>
              <a:endParaRPr lang="en-US" sz="600" b="1" dirty="0"/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4128306" y="1046859"/>
              <a:ext cx="605435" cy="2782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 err="1" smtClean="0"/>
                <a:t>EthFw</a:t>
              </a:r>
              <a:endParaRPr lang="en-US" sz="600" b="1" dirty="0"/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7438738" y="695127"/>
              <a:ext cx="1609574" cy="2782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 smtClean="0"/>
                <a:t>AUTOSAR CPSW CDD</a:t>
              </a:r>
              <a:endParaRPr lang="en-US" sz="600" b="1" dirty="0"/>
            </a:p>
          </p:txBody>
        </p:sp>
      </p:grpSp>
      <p:sp>
        <p:nvSpPr>
          <p:cNvPr id="110" name="TextBox 109"/>
          <p:cNvSpPr txBox="1"/>
          <p:nvPr/>
        </p:nvSpPr>
        <p:spPr>
          <a:xfrm>
            <a:off x="625359" y="3874770"/>
            <a:ext cx="7771623" cy="5193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57150" tIns="28575" rIns="57150" bIns="28575" rtlCol="0">
            <a:spAutoFit/>
          </a:bodyPr>
          <a:lstStyle/>
          <a:p>
            <a:pPr marL="178594" indent="-178594">
              <a:buFont typeface="Arial" panose="020B0604020202020204" pitchFamily="34" charset="0"/>
              <a:buChar char="•"/>
            </a:pPr>
            <a:r>
              <a:rPr lang="en-US" sz="1000" dirty="0" smtClean="0"/>
              <a:t>Once </a:t>
            </a:r>
            <a:r>
              <a:rPr lang="en-US" sz="1000" dirty="0"/>
              <a:t>the switch is configured via the </a:t>
            </a:r>
            <a:r>
              <a:rPr lang="en-US" sz="1000" dirty="0" smtClean="0"/>
              <a:t>firmware on Main R5, other CPUs on the </a:t>
            </a:r>
            <a:r>
              <a:rPr lang="en-US" sz="1000" dirty="0" err="1" smtClean="0"/>
              <a:t>SoC</a:t>
            </a:r>
            <a:r>
              <a:rPr lang="en-US" sz="1000" dirty="0" smtClean="0"/>
              <a:t> can perform network IO </a:t>
            </a:r>
            <a:r>
              <a:rPr lang="en-US" sz="1000" dirty="0" smtClean="0"/>
              <a:t>simultaneously without </a:t>
            </a:r>
            <a:r>
              <a:rPr lang="en-US" sz="1000" dirty="0" smtClean="0"/>
              <a:t>involving the Main R5 core.</a:t>
            </a:r>
          </a:p>
          <a:p>
            <a:pPr marL="178594" indent="-178594">
              <a:buFont typeface="Arial" panose="020B0604020202020204" pitchFamily="34" charset="0"/>
              <a:buChar char="•"/>
            </a:pPr>
            <a:r>
              <a:rPr lang="en-US" sz="1000" dirty="0" smtClean="0"/>
              <a:t>Subsequent </a:t>
            </a:r>
            <a:r>
              <a:rPr lang="en-US" sz="1000" dirty="0"/>
              <a:t>packet IO can happen directly between the CPU specific network stack and switch HW via </a:t>
            </a:r>
            <a:r>
              <a:rPr lang="en-US" sz="1000" dirty="0" smtClean="0"/>
              <a:t>UDMA.</a:t>
            </a:r>
            <a:endParaRPr lang="en-US" sz="1000" dirty="0" smtClean="0"/>
          </a:p>
        </p:txBody>
      </p:sp>
    </p:spTree>
    <p:extLst>
      <p:ext uri="{BB962C8B-B14F-4D97-AF65-F5344CB8AC3E}">
        <p14:creationId xmlns:p14="http://schemas.microsoft.com/office/powerpoint/2010/main" val="1698298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Multi-core Time-synchronization </a:t>
            </a:r>
            <a:r>
              <a:rPr lang="en-US" dirty="0" smtClean="0"/>
              <a:t>design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B97888F-6AF7-4263-B69D-592D8C33BAC7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4760405" y="743528"/>
            <a:ext cx="4166645" cy="2967639"/>
            <a:chOff x="4253164" y="1097045"/>
            <a:chExt cx="4166645" cy="3297377"/>
          </a:xfrm>
        </p:grpSpPr>
        <p:grpSp>
          <p:nvGrpSpPr>
            <p:cNvPr id="7" name="Group 6"/>
            <p:cNvGrpSpPr/>
            <p:nvPr/>
          </p:nvGrpSpPr>
          <p:grpSpPr>
            <a:xfrm>
              <a:off x="4253164" y="1097045"/>
              <a:ext cx="4166645" cy="3297377"/>
              <a:chOff x="4336172" y="1345666"/>
              <a:chExt cx="4166645" cy="3297377"/>
            </a:xfrm>
          </p:grpSpPr>
          <p:grpSp>
            <p:nvGrpSpPr>
              <p:cNvPr id="9" name="Group 8"/>
              <p:cNvGrpSpPr/>
              <p:nvPr/>
            </p:nvGrpSpPr>
            <p:grpSpPr>
              <a:xfrm>
                <a:off x="4336172" y="1345666"/>
                <a:ext cx="4166645" cy="2511116"/>
                <a:chOff x="1803784" y="867919"/>
                <a:chExt cx="5535755" cy="3138325"/>
              </a:xfrm>
            </p:grpSpPr>
            <p:sp>
              <p:nvSpPr>
                <p:cNvPr id="12" name="Rectangle 11"/>
                <p:cNvSpPr/>
                <p:nvPr/>
              </p:nvSpPr>
              <p:spPr>
                <a:xfrm>
                  <a:off x="1803784" y="867919"/>
                  <a:ext cx="5535755" cy="2293200"/>
                </a:xfrm>
                <a:prstGeom prst="rect">
                  <a:avLst/>
                </a:prstGeom>
                <a:solidFill>
                  <a:schemeClr val="bg2">
                    <a:alpha val="31000"/>
                  </a:schemeClr>
                </a:solidFill>
                <a:ln w="19050"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9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13" name="Rectangle 12"/>
                <p:cNvSpPr/>
                <p:nvPr/>
              </p:nvSpPr>
              <p:spPr>
                <a:xfrm>
                  <a:off x="2209773" y="3402800"/>
                  <a:ext cx="5129766" cy="455252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9525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57150" tIns="28575" rIns="57150" bIns="28575" rtlCol="0" anchor="b"/>
                <a:lstStyle/>
                <a:p>
                  <a:pPr algn="ctr"/>
                  <a:r>
                    <a:rPr lang="en-US" sz="800" dirty="0" smtClean="0">
                      <a:solidFill>
                        <a:srgbClr val="000000"/>
                      </a:solidFill>
                    </a:rPr>
                    <a:t>CPSW_9G</a:t>
                  </a:r>
                  <a:endParaRPr lang="en-US" sz="900" dirty="0">
                    <a:solidFill>
                      <a:srgbClr val="000000"/>
                    </a:solidFill>
                  </a:endParaRPr>
                </a:p>
              </p:txBody>
            </p:sp>
            <p:grpSp>
              <p:nvGrpSpPr>
                <p:cNvPr id="14" name="Group 13"/>
                <p:cNvGrpSpPr/>
                <p:nvPr/>
              </p:nvGrpSpPr>
              <p:grpSpPr>
                <a:xfrm>
                  <a:off x="2778687" y="3865335"/>
                  <a:ext cx="3991940" cy="140909"/>
                  <a:chOff x="5182870" y="4381500"/>
                  <a:chExt cx="2619375" cy="98285"/>
                </a:xfrm>
              </p:grpSpPr>
              <p:sp>
                <p:nvSpPr>
                  <p:cNvPr id="34" name="Rectangle 33"/>
                  <p:cNvSpPr/>
                  <p:nvPr/>
                </p:nvSpPr>
                <p:spPr>
                  <a:xfrm>
                    <a:off x="6192322" y="4381500"/>
                    <a:ext cx="263989" cy="98285"/>
                  </a:xfrm>
                  <a:prstGeom prst="rect">
                    <a:avLst/>
                  </a:prstGeom>
                  <a:ln w="1905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57150" tIns="28575" rIns="57150" bIns="28575" rtlCol="0" anchor="ctr"/>
                  <a:lstStyle/>
                  <a:p>
                    <a:pPr algn="ctr"/>
                    <a:endParaRPr lang="en-US">
                      <a:solidFill>
                        <a:srgbClr val="FFFFFF"/>
                      </a:solidFill>
                    </a:endParaRPr>
                  </a:p>
                </p:txBody>
              </p:sp>
              <p:sp>
                <p:nvSpPr>
                  <p:cNvPr id="35" name="Rectangle 34"/>
                  <p:cNvSpPr/>
                  <p:nvPr/>
                </p:nvSpPr>
                <p:spPr>
                  <a:xfrm>
                    <a:off x="6528806" y="4384535"/>
                    <a:ext cx="263989" cy="92215"/>
                  </a:xfrm>
                  <a:prstGeom prst="rect">
                    <a:avLst/>
                  </a:prstGeom>
                  <a:ln w="1905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57150" tIns="28575" rIns="57150" bIns="28575" rtlCol="0" anchor="ctr"/>
                  <a:lstStyle/>
                  <a:p>
                    <a:pPr algn="ctr"/>
                    <a:endParaRPr lang="en-US">
                      <a:solidFill>
                        <a:srgbClr val="FFFFFF"/>
                      </a:solidFill>
                    </a:endParaRPr>
                  </a:p>
                </p:txBody>
              </p:sp>
              <p:sp>
                <p:nvSpPr>
                  <p:cNvPr id="36" name="Rectangle 35"/>
                  <p:cNvSpPr/>
                  <p:nvPr/>
                </p:nvSpPr>
                <p:spPr>
                  <a:xfrm>
                    <a:off x="6865290" y="4384535"/>
                    <a:ext cx="263989" cy="92215"/>
                  </a:xfrm>
                  <a:prstGeom prst="rect">
                    <a:avLst/>
                  </a:prstGeom>
                  <a:ln w="1905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57150" tIns="28575" rIns="57150" bIns="28575" rtlCol="0" anchor="ctr"/>
                  <a:lstStyle/>
                  <a:p>
                    <a:pPr algn="ctr"/>
                    <a:endParaRPr lang="en-US">
                      <a:solidFill>
                        <a:srgbClr val="FFFFFF"/>
                      </a:solidFill>
                    </a:endParaRPr>
                  </a:p>
                </p:txBody>
              </p:sp>
              <p:sp>
                <p:nvSpPr>
                  <p:cNvPr id="37" name="Rectangle 36"/>
                  <p:cNvSpPr/>
                  <p:nvPr/>
                </p:nvSpPr>
                <p:spPr>
                  <a:xfrm>
                    <a:off x="7201774" y="4381500"/>
                    <a:ext cx="263989" cy="98285"/>
                  </a:xfrm>
                  <a:prstGeom prst="rect">
                    <a:avLst/>
                  </a:prstGeom>
                  <a:ln w="1905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57150" tIns="28575" rIns="57150" bIns="28575" rtlCol="0" anchor="ctr"/>
                  <a:lstStyle/>
                  <a:p>
                    <a:pPr algn="ctr"/>
                    <a:endParaRPr lang="en-US">
                      <a:solidFill>
                        <a:srgbClr val="FFFFFF"/>
                      </a:solidFill>
                    </a:endParaRPr>
                  </a:p>
                </p:txBody>
              </p:sp>
              <p:sp>
                <p:nvSpPr>
                  <p:cNvPr id="38" name="Rectangle 37"/>
                  <p:cNvSpPr/>
                  <p:nvPr/>
                </p:nvSpPr>
                <p:spPr>
                  <a:xfrm>
                    <a:off x="7538256" y="4381500"/>
                    <a:ext cx="263989" cy="95250"/>
                  </a:xfrm>
                  <a:prstGeom prst="rect">
                    <a:avLst/>
                  </a:prstGeom>
                  <a:ln w="1905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57150" tIns="28575" rIns="57150" bIns="28575" rtlCol="0" anchor="ctr"/>
                  <a:lstStyle/>
                  <a:p>
                    <a:pPr algn="ctr"/>
                    <a:endParaRPr lang="en-US">
                      <a:solidFill>
                        <a:srgbClr val="FFFFFF"/>
                      </a:solidFill>
                    </a:endParaRPr>
                  </a:p>
                </p:txBody>
              </p:sp>
              <p:sp>
                <p:nvSpPr>
                  <p:cNvPr id="39" name="Rectangle 38"/>
                  <p:cNvSpPr/>
                  <p:nvPr/>
                </p:nvSpPr>
                <p:spPr>
                  <a:xfrm>
                    <a:off x="5182870" y="4384535"/>
                    <a:ext cx="263989" cy="95250"/>
                  </a:xfrm>
                  <a:prstGeom prst="rect">
                    <a:avLst/>
                  </a:prstGeom>
                  <a:ln w="1905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57150" tIns="28575" rIns="57150" bIns="28575" rtlCol="0" anchor="ctr"/>
                  <a:lstStyle/>
                  <a:p>
                    <a:pPr algn="ctr"/>
                    <a:endParaRPr lang="en-US">
                      <a:solidFill>
                        <a:srgbClr val="FFFFFF"/>
                      </a:solidFill>
                    </a:endParaRPr>
                  </a:p>
                </p:txBody>
              </p:sp>
              <p:sp>
                <p:nvSpPr>
                  <p:cNvPr id="40" name="Rectangle 39"/>
                  <p:cNvSpPr/>
                  <p:nvPr/>
                </p:nvSpPr>
                <p:spPr>
                  <a:xfrm>
                    <a:off x="5519354" y="4384535"/>
                    <a:ext cx="263989" cy="95250"/>
                  </a:xfrm>
                  <a:prstGeom prst="rect">
                    <a:avLst/>
                  </a:prstGeom>
                  <a:ln w="1905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57150" tIns="28575" rIns="57150" bIns="28575" rtlCol="0" anchor="ctr"/>
                  <a:lstStyle/>
                  <a:p>
                    <a:pPr algn="ctr"/>
                    <a:endParaRPr lang="en-US">
                      <a:solidFill>
                        <a:srgbClr val="FFFFFF"/>
                      </a:solidFill>
                    </a:endParaRPr>
                  </a:p>
                </p:txBody>
              </p:sp>
              <p:sp>
                <p:nvSpPr>
                  <p:cNvPr id="41" name="Rectangle 40"/>
                  <p:cNvSpPr/>
                  <p:nvPr/>
                </p:nvSpPr>
                <p:spPr>
                  <a:xfrm>
                    <a:off x="5855838" y="4381500"/>
                    <a:ext cx="263989" cy="98285"/>
                  </a:xfrm>
                  <a:prstGeom prst="rect">
                    <a:avLst/>
                  </a:prstGeom>
                  <a:ln w="1905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57150" tIns="28575" rIns="57150" bIns="28575" rtlCol="0" anchor="ctr"/>
                  <a:lstStyle/>
                  <a:p>
                    <a:pPr algn="ctr"/>
                    <a:endParaRPr lang="en-US">
                      <a:solidFill>
                        <a:srgbClr val="FFFFFF"/>
                      </a:solidFill>
                    </a:endParaRPr>
                  </a:p>
                </p:txBody>
              </p:sp>
            </p:grpSp>
            <p:sp>
              <p:nvSpPr>
                <p:cNvPr id="15" name="Rectangle 14"/>
                <p:cNvSpPr/>
                <p:nvPr/>
              </p:nvSpPr>
              <p:spPr>
                <a:xfrm>
                  <a:off x="4457248" y="3404130"/>
                  <a:ext cx="668174" cy="182373"/>
                </a:xfrm>
                <a:prstGeom prst="rect">
                  <a:avLst/>
                </a:prstGeom>
                <a:solidFill>
                  <a:schemeClr val="accent5"/>
                </a:solidFill>
                <a:ln w="190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57150" tIns="28575" rIns="57150" bIns="28575" rtlCol="0" anchor="ctr"/>
                <a:lstStyle/>
                <a:p>
                  <a:pPr algn="ctr"/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16" name="Rectangle 15"/>
                <p:cNvSpPr/>
                <p:nvPr/>
              </p:nvSpPr>
              <p:spPr>
                <a:xfrm>
                  <a:off x="2394525" y="3527902"/>
                  <a:ext cx="1847872" cy="238841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9525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57150" tIns="28575" rIns="57150" bIns="28575" rtlCol="0" anchor="ctr"/>
                <a:lstStyle/>
                <a:p>
                  <a:pPr algn="ctr"/>
                  <a:r>
                    <a:rPr lang="en-US" sz="600" dirty="0">
                      <a:solidFill>
                        <a:srgbClr val="000000"/>
                      </a:solidFill>
                    </a:rPr>
                    <a:t>CPSW 9G Register</a:t>
                  </a:r>
                </a:p>
              </p:txBody>
            </p:sp>
            <p:cxnSp>
              <p:nvCxnSpPr>
                <p:cNvPr id="17" name="Straight Arrow Connector 16"/>
                <p:cNvCxnSpPr/>
                <p:nvPr/>
              </p:nvCxnSpPr>
              <p:spPr>
                <a:xfrm flipH="1">
                  <a:off x="3930301" y="2988840"/>
                  <a:ext cx="2" cy="539062"/>
                </a:xfrm>
                <a:prstGeom prst="straightConnector1">
                  <a:avLst/>
                </a:prstGeom>
                <a:ln w="19050">
                  <a:solidFill>
                    <a:srgbClr val="00B0F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Arrow Connector 17"/>
                <p:cNvCxnSpPr>
                  <a:endCxn id="15" idx="0"/>
                </p:cNvCxnSpPr>
                <p:nvPr/>
              </p:nvCxnSpPr>
              <p:spPr>
                <a:xfrm>
                  <a:off x="4787840" y="3097579"/>
                  <a:ext cx="3495" cy="306551"/>
                </a:xfrm>
                <a:prstGeom prst="straightConnector1">
                  <a:avLst/>
                </a:prstGeom>
                <a:ln w="19050">
                  <a:solidFill>
                    <a:schemeClr val="tx2">
                      <a:lumMod val="40000"/>
                      <a:lumOff val="60000"/>
                    </a:schemeClr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" name="Rectangle 18"/>
                <p:cNvSpPr/>
                <p:nvPr/>
              </p:nvSpPr>
              <p:spPr>
                <a:xfrm>
                  <a:off x="3888386" y="2154259"/>
                  <a:ext cx="422024" cy="187183"/>
                </a:xfrm>
                <a:prstGeom prst="rect">
                  <a:avLst/>
                </a:prstGeom>
                <a:ln/>
                <a:effectLst/>
              </p:spPr>
              <p:style>
                <a:lnRef idx="1">
                  <a:schemeClr val="accent3"/>
                </a:lnRef>
                <a:fillRef idx="3">
                  <a:schemeClr val="accent3"/>
                </a:fillRef>
                <a:effectRef idx="2">
                  <a:schemeClr val="accent3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700" b="1" dirty="0">
                      <a:solidFill>
                        <a:srgbClr val="FFFFFF"/>
                      </a:solidFill>
                    </a:rPr>
                    <a:t>EAPOL</a:t>
                  </a:r>
                  <a:endParaRPr lang="en-US" sz="400" b="1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20" name="Rectangle 19"/>
                <p:cNvSpPr/>
                <p:nvPr/>
              </p:nvSpPr>
              <p:spPr>
                <a:xfrm>
                  <a:off x="1980797" y="1181029"/>
                  <a:ext cx="5213911" cy="573217"/>
                </a:xfrm>
                <a:prstGeom prst="rect">
                  <a:avLst/>
                </a:prstGeom>
                <a:solidFill>
                  <a:srgbClr val="F3FABE"/>
                </a:solidFill>
                <a:ln w="9525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80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1" name="Rectangle 20"/>
                <p:cNvSpPr/>
                <p:nvPr/>
              </p:nvSpPr>
              <p:spPr>
                <a:xfrm>
                  <a:off x="3588334" y="1314159"/>
                  <a:ext cx="2187398" cy="306955"/>
                </a:xfrm>
                <a:prstGeom prst="rect">
                  <a:avLst/>
                </a:prstGeom>
                <a:solidFill>
                  <a:srgbClr val="00B050"/>
                </a:solidFill>
                <a:ln w="635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900" dirty="0">
                      <a:solidFill>
                        <a:srgbClr val="000000"/>
                      </a:solidFill>
                    </a:rPr>
                    <a:t>Remote Configuration Server</a:t>
                  </a:r>
                </a:p>
              </p:txBody>
            </p:sp>
            <p:sp>
              <p:nvSpPr>
                <p:cNvPr id="22" name="Rectangle 21"/>
                <p:cNvSpPr/>
                <p:nvPr/>
              </p:nvSpPr>
              <p:spPr>
                <a:xfrm>
                  <a:off x="1980797" y="1858117"/>
                  <a:ext cx="5213910" cy="1223376"/>
                </a:xfrm>
                <a:prstGeom prst="rect">
                  <a:avLst/>
                </a:prstGeom>
                <a:noFill/>
                <a:ln w="6350">
                  <a:solidFill>
                    <a:srgbClr val="C00000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80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3" name="Rectangle 22"/>
                <p:cNvSpPr/>
                <p:nvPr/>
              </p:nvSpPr>
              <p:spPr>
                <a:xfrm>
                  <a:off x="2831404" y="1894715"/>
                  <a:ext cx="3038158" cy="230106"/>
                </a:xfrm>
                <a:prstGeom prst="rect">
                  <a:avLst/>
                </a:prstGeom>
                <a:solidFill>
                  <a:srgbClr val="00B050"/>
                </a:solidFill>
                <a:ln w="635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900" dirty="0">
                      <a:solidFill>
                        <a:srgbClr val="000000"/>
                      </a:solidFill>
                    </a:rPr>
                    <a:t>Firmware Application API</a:t>
                  </a:r>
                </a:p>
              </p:txBody>
            </p:sp>
            <p:sp>
              <p:nvSpPr>
                <p:cNvPr id="24" name="Rectangle 23"/>
                <p:cNvSpPr/>
                <p:nvPr/>
              </p:nvSpPr>
              <p:spPr>
                <a:xfrm>
                  <a:off x="2139829" y="2154259"/>
                  <a:ext cx="603593" cy="834579"/>
                </a:xfrm>
                <a:prstGeom prst="rect">
                  <a:avLst/>
                </a:prstGeom>
                <a:solidFill>
                  <a:srgbClr val="C3B4AD"/>
                </a:solidFill>
                <a:ln w="635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800" dirty="0">
                      <a:solidFill>
                        <a:srgbClr val="000000"/>
                      </a:solidFill>
                    </a:rPr>
                    <a:t>TI-RTOS</a:t>
                  </a:r>
                </a:p>
              </p:txBody>
            </p:sp>
            <p:sp>
              <p:nvSpPr>
                <p:cNvPr id="25" name="Rectangle 24"/>
                <p:cNvSpPr/>
                <p:nvPr/>
              </p:nvSpPr>
              <p:spPr>
                <a:xfrm>
                  <a:off x="3279237" y="2154259"/>
                  <a:ext cx="579469" cy="183534"/>
                </a:xfrm>
                <a:prstGeom prst="rect">
                  <a:avLst/>
                </a:prstGeom>
                <a:ln/>
                <a:effectLst/>
              </p:spPr>
              <p:style>
                <a:lnRef idx="1">
                  <a:schemeClr val="accent3"/>
                </a:lnRef>
                <a:fillRef idx="3">
                  <a:schemeClr val="accent3"/>
                </a:fillRef>
                <a:effectRef idx="2">
                  <a:schemeClr val="accent3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700" b="1" dirty="0" smtClean="0">
                      <a:solidFill>
                        <a:srgbClr val="FFFFFF"/>
                      </a:solidFill>
                    </a:rPr>
                    <a:t>IP Router</a:t>
                  </a:r>
                  <a:endParaRPr lang="en-US" sz="700" b="1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26" name="Rectangle 25"/>
                <p:cNvSpPr/>
                <p:nvPr/>
              </p:nvSpPr>
              <p:spPr>
                <a:xfrm>
                  <a:off x="2827690" y="2367568"/>
                  <a:ext cx="1486084" cy="226067"/>
                </a:xfrm>
                <a:prstGeom prst="rect">
                  <a:avLst/>
                </a:prstGeom>
                <a:solidFill>
                  <a:srgbClr val="C3B4AD"/>
                </a:solidFill>
                <a:ln w="635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800" dirty="0">
                      <a:solidFill>
                        <a:srgbClr val="000000"/>
                      </a:solidFill>
                    </a:rPr>
                    <a:t>NDK</a:t>
                  </a:r>
                </a:p>
              </p:txBody>
            </p:sp>
            <p:sp>
              <p:nvSpPr>
                <p:cNvPr id="27" name="Rectangle 26"/>
                <p:cNvSpPr/>
                <p:nvPr/>
              </p:nvSpPr>
              <p:spPr>
                <a:xfrm>
                  <a:off x="2827690" y="2638942"/>
                  <a:ext cx="3041872" cy="3498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635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800" dirty="0" smtClean="0">
                      <a:solidFill>
                        <a:srgbClr val="000000"/>
                      </a:solidFill>
                    </a:rPr>
                    <a:t>                     CPSW_LLD</a:t>
                  </a:r>
                  <a:endParaRPr lang="en-US" sz="80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8" name="Rectangle 27"/>
                <p:cNvSpPr/>
                <p:nvPr/>
              </p:nvSpPr>
              <p:spPr>
                <a:xfrm>
                  <a:off x="5926147" y="1894716"/>
                  <a:ext cx="1043076" cy="1094124"/>
                </a:xfrm>
                <a:prstGeom prst="rect">
                  <a:avLst/>
                </a:prstGeom>
                <a:solidFill>
                  <a:srgbClr val="C3B4AD"/>
                </a:solidFill>
                <a:ln w="635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900" dirty="0">
                      <a:solidFill>
                        <a:srgbClr val="000000"/>
                      </a:solidFill>
                    </a:rPr>
                    <a:t>Other Drivers</a:t>
                  </a:r>
                </a:p>
              </p:txBody>
            </p:sp>
            <p:sp>
              <p:nvSpPr>
                <p:cNvPr id="29" name="TextBox 28"/>
                <p:cNvSpPr txBox="1"/>
                <p:nvPr/>
              </p:nvSpPr>
              <p:spPr>
                <a:xfrm>
                  <a:off x="3813274" y="867919"/>
                  <a:ext cx="1598204" cy="2991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800" b="1" dirty="0">
                      <a:solidFill>
                        <a:srgbClr val="000000"/>
                      </a:solidFill>
                    </a:rPr>
                    <a:t>Main R5 </a:t>
                  </a:r>
                  <a:r>
                    <a:rPr lang="en-US" sz="800" b="1" dirty="0" smtClean="0">
                      <a:solidFill>
                        <a:srgbClr val="000000"/>
                      </a:solidFill>
                    </a:rPr>
                    <a:t>(</a:t>
                  </a:r>
                  <a:r>
                    <a:rPr lang="en-US" sz="800" b="1" dirty="0" err="1" smtClean="0">
                      <a:solidFill>
                        <a:srgbClr val="000000"/>
                      </a:solidFill>
                    </a:rPr>
                    <a:t>EthFw</a:t>
                  </a:r>
                  <a:r>
                    <a:rPr lang="en-US" sz="800" b="1" dirty="0" smtClean="0">
                      <a:solidFill>
                        <a:srgbClr val="000000"/>
                      </a:solidFill>
                    </a:rPr>
                    <a:t>)</a:t>
                  </a:r>
                  <a:endParaRPr lang="en-US" sz="8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0" name="Rectangle 29"/>
                <p:cNvSpPr/>
                <p:nvPr/>
              </p:nvSpPr>
              <p:spPr>
                <a:xfrm>
                  <a:off x="5239773" y="2722348"/>
                  <a:ext cx="629787" cy="266492"/>
                </a:xfrm>
                <a:prstGeom prst="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 w="635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700" dirty="0" smtClean="0">
                      <a:solidFill>
                        <a:srgbClr val="000000"/>
                      </a:solidFill>
                    </a:rPr>
                    <a:t>ALE</a:t>
                  </a:r>
                </a:p>
                <a:p>
                  <a:pPr algn="ctr"/>
                  <a:r>
                    <a:rPr lang="en-US" sz="700" dirty="0" smtClean="0">
                      <a:solidFill>
                        <a:srgbClr val="000000"/>
                      </a:solidFill>
                    </a:rPr>
                    <a:t>LLD</a:t>
                  </a:r>
                  <a:endParaRPr lang="en-US" sz="70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1" name="Rectangle 30"/>
                <p:cNvSpPr/>
                <p:nvPr/>
              </p:nvSpPr>
              <p:spPr>
                <a:xfrm>
                  <a:off x="2827533" y="2722348"/>
                  <a:ext cx="773900" cy="266492"/>
                </a:xfrm>
                <a:prstGeom prst="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 w="635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600" dirty="0" smtClean="0">
                      <a:solidFill>
                        <a:srgbClr val="000000"/>
                      </a:solidFill>
                    </a:rPr>
                    <a:t>ENETPHY</a:t>
                  </a:r>
                </a:p>
                <a:p>
                  <a:pPr algn="ctr"/>
                  <a:r>
                    <a:rPr lang="en-US" sz="600" dirty="0" smtClean="0">
                      <a:solidFill>
                        <a:srgbClr val="000000"/>
                      </a:solidFill>
                    </a:rPr>
                    <a:t>LLD</a:t>
                  </a:r>
                  <a:endParaRPr lang="en-US" sz="50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2" name="Rectangle 31"/>
                <p:cNvSpPr/>
                <p:nvPr/>
              </p:nvSpPr>
              <p:spPr>
                <a:xfrm>
                  <a:off x="2827533" y="2154259"/>
                  <a:ext cx="422024" cy="187183"/>
                </a:xfrm>
                <a:prstGeom prst="rect">
                  <a:avLst/>
                </a:prstGeom>
                <a:solidFill>
                  <a:srgbClr val="00B050"/>
                </a:solidFill>
                <a:ln w="635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800" b="1" dirty="0" smtClean="0">
                      <a:solidFill>
                        <a:srgbClr val="404040"/>
                      </a:solidFill>
                    </a:rPr>
                    <a:t>Apps</a:t>
                  </a:r>
                  <a:endParaRPr lang="en-US" sz="500" b="1" dirty="0">
                    <a:solidFill>
                      <a:srgbClr val="404040"/>
                    </a:solidFill>
                  </a:endParaRPr>
                </a:p>
              </p:txBody>
            </p:sp>
            <p:sp>
              <p:nvSpPr>
                <p:cNvPr id="33" name="Rectangle 32"/>
                <p:cNvSpPr/>
                <p:nvPr/>
              </p:nvSpPr>
              <p:spPr>
                <a:xfrm>
                  <a:off x="4619135" y="2716774"/>
                  <a:ext cx="629787" cy="266492"/>
                </a:xfrm>
                <a:prstGeom prst="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 w="635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700" dirty="0" smtClean="0">
                      <a:solidFill>
                        <a:srgbClr val="000000"/>
                      </a:solidFill>
                    </a:rPr>
                    <a:t>CPTS</a:t>
                  </a:r>
                </a:p>
                <a:p>
                  <a:pPr algn="ctr"/>
                  <a:r>
                    <a:rPr lang="en-US" sz="700" dirty="0" smtClean="0">
                      <a:solidFill>
                        <a:srgbClr val="000000"/>
                      </a:solidFill>
                    </a:rPr>
                    <a:t>LLD</a:t>
                  </a:r>
                  <a:endParaRPr lang="en-US" sz="700" dirty="0"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10" name="Rectangle 9"/>
              <p:cNvSpPr/>
              <p:nvPr/>
            </p:nvSpPr>
            <p:spPr>
              <a:xfrm>
                <a:off x="5929431" y="4455638"/>
                <a:ext cx="1694018" cy="187405"/>
              </a:xfrm>
              <a:prstGeom prst="rect">
                <a:avLst/>
              </a:prstGeom>
              <a:solidFill>
                <a:schemeClr val="accent5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57150" tIns="28575" rIns="57150" bIns="28575" rtlCol="0" anchor="ctr"/>
              <a:lstStyle/>
              <a:p>
                <a:pPr algn="ctr"/>
                <a:r>
                  <a:rPr lang="en-US" sz="1200" dirty="0" smtClean="0">
                    <a:solidFill>
                      <a:srgbClr val="FFFFFF"/>
                    </a:solidFill>
                  </a:rPr>
                  <a:t>Master clock</a:t>
                </a:r>
                <a:endParaRPr lang="en-US" sz="1200" dirty="0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11" name="Straight Arrow Connector 10"/>
              <p:cNvCxnSpPr>
                <a:stCxn id="35" idx="0"/>
                <a:endCxn id="10" idx="0"/>
              </p:cNvCxnSpPr>
              <p:nvPr/>
            </p:nvCxnSpPr>
            <p:spPr>
              <a:xfrm>
                <a:off x="6765274" y="3747516"/>
                <a:ext cx="11166" cy="708122"/>
              </a:xfrm>
              <a:prstGeom prst="straightConnector1">
                <a:avLst/>
              </a:prstGeom>
              <a:ln>
                <a:headEnd type="arrow"/>
                <a:tailEnd type="arrow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8" name="Rectangle 7"/>
            <p:cNvSpPr/>
            <p:nvPr/>
          </p:nvSpPr>
          <p:spPr>
            <a:xfrm>
              <a:off x="6254733" y="2152373"/>
              <a:ext cx="988032" cy="324127"/>
            </a:xfrm>
            <a:prstGeom prst="rect">
              <a:avLst/>
            </a:prstGeom>
            <a:ln/>
            <a:effectLst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900" b="1" dirty="0" smtClean="0">
                  <a:solidFill>
                    <a:srgbClr val="FFFFFF"/>
                  </a:solidFill>
                </a:rPr>
                <a:t>Time Sync</a:t>
              </a:r>
              <a:endParaRPr lang="en-US" sz="900" b="1" dirty="0">
                <a:solidFill>
                  <a:srgbClr val="FFFFFF"/>
                </a:solidFill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221575" y="743528"/>
            <a:ext cx="4415481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Ethernet firmware running on Main R5 core configures Time Sync PTP stack and enables it.</a:t>
            </a:r>
          </a:p>
          <a:p>
            <a:endParaRPr lang="en-US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Time Sync PTP stack synchronizes CPSW’s CPTS timer with the Master clock in network.</a:t>
            </a:r>
          </a:p>
          <a:p>
            <a:endParaRPr lang="en-US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Using Ethernet remote configuration framework, </a:t>
            </a:r>
            <a:r>
              <a:rPr lang="en-US" sz="1400" dirty="0" err="1" smtClean="0"/>
              <a:t>EthFw</a:t>
            </a:r>
            <a:r>
              <a:rPr lang="en-US" sz="1400" dirty="0" smtClean="0"/>
              <a:t> provides timer coupling support to remote cores, and let them subscribe for callback notifications.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 smtClean="0"/>
              <a:t>Ethfw</a:t>
            </a:r>
            <a:r>
              <a:rPr lang="en-US" sz="1400" dirty="0" smtClean="0"/>
              <a:t> uses </a:t>
            </a:r>
            <a:r>
              <a:rPr lang="en-US" sz="1400" dirty="0"/>
              <a:t>Time Sync Router </a:t>
            </a:r>
            <a:r>
              <a:rPr lang="en-US" sz="1400" dirty="0" smtClean="0"/>
              <a:t>to route remote core timer’s event to hardware push of CPTS timer.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CPTS timer timestamps every hardware push event from remote core and returns the timestamps.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58043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B97888F-6AF7-4263-B69D-592D8C33BAC7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9" name="Title 4"/>
          <p:cNvSpPr>
            <a:spLocks noGrp="1"/>
          </p:cNvSpPr>
          <p:nvPr>
            <p:ph type="title"/>
          </p:nvPr>
        </p:nvSpPr>
        <p:spPr>
          <a:xfrm>
            <a:off x="72671" y="-74504"/>
            <a:ext cx="8725339" cy="521183"/>
          </a:xfrm>
        </p:spPr>
        <p:txBody>
          <a:bodyPr/>
          <a:lstStyle/>
          <a:p>
            <a:r>
              <a:rPr lang="en-US" sz="2400" dirty="0"/>
              <a:t>Time Sync Router Configuration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228600" y="703081"/>
            <a:ext cx="2144268" cy="2391728"/>
            <a:chOff x="399716" y="781201"/>
            <a:chExt cx="2144268" cy="2657475"/>
          </a:xfrm>
        </p:grpSpPr>
        <p:sp>
          <p:nvSpPr>
            <p:cNvPr id="119" name="Rectangle 118"/>
            <p:cNvSpPr/>
            <p:nvPr/>
          </p:nvSpPr>
          <p:spPr>
            <a:xfrm>
              <a:off x="399716" y="781201"/>
              <a:ext cx="2133600" cy="1143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/>
            <p:cNvSpPr/>
            <p:nvPr/>
          </p:nvSpPr>
          <p:spPr>
            <a:xfrm>
              <a:off x="723565" y="970557"/>
              <a:ext cx="1590675" cy="35242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/>
                <a:t>Time-sensitive</a:t>
              </a:r>
            </a:p>
            <a:p>
              <a:pPr algn="ctr"/>
              <a:r>
                <a:rPr lang="en-US" sz="900" dirty="0" smtClean="0"/>
                <a:t>Application</a:t>
              </a:r>
              <a:endParaRPr lang="en-US" sz="900" dirty="0"/>
            </a:p>
          </p:txBody>
        </p:sp>
        <p:sp>
          <p:nvSpPr>
            <p:cNvPr id="128" name="Rectangle 127"/>
            <p:cNvSpPr/>
            <p:nvPr/>
          </p:nvSpPr>
          <p:spPr>
            <a:xfrm>
              <a:off x="629459" y="2905276"/>
              <a:ext cx="1914525" cy="5334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CPTS Timer</a:t>
              </a:r>
              <a:endParaRPr lang="en-US" dirty="0"/>
            </a:p>
          </p:txBody>
        </p:sp>
        <p:sp>
          <p:nvSpPr>
            <p:cNvPr id="129" name="Rectangle 128"/>
            <p:cNvSpPr/>
            <p:nvPr/>
          </p:nvSpPr>
          <p:spPr>
            <a:xfrm>
              <a:off x="1041892" y="1474240"/>
              <a:ext cx="1066800" cy="3429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 smtClean="0"/>
                <a:t>Remote core’s Timer</a:t>
              </a:r>
              <a:endParaRPr lang="en-US" sz="1000" dirty="0"/>
            </a:p>
          </p:txBody>
        </p:sp>
        <p:cxnSp>
          <p:nvCxnSpPr>
            <p:cNvPr id="130" name="Straight Connector 129"/>
            <p:cNvCxnSpPr>
              <a:stCxn id="129" idx="2"/>
            </p:cNvCxnSpPr>
            <p:nvPr/>
          </p:nvCxnSpPr>
          <p:spPr>
            <a:xfrm>
              <a:off x="1575292" y="1817140"/>
              <a:ext cx="0" cy="46463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>
              <a:off x="1576053" y="2276626"/>
              <a:ext cx="76200" cy="7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>
              <a:endCxn id="128" idx="0"/>
            </p:cNvCxnSpPr>
            <p:nvPr/>
          </p:nvCxnSpPr>
          <p:spPr>
            <a:xfrm flipH="1">
              <a:off x="1586722" y="2430550"/>
              <a:ext cx="9143" cy="4747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3" name="TextBox 132"/>
          <p:cNvSpPr txBox="1"/>
          <p:nvPr/>
        </p:nvSpPr>
        <p:spPr>
          <a:xfrm>
            <a:off x="1600200" y="1958604"/>
            <a:ext cx="2286000" cy="2769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 smtClean="0"/>
              <a:t>Coupling is done periodically</a:t>
            </a:r>
            <a:endParaRPr lang="en-US" sz="1200" dirty="0"/>
          </a:p>
        </p:txBody>
      </p:sp>
      <p:grpSp>
        <p:nvGrpSpPr>
          <p:cNvPr id="144" name="Group 143"/>
          <p:cNvGrpSpPr/>
          <p:nvPr/>
        </p:nvGrpSpPr>
        <p:grpSpPr>
          <a:xfrm>
            <a:off x="4196129" y="701939"/>
            <a:ext cx="4122075" cy="1379029"/>
            <a:chOff x="331728" y="3176914"/>
            <a:chExt cx="6629400" cy="1676400"/>
          </a:xfrm>
        </p:grpSpPr>
        <p:sp>
          <p:nvSpPr>
            <p:cNvPr id="145" name="Rectangle 144"/>
            <p:cNvSpPr/>
            <p:nvPr/>
          </p:nvSpPr>
          <p:spPr>
            <a:xfrm>
              <a:off x="3513078" y="3176914"/>
              <a:ext cx="457200" cy="1676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FFFF"/>
                  </a:solidFill>
                </a:rPr>
                <a:t>TSR</a:t>
              </a:r>
              <a:endParaRPr lang="en-US" dirty="0">
                <a:solidFill>
                  <a:srgbClr val="FFFFFF"/>
                </a:solidFill>
              </a:endParaRPr>
            </a:p>
          </p:txBody>
        </p:sp>
        <p:grpSp>
          <p:nvGrpSpPr>
            <p:cNvPr id="146" name="Group 145"/>
            <p:cNvGrpSpPr/>
            <p:nvPr/>
          </p:nvGrpSpPr>
          <p:grpSpPr>
            <a:xfrm>
              <a:off x="331728" y="3244860"/>
              <a:ext cx="6629400" cy="1524000"/>
              <a:chOff x="704850" y="3611246"/>
              <a:chExt cx="6629400" cy="1524000"/>
            </a:xfrm>
          </p:grpSpPr>
          <p:grpSp>
            <p:nvGrpSpPr>
              <p:cNvPr id="147" name="Group 146"/>
              <p:cNvGrpSpPr/>
              <p:nvPr/>
            </p:nvGrpSpPr>
            <p:grpSpPr>
              <a:xfrm>
                <a:off x="704850" y="3611246"/>
                <a:ext cx="6629400" cy="1524000"/>
                <a:chOff x="704850" y="3611246"/>
                <a:chExt cx="6629400" cy="1524000"/>
              </a:xfrm>
            </p:grpSpPr>
            <p:sp>
              <p:nvSpPr>
                <p:cNvPr id="149" name="Rectangle 148"/>
                <p:cNvSpPr/>
                <p:nvPr/>
              </p:nvSpPr>
              <p:spPr>
                <a:xfrm>
                  <a:off x="5276850" y="3687446"/>
                  <a:ext cx="2057400" cy="144780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 smtClean="0">
                      <a:solidFill>
                        <a:srgbClr val="000000"/>
                      </a:solidFill>
                    </a:rPr>
                    <a:t>CPTS</a:t>
                  </a:r>
                  <a:endParaRPr lang="en-US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50" name="Rectangle 149"/>
                <p:cNvSpPr/>
                <p:nvPr/>
              </p:nvSpPr>
              <p:spPr>
                <a:xfrm>
                  <a:off x="704850" y="3611246"/>
                  <a:ext cx="2057400" cy="144780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 smtClean="0">
                      <a:solidFill>
                        <a:srgbClr val="000000"/>
                      </a:solidFill>
                    </a:rPr>
                    <a:t>Remote</a:t>
                  </a:r>
                </a:p>
                <a:p>
                  <a:pPr algn="ctr"/>
                  <a:r>
                    <a:rPr lang="en-US" dirty="0" smtClean="0">
                      <a:solidFill>
                        <a:srgbClr val="000000"/>
                      </a:solidFill>
                    </a:rPr>
                    <a:t>core</a:t>
                  </a:r>
                  <a:endParaRPr lang="en-US" dirty="0">
                    <a:solidFill>
                      <a:srgbClr val="000000"/>
                    </a:solidFill>
                  </a:endParaRPr>
                </a:p>
              </p:txBody>
            </p:sp>
            <p:cxnSp>
              <p:nvCxnSpPr>
                <p:cNvPr id="151" name="Straight Arrow Connector 150"/>
                <p:cNvCxnSpPr/>
                <p:nvPr/>
              </p:nvCxnSpPr>
              <p:spPr>
                <a:xfrm>
                  <a:off x="4362450" y="3916046"/>
                  <a:ext cx="914400" cy="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" name="Straight Arrow Connector 151"/>
                <p:cNvCxnSpPr/>
                <p:nvPr/>
              </p:nvCxnSpPr>
              <p:spPr>
                <a:xfrm>
                  <a:off x="4362450" y="4068446"/>
                  <a:ext cx="914400" cy="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" name="Straight Arrow Connector 152"/>
                <p:cNvCxnSpPr/>
                <p:nvPr/>
              </p:nvCxnSpPr>
              <p:spPr>
                <a:xfrm>
                  <a:off x="4362450" y="4220846"/>
                  <a:ext cx="914400" cy="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" name="Straight Arrow Connector 153"/>
                <p:cNvCxnSpPr/>
                <p:nvPr/>
              </p:nvCxnSpPr>
              <p:spPr>
                <a:xfrm>
                  <a:off x="4362450" y="4373246"/>
                  <a:ext cx="914400" cy="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5" name="Straight Arrow Connector 154"/>
                <p:cNvCxnSpPr/>
                <p:nvPr/>
              </p:nvCxnSpPr>
              <p:spPr>
                <a:xfrm>
                  <a:off x="4362450" y="4525646"/>
                  <a:ext cx="914400" cy="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6" name="Straight Arrow Connector 155"/>
                <p:cNvCxnSpPr/>
                <p:nvPr/>
              </p:nvCxnSpPr>
              <p:spPr>
                <a:xfrm>
                  <a:off x="4362450" y="4678046"/>
                  <a:ext cx="914400" cy="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7" name="Straight Arrow Connector 156"/>
                <p:cNvCxnSpPr/>
                <p:nvPr/>
              </p:nvCxnSpPr>
              <p:spPr>
                <a:xfrm>
                  <a:off x="4362450" y="4830446"/>
                  <a:ext cx="914400" cy="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Straight Arrow Connector 157"/>
                <p:cNvCxnSpPr/>
                <p:nvPr/>
              </p:nvCxnSpPr>
              <p:spPr>
                <a:xfrm>
                  <a:off x="4362450" y="4982846"/>
                  <a:ext cx="914400" cy="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9" name="Straight Arrow Connector 158"/>
                <p:cNvCxnSpPr/>
                <p:nvPr/>
              </p:nvCxnSpPr>
              <p:spPr>
                <a:xfrm>
                  <a:off x="2990850" y="3887471"/>
                  <a:ext cx="914400" cy="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Straight Arrow Connector 159"/>
                <p:cNvCxnSpPr/>
                <p:nvPr/>
              </p:nvCxnSpPr>
              <p:spPr>
                <a:xfrm>
                  <a:off x="2990850" y="4554221"/>
                  <a:ext cx="914400" cy="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3" name="TextBox 162"/>
                <p:cNvSpPr txBox="1"/>
                <p:nvPr/>
              </p:nvSpPr>
              <p:spPr>
                <a:xfrm>
                  <a:off x="5114585" y="3787364"/>
                  <a:ext cx="643484" cy="1279577"/>
                </a:xfrm>
                <a:prstGeom prst="rect">
                  <a:avLst/>
                </a:prstGeom>
                <a:noFill/>
              </p:spPr>
              <p:txBody>
                <a:bodyPr vert="vert" wrap="square" rtlCol="0">
                  <a:spAutoFit/>
                </a:bodyPr>
                <a:lstStyle/>
                <a:p>
                  <a:pPr algn="ctr"/>
                  <a:r>
                    <a:rPr lang="en-US" sz="1400" dirty="0" err="1" smtClean="0">
                      <a:solidFill>
                        <a:srgbClr val="000000"/>
                      </a:solidFill>
                    </a:rPr>
                    <a:t>Hw</a:t>
                  </a:r>
                  <a:r>
                    <a:rPr lang="en-US" sz="1400" dirty="0" smtClean="0">
                      <a:solidFill>
                        <a:srgbClr val="000000"/>
                      </a:solidFill>
                    </a:rPr>
                    <a:t> Push</a:t>
                  </a:r>
                  <a:endParaRPr lang="en-US" sz="140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66" name="Rectangle 165"/>
                <p:cNvSpPr/>
                <p:nvPr/>
              </p:nvSpPr>
              <p:spPr>
                <a:xfrm>
                  <a:off x="5657850" y="3818251"/>
                  <a:ext cx="1524000" cy="250195"/>
                </a:xfrm>
                <a:prstGeom prst="rect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700" dirty="0" smtClean="0">
                      <a:solidFill>
                        <a:srgbClr val="FFFFFF"/>
                      </a:solidFill>
                    </a:rPr>
                    <a:t>64-bit Time Stamp</a:t>
                  </a:r>
                  <a:endParaRPr lang="en-US" sz="700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167" name="Rectangle 166"/>
                <p:cNvSpPr/>
                <p:nvPr/>
              </p:nvSpPr>
              <p:spPr>
                <a:xfrm>
                  <a:off x="971550" y="3762373"/>
                  <a:ext cx="1524000" cy="250195"/>
                </a:xfrm>
                <a:prstGeom prst="rect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800" dirty="0" smtClean="0">
                      <a:solidFill>
                        <a:srgbClr val="FFFFFF"/>
                      </a:solidFill>
                    </a:rPr>
                    <a:t>GTC0/ TIMER[14-19]</a:t>
                  </a:r>
                  <a:endParaRPr lang="en-US" sz="800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168" name="TextBox 167"/>
                <p:cNvSpPr txBox="1"/>
                <p:nvPr/>
              </p:nvSpPr>
              <p:spPr>
                <a:xfrm>
                  <a:off x="2990850" y="3611246"/>
                  <a:ext cx="1143001" cy="3180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100" dirty="0" smtClean="0">
                      <a:solidFill>
                        <a:srgbClr val="000000"/>
                      </a:solidFill>
                    </a:rPr>
                    <a:t>GTC0</a:t>
                  </a:r>
                  <a:endParaRPr lang="en-US" sz="110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69" name="TextBox 168"/>
                <p:cNvSpPr txBox="1"/>
                <p:nvPr/>
              </p:nvSpPr>
              <p:spPr>
                <a:xfrm>
                  <a:off x="2828925" y="4321832"/>
                  <a:ext cx="1143001" cy="52380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100" dirty="0" smtClean="0">
                      <a:solidFill>
                        <a:srgbClr val="000000"/>
                      </a:solidFill>
                    </a:rPr>
                    <a:t>TIMER[14-19]</a:t>
                  </a:r>
                </a:p>
              </p:txBody>
            </p:sp>
          </p:grpSp>
          <p:sp>
            <p:nvSpPr>
              <p:cNvPr id="148" name="TextBox 147"/>
              <p:cNvSpPr txBox="1"/>
              <p:nvPr/>
            </p:nvSpPr>
            <p:spPr>
              <a:xfrm>
                <a:off x="2876550" y="4558041"/>
                <a:ext cx="1143001" cy="5238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 smtClean="0">
                    <a:solidFill>
                      <a:srgbClr val="000000"/>
                    </a:solidFill>
                  </a:rPr>
                  <a:t>      PWM</a:t>
                </a:r>
              </a:p>
            </p:txBody>
          </p:sp>
        </p:grpSp>
      </p:grpSp>
      <p:sp>
        <p:nvSpPr>
          <p:cNvPr id="3" name="TextBox 2"/>
          <p:cNvSpPr txBox="1"/>
          <p:nvPr/>
        </p:nvSpPr>
        <p:spPr>
          <a:xfrm>
            <a:off x="552450" y="438441"/>
            <a:ext cx="15990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Remote Core</a:t>
            </a:r>
            <a:endParaRPr lang="en-US" sz="1400" dirty="0"/>
          </a:p>
        </p:txBody>
      </p:sp>
      <p:sp>
        <p:nvSpPr>
          <p:cNvPr id="102" name="TextBox 101"/>
          <p:cNvSpPr txBox="1"/>
          <p:nvPr/>
        </p:nvSpPr>
        <p:spPr>
          <a:xfrm>
            <a:off x="1192164" y="3398825"/>
            <a:ext cx="6584911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/>
              <a:t>Coupling between remote core’s timer  and CPTS timer is done through Hardware push events of CPTS and Time Sync Router(TSR).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/>
              <a:t>With this a linear relation is established between CPTS &amp; remote timer.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/>
              <a:t>Once the relation is established, remote core can independently use this coupled </a:t>
            </a:r>
            <a:r>
              <a:rPr lang="en-US" sz="1200" dirty="0" smtClean="0"/>
              <a:t>timer locally.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44454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B97888F-6AF7-4263-B69D-592D8C33BAC7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7</a:t>
            </a:fld>
            <a:endParaRPr lang="en-US">
              <a:solidFill>
                <a:srgbClr val="000000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559686" y="593718"/>
            <a:ext cx="3108350" cy="1605183"/>
            <a:chOff x="365556" y="1430745"/>
            <a:chExt cx="3108350" cy="1783537"/>
          </a:xfrm>
        </p:grpSpPr>
        <p:sp>
          <p:nvSpPr>
            <p:cNvPr id="6" name="Rectangle 5"/>
            <p:cNvSpPr/>
            <p:nvPr/>
          </p:nvSpPr>
          <p:spPr>
            <a:xfrm>
              <a:off x="365556" y="1430745"/>
              <a:ext cx="3108350" cy="1783537"/>
            </a:xfrm>
            <a:prstGeom prst="rect">
              <a:avLst/>
            </a:prstGeom>
            <a:solidFill>
              <a:schemeClr val="bg2">
                <a:alpha val="31000"/>
              </a:schemeClr>
            </a:solidFill>
            <a:ln w="19050"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150" tIns="28575" rIns="57150" bIns="28575" rtlCol="0" anchor="t"/>
            <a:lstStyle/>
            <a:p>
              <a:pPr algn="r"/>
              <a:endParaRPr lang="en-US" sz="1200" b="1" dirty="0">
                <a:solidFill>
                  <a:srgbClr val="000000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491163" y="1588928"/>
              <a:ext cx="2225031" cy="413725"/>
            </a:xfrm>
            <a:prstGeom prst="rect">
              <a:avLst/>
            </a:prstGeom>
            <a:solidFill>
              <a:srgbClr val="F3FABE"/>
            </a:solidFill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150" tIns="28575" rIns="57150" bIns="28575" rtlCol="0" anchor="ctr"/>
            <a:lstStyle/>
            <a:p>
              <a:pPr algn="ctr"/>
              <a:endParaRPr lang="en-US" sz="1000" dirty="0">
                <a:solidFill>
                  <a:srgbClr val="000000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684953" y="1816564"/>
              <a:ext cx="377156" cy="14758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600" dirty="0">
                  <a:solidFill>
                    <a:srgbClr val="000000"/>
                  </a:solidFill>
                </a:rPr>
                <a:t>iproute2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1101738" y="1816564"/>
              <a:ext cx="297531" cy="14758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600" dirty="0" err="1">
                  <a:solidFill>
                    <a:srgbClr val="000000"/>
                  </a:solidFill>
                </a:rPr>
                <a:t>brctl</a:t>
              </a:r>
              <a:endParaRPr lang="en-US" sz="600" dirty="0">
                <a:solidFill>
                  <a:srgbClr val="000000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438898" y="1816564"/>
              <a:ext cx="343485" cy="14758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600" dirty="0" err="1">
                  <a:solidFill>
                    <a:srgbClr val="000000"/>
                  </a:solidFill>
                </a:rPr>
                <a:t>ethtool</a:t>
              </a:r>
              <a:endParaRPr lang="en-US" sz="600" dirty="0">
                <a:solidFill>
                  <a:srgbClr val="000000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22012" y="1816564"/>
              <a:ext cx="343485" cy="14758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600" dirty="0" err="1">
                  <a:solidFill>
                    <a:srgbClr val="000000"/>
                  </a:solidFill>
                </a:rPr>
                <a:t>vconfig</a:t>
              </a:r>
              <a:endParaRPr lang="en-US" sz="600" dirty="0">
                <a:solidFill>
                  <a:srgbClr val="000000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205125" y="1816564"/>
              <a:ext cx="229349" cy="14758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600" dirty="0" err="1">
                  <a:solidFill>
                    <a:srgbClr val="000000"/>
                  </a:solidFill>
                </a:rPr>
                <a:t>tc</a:t>
              </a:r>
              <a:endParaRPr lang="en-US" sz="600" dirty="0">
                <a:solidFill>
                  <a:srgbClr val="000000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987206" y="1625611"/>
              <a:ext cx="377156" cy="14758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600" dirty="0" err="1">
                  <a:solidFill>
                    <a:srgbClr val="C00000"/>
                  </a:solidFill>
                </a:rPr>
                <a:t>mstpd</a:t>
              </a:r>
              <a:endParaRPr lang="en-US" sz="600" dirty="0">
                <a:solidFill>
                  <a:srgbClr val="C00000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415416" y="1625611"/>
              <a:ext cx="377156" cy="14758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600" dirty="0" err="1">
                  <a:solidFill>
                    <a:srgbClr val="C00000"/>
                  </a:solidFill>
                </a:rPr>
                <a:t>lldpd</a:t>
              </a:r>
              <a:endParaRPr lang="en-US" sz="600" dirty="0">
                <a:solidFill>
                  <a:srgbClr val="C00000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558996" y="1625611"/>
              <a:ext cx="377156" cy="14758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600" dirty="0" err="1">
                  <a:solidFill>
                    <a:srgbClr val="C00000"/>
                  </a:solidFill>
                </a:rPr>
                <a:t>snmpd</a:t>
              </a:r>
              <a:endParaRPr lang="en-US" sz="600" dirty="0">
                <a:solidFill>
                  <a:srgbClr val="C00000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843625" y="1625611"/>
              <a:ext cx="377156" cy="14758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600" dirty="0" err="1">
                  <a:solidFill>
                    <a:srgbClr val="C00000"/>
                  </a:solidFill>
                </a:rPr>
                <a:t>lacp</a:t>
              </a:r>
              <a:endParaRPr lang="en-US" sz="600" dirty="0">
                <a:solidFill>
                  <a:srgbClr val="C00000"/>
                </a:solidFill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2271834" y="1625611"/>
              <a:ext cx="377156" cy="14758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600" dirty="0" err="1">
                  <a:solidFill>
                    <a:srgbClr val="C00000"/>
                  </a:solidFill>
                </a:rPr>
                <a:t>mvrp</a:t>
              </a:r>
              <a:endParaRPr lang="en-US" sz="600" dirty="0">
                <a:solidFill>
                  <a:srgbClr val="C00000"/>
                </a:solidFill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540933" y="2108517"/>
              <a:ext cx="565313" cy="14758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150" tIns="28575" rIns="57150" bIns="28575" rtlCol="0" anchor="ctr"/>
            <a:lstStyle/>
            <a:p>
              <a:pPr algn="ctr"/>
              <a:r>
                <a:rPr lang="en-US" sz="600" dirty="0">
                  <a:solidFill>
                    <a:srgbClr val="000000"/>
                  </a:solidFill>
                </a:rPr>
                <a:t>Bonds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151661" y="2108517"/>
              <a:ext cx="565313" cy="14758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150" tIns="28575" rIns="57150" bIns="28575" rtlCol="0" anchor="ctr"/>
            <a:lstStyle/>
            <a:p>
              <a:pPr algn="ctr"/>
              <a:r>
                <a:rPr lang="en-US" sz="600" dirty="0">
                  <a:solidFill>
                    <a:srgbClr val="000000"/>
                  </a:solidFill>
                </a:rPr>
                <a:t>Bridges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762390" y="2108517"/>
              <a:ext cx="565313" cy="14758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150" tIns="28575" rIns="57150" bIns="28575" rtlCol="0" anchor="ctr"/>
            <a:lstStyle/>
            <a:p>
              <a:pPr algn="ctr"/>
              <a:r>
                <a:rPr lang="en-US" sz="600" dirty="0">
                  <a:solidFill>
                    <a:srgbClr val="000000"/>
                  </a:solidFill>
                </a:rPr>
                <a:t>VXLAN</a:t>
              </a:r>
            </a:p>
          </p:txBody>
        </p:sp>
        <p:cxnSp>
          <p:nvCxnSpPr>
            <p:cNvPr id="21" name="Straight Connector 20"/>
            <p:cNvCxnSpPr/>
            <p:nvPr/>
          </p:nvCxnSpPr>
          <p:spPr>
            <a:xfrm flipV="1">
              <a:off x="414086" y="2065983"/>
              <a:ext cx="3006303" cy="1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/>
            <p:cNvSpPr/>
            <p:nvPr/>
          </p:nvSpPr>
          <p:spPr>
            <a:xfrm>
              <a:off x="533226" y="2317013"/>
              <a:ext cx="1498818" cy="133707"/>
            </a:xfrm>
            <a:prstGeom prst="rect">
              <a:avLst/>
            </a:prstGeom>
            <a:solidFill>
              <a:srgbClr val="BCFCC1"/>
            </a:solidFill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150" tIns="28575" rIns="57150" bIns="28575" rtlCol="0" anchor="ctr"/>
            <a:lstStyle/>
            <a:p>
              <a:pPr algn="ctr"/>
              <a:r>
                <a:rPr lang="en-US" sz="600" dirty="0">
                  <a:solidFill>
                    <a:srgbClr val="000000"/>
                  </a:solidFill>
                </a:rPr>
                <a:t>RT </a:t>
              </a:r>
              <a:r>
                <a:rPr lang="en-US" sz="600" dirty="0" err="1">
                  <a:solidFill>
                    <a:srgbClr val="000000"/>
                  </a:solidFill>
                </a:rPr>
                <a:t>Netlink</a:t>
              </a:r>
              <a:endParaRPr lang="en-US" sz="600" dirty="0">
                <a:solidFill>
                  <a:srgbClr val="000000"/>
                </a:solidFill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2076444" y="2317013"/>
              <a:ext cx="639750" cy="133707"/>
            </a:xfrm>
            <a:prstGeom prst="rect">
              <a:avLst/>
            </a:prstGeom>
            <a:solidFill>
              <a:srgbClr val="BCFCC1"/>
            </a:solidFill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150" tIns="28575" rIns="57150" bIns="28575" rtlCol="0" anchor="ctr"/>
            <a:lstStyle/>
            <a:p>
              <a:pPr algn="ctr"/>
              <a:r>
                <a:rPr lang="en-US" sz="600" dirty="0" err="1">
                  <a:solidFill>
                    <a:srgbClr val="000000"/>
                  </a:solidFill>
                </a:rPr>
                <a:t>ethtool</a:t>
              </a:r>
              <a:r>
                <a:rPr lang="en-US" sz="600" dirty="0">
                  <a:solidFill>
                    <a:srgbClr val="000000"/>
                  </a:solidFill>
                </a:rPr>
                <a:t> </a:t>
              </a:r>
              <a:r>
                <a:rPr lang="en-US" sz="600" dirty="0" err="1">
                  <a:solidFill>
                    <a:srgbClr val="000000"/>
                  </a:solidFill>
                </a:rPr>
                <a:t>ioctl</a:t>
              </a:r>
              <a:endParaRPr lang="en-US" sz="600" dirty="0">
                <a:solidFill>
                  <a:srgbClr val="000000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515725" y="2526120"/>
              <a:ext cx="1498818" cy="618349"/>
            </a:xfrm>
            <a:prstGeom prst="rect">
              <a:avLst/>
            </a:prstGeom>
            <a:solidFill>
              <a:srgbClr val="BCFCC1"/>
            </a:solidFill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150" tIns="28575" rIns="57150" bIns="28575" rtlCol="0" anchor="ctr"/>
            <a:lstStyle/>
            <a:p>
              <a:pPr algn="ctr"/>
              <a:r>
                <a:rPr lang="en-US" sz="600" dirty="0" err="1">
                  <a:solidFill>
                    <a:srgbClr val="000000"/>
                  </a:solidFill>
                </a:rPr>
                <a:t>switchdev</a:t>
              </a:r>
              <a:r>
                <a:rPr lang="en-US" sz="600" dirty="0">
                  <a:solidFill>
                    <a:srgbClr val="000000"/>
                  </a:solidFill>
                </a:rPr>
                <a:t> driver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581216" y="2575122"/>
              <a:ext cx="356265" cy="98285"/>
            </a:xfrm>
            <a:prstGeom prst="rect">
              <a:avLst/>
            </a:prstGeom>
            <a:solidFill>
              <a:schemeClr val="accent5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150" tIns="28575" rIns="57150" bIns="28575" rtlCol="0" anchor="ctr"/>
            <a:lstStyle/>
            <a:p>
              <a:pPr algn="ctr"/>
              <a:r>
                <a:rPr lang="en-US" sz="600" dirty="0">
                  <a:solidFill>
                    <a:srgbClr val="000000"/>
                  </a:solidFill>
                </a:rPr>
                <a:t>swp0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581216" y="2718089"/>
              <a:ext cx="347551" cy="94587"/>
            </a:xfrm>
            <a:prstGeom prst="rect">
              <a:avLst/>
            </a:prstGeom>
            <a:solidFill>
              <a:schemeClr val="accent5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150" tIns="28575" rIns="57150" bIns="28575" rtlCol="0" anchor="ctr"/>
            <a:lstStyle/>
            <a:p>
              <a:pPr algn="ctr"/>
              <a:r>
                <a:rPr lang="en-US" sz="600" dirty="0">
                  <a:solidFill>
                    <a:srgbClr val="000000"/>
                  </a:solidFill>
                </a:rPr>
                <a:t>swp1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581216" y="2996628"/>
              <a:ext cx="347551" cy="98452"/>
            </a:xfrm>
            <a:prstGeom prst="rect">
              <a:avLst/>
            </a:prstGeom>
            <a:solidFill>
              <a:schemeClr val="accent5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150" tIns="28575" rIns="57150" bIns="28575" rtlCol="0" anchor="ctr"/>
            <a:lstStyle/>
            <a:p>
              <a:pPr algn="ctr"/>
              <a:r>
                <a:rPr lang="en-US" sz="600" dirty="0">
                  <a:solidFill>
                    <a:srgbClr val="000000"/>
                  </a:solidFill>
                </a:rPr>
                <a:t>swp7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074827" y="2526120"/>
              <a:ext cx="641367" cy="621740"/>
            </a:xfrm>
            <a:prstGeom prst="rect">
              <a:avLst/>
            </a:prstGeom>
            <a:solidFill>
              <a:srgbClr val="BCFCC1"/>
            </a:solidFill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150" tIns="28575" rIns="57150" bIns="28575" rtlCol="0" anchor="ctr"/>
            <a:lstStyle/>
            <a:p>
              <a:pPr algn="ctr"/>
              <a:r>
                <a:rPr lang="en-US" sz="600" dirty="0" err="1">
                  <a:solidFill>
                    <a:srgbClr val="000000"/>
                  </a:solidFill>
                </a:rPr>
                <a:t>cpsw</a:t>
              </a:r>
              <a:r>
                <a:rPr lang="en-US" sz="600" dirty="0">
                  <a:solidFill>
                    <a:srgbClr val="000000"/>
                  </a:solidFill>
                </a:rPr>
                <a:t> driver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586533" y="2857358"/>
              <a:ext cx="347551" cy="94587"/>
            </a:xfrm>
            <a:prstGeom prst="rect">
              <a:avLst/>
            </a:prstGeom>
            <a:solidFill>
              <a:schemeClr val="accent5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150" tIns="28575" rIns="57150" bIns="28575" rtlCol="0" anchor="ctr"/>
            <a:lstStyle/>
            <a:p>
              <a:pPr algn="ctr"/>
              <a:r>
                <a:rPr lang="en-US" sz="600" dirty="0">
                  <a:solidFill>
                    <a:srgbClr val="000000"/>
                  </a:solidFill>
                </a:rPr>
                <a:t>swp1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111528" y="2913896"/>
              <a:ext cx="581177" cy="19899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500" dirty="0">
                  <a:solidFill>
                    <a:srgbClr val="000000"/>
                  </a:solidFill>
                </a:rPr>
                <a:t>Remote Configuration Client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99068" y="2931676"/>
              <a:ext cx="608898" cy="19899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500" dirty="0">
                  <a:solidFill>
                    <a:srgbClr val="000000"/>
                  </a:solidFill>
                </a:rPr>
                <a:t>Remote Configuration Client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4520156" y="534280"/>
            <a:ext cx="4166645" cy="2967639"/>
            <a:chOff x="4253164" y="1097045"/>
            <a:chExt cx="4166645" cy="3297377"/>
          </a:xfrm>
        </p:grpSpPr>
        <p:grpSp>
          <p:nvGrpSpPr>
            <p:cNvPr id="34" name="Group 33"/>
            <p:cNvGrpSpPr/>
            <p:nvPr/>
          </p:nvGrpSpPr>
          <p:grpSpPr>
            <a:xfrm>
              <a:off x="4253164" y="1097045"/>
              <a:ext cx="4166645" cy="3297377"/>
              <a:chOff x="4336172" y="1345666"/>
              <a:chExt cx="4166645" cy="3297377"/>
            </a:xfrm>
          </p:grpSpPr>
          <p:grpSp>
            <p:nvGrpSpPr>
              <p:cNvPr id="36" name="Group 35"/>
              <p:cNvGrpSpPr/>
              <p:nvPr/>
            </p:nvGrpSpPr>
            <p:grpSpPr>
              <a:xfrm>
                <a:off x="4336172" y="1345666"/>
                <a:ext cx="4166645" cy="2511116"/>
                <a:chOff x="1803784" y="867919"/>
                <a:chExt cx="5535755" cy="3138325"/>
              </a:xfrm>
            </p:grpSpPr>
            <p:sp>
              <p:nvSpPr>
                <p:cNvPr id="39" name="Rectangle 38"/>
                <p:cNvSpPr/>
                <p:nvPr/>
              </p:nvSpPr>
              <p:spPr>
                <a:xfrm>
                  <a:off x="1803784" y="867919"/>
                  <a:ext cx="5535755" cy="2293201"/>
                </a:xfrm>
                <a:prstGeom prst="rect">
                  <a:avLst/>
                </a:prstGeom>
                <a:solidFill>
                  <a:schemeClr val="bg2">
                    <a:alpha val="31000"/>
                  </a:schemeClr>
                </a:solidFill>
                <a:ln w="19050"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9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40" name="Rectangle 39"/>
                <p:cNvSpPr/>
                <p:nvPr/>
              </p:nvSpPr>
              <p:spPr>
                <a:xfrm>
                  <a:off x="2209773" y="3402800"/>
                  <a:ext cx="5129766" cy="455252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9525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57150" tIns="28575" rIns="57150" bIns="28575" rtlCol="0" anchor="b"/>
                <a:lstStyle/>
                <a:p>
                  <a:pPr algn="ctr"/>
                  <a:r>
                    <a:rPr lang="en-US" sz="800" dirty="0" smtClean="0">
                      <a:solidFill>
                        <a:srgbClr val="000000"/>
                      </a:solidFill>
                    </a:rPr>
                    <a:t>CPSW_9G</a:t>
                  </a:r>
                  <a:endParaRPr lang="en-US" sz="900" dirty="0">
                    <a:solidFill>
                      <a:srgbClr val="000000"/>
                    </a:solidFill>
                  </a:endParaRPr>
                </a:p>
              </p:txBody>
            </p:sp>
            <p:grpSp>
              <p:nvGrpSpPr>
                <p:cNvPr id="41" name="Group 40"/>
                <p:cNvGrpSpPr/>
                <p:nvPr/>
              </p:nvGrpSpPr>
              <p:grpSpPr>
                <a:xfrm>
                  <a:off x="2778687" y="3865335"/>
                  <a:ext cx="3991940" cy="140909"/>
                  <a:chOff x="5182870" y="4381500"/>
                  <a:chExt cx="2619375" cy="98285"/>
                </a:xfrm>
              </p:grpSpPr>
              <p:sp>
                <p:nvSpPr>
                  <p:cNvPr id="61" name="Rectangle 60"/>
                  <p:cNvSpPr/>
                  <p:nvPr/>
                </p:nvSpPr>
                <p:spPr>
                  <a:xfrm>
                    <a:off x="6192322" y="4381500"/>
                    <a:ext cx="263989" cy="98285"/>
                  </a:xfrm>
                  <a:prstGeom prst="rect">
                    <a:avLst/>
                  </a:prstGeom>
                  <a:ln w="1905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57150" tIns="28575" rIns="57150" bIns="28575" rtlCol="0" anchor="ctr"/>
                  <a:lstStyle/>
                  <a:p>
                    <a:pPr algn="ctr"/>
                    <a:endParaRPr lang="en-US">
                      <a:solidFill>
                        <a:srgbClr val="FFFFFF"/>
                      </a:solidFill>
                    </a:endParaRPr>
                  </a:p>
                </p:txBody>
              </p:sp>
              <p:sp>
                <p:nvSpPr>
                  <p:cNvPr id="62" name="Rectangle 61"/>
                  <p:cNvSpPr/>
                  <p:nvPr/>
                </p:nvSpPr>
                <p:spPr>
                  <a:xfrm>
                    <a:off x="6528806" y="4384535"/>
                    <a:ext cx="263989" cy="92215"/>
                  </a:xfrm>
                  <a:prstGeom prst="rect">
                    <a:avLst/>
                  </a:prstGeom>
                  <a:ln w="1905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57150" tIns="28575" rIns="57150" bIns="28575" rtlCol="0" anchor="ctr"/>
                  <a:lstStyle/>
                  <a:p>
                    <a:pPr algn="ctr"/>
                    <a:endParaRPr lang="en-US">
                      <a:solidFill>
                        <a:srgbClr val="FFFFFF"/>
                      </a:solidFill>
                    </a:endParaRPr>
                  </a:p>
                </p:txBody>
              </p:sp>
              <p:sp>
                <p:nvSpPr>
                  <p:cNvPr id="63" name="Rectangle 62"/>
                  <p:cNvSpPr/>
                  <p:nvPr/>
                </p:nvSpPr>
                <p:spPr>
                  <a:xfrm>
                    <a:off x="6865290" y="4384535"/>
                    <a:ext cx="263989" cy="92215"/>
                  </a:xfrm>
                  <a:prstGeom prst="rect">
                    <a:avLst/>
                  </a:prstGeom>
                  <a:ln w="1905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57150" tIns="28575" rIns="57150" bIns="28575" rtlCol="0" anchor="ctr"/>
                  <a:lstStyle/>
                  <a:p>
                    <a:pPr algn="ctr"/>
                    <a:endParaRPr lang="en-US">
                      <a:solidFill>
                        <a:srgbClr val="FFFFFF"/>
                      </a:solidFill>
                    </a:endParaRPr>
                  </a:p>
                </p:txBody>
              </p:sp>
              <p:sp>
                <p:nvSpPr>
                  <p:cNvPr id="64" name="Rectangle 63"/>
                  <p:cNvSpPr/>
                  <p:nvPr/>
                </p:nvSpPr>
                <p:spPr>
                  <a:xfrm>
                    <a:off x="7201774" y="4381500"/>
                    <a:ext cx="263989" cy="98285"/>
                  </a:xfrm>
                  <a:prstGeom prst="rect">
                    <a:avLst/>
                  </a:prstGeom>
                  <a:ln w="1905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57150" tIns="28575" rIns="57150" bIns="28575" rtlCol="0" anchor="ctr"/>
                  <a:lstStyle/>
                  <a:p>
                    <a:pPr algn="ctr"/>
                    <a:endParaRPr lang="en-US">
                      <a:solidFill>
                        <a:srgbClr val="FFFFFF"/>
                      </a:solidFill>
                    </a:endParaRPr>
                  </a:p>
                </p:txBody>
              </p:sp>
              <p:sp>
                <p:nvSpPr>
                  <p:cNvPr id="65" name="Rectangle 64"/>
                  <p:cNvSpPr/>
                  <p:nvPr/>
                </p:nvSpPr>
                <p:spPr>
                  <a:xfrm>
                    <a:off x="7538256" y="4381500"/>
                    <a:ext cx="263989" cy="95250"/>
                  </a:xfrm>
                  <a:prstGeom prst="rect">
                    <a:avLst/>
                  </a:prstGeom>
                  <a:ln w="1905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57150" tIns="28575" rIns="57150" bIns="28575" rtlCol="0" anchor="ctr"/>
                  <a:lstStyle/>
                  <a:p>
                    <a:pPr algn="ctr"/>
                    <a:endParaRPr lang="en-US">
                      <a:solidFill>
                        <a:srgbClr val="FFFFFF"/>
                      </a:solidFill>
                    </a:endParaRPr>
                  </a:p>
                </p:txBody>
              </p:sp>
              <p:sp>
                <p:nvSpPr>
                  <p:cNvPr id="66" name="Rectangle 65"/>
                  <p:cNvSpPr/>
                  <p:nvPr/>
                </p:nvSpPr>
                <p:spPr>
                  <a:xfrm>
                    <a:off x="5182870" y="4384535"/>
                    <a:ext cx="263989" cy="95250"/>
                  </a:xfrm>
                  <a:prstGeom prst="rect">
                    <a:avLst/>
                  </a:prstGeom>
                  <a:ln w="1905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57150" tIns="28575" rIns="57150" bIns="28575" rtlCol="0" anchor="ctr"/>
                  <a:lstStyle/>
                  <a:p>
                    <a:pPr algn="ctr"/>
                    <a:endParaRPr lang="en-US">
                      <a:solidFill>
                        <a:srgbClr val="FFFFFF"/>
                      </a:solidFill>
                    </a:endParaRPr>
                  </a:p>
                </p:txBody>
              </p:sp>
              <p:sp>
                <p:nvSpPr>
                  <p:cNvPr id="67" name="Rectangle 66"/>
                  <p:cNvSpPr/>
                  <p:nvPr/>
                </p:nvSpPr>
                <p:spPr>
                  <a:xfrm>
                    <a:off x="5519354" y="4384535"/>
                    <a:ext cx="263989" cy="95250"/>
                  </a:xfrm>
                  <a:prstGeom prst="rect">
                    <a:avLst/>
                  </a:prstGeom>
                  <a:ln w="1905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57150" tIns="28575" rIns="57150" bIns="28575" rtlCol="0" anchor="ctr"/>
                  <a:lstStyle/>
                  <a:p>
                    <a:pPr algn="ctr"/>
                    <a:endParaRPr lang="en-US">
                      <a:solidFill>
                        <a:srgbClr val="FFFFFF"/>
                      </a:solidFill>
                    </a:endParaRPr>
                  </a:p>
                </p:txBody>
              </p:sp>
              <p:sp>
                <p:nvSpPr>
                  <p:cNvPr id="68" name="Rectangle 67"/>
                  <p:cNvSpPr/>
                  <p:nvPr/>
                </p:nvSpPr>
                <p:spPr>
                  <a:xfrm>
                    <a:off x="5855838" y="4381500"/>
                    <a:ext cx="263989" cy="98285"/>
                  </a:xfrm>
                  <a:prstGeom prst="rect">
                    <a:avLst/>
                  </a:prstGeom>
                  <a:ln w="1905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57150" tIns="28575" rIns="57150" bIns="28575" rtlCol="0" anchor="ctr"/>
                  <a:lstStyle/>
                  <a:p>
                    <a:pPr algn="ctr"/>
                    <a:endParaRPr lang="en-US">
                      <a:solidFill>
                        <a:srgbClr val="FFFFFF"/>
                      </a:solidFill>
                    </a:endParaRPr>
                  </a:p>
                </p:txBody>
              </p:sp>
            </p:grpSp>
            <p:sp>
              <p:nvSpPr>
                <p:cNvPr id="42" name="Rectangle 41"/>
                <p:cNvSpPr/>
                <p:nvPr/>
              </p:nvSpPr>
              <p:spPr>
                <a:xfrm>
                  <a:off x="4457248" y="3404130"/>
                  <a:ext cx="668174" cy="182373"/>
                </a:xfrm>
                <a:prstGeom prst="rect">
                  <a:avLst/>
                </a:prstGeom>
                <a:solidFill>
                  <a:schemeClr val="accent5"/>
                </a:solidFill>
                <a:ln w="190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57150" tIns="28575" rIns="57150" bIns="28575" rtlCol="0" anchor="ctr"/>
                <a:lstStyle/>
                <a:p>
                  <a:pPr algn="ctr"/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43" name="Rectangle 42"/>
                <p:cNvSpPr/>
                <p:nvPr/>
              </p:nvSpPr>
              <p:spPr>
                <a:xfrm>
                  <a:off x="2394525" y="3527902"/>
                  <a:ext cx="1847872" cy="238841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9525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57150" tIns="28575" rIns="57150" bIns="28575" rtlCol="0" anchor="ctr"/>
                <a:lstStyle/>
                <a:p>
                  <a:pPr algn="ctr"/>
                  <a:r>
                    <a:rPr lang="en-US" sz="600" dirty="0">
                      <a:solidFill>
                        <a:srgbClr val="000000"/>
                      </a:solidFill>
                    </a:rPr>
                    <a:t>CPSW 9G Register</a:t>
                  </a:r>
                </a:p>
              </p:txBody>
            </p:sp>
            <p:cxnSp>
              <p:nvCxnSpPr>
                <p:cNvPr id="44" name="Straight Arrow Connector 43"/>
                <p:cNvCxnSpPr/>
                <p:nvPr/>
              </p:nvCxnSpPr>
              <p:spPr>
                <a:xfrm flipH="1">
                  <a:off x="3930301" y="2988840"/>
                  <a:ext cx="2" cy="539062"/>
                </a:xfrm>
                <a:prstGeom prst="straightConnector1">
                  <a:avLst/>
                </a:prstGeom>
                <a:ln w="19050">
                  <a:solidFill>
                    <a:srgbClr val="00B0F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Arrow Connector 44"/>
                <p:cNvCxnSpPr>
                  <a:endCxn id="42" idx="0"/>
                </p:cNvCxnSpPr>
                <p:nvPr/>
              </p:nvCxnSpPr>
              <p:spPr>
                <a:xfrm>
                  <a:off x="4787840" y="3097579"/>
                  <a:ext cx="3495" cy="306551"/>
                </a:xfrm>
                <a:prstGeom prst="straightConnector1">
                  <a:avLst/>
                </a:prstGeom>
                <a:ln w="19050">
                  <a:solidFill>
                    <a:schemeClr val="tx2">
                      <a:lumMod val="40000"/>
                      <a:lumOff val="60000"/>
                    </a:schemeClr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6" name="Rectangle 45"/>
                <p:cNvSpPr/>
                <p:nvPr/>
              </p:nvSpPr>
              <p:spPr>
                <a:xfrm>
                  <a:off x="3888386" y="2154259"/>
                  <a:ext cx="422024" cy="187183"/>
                </a:xfrm>
                <a:prstGeom prst="rect">
                  <a:avLst/>
                </a:prstGeom>
                <a:ln/>
                <a:effectLst/>
              </p:spPr>
              <p:style>
                <a:lnRef idx="1">
                  <a:schemeClr val="accent3"/>
                </a:lnRef>
                <a:fillRef idx="3">
                  <a:schemeClr val="accent3"/>
                </a:fillRef>
                <a:effectRef idx="2">
                  <a:schemeClr val="accent3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700" b="1" dirty="0">
                      <a:solidFill>
                        <a:srgbClr val="FFFFFF"/>
                      </a:solidFill>
                    </a:rPr>
                    <a:t>EAPOL</a:t>
                  </a:r>
                  <a:endParaRPr lang="en-US" sz="400" b="1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47" name="Rectangle 46"/>
                <p:cNvSpPr/>
                <p:nvPr/>
              </p:nvSpPr>
              <p:spPr>
                <a:xfrm>
                  <a:off x="1980797" y="1181029"/>
                  <a:ext cx="5213911" cy="573217"/>
                </a:xfrm>
                <a:prstGeom prst="rect">
                  <a:avLst/>
                </a:prstGeom>
                <a:solidFill>
                  <a:srgbClr val="F3FABE"/>
                </a:solidFill>
                <a:ln w="9525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80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8" name="Rectangle 47"/>
                <p:cNvSpPr/>
                <p:nvPr/>
              </p:nvSpPr>
              <p:spPr>
                <a:xfrm>
                  <a:off x="3588334" y="1314159"/>
                  <a:ext cx="2187398" cy="306955"/>
                </a:xfrm>
                <a:prstGeom prst="rect">
                  <a:avLst/>
                </a:prstGeom>
                <a:solidFill>
                  <a:srgbClr val="00B050"/>
                </a:solidFill>
                <a:ln w="635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900" dirty="0">
                      <a:solidFill>
                        <a:srgbClr val="000000"/>
                      </a:solidFill>
                    </a:rPr>
                    <a:t>Remote Configuration Server</a:t>
                  </a:r>
                </a:p>
              </p:txBody>
            </p:sp>
            <p:sp>
              <p:nvSpPr>
                <p:cNvPr id="49" name="Rectangle 48"/>
                <p:cNvSpPr/>
                <p:nvPr/>
              </p:nvSpPr>
              <p:spPr>
                <a:xfrm>
                  <a:off x="1980797" y="1858117"/>
                  <a:ext cx="5213910" cy="1223376"/>
                </a:xfrm>
                <a:prstGeom prst="rect">
                  <a:avLst/>
                </a:prstGeom>
                <a:noFill/>
                <a:ln w="6350">
                  <a:solidFill>
                    <a:srgbClr val="C00000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80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0" name="Rectangle 49"/>
                <p:cNvSpPr/>
                <p:nvPr/>
              </p:nvSpPr>
              <p:spPr>
                <a:xfrm>
                  <a:off x="2831404" y="1894715"/>
                  <a:ext cx="3038158" cy="230106"/>
                </a:xfrm>
                <a:prstGeom prst="rect">
                  <a:avLst/>
                </a:prstGeom>
                <a:solidFill>
                  <a:srgbClr val="00B050"/>
                </a:solidFill>
                <a:ln w="635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900" dirty="0">
                      <a:solidFill>
                        <a:srgbClr val="000000"/>
                      </a:solidFill>
                    </a:rPr>
                    <a:t>Firmware Application API</a:t>
                  </a:r>
                </a:p>
              </p:txBody>
            </p:sp>
            <p:sp>
              <p:nvSpPr>
                <p:cNvPr id="51" name="Rectangle 50"/>
                <p:cNvSpPr/>
                <p:nvPr/>
              </p:nvSpPr>
              <p:spPr>
                <a:xfrm>
                  <a:off x="2139829" y="2154259"/>
                  <a:ext cx="603593" cy="834579"/>
                </a:xfrm>
                <a:prstGeom prst="rect">
                  <a:avLst/>
                </a:prstGeom>
                <a:solidFill>
                  <a:srgbClr val="C3B4AD"/>
                </a:solidFill>
                <a:ln w="635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800" dirty="0">
                      <a:solidFill>
                        <a:srgbClr val="000000"/>
                      </a:solidFill>
                    </a:rPr>
                    <a:t>TI-RTOS</a:t>
                  </a:r>
                </a:p>
              </p:txBody>
            </p:sp>
            <p:sp>
              <p:nvSpPr>
                <p:cNvPr id="52" name="Rectangle 51"/>
                <p:cNvSpPr/>
                <p:nvPr/>
              </p:nvSpPr>
              <p:spPr>
                <a:xfrm>
                  <a:off x="3279237" y="2154259"/>
                  <a:ext cx="579469" cy="183534"/>
                </a:xfrm>
                <a:prstGeom prst="rect">
                  <a:avLst/>
                </a:prstGeom>
                <a:ln/>
                <a:effectLst/>
              </p:spPr>
              <p:style>
                <a:lnRef idx="1">
                  <a:schemeClr val="accent3"/>
                </a:lnRef>
                <a:fillRef idx="3">
                  <a:schemeClr val="accent3"/>
                </a:fillRef>
                <a:effectRef idx="2">
                  <a:schemeClr val="accent3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700" b="1" dirty="0" smtClean="0">
                      <a:solidFill>
                        <a:srgbClr val="FFFFFF"/>
                      </a:solidFill>
                    </a:rPr>
                    <a:t>IP Router</a:t>
                  </a:r>
                  <a:endParaRPr lang="en-US" sz="700" b="1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53" name="Rectangle 52"/>
                <p:cNvSpPr/>
                <p:nvPr/>
              </p:nvSpPr>
              <p:spPr>
                <a:xfrm>
                  <a:off x="2827690" y="2367568"/>
                  <a:ext cx="1486084" cy="226067"/>
                </a:xfrm>
                <a:prstGeom prst="rect">
                  <a:avLst/>
                </a:prstGeom>
                <a:solidFill>
                  <a:srgbClr val="C3B4AD"/>
                </a:solidFill>
                <a:ln w="635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800" dirty="0">
                      <a:solidFill>
                        <a:srgbClr val="000000"/>
                      </a:solidFill>
                    </a:rPr>
                    <a:t>NDK</a:t>
                  </a:r>
                </a:p>
              </p:txBody>
            </p:sp>
            <p:sp>
              <p:nvSpPr>
                <p:cNvPr id="54" name="Rectangle 53"/>
                <p:cNvSpPr/>
                <p:nvPr/>
              </p:nvSpPr>
              <p:spPr>
                <a:xfrm>
                  <a:off x="2827690" y="2638942"/>
                  <a:ext cx="3041872" cy="3498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635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800" dirty="0" smtClean="0">
                      <a:solidFill>
                        <a:srgbClr val="000000"/>
                      </a:solidFill>
                    </a:rPr>
                    <a:t>                     CPSW_LLD</a:t>
                  </a:r>
                  <a:endParaRPr lang="en-US" sz="80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5" name="Rectangle 54"/>
                <p:cNvSpPr/>
                <p:nvPr/>
              </p:nvSpPr>
              <p:spPr>
                <a:xfrm>
                  <a:off x="5926147" y="1894716"/>
                  <a:ext cx="1043076" cy="1094124"/>
                </a:xfrm>
                <a:prstGeom prst="rect">
                  <a:avLst/>
                </a:prstGeom>
                <a:solidFill>
                  <a:srgbClr val="C3B4AD"/>
                </a:solidFill>
                <a:ln w="635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900" dirty="0">
                      <a:solidFill>
                        <a:srgbClr val="000000"/>
                      </a:solidFill>
                    </a:rPr>
                    <a:t>Other Drivers</a:t>
                  </a:r>
                </a:p>
              </p:txBody>
            </p:sp>
            <p:sp>
              <p:nvSpPr>
                <p:cNvPr id="56" name="TextBox 55"/>
                <p:cNvSpPr txBox="1"/>
                <p:nvPr/>
              </p:nvSpPr>
              <p:spPr>
                <a:xfrm>
                  <a:off x="3813274" y="867919"/>
                  <a:ext cx="1598204" cy="3088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800" b="1" dirty="0">
                      <a:solidFill>
                        <a:srgbClr val="000000"/>
                      </a:solidFill>
                    </a:rPr>
                    <a:t>Main R5 (switch)</a:t>
                  </a:r>
                </a:p>
              </p:txBody>
            </p:sp>
            <p:sp>
              <p:nvSpPr>
                <p:cNvPr id="57" name="Rectangle 56"/>
                <p:cNvSpPr/>
                <p:nvPr/>
              </p:nvSpPr>
              <p:spPr>
                <a:xfrm>
                  <a:off x="5239773" y="2722348"/>
                  <a:ext cx="629787" cy="266492"/>
                </a:xfrm>
                <a:prstGeom prst="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 w="635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700" dirty="0" smtClean="0">
                      <a:solidFill>
                        <a:srgbClr val="000000"/>
                      </a:solidFill>
                    </a:rPr>
                    <a:t>ALE</a:t>
                  </a:r>
                </a:p>
                <a:p>
                  <a:pPr algn="ctr"/>
                  <a:r>
                    <a:rPr lang="en-US" sz="700" dirty="0" smtClean="0">
                      <a:solidFill>
                        <a:srgbClr val="000000"/>
                      </a:solidFill>
                    </a:rPr>
                    <a:t>LLD</a:t>
                  </a:r>
                  <a:endParaRPr lang="en-US" sz="70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8" name="Rectangle 57"/>
                <p:cNvSpPr/>
                <p:nvPr/>
              </p:nvSpPr>
              <p:spPr>
                <a:xfrm>
                  <a:off x="2827533" y="2722348"/>
                  <a:ext cx="773900" cy="266492"/>
                </a:xfrm>
                <a:prstGeom prst="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 w="635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600" dirty="0" smtClean="0">
                      <a:solidFill>
                        <a:srgbClr val="000000"/>
                      </a:solidFill>
                    </a:rPr>
                    <a:t>ENETPHY</a:t>
                  </a:r>
                </a:p>
                <a:p>
                  <a:pPr algn="ctr"/>
                  <a:r>
                    <a:rPr lang="en-US" sz="600" dirty="0" smtClean="0">
                      <a:solidFill>
                        <a:srgbClr val="000000"/>
                      </a:solidFill>
                    </a:rPr>
                    <a:t>LLD</a:t>
                  </a:r>
                  <a:endParaRPr lang="en-US" sz="50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9" name="Rectangle 58"/>
                <p:cNvSpPr/>
                <p:nvPr/>
              </p:nvSpPr>
              <p:spPr>
                <a:xfrm>
                  <a:off x="2827533" y="2154259"/>
                  <a:ext cx="422024" cy="187183"/>
                </a:xfrm>
                <a:prstGeom prst="rect">
                  <a:avLst/>
                </a:prstGeom>
                <a:solidFill>
                  <a:srgbClr val="00B050"/>
                </a:solidFill>
                <a:ln w="635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800" b="1" dirty="0" smtClean="0">
                      <a:solidFill>
                        <a:srgbClr val="404040"/>
                      </a:solidFill>
                    </a:rPr>
                    <a:t>Apps</a:t>
                  </a:r>
                  <a:endParaRPr lang="en-US" sz="500" b="1" dirty="0">
                    <a:solidFill>
                      <a:srgbClr val="404040"/>
                    </a:solidFill>
                  </a:endParaRPr>
                </a:p>
              </p:txBody>
            </p:sp>
            <p:sp>
              <p:nvSpPr>
                <p:cNvPr id="60" name="Rectangle 59"/>
                <p:cNvSpPr/>
                <p:nvPr/>
              </p:nvSpPr>
              <p:spPr>
                <a:xfrm>
                  <a:off x="4619135" y="2716774"/>
                  <a:ext cx="629787" cy="266492"/>
                </a:xfrm>
                <a:prstGeom prst="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 w="635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700" dirty="0" smtClean="0">
                      <a:solidFill>
                        <a:srgbClr val="000000"/>
                      </a:solidFill>
                    </a:rPr>
                    <a:t>CPTS</a:t>
                  </a:r>
                </a:p>
                <a:p>
                  <a:pPr algn="ctr"/>
                  <a:r>
                    <a:rPr lang="en-US" sz="700" dirty="0" smtClean="0">
                      <a:solidFill>
                        <a:srgbClr val="000000"/>
                      </a:solidFill>
                    </a:rPr>
                    <a:t>LLD</a:t>
                  </a:r>
                  <a:endParaRPr lang="en-US" sz="700" dirty="0"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37" name="Rectangle 36"/>
              <p:cNvSpPr/>
              <p:nvPr/>
            </p:nvSpPr>
            <p:spPr>
              <a:xfrm>
                <a:off x="5929431" y="4455638"/>
                <a:ext cx="1694018" cy="187405"/>
              </a:xfrm>
              <a:prstGeom prst="rect">
                <a:avLst/>
              </a:prstGeom>
              <a:solidFill>
                <a:schemeClr val="accent5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57150" tIns="28575" rIns="57150" bIns="28575" rtlCol="0" anchor="ctr"/>
              <a:lstStyle/>
              <a:p>
                <a:pPr algn="ctr"/>
                <a:r>
                  <a:rPr lang="en-US" sz="1200" dirty="0" smtClean="0">
                    <a:solidFill>
                      <a:srgbClr val="FFFFFF"/>
                    </a:solidFill>
                  </a:rPr>
                  <a:t>Grand Master</a:t>
                </a:r>
                <a:endParaRPr lang="en-US" sz="1200" dirty="0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38" name="Straight Arrow Connector 37"/>
              <p:cNvCxnSpPr>
                <a:stCxn id="62" idx="0"/>
                <a:endCxn id="37" idx="0"/>
              </p:cNvCxnSpPr>
              <p:nvPr/>
            </p:nvCxnSpPr>
            <p:spPr>
              <a:xfrm>
                <a:off x="6765274" y="3747516"/>
                <a:ext cx="11166" cy="708122"/>
              </a:xfrm>
              <a:prstGeom prst="straightConnector1">
                <a:avLst/>
              </a:prstGeom>
              <a:ln>
                <a:headEnd type="arrow"/>
                <a:tailEnd type="arrow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35" name="Rectangle 34"/>
            <p:cNvSpPr/>
            <p:nvPr/>
          </p:nvSpPr>
          <p:spPr>
            <a:xfrm>
              <a:off x="6254733" y="2152373"/>
              <a:ext cx="988032" cy="324127"/>
            </a:xfrm>
            <a:prstGeom prst="rect">
              <a:avLst/>
            </a:prstGeom>
            <a:ln/>
            <a:effectLst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900" b="1" dirty="0" smtClean="0">
                  <a:solidFill>
                    <a:srgbClr val="FFFFFF"/>
                  </a:solidFill>
                </a:rPr>
                <a:t>Time Sync</a:t>
              </a:r>
              <a:endParaRPr lang="en-US" sz="900" b="1" dirty="0">
                <a:solidFill>
                  <a:srgbClr val="FFFFFF"/>
                </a:solidFill>
              </a:endParaRPr>
            </a:p>
          </p:txBody>
        </p:sp>
      </p:grpSp>
      <p:cxnSp>
        <p:nvCxnSpPr>
          <p:cNvPr id="69" name="Straight Arrow Connector 68"/>
          <p:cNvCxnSpPr/>
          <p:nvPr/>
        </p:nvCxnSpPr>
        <p:spPr>
          <a:xfrm flipH="1">
            <a:off x="2764165" y="1356560"/>
            <a:ext cx="1" cy="605092"/>
          </a:xfrm>
          <a:prstGeom prst="straightConnector1">
            <a:avLst/>
          </a:prstGeom>
          <a:ln w="19050">
            <a:solidFill>
              <a:srgbClr val="00B0F0"/>
            </a:solidFill>
            <a:prstDash val="dash"/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 flipV="1">
            <a:off x="2886836" y="966156"/>
            <a:ext cx="2976513" cy="1051944"/>
          </a:xfrm>
          <a:prstGeom prst="straightConnector1">
            <a:avLst/>
          </a:prstGeom>
          <a:ln w="19050">
            <a:solidFill>
              <a:srgbClr val="00B0F0"/>
            </a:solidFill>
            <a:prstDash val="dash"/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 flipH="1">
            <a:off x="6851310" y="1090915"/>
            <a:ext cx="1" cy="393160"/>
          </a:xfrm>
          <a:prstGeom prst="straightConnector1">
            <a:avLst/>
          </a:prstGeom>
          <a:ln w="19050">
            <a:solidFill>
              <a:srgbClr val="00B0F0"/>
            </a:solidFill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ctangle 97"/>
          <p:cNvSpPr/>
          <p:nvPr/>
        </p:nvSpPr>
        <p:spPr>
          <a:xfrm>
            <a:off x="2580120" y="1203712"/>
            <a:ext cx="565313" cy="13282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50" tIns="28575" rIns="57150" bIns="28575" rtlCol="0" anchor="ctr"/>
          <a:lstStyle/>
          <a:p>
            <a:pPr algn="ctr"/>
            <a:r>
              <a:rPr lang="en-US" sz="600" dirty="0" smtClean="0">
                <a:solidFill>
                  <a:srgbClr val="000000"/>
                </a:solidFill>
              </a:rPr>
              <a:t>Time Sync SW</a:t>
            </a:r>
            <a:endParaRPr lang="en-US" sz="600" dirty="0">
              <a:solidFill>
                <a:srgbClr val="000000"/>
              </a:solidFill>
            </a:endParaRPr>
          </a:p>
        </p:txBody>
      </p:sp>
      <p:sp>
        <p:nvSpPr>
          <p:cNvPr id="99" name="Title 4"/>
          <p:cNvSpPr>
            <a:spLocks noGrp="1"/>
          </p:cNvSpPr>
          <p:nvPr>
            <p:ph type="title"/>
          </p:nvPr>
        </p:nvSpPr>
        <p:spPr>
          <a:xfrm>
            <a:off x="105623" y="-173360"/>
            <a:ext cx="9030132" cy="679940"/>
          </a:xfrm>
        </p:spPr>
        <p:txBody>
          <a:bodyPr/>
          <a:lstStyle/>
          <a:p>
            <a:r>
              <a:rPr lang="en-US" sz="2400" dirty="0"/>
              <a:t>Coupling </a:t>
            </a:r>
            <a:r>
              <a:rPr lang="en-US" sz="2400" dirty="0"/>
              <a:t>r</a:t>
            </a:r>
            <a:r>
              <a:rPr lang="en-US" sz="2400" dirty="0"/>
              <a:t>emote core </a:t>
            </a:r>
            <a:r>
              <a:rPr lang="en-US" sz="2400" dirty="0"/>
              <a:t>timer</a:t>
            </a:r>
            <a:r>
              <a:rPr lang="en-US" sz="2400" dirty="0"/>
              <a:t> with CPTS</a:t>
            </a:r>
            <a:endParaRPr lang="en-GB" sz="2400" dirty="0"/>
          </a:p>
        </p:txBody>
      </p:sp>
      <p:sp>
        <p:nvSpPr>
          <p:cNvPr id="101" name="TextBox 100"/>
          <p:cNvSpPr txBox="1"/>
          <p:nvPr/>
        </p:nvSpPr>
        <p:spPr>
          <a:xfrm>
            <a:off x="3145433" y="1443662"/>
            <a:ext cx="2077335" cy="43088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rgbClr val="000000"/>
                </a:solidFill>
              </a:rPr>
              <a:t>Register remote core’s timer </a:t>
            </a:r>
            <a:r>
              <a:rPr lang="en-US" sz="1100" dirty="0" smtClean="0">
                <a:solidFill>
                  <a:srgbClr val="000000"/>
                </a:solidFill>
              </a:rPr>
              <a:t>with the CPTS timer</a:t>
            </a:r>
            <a:endParaRPr lang="en-US" sz="1100" dirty="0">
              <a:solidFill>
                <a:srgbClr val="000000"/>
              </a:solidFill>
            </a:endParaRPr>
          </a:p>
        </p:txBody>
      </p:sp>
      <p:grpSp>
        <p:nvGrpSpPr>
          <p:cNvPr id="119" name="Group 118"/>
          <p:cNvGrpSpPr/>
          <p:nvPr/>
        </p:nvGrpSpPr>
        <p:grpSpPr>
          <a:xfrm>
            <a:off x="1953132" y="3959542"/>
            <a:ext cx="1100781" cy="150041"/>
            <a:chOff x="296852" y="4505996"/>
            <a:chExt cx="1100781" cy="166712"/>
          </a:xfrm>
        </p:grpSpPr>
        <p:cxnSp>
          <p:nvCxnSpPr>
            <p:cNvPr id="122" name="Straight Arrow Connector 121"/>
            <p:cNvCxnSpPr/>
            <p:nvPr/>
          </p:nvCxnSpPr>
          <p:spPr>
            <a:xfrm>
              <a:off x="296852" y="4582940"/>
              <a:ext cx="332941" cy="0"/>
            </a:xfrm>
            <a:prstGeom prst="straightConnector1">
              <a:avLst/>
            </a:prstGeom>
            <a:ln w="19050">
              <a:solidFill>
                <a:srgbClr val="00B0F0"/>
              </a:solidFill>
              <a:tailEnd type="arrow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TextBox 127"/>
            <p:cNvSpPr txBox="1"/>
            <p:nvPr/>
          </p:nvSpPr>
          <p:spPr>
            <a:xfrm>
              <a:off x="629794" y="4505996"/>
              <a:ext cx="767839" cy="166712"/>
            </a:xfrm>
            <a:prstGeom prst="rect">
              <a:avLst/>
            </a:prstGeom>
            <a:noFill/>
          </p:spPr>
          <p:txBody>
            <a:bodyPr wrap="none" lIns="57150" tIns="28575" rIns="57150" bIns="28575" rtlCol="0">
              <a:spAutoFit/>
            </a:bodyPr>
            <a:lstStyle/>
            <a:p>
              <a:r>
                <a:rPr lang="en-US" sz="600" dirty="0"/>
                <a:t>Direct Control Path</a:t>
              </a:r>
            </a:p>
          </p:txBody>
        </p:sp>
      </p:grpSp>
      <p:grpSp>
        <p:nvGrpSpPr>
          <p:cNvPr id="129" name="Group 128"/>
          <p:cNvGrpSpPr/>
          <p:nvPr/>
        </p:nvGrpSpPr>
        <p:grpSpPr>
          <a:xfrm>
            <a:off x="1927861" y="4087944"/>
            <a:ext cx="1012501" cy="150041"/>
            <a:chOff x="311393" y="4632579"/>
            <a:chExt cx="1012501" cy="166712"/>
          </a:xfrm>
        </p:grpSpPr>
        <p:cxnSp>
          <p:nvCxnSpPr>
            <p:cNvPr id="130" name="Straight Arrow Connector 129"/>
            <p:cNvCxnSpPr/>
            <p:nvPr/>
          </p:nvCxnSpPr>
          <p:spPr>
            <a:xfrm>
              <a:off x="311393" y="4709523"/>
              <a:ext cx="332941" cy="0"/>
            </a:xfrm>
            <a:prstGeom prst="straightConnector1">
              <a:avLst/>
            </a:prstGeom>
            <a:ln w="19050">
              <a:solidFill>
                <a:srgbClr val="00B0F0"/>
              </a:solidFill>
              <a:prstDash val="dash"/>
              <a:tailEnd type="arrow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TextBox 130"/>
            <p:cNvSpPr txBox="1"/>
            <p:nvPr/>
          </p:nvSpPr>
          <p:spPr>
            <a:xfrm>
              <a:off x="629793" y="4632579"/>
              <a:ext cx="694101" cy="166712"/>
            </a:xfrm>
            <a:prstGeom prst="rect">
              <a:avLst/>
            </a:prstGeom>
            <a:noFill/>
          </p:spPr>
          <p:txBody>
            <a:bodyPr wrap="none" lIns="57150" tIns="28575" rIns="57150" bIns="28575" rtlCol="0">
              <a:spAutoFit/>
            </a:bodyPr>
            <a:lstStyle/>
            <a:p>
              <a:r>
                <a:rPr lang="en-US" sz="600" dirty="0"/>
                <a:t>IPC Control Path</a:t>
              </a:r>
            </a:p>
          </p:txBody>
        </p:sp>
      </p:grpSp>
      <p:grpSp>
        <p:nvGrpSpPr>
          <p:cNvPr id="132" name="Group 131"/>
          <p:cNvGrpSpPr/>
          <p:nvPr/>
        </p:nvGrpSpPr>
        <p:grpSpPr>
          <a:xfrm>
            <a:off x="1905000" y="4216343"/>
            <a:ext cx="1022537" cy="150041"/>
            <a:chOff x="288533" y="4791329"/>
            <a:chExt cx="1022537" cy="166712"/>
          </a:xfrm>
        </p:grpSpPr>
        <p:cxnSp>
          <p:nvCxnSpPr>
            <p:cNvPr id="133" name="Straight Arrow Connector 132"/>
            <p:cNvCxnSpPr>
              <a:endCxn id="144" idx="1"/>
            </p:cNvCxnSpPr>
            <p:nvPr/>
          </p:nvCxnSpPr>
          <p:spPr>
            <a:xfrm>
              <a:off x="288533" y="4868273"/>
              <a:ext cx="341260" cy="6412"/>
            </a:xfrm>
            <a:prstGeom prst="straightConnector1">
              <a:avLst/>
            </a:prstGeom>
            <a:ln w="19050">
              <a:solidFill>
                <a:schemeClr val="tx2">
                  <a:lumMod val="40000"/>
                  <a:lumOff val="60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TextBox 143"/>
            <p:cNvSpPr txBox="1"/>
            <p:nvPr/>
          </p:nvSpPr>
          <p:spPr>
            <a:xfrm>
              <a:off x="629793" y="4791329"/>
              <a:ext cx="681277" cy="166712"/>
            </a:xfrm>
            <a:prstGeom prst="rect">
              <a:avLst/>
            </a:prstGeom>
            <a:noFill/>
          </p:spPr>
          <p:txBody>
            <a:bodyPr wrap="none" lIns="57150" tIns="28575" rIns="57150" bIns="28575" rtlCol="0">
              <a:spAutoFit/>
            </a:bodyPr>
            <a:lstStyle/>
            <a:p>
              <a:r>
                <a:rPr lang="en-US" sz="600" dirty="0"/>
                <a:t>Direct Data Path</a:t>
              </a:r>
            </a:p>
          </p:txBody>
        </p:sp>
      </p:grpSp>
      <p:sp>
        <p:nvSpPr>
          <p:cNvPr id="145" name="Rectangle 144"/>
          <p:cNvSpPr/>
          <p:nvPr/>
        </p:nvSpPr>
        <p:spPr>
          <a:xfrm>
            <a:off x="4374284" y="4152637"/>
            <a:ext cx="218228" cy="132827"/>
          </a:xfrm>
          <a:prstGeom prst="rect">
            <a:avLst/>
          </a:prstGeom>
          <a:solidFill>
            <a:srgbClr val="00B05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50" tIns="28575" rIns="57150" bIns="28575" rtlCol="0" anchor="ctr"/>
          <a:lstStyle/>
          <a:p>
            <a:pPr algn="ctr"/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4592513" y="4149801"/>
            <a:ext cx="1035123" cy="150041"/>
          </a:xfrm>
          <a:prstGeom prst="rect">
            <a:avLst/>
          </a:prstGeom>
          <a:noFill/>
        </p:spPr>
        <p:txBody>
          <a:bodyPr wrap="square" lIns="57150" tIns="28575" rIns="57150" bIns="28575" rtlCol="0">
            <a:spAutoFit/>
          </a:bodyPr>
          <a:lstStyle/>
          <a:p>
            <a:r>
              <a:rPr lang="en-US" sz="600" dirty="0"/>
              <a:t>Ethernet Firmware (AUTO)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467967" y="4149801"/>
            <a:ext cx="493725" cy="150041"/>
          </a:xfrm>
          <a:prstGeom prst="rect">
            <a:avLst/>
          </a:prstGeom>
          <a:noFill/>
        </p:spPr>
        <p:txBody>
          <a:bodyPr wrap="none" lIns="57150" tIns="28575" rIns="57150" bIns="28575" rtlCol="0">
            <a:spAutoFit/>
          </a:bodyPr>
          <a:lstStyle/>
          <a:p>
            <a:r>
              <a:rPr lang="en-US" sz="600" dirty="0"/>
              <a:t>Demo app 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3250522" y="4161100"/>
            <a:ext cx="218228" cy="11590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50" tIns="28575" rIns="57150" bIns="28575" rtlCol="0" anchor="ctr"/>
          <a:lstStyle/>
          <a:p>
            <a:pPr algn="ctr"/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149" name="Rectangle 148"/>
          <p:cNvSpPr/>
          <p:nvPr/>
        </p:nvSpPr>
        <p:spPr>
          <a:xfrm>
            <a:off x="3248159" y="3993238"/>
            <a:ext cx="215088" cy="13030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50" tIns="28575" rIns="57150" bIns="28575" rtlCol="0" anchor="ctr"/>
          <a:lstStyle/>
          <a:p>
            <a:pPr algn="ctr"/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150" name="TextBox 149"/>
          <p:cNvSpPr txBox="1"/>
          <p:nvPr/>
        </p:nvSpPr>
        <p:spPr>
          <a:xfrm>
            <a:off x="3467967" y="3989140"/>
            <a:ext cx="580287" cy="150041"/>
          </a:xfrm>
          <a:prstGeom prst="rect">
            <a:avLst/>
          </a:prstGeom>
          <a:noFill/>
        </p:spPr>
        <p:txBody>
          <a:bodyPr wrap="none" lIns="57150" tIns="28575" rIns="57150" bIns="28575" rtlCol="0">
            <a:spAutoFit/>
          </a:bodyPr>
          <a:lstStyle/>
          <a:p>
            <a:r>
              <a:rPr lang="en-US" sz="600" dirty="0"/>
              <a:t>Kernel </a:t>
            </a:r>
            <a:r>
              <a:rPr lang="en-US" sz="600" dirty="0" err="1" smtClean="0"/>
              <a:t>driverr</a:t>
            </a:r>
            <a:endParaRPr lang="en-US" sz="600" dirty="0"/>
          </a:p>
        </p:txBody>
      </p:sp>
      <p:sp>
        <p:nvSpPr>
          <p:cNvPr id="151" name="Rectangle 150"/>
          <p:cNvSpPr/>
          <p:nvPr/>
        </p:nvSpPr>
        <p:spPr>
          <a:xfrm>
            <a:off x="4375855" y="3991426"/>
            <a:ext cx="215089" cy="1339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50" tIns="28575" rIns="57150" bIns="28575" rtlCol="0" anchor="ctr"/>
          <a:lstStyle/>
          <a:p>
            <a:pPr algn="ctr"/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4600755" y="3989139"/>
            <a:ext cx="993282" cy="150041"/>
          </a:xfrm>
          <a:prstGeom prst="rect">
            <a:avLst/>
          </a:prstGeom>
          <a:noFill/>
        </p:spPr>
        <p:txBody>
          <a:bodyPr wrap="square" lIns="57150" tIns="28575" rIns="57150" bIns="28575" rtlCol="0">
            <a:spAutoFit/>
          </a:bodyPr>
          <a:lstStyle/>
          <a:p>
            <a:r>
              <a:rPr lang="en-US" sz="600" dirty="0"/>
              <a:t>PDK CPSW LLD (AUTO)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5697596" y="3991975"/>
            <a:ext cx="218228" cy="132827"/>
          </a:xfrm>
          <a:prstGeom prst="rect">
            <a:avLst/>
          </a:prstGeom>
          <a:ln/>
          <a:effectLst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57150" tIns="28575" rIns="57150" bIns="28575" rtlCol="0" anchor="ctr"/>
          <a:lstStyle/>
          <a:p>
            <a:pPr algn="ctr"/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5925684" y="3987408"/>
            <a:ext cx="968704" cy="150041"/>
          </a:xfrm>
          <a:prstGeom prst="rect">
            <a:avLst/>
          </a:prstGeom>
          <a:noFill/>
        </p:spPr>
        <p:txBody>
          <a:bodyPr wrap="square" lIns="57150" tIns="28575" rIns="57150" bIns="28575" rtlCol="0">
            <a:spAutoFit/>
          </a:bodyPr>
          <a:lstStyle/>
          <a:p>
            <a:r>
              <a:rPr lang="en-US" sz="600" dirty="0"/>
              <a:t>Switch resident protocols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28338" y="2504723"/>
            <a:ext cx="4262578" cy="76944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smtClean="0">
                <a:cs typeface="Times New Roman" panose="02020603050405020304" pitchFamily="18" charset="0"/>
              </a:rPr>
              <a:t>Time </a:t>
            </a:r>
            <a:r>
              <a:rPr lang="en-US" sz="1100" dirty="0" smtClean="0">
                <a:cs typeface="Times New Roman" panose="02020603050405020304" pitchFamily="18" charset="0"/>
              </a:rPr>
              <a:t>Sync library </a:t>
            </a:r>
            <a:r>
              <a:rPr lang="en-US" sz="1100" dirty="0" smtClean="0">
                <a:cs typeface="Times New Roman" panose="02020603050405020304" pitchFamily="18" charset="0"/>
              </a:rPr>
              <a:t>provides get Time and Lookup event APIs to remote cores via existing </a:t>
            </a:r>
            <a:r>
              <a:rPr lang="en-US" sz="1100" dirty="0" err="1" smtClean="0">
                <a:cs typeface="Times New Roman" panose="02020603050405020304" pitchFamily="18" charset="0"/>
              </a:rPr>
              <a:t>rpmsg</a:t>
            </a:r>
            <a:r>
              <a:rPr lang="en-US" sz="1100" dirty="0" smtClean="0">
                <a:cs typeface="Times New Roman" panose="02020603050405020304" pitchFamily="18" charset="0"/>
              </a:rPr>
              <a:t> </a:t>
            </a:r>
            <a:r>
              <a:rPr lang="en-US" sz="1100" dirty="0" smtClean="0">
                <a:cs typeface="Times New Roman" panose="02020603050405020304" pitchFamily="18" charset="0"/>
              </a:rPr>
              <a:t>layer in </a:t>
            </a:r>
            <a:r>
              <a:rPr lang="en-US" sz="1100" dirty="0" err="1" smtClean="0">
                <a:cs typeface="Times New Roman" panose="02020603050405020304" pitchFamily="18" charset="0"/>
              </a:rPr>
              <a:t>EthFw</a:t>
            </a:r>
            <a:r>
              <a:rPr lang="en-US" sz="1100" dirty="0" smtClean="0">
                <a:cs typeface="Times New Roman" panose="02020603050405020304" pitchFamily="18" charset="0"/>
              </a:rPr>
              <a:t>.</a:t>
            </a:r>
            <a:endParaRPr lang="en-US" sz="1100" dirty="0" smtClean="0"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smtClean="0">
                <a:cs typeface="Times New Roman" panose="02020603050405020304" pitchFamily="18" charset="0"/>
              </a:rPr>
              <a:t>In addition to this, remote core can use its local synchronized timer for getting current time.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669993" y="568786"/>
            <a:ext cx="108811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rgbClr val="000000"/>
                </a:solidFill>
              </a:rPr>
              <a:t>Remote </a:t>
            </a:r>
            <a:r>
              <a:rPr lang="en-US" sz="1050" b="1" dirty="0" smtClean="0">
                <a:solidFill>
                  <a:srgbClr val="000000"/>
                </a:solidFill>
              </a:rPr>
              <a:t>core</a:t>
            </a:r>
            <a:endParaRPr lang="en-US" sz="11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0899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 animBg="1"/>
      <p:bldP spid="101" grpId="1" animBg="1"/>
      <p:bldP spid="15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" y="-17144"/>
            <a:ext cx="8458200" cy="610791"/>
          </a:xfrm>
        </p:spPr>
        <p:txBody>
          <a:bodyPr/>
          <a:lstStyle/>
          <a:p>
            <a:r>
              <a:rPr lang="en-US" sz="2000" dirty="0"/>
              <a:t>Multi – core Time </a:t>
            </a:r>
            <a:r>
              <a:rPr lang="en-US" sz="2000" dirty="0" smtClean="0"/>
              <a:t>Synchronization sequence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B97888F-6AF7-4263-B69D-592D8C33BAC7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8</a:t>
            </a:fld>
            <a:endParaRPr lang="en-US">
              <a:solidFill>
                <a:srgbClr val="0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3676647" y="946404"/>
            <a:ext cx="0" cy="3429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5333997" y="946404"/>
            <a:ext cx="19050" cy="3429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066800" y="557212"/>
            <a:ext cx="1066800" cy="28289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FFFFFF"/>
                </a:solidFill>
              </a:rPr>
              <a:t>Remote core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6858000" y="518635"/>
            <a:ext cx="1600200" cy="3600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rgbClr val="FFFFFF"/>
                </a:solidFill>
              </a:rPr>
              <a:t>EthFw</a:t>
            </a:r>
            <a:r>
              <a:rPr lang="en-US" sz="1200" dirty="0" smtClean="0">
                <a:solidFill>
                  <a:srgbClr val="FFFFFF"/>
                </a:solidFill>
              </a:rPr>
              <a:t>(with </a:t>
            </a:r>
            <a:r>
              <a:rPr lang="en-US" sz="1200" dirty="0" err="1" smtClean="0">
                <a:solidFill>
                  <a:srgbClr val="FFFFFF"/>
                </a:solidFill>
              </a:rPr>
              <a:t>TimeSync</a:t>
            </a:r>
            <a:r>
              <a:rPr lang="en-US" sz="1200" dirty="0" smtClean="0">
                <a:solidFill>
                  <a:srgbClr val="FFFFFF"/>
                </a:solidFill>
              </a:rPr>
              <a:t>)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347" y="1062990"/>
            <a:ext cx="3190875" cy="64633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 startAt="2"/>
            </a:pPr>
            <a:r>
              <a:rPr lang="en-US" sz="1200" dirty="0" smtClean="0">
                <a:solidFill>
                  <a:srgbClr val="000000"/>
                </a:solidFill>
              </a:rPr>
              <a:t>Sets up DM TIMER[14-19] / GTC0 and enable periodic PWM output/ HW push output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3333747" y="1869116"/>
            <a:ext cx="2209800" cy="0"/>
          </a:xfrm>
          <a:prstGeom prst="straightConnector1">
            <a:avLst/>
          </a:prstGeom>
          <a:ln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719510" y="1593119"/>
            <a:ext cx="17430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000000"/>
                </a:solidFill>
              </a:rPr>
              <a:t>Register HW Push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95950" y="1570422"/>
            <a:ext cx="3276600" cy="90024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50" dirty="0" smtClean="0">
                <a:solidFill>
                  <a:srgbClr val="000000"/>
                </a:solidFill>
              </a:rPr>
              <a:t>4. Allocates a Hardware Push Instance.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 smtClean="0">
                <a:solidFill>
                  <a:srgbClr val="000000"/>
                </a:solidFill>
              </a:rPr>
              <a:t>Configures TSR to map the DM Timer’s PWM to the HW Push Instance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 smtClean="0">
                <a:solidFill>
                  <a:srgbClr val="000000"/>
                </a:solidFill>
              </a:rPr>
              <a:t>Save the callback for the Hardware Push Instance</a:t>
            </a:r>
            <a:endParaRPr lang="en-US" sz="1050" dirty="0">
              <a:solidFill>
                <a:srgbClr val="00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695950" y="979864"/>
            <a:ext cx="3276600" cy="41549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sz="1050" dirty="0" smtClean="0">
                <a:solidFill>
                  <a:srgbClr val="000000"/>
                </a:solidFill>
              </a:rPr>
              <a:t>R5 runs PTP and synchronizes with the external       master clock</a:t>
            </a:r>
            <a:endParaRPr lang="en-US" sz="1050" dirty="0">
              <a:solidFill>
                <a:srgbClr val="00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715001" y="2738178"/>
            <a:ext cx="3248025" cy="57708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 startAt="5"/>
            </a:pPr>
            <a:r>
              <a:rPr lang="en-US" sz="1050" dirty="0" smtClean="0">
                <a:solidFill>
                  <a:srgbClr val="000000"/>
                </a:solidFill>
              </a:rPr>
              <a:t>When hardware </a:t>
            </a:r>
            <a:r>
              <a:rPr lang="en-US" sz="1050" dirty="0">
                <a:solidFill>
                  <a:srgbClr val="000000"/>
                </a:solidFill>
              </a:rPr>
              <a:t>p</a:t>
            </a:r>
            <a:r>
              <a:rPr lang="en-US" sz="1050" dirty="0" smtClean="0">
                <a:solidFill>
                  <a:srgbClr val="000000"/>
                </a:solidFill>
              </a:rPr>
              <a:t>ush event occurs, remote core’s registered callback is called with CPTS timer value.</a:t>
            </a:r>
            <a:endParaRPr lang="en-US" sz="1050" dirty="0">
              <a:solidFill>
                <a:srgbClr val="000000"/>
              </a:solidFill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3409947" y="2891738"/>
            <a:ext cx="2133600" cy="0"/>
          </a:xfrm>
          <a:prstGeom prst="straightConnector1">
            <a:avLst/>
          </a:prstGeom>
          <a:ln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609972" y="2588492"/>
            <a:ext cx="2157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000000"/>
                </a:solidFill>
              </a:rPr>
              <a:t>Call back with Event Info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676647" y="2956072"/>
            <a:ext cx="1905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err="1" smtClean="0">
                <a:solidFill>
                  <a:srgbClr val="000000"/>
                </a:solidFill>
              </a:rPr>
              <a:t>Hw</a:t>
            </a:r>
            <a:r>
              <a:rPr lang="en-US" sz="900" dirty="0" smtClean="0">
                <a:solidFill>
                  <a:srgbClr val="000000"/>
                </a:solidFill>
              </a:rPr>
              <a:t> Push Time stamp value N</a:t>
            </a:r>
            <a:endParaRPr lang="en-US" sz="900" dirty="0">
              <a:solidFill>
                <a:srgbClr val="000000"/>
              </a:solidFill>
            </a:endParaRPr>
          </a:p>
        </p:txBody>
      </p:sp>
      <p:cxnSp>
        <p:nvCxnSpPr>
          <p:cNvPr id="26" name="Straight Arrow Connector 25"/>
          <p:cNvCxnSpPr/>
          <p:nvPr/>
        </p:nvCxnSpPr>
        <p:spPr>
          <a:xfrm flipH="1">
            <a:off x="3371847" y="3854095"/>
            <a:ext cx="2133600" cy="0"/>
          </a:xfrm>
          <a:prstGeom prst="straightConnector1">
            <a:avLst/>
          </a:prstGeom>
          <a:ln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632832" y="3916346"/>
            <a:ext cx="2019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err="1" smtClean="0">
                <a:solidFill>
                  <a:srgbClr val="000000"/>
                </a:solidFill>
              </a:rPr>
              <a:t>Hw</a:t>
            </a:r>
            <a:r>
              <a:rPr lang="en-US" sz="900" dirty="0" smtClean="0">
                <a:solidFill>
                  <a:srgbClr val="000000"/>
                </a:solidFill>
              </a:rPr>
              <a:t> Push Time stamp value N+1</a:t>
            </a:r>
            <a:endParaRPr lang="en-US" sz="900" dirty="0">
              <a:solidFill>
                <a:srgbClr val="00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8347" y="2817560"/>
            <a:ext cx="3122054" cy="8309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 startAt="6"/>
            </a:pPr>
            <a:r>
              <a:rPr lang="en-US" sz="1200" dirty="0" smtClean="0">
                <a:solidFill>
                  <a:srgbClr val="000000"/>
                </a:solidFill>
              </a:rPr>
              <a:t>With two consecutive </a:t>
            </a:r>
            <a:r>
              <a:rPr lang="en-US" sz="1200" dirty="0" err="1" smtClean="0">
                <a:solidFill>
                  <a:srgbClr val="000000"/>
                </a:solidFill>
              </a:rPr>
              <a:t>Hw</a:t>
            </a:r>
            <a:r>
              <a:rPr lang="en-US" sz="1200" dirty="0" smtClean="0">
                <a:solidFill>
                  <a:srgbClr val="000000"/>
                </a:solidFill>
              </a:rPr>
              <a:t> push Time stamp values, the DMTIMER/GTC to CPTS clock rate ratio and linear relationship are established. 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038600" y="557213"/>
            <a:ext cx="762000" cy="274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FFFFFF"/>
                </a:solidFill>
              </a:rPr>
              <a:t>IPC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8347" y="1721706"/>
            <a:ext cx="3190875" cy="64633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 startAt="3"/>
            </a:pPr>
            <a:r>
              <a:rPr lang="en-US" sz="1200" dirty="0" smtClean="0">
                <a:solidFill>
                  <a:srgbClr val="000000"/>
                </a:solidFill>
              </a:rPr>
              <a:t>Call </a:t>
            </a:r>
            <a:r>
              <a:rPr lang="en-US" sz="1200" b="1" dirty="0" err="1" smtClean="0">
                <a:solidFill>
                  <a:srgbClr val="000000"/>
                </a:solidFill>
              </a:rPr>
              <a:t>CpswProxy_registerRemoteTimer</a:t>
            </a:r>
            <a:r>
              <a:rPr lang="en-US" sz="1200" b="1" dirty="0" smtClean="0">
                <a:solidFill>
                  <a:srgbClr val="000000"/>
                </a:solidFill>
              </a:rPr>
              <a:t> </a:t>
            </a:r>
            <a:r>
              <a:rPr lang="en-US" sz="1200" dirty="0" smtClean="0">
                <a:solidFill>
                  <a:srgbClr val="000000"/>
                </a:solidFill>
              </a:rPr>
              <a:t>with</a:t>
            </a:r>
            <a:r>
              <a:rPr lang="en-US" sz="1200" b="1" dirty="0" smtClean="0">
                <a:solidFill>
                  <a:srgbClr val="000000"/>
                </a:solidFill>
              </a:rPr>
              <a:t> </a:t>
            </a:r>
            <a:r>
              <a:rPr lang="en-US" sz="1200" dirty="0" smtClean="0">
                <a:solidFill>
                  <a:srgbClr val="000000"/>
                </a:solidFill>
              </a:rPr>
              <a:t>timer Information &amp; call back function.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538536" y="3565457"/>
            <a:ext cx="2157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000000"/>
                </a:solidFill>
              </a:rPr>
              <a:t>Call back with Event Info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33" name="Right Brace 32"/>
          <p:cNvSpPr/>
          <p:nvPr/>
        </p:nvSpPr>
        <p:spPr>
          <a:xfrm>
            <a:off x="6019801" y="3282644"/>
            <a:ext cx="45719" cy="55087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238875" y="3443821"/>
            <a:ext cx="24479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srgbClr val="000000"/>
                </a:solidFill>
              </a:rPr>
              <a:t>Next </a:t>
            </a:r>
            <a:r>
              <a:rPr lang="en-US" sz="1000" dirty="0" err="1" smtClean="0">
                <a:solidFill>
                  <a:srgbClr val="000000"/>
                </a:solidFill>
              </a:rPr>
              <a:t>Hw</a:t>
            </a:r>
            <a:r>
              <a:rPr lang="en-US" sz="1000" dirty="0" smtClean="0">
                <a:solidFill>
                  <a:srgbClr val="000000"/>
                </a:solidFill>
              </a:rPr>
              <a:t> Push event</a:t>
            </a:r>
            <a:endParaRPr lang="en-US" sz="10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/>
              <p:cNvSpPr txBox="1"/>
              <p:nvPr/>
            </p:nvSpPr>
            <p:spPr>
              <a:xfrm>
                <a:off x="841869" y="3663395"/>
                <a:ext cx="1542666" cy="369332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𝑇</m:t>
                      </m:r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𝑟</m:t>
                      </m:r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∗</m:t>
                      </m:r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𝑡</m:t>
                      </m:r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𝐶</m:t>
                      </m:r>
                    </m:oMath>
                  </m:oMathPara>
                </a14:m>
                <a:endParaRPr lang="en-US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869" y="3663395"/>
                <a:ext cx="1542666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/>
              <p:cNvSpPr txBox="1"/>
              <p:nvPr/>
            </p:nvSpPr>
            <p:spPr>
              <a:xfrm>
                <a:off x="780148" y="4017387"/>
                <a:ext cx="3048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900" i="1">
                        <a:solidFill>
                          <a:srgbClr val="000000"/>
                        </a:solidFill>
                        <a:latin typeface="Cambria Math"/>
                      </a:rPr>
                      <m:t>𝑇</m:t>
                    </m:r>
                  </m:oMath>
                </a14:m>
                <a:r>
                  <a:rPr lang="en-US" sz="900" dirty="0" smtClean="0">
                    <a:solidFill>
                      <a:srgbClr val="000000"/>
                    </a:solidFill>
                  </a:rPr>
                  <a:t> – Synchronized Time (CPTS time)</a:t>
                </a:r>
              </a:p>
              <a:p>
                <a14:m>
                  <m:oMath xmlns:m="http://schemas.openxmlformats.org/officeDocument/2006/math">
                    <m:r>
                      <a:rPr lang="en-US" sz="900" i="1">
                        <a:solidFill>
                          <a:srgbClr val="000000"/>
                        </a:solidFill>
                        <a:latin typeface="Cambria Math"/>
                      </a:rPr>
                      <m:t>𝑟</m:t>
                    </m:r>
                  </m:oMath>
                </a14:m>
                <a:r>
                  <a:rPr lang="en-US" sz="900" dirty="0" smtClean="0">
                    <a:solidFill>
                      <a:srgbClr val="000000"/>
                    </a:solidFill>
                  </a:rPr>
                  <a:t> – Rate ratio</a:t>
                </a:r>
              </a:p>
              <a:p>
                <a14:m>
                  <m:oMath xmlns:m="http://schemas.openxmlformats.org/officeDocument/2006/math">
                    <m:r>
                      <a:rPr lang="en-US" sz="900" i="1">
                        <a:solidFill>
                          <a:srgbClr val="000000"/>
                        </a:solidFill>
                        <a:latin typeface="Cambria Math"/>
                      </a:rPr>
                      <m:t>𝑡</m:t>
                    </m:r>
                  </m:oMath>
                </a14:m>
                <a:r>
                  <a:rPr lang="en-US" sz="900" dirty="0" smtClean="0">
                    <a:solidFill>
                      <a:srgbClr val="000000"/>
                    </a:solidFill>
                  </a:rPr>
                  <a:t> – Local Timer Value</a:t>
                </a:r>
              </a:p>
              <a:p>
                <a14:m>
                  <m:oMath xmlns:m="http://schemas.openxmlformats.org/officeDocument/2006/math">
                    <m:r>
                      <a:rPr lang="en-US" sz="900" i="1">
                        <a:solidFill>
                          <a:srgbClr val="000000"/>
                        </a:solidFill>
                        <a:latin typeface="Cambria Math"/>
                      </a:rPr>
                      <m:t>𝐶</m:t>
                    </m:r>
                  </m:oMath>
                </a14:m>
                <a:r>
                  <a:rPr lang="en-US" sz="900" dirty="0" smtClean="0">
                    <a:solidFill>
                      <a:srgbClr val="000000"/>
                    </a:solidFill>
                  </a:rPr>
                  <a:t> – Constant value</a:t>
                </a:r>
              </a:p>
            </p:txBody>
          </p:sp>
        </mc:Choice>
        <mc:Fallback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148" y="4017387"/>
                <a:ext cx="3048000" cy="646331"/>
              </a:xfrm>
              <a:prstGeom prst="rect">
                <a:avLst/>
              </a:prstGeom>
              <a:blipFill rotWithShape="1">
                <a:blip r:embed="rId3"/>
                <a:stretch>
                  <a:fillRect b="-2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7048200" y="2322679"/>
            <a:ext cx="2405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smtClean="0"/>
              <a:t>.</a:t>
            </a:r>
          </a:p>
          <a:p>
            <a:r>
              <a:rPr lang="en-US" sz="800" b="1" dirty="0" smtClean="0"/>
              <a:t>.</a:t>
            </a:r>
          </a:p>
          <a:p>
            <a:r>
              <a:rPr lang="en-US" sz="8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28083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237" y="728692"/>
            <a:ext cx="8467725" cy="3709449"/>
          </a:xfrm>
        </p:spPr>
        <p:txBody>
          <a:bodyPr/>
          <a:lstStyle/>
          <a:p>
            <a:r>
              <a:rPr lang="en-US" sz="1600" dirty="0" err="1" smtClean="0"/>
              <a:t>EthFw</a:t>
            </a:r>
            <a:r>
              <a:rPr lang="en-US" sz="1600" dirty="0" smtClean="0"/>
              <a:t> RTOS Server(MCU2_0) and </a:t>
            </a:r>
            <a:r>
              <a:rPr lang="en-US" sz="1600" dirty="0" err="1" smtClean="0"/>
              <a:t>EthFw</a:t>
            </a:r>
            <a:r>
              <a:rPr lang="en-US" sz="1600" dirty="0" smtClean="0"/>
              <a:t> RTOS Client (MCU2_1) demonstrates Multi-core time synchronization.</a:t>
            </a:r>
          </a:p>
          <a:p>
            <a:r>
              <a:rPr lang="en-US" sz="1600" dirty="0" err="1" smtClean="0"/>
              <a:t>EthFw</a:t>
            </a:r>
            <a:r>
              <a:rPr lang="en-US" sz="1600" dirty="0" smtClean="0"/>
              <a:t> RTOS Server enables Time Sync PTP stack on MAC port 2 in slave mode and synchronizes with available master clock in the network.</a:t>
            </a:r>
          </a:p>
          <a:p>
            <a:r>
              <a:rPr lang="en-US" sz="1600" dirty="0" err="1"/>
              <a:t>EthFw</a:t>
            </a:r>
            <a:r>
              <a:rPr lang="en-US" sz="1600" dirty="0"/>
              <a:t> RTOS </a:t>
            </a:r>
            <a:r>
              <a:rPr lang="en-US" sz="1600" dirty="0" smtClean="0"/>
              <a:t>Client registers GTC timer used by it for coupling using TSR.</a:t>
            </a:r>
          </a:p>
          <a:p>
            <a:r>
              <a:rPr lang="en-US" sz="1600" dirty="0" smtClean="0"/>
              <a:t>Using registered hardware push callback, client establishes a linear relation and stores it locally.</a:t>
            </a:r>
          </a:p>
          <a:p>
            <a:r>
              <a:rPr lang="en-US" sz="1600" dirty="0" smtClean="0"/>
              <a:t>Whenever </a:t>
            </a:r>
            <a:r>
              <a:rPr lang="en-US" sz="1600" dirty="0"/>
              <a:t>Client </a:t>
            </a:r>
            <a:r>
              <a:rPr lang="en-US" sz="1600" dirty="0" smtClean="0"/>
              <a:t>calls </a:t>
            </a:r>
            <a:r>
              <a:rPr lang="en-US" sz="1400" b="1" dirty="0" err="1" smtClean="0">
                <a:solidFill>
                  <a:schemeClr val="accent1"/>
                </a:solidFill>
              </a:rPr>
              <a:t>CpswRemoteApp_getSynchronizedTime</a:t>
            </a:r>
            <a:r>
              <a:rPr lang="en-US" sz="1400" b="1" dirty="0" smtClean="0">
                <a:solidFill>
                  <a:schemeClr val="accent1"/>
                </a:solidFill>
              </a:rPr>
              <a:t>(),</a:t>
            </a:r>
            <a:r>
              <a:rPr lang="en-US" sz="1400" b="1" dirty="0" smtClean="0">
                <a:solidFill>
                  <a:srgbClr val="7030A0"/>
                </a:solidFill>
              </a:rPr>
              <a:t> </a:t>
            </a:r>
            <a:r>
              <a:rPr lang="en-US" sz="1600" dirty="0"/>
              <a:t>the API computes synchronized time using current </a:t>
            </a:r>
            <a:r>
              <a:rPr lang="en-US" sz="1600" dirty="0" smtClean="0"/>
              <a:t>GTC time and the established linear relationship with CPTS timer.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B97888F-6AF7-4263-B69D-592D8C33BAC7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057848" y="3630270"/>
                <a:ext cx="1542666" cy="369332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𝑇</m:t>
                      </m:r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𝑟</m:t>
                      </m:r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∗</m:t>
                      </m:r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𝑡</m:t>
                      </m:r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𝐶</m:t>
                      </m:r>
                    </m:oMath>
                  </m:oMathPara>
                </a14:m>
                <a:endParaRPr lang="en-US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7848" y="3630270"/>
                <a:ext cx="1542666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3068276" y="4016078"/>
                <a:ext cx="3048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900" i="1">
                        <a:solidFill>
                          <a:srgbClr val="000000"/>
                        </a:solidFill>
                        <a:latin typeface="Cambria Math"/>
                      </a:rPr>
                      <m:t>𝑇</m:t>
                    </m:r>
                  </m:oMath>
                </a14:m>
                <a:r>
                  <a:rPr lang="en-US" sz="900" dirty="0" smtClean="0">
                    <a:solidFill>
                      <a:srgbClr val="000000"/>
                    </a:solidFill>
                  </a:rPr>
                  <a:t> – Synchronized Time </a:t>
                </a:r>
                <a:endParaRPr lang="en-US" sz="900" dirty="0" smtClean="0">
                  <a:solidFill>
                    <a:srgbClr val="00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900" i="1">
                        <a:solidFill>
                          <a:srgbClr val="000000"/>
                        </a:solidFill>
                        <a:latin typeface="Cambria Math"/>
                      </a:rPr>
                      <m:t>𝑟</m:t>
                    </m:r>
                  </m:oMath>
                </a14:m>
                <a:r>
                  <a:rPr lang="en-US" sz="900" dirty="0" smtClean="0">
                    <a:solidFill>
                      <a:srgbClr val="000000"/>
                    </a:solidFill>
                  </a:rPr>
                  <a:t> – Rate ratio</a:t>
                </a:r>
              </a:p>
              <a:p>
                <a14:m>
                  <m:oMath xmlns:m="http://schemas.openxmlformats.org/officeDocument/2006/math">
                    <m:r>
                      <a:rPr lang="en-US" sz="900" i="1">
                        <a:solidFill>
                          <a:srgbClr val="000000"/>
                        </a:solidFill>
                        <a:latin typeface="Cambria Math"/>
                      </a:rPr>
                      <m:t>𝑡</m:t>
                    </m:r>
                  </m:oMath>
                </a14:m>
                <a:r>
                  <a:rPr lang="en-US" sz="900" dirty="0" smtClean="0">
                    <a:solidFill>
                      <a:srgbClr val="000000"/>
                    </a:solidFill>
                  </a:rPr>
                  <a:t> – </a:t>
                </a:r>
                <a:r>
                  <a:rPr lang="en-US" sz="900" dirty="0" smtClean="0">
                    <a:solidFill>
                      <a:srgbClr val="000000"/>
                    </a:solidFill>
                  </a:rPr>
                  <a:t>GTC Timer </a:t>
                </a:r>
                <a:r>
                  <a:rPr lang="en-US" sz="900" dirty="0" smtClean="0">
                    <a:solidFill>
                      <a:srgbClr val="000000"/>
                    </a:solidFill>
                  </a:rPr>
                  <a:t>Value</a:t>
                </a:r>
              </a:p>
              <a:p>
                <a14:m>
                  <m:oMath xmlns:m="http://schemas.openxmlformats.org/officeDocument/2006/math">
                    <m:r>
                      <a:rPr lang="en-US" sz="900" i="1">
                        <a:solidFill>
                          <a:srgbClr val="000000"/>
                        </a:solidFill>
                        <a:latin typeface="Cambria Math"/>
                      </a:rPr>
                      <m:t>𝐶</m:t>
                    </m:r>
                  </m:oMath>
                </a14:m>
                <a:r>
                  <a:rPr lang="en-US" sz="900" dirty="0" smtClean="0">
                    <a:solidFill>
                      <a:srgbClr val="000000"/>
                    </a:solidFill>
                  </a:rPr>
                  <a:t> – Constant value</a:t>
                </a: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8276" y="4016078"/>
                <a:ext cx="3048000" cy="646331"/>
              </a:xfrm>
              <a:prstGeom prst="rect">
                <a:avLst/>
              </a:prstGeom>
              <a:blipFill rotWithShape="1">
                <a:blip r:embed="rId3"/>
                <a:stretch>
                  <a:fillRect b="-2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4709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a0226818\AppData\Local\Microsoft\Windows\Temporary Internet Files\Content.Outlook\9YN0RZP8\Video copyrigh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742"/>
          <a:stretch>
            <a:fillRect/>
          </a:stretch>
        </p:blipFill>
        <p:spPr bwMode="auto">
          <a:xfrm>
            <a:off x="930277" y="250826"/>
            <a:ext cx="7281863" cy="340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-794" y="3149422"/>
            <a:ext cx="9144000" cy="1184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en-US" sz="1600" dirty="0" smtClean="0">
              <a:solidFill>
                <a:srgbClr val="000000"/>
              </a:solidFill>
              <a:latin typeface="Arial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600" dirty="0" smtClean="0">
                <a:solidFill>
                  <a:srgbClr val="000000"/>
                </a:solidFill>
                <a:latin typeface="Arial" charset="0"/>
              </a:rPr>
              <a:t>© Copyright </a:t>
            </a:r>
            <a:r>
              <a:rPr lang="en-US" altLang="en-US" sz="1600" dirty="0" smtClean="0">
                <a:solidFill>
                  <a:srgbClr val="000000"/>
                </a:solidFill>
                <a:latin typeface="Arial" charset="0"/>
              </a:rPr>
              <a:t>2020 </a:t>
            </a:r>
            <a:r>
              <a:rPr lang="en-US" altLang="en-US" sz="1600" dirty="0" smtClean="0">
                <a:solidFill>
                  <a:srgbClr val="000000"/>
                </a:solidFill>
                <a:latin typeface="Arial" charset="0"/>
              </a:rPr>
              <a:t>Texas Instruments Incorporated.  All rights reserved.</a:t>
            </a:r>
            <a:endParaRPr lang="en-US" altLang="en-US" sz="1600" b="1" dirty="0">
              <a:solidFill>
                <a:srgbClr val="000000"/>
              </a:solidFill>
              <a:latin typeface="Arial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en-US" sz="1000" dirty="0" smtClean="0">
              <a:solidFill>
                <a:srgbClr val="000000"/>
              </a:solidFill>
              <a:latin typeface="Arial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950" dirty="0" smtClean="0">
                <a:solidFill>
                  <a:srgbClr val="000000"/>
                </a:solidFill>
                <a:latin typeface="Arial" charset="0"/>
              </a:rPr>
              <a:t>This material is provided strictly “as-is,” for informational purposes only, and without any warranty.  </a:t>
            </a:r>
          </a:p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950" dirty="0" smtClean="0">
                <a:solidFill>
                  <a:srgbClr val="000000"/>
                </a:solidFill>
                <a:latin typeface="Arial" charset="0"/>
              </a:rPr>
              <a:t>Use of this material is subject to TI’s</a:t>
            </a:r>
            <a:r>
              <a:rPr lang="en-US" altLang="en-US" sz="950" b="1" dirty="0" smtClean="0">
                <a:solidFill>
                  <a:srgbClr val="000000"/>
                </a:solidFill>
                <a:latin typeface="Arial" charset="0"/>
              </a:rPr>
              <a:t> </a:t>
            </a:r>
            <a:r>
              <a:rPr lang="en-US" altLang="en-US" sz="950" dirty="0" smtClean="0">
                <a:ln>
                  <a:solidFill>
                    <a:schemeClr val="tx1"/>
                  </a:solidFill>
                </a:ln>
                <a:solidFill>
                  <a:srgbClr val="000000"/>
                </a:solidFill>
                <a:latin typeface="Arial" charset="0"/>
              </a:rPr>
              <a:t>Terms of Use</a:t>
            </a:r>
            <a:r>
              <a:rPr lang="en-US" altLang="en-US" sz="950" b="1" dirty="0" smtClean="0">
                <a:solidFill>
                  <a:srgbClr val="000000"/>
                </a:solidFill>
                <a:latin typeface="Arial" charset="0"/>
              </a:rPr>
              <a:t>, </a:t>
            </a:r>
            <a:r>
              <a:rPr lang="en-US" altLang="en-US" sz="950" dirty="0" smtClean="0">
                <a:solidFill>
                  <a:srgbClr val="000000"/>
                </a:solidFill>
                <a:latin typeface="Arial" charset="0"/>
              </a:rPr>
              <a:t>viewable at TI.com  </a:t>
            </a:r>
          </a:p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en-US" sz="1000" b="1" dirty="0" smtClean="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786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inalPowerpoint">
  <a:themeElements>
    <a:clrScheme name="Custom 1">
      <a:dk1>
        <a:srgbClr val="000000"/>
      </a:dk1>
      <a:lt1>
        <a:srgbClr val="FFFFFF"/>
      </a:lt1>
      <a:dk2>
        <a:srgbClr val="DE0000"/>
      </a:dk2>
      <a:lt2>
        <a:srgbClr val="808080"/>
      </a:lt2>
      <a:accent1>
        <a:srgbClr val="DE0000"/>
      </a:accent1>
      <a:accent2>
        <a:srgbClr val="A4A4A4"/>
      </a:accent2>
      <a:accent3>
        <a:srgbClr val="117788"/>
      </a:accent3>
      <a:accent4>
        <a:srgbClr val="404040"/>
      </a:accent4>
      <a:accent5>
        <a:srgbClr val="4ABED4"/>
      </a:accent5>
      <a:accent6>
        <a:srgbClr val="7F7F7F"/>
      </a:accent6>
      <a:hlink>
        <a:srgbClr val="DE0000"/>
      </a:hlink>
      <a:folHlink>
        <a:srgbClr val="AAAAAA"/>
      </a:folHlink>
    </a:clrScheme>
    <a:fontScheme name="FinalPower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inalPowerpoint 1">
        <a:dk1>
          <a:srgbClr val="000000"/>
        </a:dk1>
        <a:lt1>
          <a:srgbClr val="FFFFFF"/>
        </a:lt1>
        <a:dk2>
          <a:srgbClr val="FF0000"/>
        </a:dk2>
        <a:lt2>
          <a:srgbClr val="808080"/>
        </a:lt2>
        <a:accent1>
          <a:srgbClr val="AAAAAA"/>
        </a:accent1>
        <a:accent2>
          <a:srgbClr val="000000"/>
        </a:accent2>
        <a:accent3>
          <a:srgbClr val="FFFFFF"/>
        </a:accent3>
        <a:accent4>
          <a:srgbClr val="000000"/>
        </a:accent4>
        <a:accent5>
          <a:srgbClr val="D2D2D2"/>
        </a:accent5>
        <a:accent6>
          <a:srgbClr val="000000"/>
        </a:accent6>
        <a:hlink>
          <a:srgbClr val="FF0000"/>
        </a:hlink>
        <a:folHlink>
          <a:srgbClr val="AAAAA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lPowerpoint 2">
        <a:dk1>
          <a:srgbClr val="AAAAAA"/>
        </a:dk1>
        <a:lt1>
          <a:srgbClr val="FFFFFF"/>
        </a:lt1>
        <a:dk2>
          <a:srgbClr val="000000"/>
        </a:dk2>
        <a:lt2>
          <a:srgbClr val="FFFFFF"/>
        </a:lt2>
        <a:accent1>
          <a:srgbClr val="AAAAAA"/>
        </a:accent1>
        <a:accent2>
          <a:srgbClr val="FFFFFF"/>
        </a:accent2>
        <a:accent3>
          <a:srgbClr val="AAAAAA"/>
        </a:accent3>
        <a:accent4>
          <a:srgbClr val="DADADA"/>
        </a:accent4>
        <a:accent5>
          <a:srgbClr val="D2D2D2"/>
        </a:accent5>
        <a:accent6>
          <a:srgbClr val="E7E7E7"/>
        </a:accent6>
        <a:hlink>
          <a:srgbClr val="AAAAAA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Powerpoint 3">
        <a:dk1>
          <a:srgbClr val="808080"/>
        </a:dk1>
        <a:lt1>
          <a:srgbClr val="FFFFFF"/>
        </a:lt1>
        <a:dk2>
          <a:srgbClr val="AAAAAA"/>
        </a:dk2>
        <a:lt2>
          <a:srgbClr val="000000"/>
        </a:lt2>
        <a:accent1>
          <a:srgbClr val="000000"/>
        </a:accent1>
        <a:accent2>
          <a:srgbClr val="AAAAAA"/>
        </a:accent2>
        <a:accent3>
          <a:srgbClr val="D2D2D2"/>
        </a:accent3>
        <a:accent4>
          <a:srgbClr val="DADADA"/>
        </a:accent4>
        <a:accent5>
          <a:srgbClr val="AAAAAA"/>
        </a:accent5>
        <a:accent6>
          <a:srgbClr val="9A9A9A"/>
        </a:accent6>
        <a:hlink>
          <a:srgbClr val="FF00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Powerpoint 4">
        <a:dk1>
          <a:srgbClr val="000000"/>
        </a:dk1>
        <a:lt1>
          <a:srgbClr val="FF0000"/>
        </a:lt1>
        <a:dk2>
          <a:srgbClr val="FFFFFF"/>
        </a:dk2>
        <a:lt2>
          <a:srgbClr val="000000"/>
        </a:lt2>
        <a:accent1>
          <a:srgbClr val="AAAAAA"/>
        </a:accent1>
        <a:accent2>
          <a:srgbClr val="FFFFFF"/>
        </a:accent2>
        <a:accent3>
          <a:srgbClr val="FFAAAA"/>
        </a:accent3>
        <a:accent4>
          <a:srgbClr val="000000"/>
        </a:accent4>
        <a:accent5>
          <a:srgbClr val="D2D2D2"/>
        </a:accent5>
        <a:accent6>
          <a:srgbClr val="E7E7E7"/>
        </a:accent6>
        <a:hlink>
          <a:srgbClr val="000000"/>
        </a:hlink>
        <a:folHlink>
          <a:srgbClr val="AAAAA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1080</TotalTime>
  <Words>1008</Words>
  <Application>Microsoft Office PowerPoint</Application>
  <PresentationFormat>On-screen Show (16:9)</PresentationFormat>
  <Paragraphs>219</Paragraphs>
  <Slides>10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FinalPowerpoint</vt:lpstr>
      <vt:lpstr>Multi-core Time synchronization</vt:lpstr>
      <vt:lpstr>Agenda</vt:lpstr>
      <vt:lpstr>Why Multi-core time synchronization?</vt:lpstr>
      <vt:lpstr>Multi-core Ethernet architecture</vt:lpstr>
      <vt:lpstr>Multi-core Time-synchronization design</vt:lpstr>
      <vt:lpstr>Time Sync Router Configuration</vt:lpstr>
      <vt:lpstr>Coupling remote core timer with CPTS</vt:lpstr>
      <vt:lpstr>Multi – core Time Synchronization sequence</vt:lpstr>
      <vt:lpstr>Example</vt:lpstr>
      <vt:lpstr>PowerPoint Presentation</vt:lpstr>
    </vt:vector>
  </TitlesOfParts>
  <Company>Texas Instruments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Here</dc:title>
  <dc:creator>k-drews@ti.com</dc:creator>
  <cp:lastModifiedBy>Windows User</cp:lastModifiedBy>
  <cp:revision>242</cp:revision>
  <dcterms:created xsi:type="dcterms:W3CDTF">2007-12-19T20:51:45Z</dcterms:created>
  <dcterms:modified xsi:type="dcterms:W3CDTF">2020-06-03T15:29:31Z</dcterms:modified>
</cp:coreProperties>
</file>